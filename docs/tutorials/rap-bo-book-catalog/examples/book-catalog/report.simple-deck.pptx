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Four-phase pipeline · RAP app with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RAP 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pipeline · phases · loop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Skill catalog + one example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Artifacts across phases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What got built · 72 objects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What goes wrong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Outcome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pipeline · idea to running 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PHASES · ONE PIPE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1051560" y="1828800"/>
            <a:ext cx="1508760" cy="1051560"/>
          </a:xfrm>
          <a:prstGeom prst="roundRect">
            <a:avLst/>
          </a:prstGeom>
          <a:solidFill>
            <a:srgbClr val="898989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plain words · no ABAP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2724912" y="1828800"/>
            <a:ext cx="1508760" cy="105156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business-requirements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4398264" y="1828800"/>
            <a:ext cx="1508760" cy="105156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tech-spec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6071616" y="1828800"/>
            <a:ext cx="1508760" cy="1051560"/>
          </a:xfrm>
          <a:prstGeom prst="roundRect">
            <a:avLst/>
          </a:prstGeom>
          <a:solidFill>
            <a:srgbClr val="E614EB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impl-plan</a:t>
            </a:r>
          </a:p>
        </p:txBody>
      </p:sp>
      <p:sp>
        <p:nvSpPr>
          <p:cNvPr id="10" name="c_1_DiagramCanvas:node4"/>
          <p:cNvSpPr/>
          <p:nvPr/>
        </p:nvSpPr>
        <p:spPr>
          <a:xfrm>
            <a:off x="7744968" y="1828800"/>
            <a:ext cx="1508760" cy="105156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active SAP objects</a:t>
            </a:r>
          </a:p>
        </p:txBody>
      </p:sp>
      <p:sp>
        <p:nvSpPr>
          <p:cNvPr id="11" name="c_1_DiagramCanvas:node5"/>
          <p:cNvSpPr/>
          <p:nvPr/>
        </p:nvSpPr>
        <p:spPr>
          <a:xfrm>
            <a:off x="9418320" y="1828800"/>
            <a:ext cx="1508760" cy="1051560"/>
          </a:xfrm>
          <a:prstGeom prst="roundRect">
            <a:avLst/>
          </a:prstGeom>
          <a:solidFill>
            <a:srgbClr val="E80202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Fiori preview</a:t>
            </a:r>
          </a:p>
        </p:txBody>
      </p:sp>
      <p:cxnSp>
        <p:nvCxnSpPr>
          <p:cNvPr id="12" name="c_1_DiagramCanvas:conn0"/>
          <p:cNvCxnSpPr>
            <a:stCxn id="6" idx="3"/>
            <a:endCxn id="7" idx="1"/>
          </p:cNvCxnSpPr>
          <p:nvPr/>
        </p:nvCxnSpPr>
        <p:spPr>
          <a:xfrm>
            <a:off x="2560320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_1_DiagramCanvas:conn1"/>
          <p:cNvCxnSpPr>
            <a:stCxn id="7" idx="3"/>
            <a:endCxn id="8" idx="1"/>
          </p:cNvCxnSpPr>
          <p:nvPr/>
        </p:nvCxnSpPr>
        <p:spPr>
          <a:xfrm>
            <a:off x="4233672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_1_DiagramCanvas:conn2"/>
          <p:cNvCxnSpPr>
            <a:stCxn id="8" idx="3"/>
            <a:endCxn id="9" idx="1"/>
          </p:cNvCxnSpPr>
          <p:nvPr/>
        </p:nvCxnSpPr>
        <p:spPr>
          <a:xfrm>
            <a:off x="5907024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_1_DiagramCanvas:conn3"/>
          <p:cNvCxnSpPr>
            <a:stCxn id="9" idx="3"/>
            <a:endCxn id="10" idx="1"/>
          </p:cNvCxnSpPr>
          <p:nvPr/>
        </p:nvCxnSpPr>
        <p:spPr>
          <a:xfrm>
            <a:off x="7580376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_1_DiagramCanvas:conn4"/>
          <p:cNvCxnSpPr>
            <a:stCxn id="10" idx="3"/>
            <a:endCxn id="11" idx="1"/>
          </p:cNvCxnSpPr>
          <p:nvPr/>
        </p:nvCxnSpPr>
        <p:spPr>
          <a:xfrm>
            <a:off x="9253728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c_1_Block"/>
          <p:cNvGraphicFramePr>
            <a:graphicFrameLocks noGrp="1"/>
          </p:cNvGraphicFramePr>
          <p:nvPr/>
        </p:nvGraphicFramePr>
        <p:xfrm>
          <a:off x="457200" y="5212080"/>
          <a:ext cx="11064240" cy="914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Phases 1-3 save their artifact into a RAG collection. Phase 4 pulls plan + spec from RAG · you do not retype DDL.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Phases 1-3 · documents only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WHO DOES WHAT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1 · Requirements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domain expert · approve entities/rules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business analyst · formalize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your idea in plain words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business-requirements (RAG)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2 · Tech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architect · review draft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technical writer · propose DDL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business-requirements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tech-spec (RAG · draft, evolves)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project manager · check order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lead developer · order steps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tech-spec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impl-plan (RAG · ordered steps)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 · build layer by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DEPENDENCY ORDER · LAYERED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ChevronProcess:chevron0"/>
          <p:cNvSpPr/>
          <p:nvPr/>
        </p:nvSpPr>
        <p:spPr>
          <a:xfrm>
            <a:off x="45720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4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Package</a:t>
            </a:r>
          </a:p>
        </p:txBody>
      </p:sp>
      <p:sp>
        <p:nvSpPr>
          <p:cNvPr id="6" name="c_1_ChevronProcess:chevron1"/>
          <p:cNvSpPr/>
          <p:nvPr/>
        </p:nvSpPr>
        <p:spPr>
          <a:xfrm>
            <a:off x="184594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08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Domains</a:t>
            </a:r>
          </a:p>
        </p:txBody>
      </p:sp>
      <p:sp>
        <p:nvSpPr>
          <p:cNvPr id="7" name="c_1_ChevronProcess:chevron2"/>
          <p:cNvSpPr/>
          <p:nvPr/>
        </p:nvSpPr>
        <p:spPr>
          <a:xfrm>
            <a:off x="323469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Data el</a:t>
            </a:r>
          </a:p>
        </p:txBody>
      </p:sp>
      <p:sp>
        <p:nvSpPr>
          <p:cNvPr id="8" name="c_1_ChevronProcess:chevron3"/>
          <p:cNvSpPr/>
          <p:nvPr/>
        </p:nvSpPr>
        <p:spPr>
          <a:xfrm>
            <a:off x="462343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107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Tables</a:t>
            </a:r>
          </a:p>
        </p:txBody>
      </p:sp>
      <p:sp>
        <p:nvSpPr>
          <p:cNvPr id="9" name="c_1_ChevronProcess:chevron4"/>
          <p:cNvSpPr/>
          <p:nvPr/>
        </p:nvSpPr>
        <p:spPr>
          <a:xfrm>
            <a:off x="601218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CDS R</a:t>
            </a:r>
          </a:p>
        </p:txBody>
      </p:sp>
      <p:sp>
        <p:nvSpPr>
          <p:cNvPr id="10" name="c_1_ChevronProcess:chevron5"/>
          <p:cNvSpPr/>
          <p:nvPr/>
        </p:nvSpPr>
        <p:spPr>
          <a:xfrm>
            <a:off x="740092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A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CDS C</a:t>
            </a:r>
          </a:p>
        </p:txBody>
      </p:sp>
      <p:sp>
        <p:nvSpPr>
          <p:cNvPr id="11" name="c_1_ChevronProcess:chevron6"/>
          <p:cNvSpPr/>
          <p:nvPr/>
        </p:nvSpPr>
        <p:spPr>
          <a:xfrm>
            <a:off x="878967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84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BDEF</a:t>
            </a:r>
          </a:p>
        </p:txBody>
      </p:sp>
      <p:sp>
        <p:nvSpPr>
          <p:cNvPr id="12" name="c_1_ChevronProcess:chevron7"/>
          <p:cNvSpPr/>
          <p:nvPr/>
        </p:nvSpPr>
        <p:spPr>
          <a:xfrm>
            <a:off x="1017841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13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3" name="c_1_ChevronProcess:content0"/>
          <p:cNvSpPr/>
          <p:nvPr/>
        </p:nvSpPr>
        <p:spPr>
          <a:xfrm>
            <a:off x="45720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prefix Z##_</a:t>
            </a:r>
          </a:p>
        </p:txBody>
      </p:sp>
      <p:sp>
        <p:nvSpPr>
          <p:cNvPr id="14" name="c_1_ChevronProcess:content1"/>
          <p:cNvSpPr/>
          <p:nvPr/>
        </p:nvSpPr>
        <p:spPr>
          <a:xfrm>
            <a:off x="184594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value ranges</a:t>
            </a:r>
          </a:p>
        </p:txBody>
      </p:sp>
      <p:sp>
        <p:nvSpPr>
          <p:cNvPr id="15" name="c_1_ChevronProcess:content2"/>
          <p:cNvSpPr/>
          <p:nvPr/>
        </p:nvSpPr>
        <p:spPr>
          <a:xfrm>
            <a:off x="323469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typed fields</a:t>
            </a:r>
          </a:p>
        </p:txBody>
      </p:sp>
      <p:sp>
        <p:nvSpPr>
          <p:cNvPr id="16" name="c_1_ChevronProcess:content3"/>
          <p:cNvSpPr/>
          <p:nvPr/>
        </p:nvSpPr>
        <p:spPr>
          <a:xfrm>
            <a:off x="462343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persistent + draft</a:t>
            </a:r>
          </a:p>
        </p:txBody>
      </p:sp>
      <p:sp>
        <p:nvSpPr>
          <p:cNvPr id="17" name="c_1_ChevronProcess:content4"/>
          <p:cNvSpPr/>
          <p:nvPr/>
        </p:nvSpPr>
        <p:spPr>
          <a:xfrm>
            <a:off x="601218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interface views</a:t>
            </a:r>
          </a:p>
        </p:txBody>
      </p:sp>
      <p:sp>
        <p:nvSpPr>
          <p:cNvPr id="18" name="c_1_ChevronProcess:content5"/>
          <p:cNvSpPr/>
          <p:nvPr/>
        </p:nvSpPr>
        <p:spPr>
          <a:xfrm>
            <a:off x="740092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projection</a:t>
            </a:r>
          </a:p>
        </p:txBody>
      </p:sp>
      <p:sp>
        <p:nvSpPr>
          <p:cNvPr id="19" name="c_1_ChevronProcess:content6"/>
          <p:cNvSpPr/>
          <p:nvPr/>
        </p:nvSpPr>
        <p:spPr>
          <a:xfrm>
            <a:off x="878967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behaviour</a:t>
            </a:r>
          </a:p>
        </p:txBody>
      </p:sp>
      <p:sp>
        <p:nvSpPr>
          <p:cNvPr id="20" name="c_1_ChevronProcess:content7"/>
          <p:cNvSpPr/>
          <p:nvPr/>
        </p:nvSpPr>
        <p:spPr>
          <a:xfrm>
            <a:off x="1017841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definition + bind</a:t>
            </a:r>
          </a:p>
        </p:txBody>
      </p:sp>
      <p:graphicFrame>
        <p:nvGraphicFramePr>
          <p:cNvPr id="21" name="c_1_Block"/>
          <p:cNvGraphicFramePr>
            <a:graphicFrameLocks noGrp="1"/>
          </p:cNvGraphicFramePr>
          <p:nvPr/>
        </p:nvGraphicFramePr>
        <p:xfrm>
          <a:off x="457200" y="4846320"/>
          <a:ext cx="11064240" cy="12801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2801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Rule: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3-4 objects per prompt · activate before next layer.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Trust check: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"Active" is a claim until ReadDomain / ReadTable returns active: true.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 objects · never assume first attempt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CREATE · CHECK · FIX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5120640" y="2171700"/>
            <a:ext cx="1737360" cy="86868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 activate yet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7315200" y="3360420"/>
            <a:ext cx="1737360" cy="868680"/>
          </a:xfrm>
          <a:prstGeom prst="flowChartDecision">
            <a:avLst/>
          </a:prstGeom>
          <a:solidFill>
            <a:srgbClr val="2590EE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syntax · refs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5120640" y="4549140"/>
            <a:ext cx="1737360" cy="86868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agent edits spec · retry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2926080" y="3360420"/>
            <a:ext cx="1737360" cy="86868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whole layer together</a:t>
            </a:r>
          </a:p>
        </p:txBody>
      </p:sp>
      <p:cxnSp>
        <p:nvCxnSpPr>
          <p:cNvPr id="10" name="c_1_DiagramCanvas:conn0"/>
          <p:cNvCxnSpPr>
            <a:stCxn id="6" idx="3"/>
            <a:endCxn id="7" idx="1"/>
          </p:cNvCxnSpPr>
          <p:nvPr/>
        </p:nvCxnSpPr>
        <p:spPr>
          <a:xfrm>
            <a:off x="6858000" y="260604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_1_DiagramCanvas:conn1"/>
          <p:cNvCxnSpPr>
            <a:stCxn id="7" idx="1"/>
            <a:endCxn id="8" idx="3"/>
          </p:cNvCxnSpPr>
          <p:nvPr/>
        </p:nvCxnSpPr>
        <p:spPr>
          <a:xfrm flipH="1">
            <a:off x="6858000" y="379476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_1_DiagramCanvas:conn1:text"/>
          <p:cNvSpPr txBox="1"/>
          <p:nvPr/>
        </p:nvSpPr>
        <p:spPr>
          <a:xfrm>
            <a:off x="6629400" y="40690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errors</a:t>
            </a:r>
          </a:p>
        </p:txBody>
      </p:sp>
      <p:cxnSp>
        <p:nvCxnSpPr>
          <p:cNvPr id="13" name="c_1_DiagramCanvas:conn2"/>
          <p:cNvCxnSpPr>
            <a:stCxn id="8" idx="0"/>
            <a:endCxn id="6" idx="2"/>
          </p:cNvCxnSpPr>
          <p:nvPr/>
        </p:nvCxnSpPr>
        <p:spPr>
          <a:xfrm flipV="1">
            <a:off x="5989320" y="3040380"/>
            <a:ext cx="0" cy="150876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_1_DiagramCanvas:conn2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5" name="c_1_DiagramCanvas:conn3"/>
          <p:cNvCxnSpPr>
            <a:stCxn id="7" idx="1"/>
            <a:endCxn id="9" idx="3"/>
          </p:cNvCxnSpPr>
          <p:nvPr/>
        </p:nvCxnSpPr>
        <p:spPr>
          <a:xfrm flipH="1">
            <a:off x="4663440" y="3794760"/>
            <a:ext cx="2651760" cy="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_1_DiagramCanvas:conn3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clean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catalog · one task per file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16 SKILLS · 33-74 LINES EACH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creating-domain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creating-data-element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creating-persistent-table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creating-draft-table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creating-interface-cds-view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creating-metadata-extension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creating-bdef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creating-bimp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creating-projection-bdef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Service · operational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creating-service-binding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enforcing-target-package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avoiding-hallucinations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managing-rag-artifacts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activating-objects</a:t>
            </a:r>
          </a:p>
        </p:txBody>
      </p:sp>
      <p:graphicFrame>
        <p:nvGraphicFramePr>
          <p:cNvPr id="8" name="c_4_Block"/>
          <p:cNvGraphicFramePr>
            <a:graphicFrameLocks noGrp="1"/>
          </p:cNvGraphicFramePr>
          <p:nvPr/>
        </p:nvGraphicFramePr>
        <p:xfrm>
          <a:off x="457200" y="5303520"/>
          <a:ext cx="11064240" cy="8229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Why split: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one skill = one task · no stage / phase references inside · load only what the current step needs · easier to evolve · fits on one screen.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example · activating-objects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41 LINES · ONE TASK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914400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name: </a:t>
            </a:r>
            <a:r>
              <a:rPr sz="1400">
                <a:solidFill>
                  <a:srgbClr val="000000"/>
                </a:solidFill>
              </a:rPr>
              <a:t>Activating Objects     </a:t>
            </a:r>
            <a:r>
              <a:rPr sz="1400" b="1">
                <a:solidFill>
                  <a:srgbClr val="000000"/>
                </a:solidFill>
              </a:rPr>
              <a:t>tags: </a:t>
            </a:r>
            <a:r>
              <a:rPr sz="1400">
                <a:solidFill>
                  <a:srgbClr val="000000"/>
                </a:solidFill>
              </a:rPr>
              <a:t>[sap, activation, governance]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description: </a:t>
            </a:r>
            <a:r>
              <a:rPr sz="1400">
                <a:solidFill>
                  <a:srgbClr val="000000"/>
                </a:solidFill>
              </a:rPr>
              <a:t>Rules for activating ABAP objects safely — never bare 'activate all', group activation for circular references, special tool for BDEF</a:t>
            </a:r>
          </a:p>
        </p:txBody>
      </p:sp>
      <p:sp>
        <p:nvSpPr>
          <p:cNvPr id="6" name="c_1_BlockGrid:0:c_2_Block"/>
          <p:cNvSpPr/>
          <p:nvPr/>
        </p:nvSpPr>
        <p:spPr>
          <a:xfrm>
            <a:off x="457200" y="2514600"/>
            <a:ext cx="5440680" cy="3611880"/>
          </a:xfrm>
          <a:prstGeom prst="rect">
            <a:avLst/>
          </a:prstGeom>
          <a:gradFill rotWithShape="1">
            <a:gsLst>
              <a:gs pos="0">
                <a:srgbClr val="CE0101"/>
              </a:gs>
              <a:gs pos="100000">
                <a:srgbClr val="FC0606"/>
              </a:gs>
            </a:gsLst>
            <a:lin ang="16200000" scaled="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Hard rules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Never bare 'activate all inactive' on a shared system — always filter by prefix Z##_.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Syntax-check each object before activating; activation is expensive and partial failures cascade.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Group activation for circular refs — CDS R views, CDS C views, BDEF + BIMP.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BDEF: use ActivateBehaviorDefinition, not the generic ActivateObjects.</a:t>
            </a:r>
          </a:p>
        </p:txBody>
      </p:sp>
      <p:sp>
        <p:nvSpPr>
          <p:cNvPr id="7" name="c_1_BlockGrid:1:c_3_Block"/>
          <p:cNvSpPr/>
          <p:nvPr/>
        </p:nvSpPr>
        <p:spPr>
          <a:xfrm>
            <a:off x="6080760" y="2514600"/>
            <a:ext cx="5440680" cy="361188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After + common errors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After: re-syntax-check; Read… each object and confirm active: true.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Activated unrelated objects → </a:t>
            </a:r>
            <a:r>
              <a:rPr sz="1400">
                <a:solidFill>
                  <a:srgbClr val="000000"/>
                </a:solidFill>
              </a:rPr>
              <a:t>missing prefix filter.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Still inactive after activate → </a:t>
            </a:r>
            <a:r>
              <a:rPr sz="1400">
                <a:solidFill>
                  <a:srgbClr val="000000"/>
                </a:solidFill>
              </a:rPr>
              <a:t>wrong tool (BDEF via ActivateObjects).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Half-active layer → </a:t>
            </a:r>
            <a:r>
              <a:rPr sz="1400">
                <a:solidFill>
                  <a:srgbClr val="000000"/>
                </a:solidFill>
              </a:rPr>
              <a:t>activated one-by-one; group-activate instead.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same entity moves through the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AUTHOR · FROM IDEA TO OBJECT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1 · business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Entity: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(string 100, required)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(string 50)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 Year (int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(text)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Rule: </a:t>
            </a:r>
            <a:r>
              <a:rPr sz="1400">
                <a:solidFill>
                  <a:srgbClr val="FFFFFF"/>
                </a:solidFill>
              </a:rPr>
              <a:t>name unique; birth-year 1000..now.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324612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2 ·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 Z##_AUTHOR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author_id uuid · key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z##_e_name (z##_d_name CHAR 100)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z##_e_country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birth_year z##_e_year (NUMC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STRING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603504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Step group ·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1.1 create 5 domains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1.2 create 5 data elements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2.1 create Z##_AUTHOR + draft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3.1 CDS Z##_R_AUTHOR + C 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4.1 BDEF + BIMP + activate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882396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Phase 4 · objects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Active on SAP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DOMA · DTEL · 5+5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TABL Z##_AUTHOR + _D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DDLS Z##_R_AUTHOR + C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BDEF + BIMP class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Service + binding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got built · 72 objects, all active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4 ENTITIES · 1 RAP APP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72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objects active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4612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2900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77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2900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prompts in P4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3504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1792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~$19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1792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cost · vs ~$2k manual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2396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0684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614EB"/>
                </a:solidFill>
              </a:rPr>
              <a:t>~3h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0684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· vs ~2 weeks</a:t>
            </a:r>
          </a:p>
        </p:txBody>
      </p:sp>
      <p:sp>
        <p:nvSpPr>
          <p:cNvPr id="17" name="c_2_BlockGrid:0:c_5_Block"/>
          <p:cNvSpPr/>
          <p:nvPr/>
        </p:nvSpPr>
        <p:spPr>
          <a:xfrm>
            <a:off x="45720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domains (DOMA)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data elements (DTEL)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persistent tables (TABL)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draft tables (TABL _D)</a:t>
            </a:r>
          </a:p>
        </p:txBody>
      </p:sp>
      <p:sp>
        <p:nvSpPr>
          <p:cNvPr id="18" name="c_2_BlockGrid:1:c_6_Block"/>
          <p:cNvSpPr/>
          <p:nvPr/>
        </p:nvSpPr>
        <p:spPr>
          <a:xfrm>
            <a:off x="420624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interface CDS (Z##_R_*)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projection CDS (Z##_C_*)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metadata extensions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BDEF + 4 BIMP classes</a:t>
            </a:r>
          </a:p>
        </p:txBody>
      </p:sp>
      <p:sp>
        <p:nvSpPr>
          <p:cNvPr id="19" name="c_2_BlockGrid:2:c_7_Block"/>
          <p:cNvSpPr/>
          <p:nvPr/>
        </p:nvSpPr>
        <p:spPr>
          <a:xfrm>
            <a:off x="795528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Service · UI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service 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OData V4 binding (published)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Fiori Elements preview · CRUD +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Author shows by name, not UUID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failure modes · how to catch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DRIFT · HALLUCINATION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Spec / plan drift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Symptom: </a:t>
            </a:r>
            <a:r>
              <a:rPr sz="1400">
                <a:solidFill>
                  <a:srgbClr val="000000"/>
                </a:solidFill>
              </a:rPr>
              <a:t>extra objects, missing ones, silent renames.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Catch: </a:t>
            </a:r>
            <a:r>
              <a:rPr sz="1400">
                <a:solidFill>
                  <a:srgbClr val="000000"/>
                </a:solidFill>
              </a:rPr>
              <a:t>quote the plan back; force exact list.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E0101"/>
              </a:gs>
              <a:gs pos="100000">
                <a:srgbClr val="FC0606"/>
              </a:gs>
            </a:gsLst>
            <a:lin ang="16200000" scaled="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Hallucination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"All N active" with no Executing trace.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low token count · ask agent to read each object back.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confusion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Create/Update runs during Phase 1-3.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say "document only, not system" · revert.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walk away with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OUTCOMES · 1-2 HOURS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 app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active RAP BO · Fiori preview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20624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438912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3 docs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4389120" y="2077719"/>
            <a:ext cx="320040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business-req · tech-spec · impl-plan in RAG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795528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813816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1-2 h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813816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end to end wall-clock</a:t>
            </a:r>
          </a:p>
        </p:txBody>
      </p:sp>
      <p:sp>
        <p:nvSpPr>
          <p:cNvPr id="14" name="c_4_Block"/>
          <p:cNvSpPr/>
          <p:nvPr/>
        </p:nvSpPr>
        <p:spPr>
          <a:xfrm>
            <a:off x="457200" y="4297680"/>
            <a:ext cx="11064240" cy="1828800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you learn: </a:t>
            </a:r>
            <a:r>
              <a:rPr sz="1400">
                <a:solidFill>
                  <a:srgbClr val="000000"/>
                </a:solidFill>
              </a:rPr>
              <a:t>turn ideas into requirements, review AI specs, plan in dependency order, build layer by layer.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stays yours: </a:t>
            </a:r>
            <a:r>
              <a:rPr sz="1400">
                <a:solidFill>
                  <a:srgbClr val="000000"/>
                </a:solidFill>
              </a:rPr>
              <a:t>every business decision and every field mapping.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AI gives you: </a:t>
            </a:r>
            <a:r>
              <a:rPr sz="1400">
                <a:solidFill>
                  <a:srgbClr val="000000"/>
                </a:solidFill>
              </a:rPr>
              <a:t>the fastest pair programmer you can get · only if you lead.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