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8.svg" ContentType="image/svg+xml"/>
  <Override PartName="/ppt/media/image19.svg" ContentType="image/svg+xml"/>
  <Override PartName="/ppt/media/image2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350" r:id="rId5"/>
  </p:sldMasterIdLst>
  <p:notesMasterIdLst>
    <p:notesMasterId r:id="rId6"/>
  </p:notesMasterIdLst>
  <p:handoutMasterIdLst>
    <p:handoutMasterId r:id="rId7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736" userDrawn="1">
          <p15:clr>
            <a:srgbClr val="A4A3A4"/>
          </p15:clr>
        </p15:guide>
        <p15:guide id="2" pos="147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55DA"/>
    <a:srgbClr val="D9D9D9"/>
    <a:srgbClr val="FED143"/>
    <a:srgbClr val="77CED7"/>
    <a:srgbClr val="484749"/>
    <a:srgbClr val="7F993A"/>
    <a:srgbClr val="39C2D7"/>
    <a:srgbClr val="1887BB"/>
    <a:srgbClr val="62A230"/>
    <a:srgbClr val="675C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610" autoAdjust="0"/>
  </p:normalViewPr>
  <p:slideViewPr>
    <p:cSldViewPr snapToGrid="0" showGuides="1">
      <p:cViewPr varScale="1">
        <p:scale>
          <a:sx n="83" d="100"/>
          <a:sy n="83" d="100"/>
        </p:scale>
        <p:origin x="1084" y="5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6" d="100"/>
          <a:sy n="66" d="100"/>
        </p:scale>
        <p:origin x="0" y="0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C14FC-A894-4869-A797-1EC82735D10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3E97-F2BE-44DB-A57D-0C85E2CBF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781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9C05-63F9-4248-8E20-3ACD9DF9DE7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74FABB-6DBE-47C4-B626-20167906F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6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emf"/><Relationship Id="rId4" Type="http://schemas.openxmlformats.org/officeDocument/2006/relationships/image" Target="../media/image6.png"/><Relationship Id="rId5" Type="http://schemas.openxmlformats.org/officeDocument/2006/relationships/image" Target="../media/image8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right light in the dark&#10;&#10;Description automatically generated with medium confidence">
            <a:extLst>
              <a:ext uri="{FF2B5EF4-FFF2-40B4-BE49-F238E27FC236}">
                <a16:creationId xmlns:a16="http://schemas.microsoft.com/office/drawing/2014/main" id="{292D94B7-0233-C940-0B7E-BB187340B7C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AC7376-20F0-E0B1-E7D5-414FC5DC35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55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-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DE3A7CEE-E1C9-5E29-7BD1-4DC1A1B47F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tx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46FBA0-34E7-8BA0-8C70-B6AFD4D64D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414" y="748727"/>
            <a:ext cx="1226857" cy="43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06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88486-1E04-4170-877E-F561315E0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BD2E969-F100-6B32-8DFD-11A45E5E43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67B491-F517-CB8D-96B1-B02A50D723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430FF820-B532-1296-E817-DF961B67D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54D4BD-6E7A-841D-F70C-31FAEF56CD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821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 userDrawn="1"/>
        </p:nvSpPr>
        <p:spPr bwMode="auto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11A216CA-E680-42EB-BC45-95A09D627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0094E5E-6EFF-CE7E-D775-2FA95EEE2F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5309027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E632B84-D810-D682-26F1-538579099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5309027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7E6BD730-15BB-8DAE-B807-85A733E0F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5311637" cy="184665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229A6F-36FA-05D5-E223-1581D31CE2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785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">
            <a:extLst>
              <a:ext uri="{FF2B5EF4-FFF2-40B4-BE49-F238E27FC236}">
                <a16:creationId xmlns:a16="http://schemas.microsoft.com/office/drawing/2014/main" id="{7D36EB9C-BBDB-7447-884B-AC6C7C7D1D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Contents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CE784D3-D287-664F-80A6-CBA29DD12F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29A1CE94-599A-5146-9EFB-9AEECE43678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0E828E5-70FD-D449-B964-390D8366EA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23D1ADF7-7F17-9F4A-A000-26CFD756A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8974FB4-0DC4-9A48-849B-3445C17323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B70AEBB-A750-864B-B6BD-21B4D0EFE2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6A80AC0-F1D6-7541-A91C-C279FD1948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8BEB51A-F18F-5749-809D-EC078A513A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6735154-D863-074C-BEF0-25E8F0836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C373B72A-00B1-9E4F-BC7F-202B2AC57F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A584DDAC-74C3-8649-AA09-BE37E59266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BE98457-B105-874C-9706-66BA69C1A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35001996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F2C7208-C4AB-4962-96F0-F897DFFC37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37B4F039-C58D-468E-394C-C92CD517A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Contents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BDF361-F375-D313-8D06-BDA2782784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BC6E842-5D88-CC5C-F1DA-808D61BEE7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D37A923-9C8E-6CA3-1F51-1680DBD2536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3DB5EB1A-8556-A82E-AC69-301BA431D9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1E3B50A-6363-7824-DFC1-3035609DF6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13E6F179-1003-654A-7321-F8FE6D12AC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A7166E3-13D7-44C2-45BA-F8800FCD1D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42EBD53-BF92-55A6-E85A-50AD5A80A5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41709A76-8AD3-E8A8-447B-E2C8D00A4A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A4DA4A4-AEAC-105E-34C0-12EBA35F10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6DD83F2-9BFD-E0B8-4706-D7200B45DE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0D94FEEB-2EA8-081B-0B69-F0ED7A8348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0CA163-9EEA-54E4-57D2-BFE989F6F9C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A0B6ADF-5C55-9945-3F05-7FFC190F1FD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706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49D503E-C57A-9E5B-19CF-94AF46BB63B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2BD3FFC-05D4-6AF7-0434-C1AC0298E5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0952C60-604F-9F1A-9D20-17D094CE48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D164F81-CDD1-C1B4-ED55-A3321E1032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F71D53-1D3F-D8F8-96D5-6DE13F1A9C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42F11AF-BF37-8BBB-B5E7-A8655CF947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</p:spTree>
    <p:extLst>
      <p:ext uri="{BB962C8B-B14F-4D97-AF65-F5344CB8AC3E}">
        <p14:creationId xmlns:p14="http://schemas.microsoft.com/office/powerpoint/2010/main" val="22129012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Agenda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404C027E-E5F6-C4D1-7BE4-B87D52F48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72B4D0-A39C-FAF6-B1FC-E813800600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00A134C-93F9-0B06-D8F4-9B3C7532A4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37B92C4-122A-5377-7B74-D58A2319E9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28A167B-CD8D-159B-58DB-AD9C0600F6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3238DD8-4A7D-554B-8216-37EA1F0231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1D58AB5-54CF-F584-79F8-821E69DF60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367AC01-84C2-7E8C-3BF8-201856803E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0B1A9C8-7F43-7DB1-4F91-53075745C4B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6C8629B-DFA8-41AA-9C67-96D3D02BED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11CC2B96-A6B1-5232-3AEE-F9B7FDBBC13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00:00 – 00:00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A18B250-73F5-69E3-5878-B1D8C984F42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62FE180-ECE1-55D7-0248-053AC1E99B1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634F95-D03F-BB17-0BA8-0AB623989FD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0C2139A-0FDA-8116-257B-67457AE6A971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819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om_1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919866F5-F57A-6C40-4D30-D67CB6A3D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0EC5345-D2D0-6B03-7DDB-B62AB64329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B32F50E-D900-4FFA-87A8-502151FBE2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BA73176-A11D-D62A-EC12-39C3DF983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ED43E1-5036-AF03-3AFC-AC404D716E4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4AFFE7B-BAB3-2BE6-68C7-82413494811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703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2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05BDBBF2-452B-8A53-D3BC-946EEC4030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2CA620CE-1B8B-D388-B43E-902BAFDB8F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21D373-42F2-86AB-3F79-81C1BE3482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8720EBE-A59D-52D5-044F-DF5C07F83D7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31129-9154-6101-E99F-40D9C428A70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BD8E2-6131-A98D-36C8-080B716E4D6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212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3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8BEA6F8A-F8D2-0E03-127C-C4C39351EE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F86F72EA-0ABE-9A8E-4E77-930AA5496A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A5E6E347-3D84-596D-2504-6BB7F348311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5684E56-61FE-0760-81FB-D738FF31CED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AFDEA9-4B5D-18D7-3B7C-ADC156E9EFC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18241-0582-A630-8CB0-7598682D85E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292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4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8956E04-CBD7-E482-8975-949516BE3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DF04DE8-18FA-CC1C-A2E5-416F24CA0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BD1EAAB-FF14-59B6-EB7C-E327DBE476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3ED1D57-42C1-01EC-FDEC-8930A13F02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158379-42B6-CCBC-ACEF-3055CDBB2D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C1715E-3786-F104-88AB-8B85E2F6D91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488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BC286D-0325-2652-6DE3-BC17B7921CDE}"/>
              </a:ext>
            </a:extLst>
          </p:cNvPr>
          <p:cNvSpPr txBox="1">
            <a:spLocks/>
          </p:cNvSpPr>
          <p:nvPr userDrawn="1"/>
        </p:nvSpPr>
        <p:spPr>
          <a:xfrm>
            <a:off x="481264" y="1667844"/>
            <a:ext cx="4403565" cy="101566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lang="en-US" sz="6000" b="1" i="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Disclaimer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5C60129C-ED73-46C0-0FB7-BB32CA2BD978}"/>
              </a:ext>
            </a:extLst>
          </p:cNvPr>
          <p:cNvSpPr txBox="1">
            <a:spLocks/>
          </p:cNvSpPr>
          <p:nvPr userDrawn="1"/>
        </p:nvSpPr>
        <p:spPr>
          <a:xfrm>
            <a:off x="481263" y="2919114"/>
            <a:ext cx="6664971" cy="1050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Do not share this presentation without a signed NDA.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Convert to PDF to protect sensitive slide notes.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3464A0-B9BD-B9A5-38BA-45F5800B2DA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1264" y="872962"/>
            <a:ext cx="668294" cy="622205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9E71BD3-C16B-E833-87BA-15C30377643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42082F-236C-033C-4BB1-ED91055E10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DDC278-1F97-461F-020F-97C4F17BCD4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4945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93E89BDD-DFE0-2F52-8234-B4BA719C24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4529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AB1331E-AD8D-C6DD-2EB9-162F1E8744C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E73F41-F196-FE58-99BD-8AFA2B909861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CA775BE-E377-94D3-AEB3-0F6AC5EABBE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1296AC5-6772-5447-9F7F-930222E7D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522FF93D-C8A6-33EF-5BC7-877E52BEE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A81627C-09AF-5EC8-CA35-DF312ECADD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6322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8E60C0F2-79B7-EE1B-6041-90317B3CB1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5199D6FE-5F94-4710-8291-B343815879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3F08F0-0194-EA75-42BA-A0773D6D3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BCD999-82B2-EE7A-6B7F-62E9DF0FC3B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F60BC1F9-F5BB-BACB-98D9-6B1EA76689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21A2213A-A5D0-F62A-BDB3-8BB538A65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500BD8D1-BEE3-CC7B-18BC-B2C6739412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113714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47254E77-EA64-0D5B-1B56-09AF228EFA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41AD50E6-D58E-3D8C-41A0-48F21CC758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EC493A-D2B3-E243-2D3B-B6C3183A317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48D13-7FE0-0CB2-89F9-E7AA85593DB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D221B2F-F01A-3D8B-58F3-2E0CD57769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5E154CAE-C4D8-C2A0-6BE8-461C3B8FA5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02DE92A-A744-9D66-5950-661ECF019C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5017214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5381F3-7ADD-A798-2917-70C400E5FC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04668" y="2820541"/>
            <a:ext cx="4487332" cy="4037459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47460E-84D6-E4C7-66CE-0A88D0D3B7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4C926E2E-67D5-D03F-CAF1-D936DD3C01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70B9D3F-8FFD-EE49-3B30-05286E2EBB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071653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35273E55-8F47-AC18-08B7-C31C53E2A2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CBBCDB36-A5F4-DF81-FE84-1CBB05508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36520FD8-AF16-A7D1-FBFD-C07B1B5276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EA145C4-F1AE-010B-FC94-C27466A668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104833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1896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6033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Up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79939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E4F57360-96E0-124A-8B27-F0C4589ED9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B4284D-C7B7-AF33-505C-3BCE70543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CBF3641-43B5-6FAC-E7AA-3C2E1B6868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6271990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5121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71403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AA4049EA-1C80-CEF2-C39E-9249C1D29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84776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D2FFF58-70EB-C86F-9E59-1581F18B87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1242001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9CE1444-B151-5430-2753-A94BFE5986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51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891C23-3EE8-0CED-28FE-170D18A2D615}"/>
              </a:ext>
            </a:extLst>
          </p:cNvPr>
          <p:cNvGrpSpPr/>
          <p:nvPr userDrawn="1"/>
        </p:nvGrpSpPr>
        <p:grpSpPr>
          <a:xfrm>
            <a:off x="3909694" y="-2"/>
            <a:ext cx="4653972" cy="6858002"/>
            <a:chOff x="3300840" y="-2"/>
            <a:chExt cx="4653972" cy="6858002"/>
          </a:xfrm>
          <a:solidFill>
            <a:schemeClr val="bg1">
              <a:lumMod val="95000"/>
            </a:schemeClr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E4E5E53-9F1A-D61C-9EEB-E1510482E5BF}"/>
                </a:ext>
              </a:extLst>
            </p:cNvPr>
            <p:cNvSpPr/>
            <p:nvPr userDrawn="1"/>
          </p:nvSpPr>
          <p:spPr bwMode="auto">
            <a:xfrm>
              <a:off x="3300840" y="0"/>
              <a:ext cx="4110732" cy="6858000"/>
            </a:xfrm>
            <a:prstGeom prst="rect">
              <a:avLst/>
            </a:prstGeom>
            <a:grpFill/>
            <a:ln>
              <a:noFill/>
            </a:ln>
            <a:effectLst/>
          </p:spPr>
          <p:txBody>
            <a:bodyPr wrap="none" rtlCol="0" anchor="ctr"/>
            <a:lstStyle/>
            <a:p>
              <a:pPr algn="ctr"/>
              <a:endPara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sp>
          <p:nvSpPr>
            <p:cNvPr id="13" name="Isosceles Triangle 13">
              <a:extLst>
                <a:ext uri="{FF2B5EF4-FFF2-40B4-BE49-F238E27FC236}">
                  <a16:creationId xmlns:a16="http://schemas.microsoft.com/office/drawing/2014/main" id="{DF41968F-990C-67B1-0475-04E0249E281A}"/>
                </a:ext>
              </a:extLst>
            </p:cNvPr>
            <p:cNvSpPr/>
            <p:nvPr userDrawn="1"/>
          </p:nvSpPr>
          <p:spPr>
            <a:xfrm rot="5400000" flipH="1">
              <a:off x="4249415" y="3152602"/>
              <a:ext cx="6858002" cy="5527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1" y="0"/>
            <a:ext cx="4076701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936060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80E4AD9-5B60-F04F-FEE1-80647A0EA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189EAA6-8653-D9C5-4653-C4B7BB2BB3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949190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91D4E-6AE3-3F04-D0A0-8C96044CC29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78EB0A-0FF2-079E-6368-97511A388F2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0077284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5" y="0"/>
            <a:ext cx="2371722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6AE37-FC1E-5269-1E83-C3E9928ED25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7A8488-5F43-686E-E10B-16D16E352EE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7DE099-ACDF-D41B-FBC3-5EE9A76F4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7450138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F7055BE-CD0F-6E9E-5992-4C7B9EF5FA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3600000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02645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0FD50C-06F7-21CC-1F6A-D75586A5063A}"/>
              </a:ext>
            </a:extLst>
          </p:cNvPr>
          <p:cNvSpPr/>
          <p:nvPr userDrawn="1"/>
        </p:nvSpPr>
        <p:spPr bwMode="auto">
          <a:xfrm>
            <a:off x="5166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6866651-9DE6-3C00-E38E-CCE80D6049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367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BD1CA3-DE0B-7A9B-CE98-826ACE3DFEB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5F033AD-4765-5FA3-B45B-9232B4A16A8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0826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F6CAB9-3229-A377-2782-A27CB6B30495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B5412B9-D91D-8002-0693-897E81DD8C8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658784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441E88-7FE8-D22E-100F-B090659320A1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FA5AB7F-48A8-2636-3278-4702BB8C57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ACC802-5D81-6EBD-4496-14A01AE49DB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233E5D9-D527-CAC4-3B1E-44AA802D724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3843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DF51-3B9F-C5D8-7A84-09B7B6CB9E8B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3A15A-582D-3DDB-CC40-43726E84CA43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D8F2DF5-DE6F-E2FC-0057-63CC04174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4897430-924B-CB14-9A94-8DB20A76C7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10531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19051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E6C5343-68AD-9879-2727-7ECBCB6A1B23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EF0FAA-381C-3A89-42AF-830EF59119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56236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B24921F-F7DB-7A40-465F-85F610FC20C6}"/>
              </a:ext>
            </a:extLst>
          </p:cNvPr>
          <p:cNvSpPr txBox="1"/>
          <p:nvPr userDrawn="1"/>
        </p:nvSpPr>
        <p:spPr>
          <a:xfrm>
            <a:off x="10048875" y="6423925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4F018D9-6B5F-8BCB-BD75-7816BF58C56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23926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586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40C5E2-D359-5FED-B284-19CF47A41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A60CDFE-3A94-5F3A-0523-ABA56078007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052EF-2C83-09DE-9638-F3492217FF7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997612B5-8615-3AC0-8239-012312B6FD9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74374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2960BA-AA0C-9715-43A2-22B9050A478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1783F67-AD13-06FC-C79E-DE6FBF4D05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414E4-F961-7DD4-8CFB-7B93DD10B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2BE525B-A1C0-1DD5-E075-79F96E71ED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67A229-8E7F-A1E8-7492-218AEFB06B0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71751A4-BF09-09F2-77C6-42F2F2AEB24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184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B7486B-35A7-A3FF-6F44-2159B1E9FAD3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82A7F25-3763-4002-A844-19432F96312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EBC1AB0-2CF4-70A1-0BD7-A9A57D9F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342021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B299D4E-38EF-AC64-7836-1AD1E87996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342021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987761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4D51ED0-4D08-4641-87AC-8F2B5E2A3B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91CD3F7-14AE-A849-9B73-75D2354D484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6BA4E-CBCB-554D-CA98-146A521CFDF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BB62B8-4926-8E23-51B4-D8AC31708BB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A808058-9E6F-F0D8-A385-7B4C54766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00513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93D95AB9-CE03-7AFD-DBBE-C67756B352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005137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401070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168045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1463925-928E-4FE1-B9E5-B83141A2C221}"/>
              </a:ext>
            </a:extLst>
          </p:cNvPr>
          <p:cNvSpPr/>
          <p:nvPr userDrawn="1"/>
        </p:nvSpPr>
        <p:spPr bwMode="auto">
          <a:xfrm>
            <a:off x="-1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169AD5E-5F94-E6C0-0DB3-77E8A5A0D3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438901"/>
            <a:ext cx="540540" cy="1904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3DBF0C-CA25-003D-B5D8-6EE24C1F808C}"/>
              </a:ext>
            </a:extLst>
          </p:cNvPr>
          <p:cNvSpPr txBox="1"/>
          <p:nvPr userDrawn="1"/>
        </p:nvSpPr>
        <p:spPr>
          <a:xfrm>
            <a:off x="10048874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97B36E0-E687-34C7-ACB3-F681FF77C582}"/>
              </a:ext>
            </a:extLst>
          </p:cNvPr>
          <p:cNvSpPr txBox="1">
            <a:spLocks/>
          </p:cNvSpPr>
          <p:nvPr userDrawn="1"/>
        </p:nvSpPr>
        <p:spPr>
          <a:xfrm>
            <a:off x="11498093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1739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5EB0785-A8B2-B844-97DC-362F6DEDBA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8022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D6310AE-15DA-337B-9B5E-33A904BF35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 dirty="0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dirty="0" err="1"/>
              <a:t>popularised</a:t>
            </a:r>
            <a:r>
              <a:rPr lang="en-US" dirty="0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F314DE-C7E3-7237-4318-0407E44F57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5B1A98-E850-C3DE-38BF-EFAE0A2DC98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E6FC5F8-7CE5-D29D-2CCA-C5715CDD43B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655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CD48285-8885-4D22-8AE4-172AF61141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738485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69C4A8F-5B1E-7B0E-CAF7-B9F33D92C84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D6F42AB-F517-759C-A3C4-63443ED771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E9D77-5CF8-5131-6018-48DF58117EC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4280A7-4796-759A-6B00-0444E865A6A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289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F61EEF5-D25E-43F9-9DE7-B0D48CE58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700771F-7FE8-2510-0C0E-734572A38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1513A24-C9FD-06A1-1015-D9656D68B8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543363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5D96D1E-C1BD-6F40-A978-D03F53CD4A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7837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543917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104305F-427E-7B08-9801-43AF5256FF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2890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B0227B-1090-48E9-B33D-CB9CA73DF05F}"/>
              </a:ext>
            </a:extLst>
          </p:cNvPr>
          <p:cNvSpPr/>
          <p:nvPr userDrawn="1"/>
        </p:nvSpPr>
        <p:spPr bwMode="auto">
          <a:xfrm flipH="1">
            <a:off x="3108325" y="0"/>
            <a:ext cx="90836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1C45522-9A1C-E9EB-4D96-B0CFFD2F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250256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E6E8F6-4D6C-2884-0A7D-72BB39B21D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2502567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A07FC1-18DF-2355-0123-10BF2390C02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024407-B901-7B1F-04F9-932983C670E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550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A9547FE-7857-4A70-ACDF-06ACC0CC38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255158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5DC425F-9CC1-9DF3-3F54-17DAA0EB5E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275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Statem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E44CDB4-CF54-423C-9681-C9AAACA56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2F6686-8C0A-120D-0C06-1F8DA97E3C4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465D26-CB94-F414-6836-638151C91C4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205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Pictur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376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1376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032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032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D35C967-D122-42CE-BDAF-F34B55F00EA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54FDC613-45BE-47C3-82C5-FC027C2DE4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31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13442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363153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5145A383-DF32-4D59-98B6-07591E0CE3E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312864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953817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Pictures-Leil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2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2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07656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07656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7867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7867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23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307338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40700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7107384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1" y="4124960"/>
            <a:ext cx="3312160" cy="246221"/>
          </a:xfrm>
        </p:spPr>
        <p:txBody>
          <a:bodyPr>
            <a:spAutoFit/>
          </a:bodyPr>
          <a:lstStyle>
            <a:lvl1pPr>
              <a:defRPr sz="16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40767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76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40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7BF9D5A-73E5-43EB-95F4-FF56369516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4697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AC52B6B-2068-4BD5-8D7B-E2AA5CC142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06449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6DCAB-CD09-4E29-A907-70E7EBE0E6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02125" y="4124325"/>
            <a:ext cx="3311525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9A5C7D-52BE-42FF-9382-B63BBD810F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406449" y="4114800"/>
            <a:ext cx="3312160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3350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-Lei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3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87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4C3044EB-579C-1960-F9EB-F116665A72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32000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6271A-50EF-A83C-8073-0A6628457E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3A26170-4FED-69CC-E7CF-6F163320DA0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20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FF5574A-DA2F-79E2-5257-E464C4DCBED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70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E50C4C1-6951-43AE-9158-49572E0C92C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70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000C3D5-7B7C-EDA2-9F53-869EC3327CC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4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9AE19AD-1845-6345-DD33-3FC9CF1784E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4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FF38F98-219B-60E4-DEE4-A49FED7181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6073D28-63C4-4EAB-D10E-E4C9A179B8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</p:spTree>
    <p:extLst>
      <p:ext uri="{BB962C8B-B14F-4D97-AF65-F5344CB8AC3E}">
        <p14:creationId xmlns:p14="http://schemas.microsoft.com/office/powerpoint/2010/main" val="2697825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F219C23-5248-6A23-1656-7F24D37DB2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0F7879-EF16-5C25-BC5F-DF85AD10BA3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7931746-EE72-E501-E583-1218E82991F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437038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BE84340-BD33-8E44-99AA-6996388612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32164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32DEA7B-FE87-E4A3-0E28-5A6940077AAF}"/>
              </a:ext>
            </a:extLst>
          </p:cNvPr>
          <p:cNvSpPr/>
          <p:nvPr userDrawn="1"/>
        </p:nvSpPr>
        <p:spPr bwMode="auto">
          <a:xfrm>
            <a:off x="1020000" y="999000"/>
            <a:ext cx="10152000" cy="4860000"/>
          </a:xfrm>
          <a:prstGeom prst="rect">
            <a:avLst/>
          </a:prstGeom>
          <a:gradFill>
            <a:gsLst>
              <a:gs pos="66000">
                <a:schemeClr val="accent5"/>
              </a:gs>
              <a:gs pos="0">
                <a:schemeClr val="accent2"/>
              </a:gs>
              <a:gs pos="100000">
                <a:schemeClr val="accent4"/>
              </a:gs>
            </a:gsLst>
            <a:lin ang="1800000" scaled="0"/>
          </a:gra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lvl="0"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88A2ACC-EFED-3CEF-B58F-EA44CFA34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49475" y="2464175"/>
            <a:ext cx="7899400" cy="61555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4000" b="0" i="0" spc="0" dirty="0">
                <a:solidFill>
                  <a:schemeClr val="bg1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Insert your quote here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A967559A-5EC8-8B92-65E3-76928C972876}"/>
              </a:ext>
            </a:extLst>
          </p:cNvPr>
          <p:cNvSpPr txBox="1">
            <a:spLocks/>
          </p:cNvSpPr>
          <p:nvPr userDrawn="1"/>
        </p:nvSpPr>
        <p:spPr>
          <a:xfrm>
            <a:off x="2062976" y="1531155"/>
            <a:ext cx="1248633" cy="147732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GB" sz="9600" dirty="0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401183820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84736574-B51A-9653-821A-E3F5C3FCD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91EA3E-7B20-955D-0C59-DF85A915365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BB0EE7-0219-6A5E-BA7F-872F2C48D7E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50476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-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tx2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62515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_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487BF-0EFB-7D6C-3495-E817AE08A6A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4526B2C-80FA-F150-338B-DB03C5073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663" y="1035424"/>
            <a:ext cx="4648200" cy="11079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7200" b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AF9CC8A-BAB0-4529-6083-A3D7F01CE4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4663" y="2540616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5054708-622B-37B7-6E33-486A71C952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4663" y="3313799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56D2A3F-CCA1-F399-D035-1BB32FED6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4663" y="3672220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50C7B71-5C80-8C3A-B66C-42F7296EB9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4663" y="420130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0BFDDCB6-69BB-2359-40AB-46BA1DA744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4663" y="448823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D16F9E7-5E17-1B62-F499-C761278885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4663" y="4897078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FF80AE-E38B-EC18-E1B5-2B5AAE36C2F4}"/>
              </a:ext>
            </a:extLst>
          </p:cNvPr>
          <p:cNvCxnSpPr>
            <a:cxnSpLocks/>
          </p:cNvCxnSpPr>
          <p:nvPr userDrawn="1"/>
        </p:nvCxnSpPr>
        <p:spPr>
          <a:xfrm>
            <a:off x="474663" y="2935941"/>
            <a:ext cx="3534335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B5E39841-8080-2E83-D8BB-7AD807F024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8728A8-4504-9979-0928-94780E8A451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625CBB-5BC8-9235-54D3-C8F265017D7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1102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_Photo_+_Caption_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50EF9F7-1BDD-C412-DA7B-D3D0D1ABA0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700" y="670773"/>
            <a:ext cx="10896600" cy="553952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C1B8CB-9FFB-8D0A-F788-18710501B096}"/>
              </a:ext>
            </a:extLst>
          </p:cNvPr>
          <p:cNvSpPr/>
          <p:nvPr userDrawn="1"/>
        </p:nvSpPr>
        <p:spPr bwMode="auto">
          <a:xfrm>
            <a:off x="0" y="2679405"/>
            <a:ext cx="4924396" cy="4178595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E94620-1500-8D43-BD64-006D83AE4B8E}"/>
              </a:ext>
            </a:extLst>
          </p:cNvPr>
          <p:cNvSpPr/>
          <p:nvPr userDrawn="1"/>
        </p:nvSpPr>
        <p:spPr bwMode="auto">
          <a:xfrm>
            <a:off x="-2151983" y="5103629"/>
            <a:ext cx="3848986" cy="3848986"/>
          </a:xfrm>
          <a:prstGeom prst="ellipse">
            <a:avLst/>
          </a:prstGeom>
          <a:solidFill>
            <a:srgbClr val="8B97FF">
              <a:alpha val="65000"/>
            </a:srgbClr>
          </a:solidFill>
          <a:ln>
            <a:noFill/>
          </a:ln>
          <a:effectLst>
            <a:softEdge rad="805949"/>
          </a:effectLst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Calibri" panose="020F050202020403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59C2A-0FC8-422F-92E4-B92935AAE5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7699" y="3809007"/>
            <a:ext cx="3722281" cy="58477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3428999"/>
            <a:ext cx="373291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200" b="1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EPAM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84CEF6B-33E9-BCE0-3818-CFEBB6352D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" y="5438001"/>
            <a:ext cx="3690384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2FADFE-CDC9-BCE0-575D-8C2B21EF5ECA}"/>
              </a:ext>
            </a:extLst>
          </p:cNvPr>
          <p:cNvSpPr txBox="1"/>
          <p:nvPr userDrawn="1"/>
        </p:nvSpPr>
        <p:spPr>
          <a:xfrm>
            <a:off x="2271713" y="-85725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dirty="0">
              <a:ea typeface="Human Sans" charset="0"/>
              <a:cs typeface="Human Sans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FE3F6A-717B-D671-C21C-B99B4FB231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237004"/>
            <a:ext cx="495300" cy="1820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AA398A-2E47-0C00-F4A0-87498FC7BBC1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8E7F306-CD25-215E-BBB0-42720869F90C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9418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theme" Target="../theme/theme1.xml"/><Relationship Id="rId66" Type="http://schemas.openxmlformats.org/officeDocument/2006/relationships/image" Target="../media/image1.png"/><Relationship Id="rId6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723899"/>
            <a:ext cx="11277599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B532318-7ECA-4FB6-ADB1-48895B543C86}"/>
              </a:ext>
            </a:extLst>
          </p:cNvPr>
          <p:cNvPicPr>
            <a:picLocks noChangeAspect="1"/>
          </p:cNvPicPr>
          <p:nvPr userDrawn="1"/>
        </p:nvPicPr>
        <p:blipFill>
          <a:blip r:embed="rId6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641FF6-5DCC-D34B-9DD7-29931472CBC7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1DA6592-6579-C548-911C-85A5195E10B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A0289-E5C4-74D3-46E5-CB49BE90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139" y="1680713"/>
            <a:ext cx="11267660" cy="44914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5885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1" r:id="rId1"/>
    <p:sldLayoutId id="2147484352" r:id="rId2"/>
    <p:sldLayoutId id="2147484353" r:id="rId3"/>
    <p:sldLayoutId id="2147484354" r:id="rId4"/>
    <p:sldLayoutId id="2147484355" r:id="rId5"/>
    <p:sldLayoutId id="2147484356" r:id="rId6"/>
    <p:sldLayoutId id="2147484357" r:id="rId7"/>
    <p:sldLayoutId id="2147484358" r:id="rId8"/>
    <p:sldLayoutId id="2147484359" r:id="rId9"/>
    <p:sldLayoutId id="2147484360" r:id="rId10"/>
    <p:sldLayoutId id="2147484361" r:id="rId11"/>
    <p:sldLayoutId id="2147484362" r:id="rId12"/>
    <p:sldLayoutId id="2147484363" r:id="rId13"/>
    <p:sldLayoutId id="2147484364" r:id="rId14"/>
    <p:sldLayoutId id="2147484365" r:id="rId15"/>
    <p:sldLayoutId id="2147484366" r:id="rId16"/>
    <p:sldLayoutId id="2147484367" r:id="rId17"/>
    <p:sldLayoutId id="2147484368" r:id="rId18"/>
    <p:sldLayoutId id="2147484369" r:id="rId19"/>
    <p:sldLayoutId id="2147484370" r:id="rId20"/>
    <p:sldLayoutId id="2147484371" r:id="rId21"/>
    <p:sldLayoutId id="2147484372" r:id="rId22"/>
    <p:sldLayoutId id="2147484373" r:id="rId23"/>
    <p:sldLayoutId id="2147484374" r:id="rId24"/>
    <p:sldLayoutId id="2147484375" r:id="rId25"/>
    <p:sldLayoutId id="2147484376" r:id="rId26"/>
    <p:sldLayoutId id="2147484377" r:id="rId27"/>
    <p:sldLayoutId id="2147484378" r:id="rId28"/>
    <p:sldLayoutId id="2147484379" r:id="rId29"/>
    <p:sldLayoutId id="2147484380" r:id="rId30"/>
    <p:sldLayoutId id="2147484381" r:id="rId31"/>
    <p:sldLayoutId id="2147484382" r:id="rId32"/>
    <p:sldLayoutId id="2147484383" r:id="rId33"/>
    <p:sldLayoutId id="2147484384" r:id="rId34"/>
    <p:sldLayoutId id="2147484385" r:id="rId35"/>
    <p:sldLayoutId id="2147484386" r:id="rId36"/>
    <p:sldLayoutId id="2147484387" r:id="rId37"/>
    <p:sldLayoutId id="2147484388" r:id="rId38"/>
    <p:sldLayoutId id="2147484389" r:id="rId39"/>
    <p:sldLayoutId id="2147484390" r:id="rId40"/>
    <p:sldLayoutId id="2147484391" r:id="rId41"/>
    <p:sldLayoutId id="2147484392" r:id="rId42"/>
    <p:sldLayoutId id="2147484393" r:id="rId43"/>
    <p:sldLayoutId id="2147484394" r:id="rId44"/>
    <p:sldLayoutId id="2147484395" r:id="rId45"/>
    <p:sldLayoutId id="2147484396" r:id="rId46"/>
    <p:sldLayoutId id="2147484397" r:id="rId47"/>
    <p:sldLayoutId id="2147484398" r:id="rId48"/>
    <p:sldLayoutId id="2147484399" r:id="rId49"/>
    <p:sldLayoutId id="2147484400" r:id="rId50"/>
    <p:sldLayoutId id="2147484401" r:id="rId51"/>
    <p:sldLayoutId id="2147484402" r:id="rId52"/>
    <p:sldLayoutId id="2147484403" r:id="rId53"/>
    <p:sldLayoutId id="2147484404" r:id="rId54"/>
    <p:sldLayoutId id="2147484405" r:id="rId55"/>
    <p:sldLayoutId id="2147484406" r:id="rId56"/>
    <p:sldLayoutId id="2147484407" r:id="rId57"/>
    <p:sldLayoutId id="2147484408" r:id="rId58"/>
    <p:sldLayoutId id="2147484409" r:id="rId59"/>
    <p:sldLayoutId id="2147484410" r:id="rId60"/>
    <p:sldLayoutId id="2147484411" r:id="rId61"/>
    <p:sldLayoutId id="2147484412" r:id="rId62"/>
    <p:sldLayoutId id="2147484413" r:id="rId63"/>
    <p:sldLayoutId id="2147484414" r:id="rId6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dirty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2538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2pPr>
      <a:lvl3pPr marL="5040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Courier New" panose="02070309020205020404" pitchFamily="49" charset="0"/>
        <a:buChar char="o"/>
        <a:defRPr sz="14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56">
          <p15:clr>
            <a:srgbClr val="F26B43"/>
          </p15:clr>
        </p15:guide>
        <p15:guide id="16" orient="horz" pos="239">
          <p15:clr>
            <a:srgbClr val="F26B43"/>
          </p15:clr>
        </p15:guide>
        <p15:guide id="17" orient="horz" pos="454">
          <p15:clr>
            <a:srgbClr val="F26B43"/>
          </p15:clr>
        </p15:guide>
        <p15:guide id="20" orient="horz" pos="744">
          <p15:clr>
            <a:srgbClr val="F26B43"/>
          </p15:clr>
        </p15:guide>
        <p15:guide id="41" orient="horz" pos="3888">
          <p15:clr>
            <a:srgbClr val="F26B43"/>
          </p15:clr>
        </p15:guide>
        <p15:guide id="43" orient="horz" pos="4176">
          <p15:clr>
            <a:srgbClr val="F26B43"/>
          </p15:clr>
        </p15:guide>
        <p15:guide id="56" orient="horz">
          <p15:clr>
            <a:srgbClr val="F26B43"/>
          </p15:clr>
        </p15:guide>
        <p15:guide id="58" orient="horz" pos="4032">
          <p15:clr>
            <a:srgbClr val="F26B43"/>
          </p15:clr>
        </p15:guide>
        <p15:guide id="59" pos="288">
          <p15:clr>
            <a:srgbClr val="F26B43"/>
          </p15:clr>
        </p15:guide>
        <p15:guide id="61" pos="7392">
          <p15:clr>
            <a:srgbClr val="F26B43"/>
          </p15:clr>
        </p15:guide>
        <p15:guide id="64" pos="1354">
          <p15:clr>
            <a:srgbClr val="F26B43"/>
          </p15:clr>
        </p15:guide>
        <p15:guide id="65" pos="1498">
          <p15:clr>
            <a:srgbClr val="F26B43"/>
          </p15:clr>
        </p15:guide>
        <p15:guide id="68" pos="2710">
          <p15:clr>
            <a:srgbClr val="F26B43"/>
          </p15:clr>
        </p15:guide>
        <p15:guide id="69" pos="2568">
          <p15:clr>
            <a:srgbClr val="F26B43"/>
          </p15:clr>
        </p15:guide>
        <p15:guide id="72" pos="3772">
          <p15:clr>
            <a:srgbClr val="F26B43"/>
          </p15:clr>
        </p15:guide>
        <p15:guide id="73" pos="3919">
          <p15:clr>
            <a:srgbClr val="F26B43"/>
          </p15:clr>
        </p15:guide>
        <p15:guide id="76" pos="5128">
          <p15:clr>
            <a:srgbClr val="F26B43"/>
          </p15:clr>
        </p15:guide>
        <p15:guide id="77" pos="4981">
          <p15:clr>
            <a:srgbClr val="F26B43"/>
          </p15:clr>
        </p15:guide>
        <p15:guide id="80" pos="6186">
          <p15:clr>
            <a:srgbClr val="F26B43"/>
          </p15:clr>
        </p15:guide>
        <p15:guide id="81" pos="633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Four-phase pipeline · RAP app with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M A Y  2 0 2 6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AI-Assisted RAP BO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The pipeline · phases · loop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Skill catalog + one example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Artifacts across phases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What got built · 72 objects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What goes wrong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Outcome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c_1_DiagramCanvas"/>
          <p:cNvSpPr/>
          <p:nvPr/>
        </p:nvSpPr>
        <p:spPr>
          <a:xfrm>
            <a:off x="457200" y="1463040"/>
            <a:ext cx="11064240" cy="3566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pipeline · idea to running app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FOUR PHASES · ONE PIPE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DiagramCanvas:node0"/>
          <p:cNvSpPr/>
          <p:nvPr/>
        </p:nvSpPr>
        <p:spPr>
          <a:xfrm>
            <a:off x="1051560" y="1828800"/>
            <a:ext cx="1508760" cy="1051560"/>
          </a:xfrm>
          <a:prstGeom prst="roundRect">
            <a:avLst/>
          </a:prstGeom>
          <a:solidFill>
            <a:srgbClr val="898989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plain words · no ABAP</a:t>
            </a:r>
          </a:p>
        </p:txBody>
      </p:sp>
      <p:sp>
        <p:nvSpPr>
          <p:cNvPr id="7" name="c_1_DiagramCanvas:node1"/>
          <p:cNvSpPr/>
          <p:nvPr/>
        </p:nvSpPr>
        <p:spPr>
          <a:xfrm>
            <a:off x="2724912" y="1828800"/>
            <a:ext cx="1508760" cy="1051560"/>
          </a:xfrm>
          <a:prstGeom prst="roundRect">
            <a:avLst/>
          </a:prstGeom>
          <a:solidFill>
            <a:srgbClr val="0047FF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business-requirements</a:t>
            </a:r>
          </a:p>
        </p:txBody>
      </p:sp>
      <p:sp>
        <p:nvSpPr>
          <p:cNvPr id="8" name="c_1_DiagramCanvas:node2"/>
          <p:cNvSpPr/>
          <p:nvPr/>
        </p:nvSpPr>
        <p:spPr>
          <a:xfrm>
            <a:off x="4398264" y="1828800"/>
            <a:ext cx="1508760" cy="1051560"/>
          </a:xfrm>
          <a:prstGeom prst="roundRect">
            <a:avLst/>
          </a:prstGeom>
          <a:solidFill>
            <a:srgbClr val="107E8D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tech-spec</a:t>
            </a:r>
          </a:p>
        </p:txBody>
      </p:sp>
      <p:sp>
        <p:nvSpPr>
          <p:cNvPr id="9" name="c_1_DiagramCanvas:node3"/>
          <p:cNvSpPr/>
          <p:nvPr/>
        </p:nvSpPr>
        <p:spPr>
          <a:xfrm>
            <a:off x="6071616" y="1828800"/>
            <a:ext cx="1508760" cy="1051560"/>
          </a:xfrm>
          <a:prstGeom prst="roundRect">
            <a:avLst/>
          </a:prstGeom>
          <a:solidFill>
            <a:srgbClr val="E614EB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impl-plan</a:t>
            </a:r>
          </a:p>
        </p:txBody>
      </p:sp>
      <p:sp>
        <p:nvSpPr>
          <p:cNvPr id="10" name="c_1_DiagramCanvas:node4"/>
          <p:cNvSpPr/>
          <p:nvPr/>
        </p:nvSpPr>
        <p:spPr>
          <a:xfrm>
            <a:off x="7744968" y="1828800"/>
            <a:ext cx="1508760" cy="1051560"/>
          </a:xfrm>
          <a:prstGeom prst="roundRect">
            <a:avLst/>
          </a:prstGeom>
          <a:solidFill>
            <a:srgbClr val="E06C00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active SAP objects</a:t>
            </a:r>
          </a:p>
        </p:txBody>
      </p:sp>
      <p:sp>
        <p:nvSpPr>
          <p:cNvPr id="11" name="c_1_DiagramCanvas:node5"/>
          <p:cNvSpPr/>
          <p:nvPr/>
        </p:nvSpPr>
        <p:spPr>
          <a:xfrm>
            <a:off x="9418320" y="1828800"/>
            <a:ext cx="1508760" cy="1051560"/>
          </a:xfrm>
          <a:prstGeom prst="roundRect">
            <a:avLst/>
          </a:prstGeom>
          <a:solidFill>
            <a:srgbClr val="E80202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Fiori preview</a:t>
            </a:r>
          </a:p>
        </p:txBody>
      </p:sp>
      <p:cxnSp>
        <p:nvCxnSpPr>
          <p:cNvPr id="12" name="c_1_DiagramCanvas:conn0"/>
          <p:cNvCxnSpPr>
            <a:stCxn id="6" idx="3"/>
            <a:endCxn id="7" idx="1"/>
          </p:cNvCxnSpPr>
          <p:nvPr/>
        </p:nvCxnSpPr>
        <p:spPr>
          <a:xfrm>
            <a:off x="2560320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_1_DiagramCanvas:conn1"/>
          <p:cNvCxnSpPr>
            <a:stCxn id="7" idx="3"/>
            <a:endCxn id="8" idx="1"/>
          </p:cNvCxnSpPr>
          <p:nvPr/>
        </p:nvCxnSpPr>
        <p:spPr>
          <a:xfrm>
            <a:off x="4233672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_1_DiagramCanvas:conn2"/>
          <p:cNvCxnSpPr>
            <a:stCxn id="8" idx="3"/>
            <a:endCxn id="9" idx="1"/>
          </p:cNvCxnSpPr>
          <p:nvPr/>
        </p:nvCxnSpPr>
        <p:spPr>
          <a:xfrm>
            <a:off x="5907024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_1_DiagramCanvas:conn3"/>
          <p:cNvCxnSpPr>
            <a:stCxn id="9" idx="3"/>
            <a:endCxn id="10" idx="1"/>
          </p:cNvCxnSpPr>
          <p:nvPr/>
        </p:nvCxnSpPr>
        <p:spPr>
          <a:xfrm>
            <a:off x="7580376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_1_DiagramCanvas:conn4"/>
          <p:cNvCxnSpPr>
            <a:stCxn id="10" idx="3"/>
            <a:endCxn id="11" idx="1"/>
          </p:cNvCxnSpPr>
          <p:nvPr/>
        </p:nvCxnSpPr>
        <p:spPr>
          <a:xfrm>
            <a:off x="9253728" y="2354580"/>
            <a:ext cx="164592" cy="0"/>
          </a:xfrm>
          <a:prstGeom prst="line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c_1_Block"/>
          <p:cNvGraphicFramePr>
            <a:graphicFrameLocks noGrp="1"/>
          </p:cNvGraphicFramePr>
          <p:nvPr/>
        </p:nvGraphicFramePr>
        <p:xfrm>
          <a:off x="457200" y="5212080"/>
          <a:ext cx="11064240" cy="914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Phases 1-3 save their artifact into a RAG collection. Phase 4 pulls plan + spec from RAG · you do not retype DDL.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Phases 1-3 · documents only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WHO DOES WHAT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Phase 1 · Requirements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You: </a:t>
            </a:r>
            <a:r>
              <a:rPr sz="1400">
                <a:solidFill>
                  <a:srgbClr val="FFFFFF"/>
                </a:solidFill>
              </a:rPr>
              <a:t>domain expert · approve entities/rules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AI: </a:t>
            </a:r>
            <a:r>
              <a:rPr sz="1400">
                <a:solidFill>
                  <a:srgbClr val="FFFFFF"/>
                </a:solidFill>
              </a:rPr>
              <a:t>business analyst · formalize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In: </a:t>
            </a:r>
            <a:r>
              <a:rPr sz="1400">
                <a:solidFill>
                  <a:srgbClr val="FFFFFF"/>
                </a:solidFill>
              </a:rPr>
              <a:t>your idea in plain words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Out: </a:t>
            </a:r>
            <a:r>
              <a:rPr sz="1400" b="1" i="1">
                <a:solidFill>
                  <a:srgbClr val="FFFFFF"/>
                </a:solidFill>
              </a:rPr>
              <a:t>business-requirements (RAG)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420624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Phase 2 · Tech spec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You: </a:t>
            </a:r>
            <a:r>
              <a:rPr sz="1400">
                <a:solidFill>
                  <a:srgbClr val="FFFFFF"/>
                </a:solidFill>
              </a:rPr>
              <a:t>architect · review draft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AI: </a:t>
            </a:r>
            <a:r>
              <a:rPr sz="1400">
                <a:solidFill>
                  <a:srgbClr val="FFFFFF"/>
                </a:solidFill>
              </a:rPr>
              <a:t>technical writer · propose DDL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In: </a:t>
            </a:r>
            <a:r>
              <a:rPr sz="1400">
                <a:solidFill>
                  <a:srgbClr val="FFFFFF"/>
                </a:solidFill>
              </a:rPr>
              <a:t>business-requirements (RAG)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Out: </a:t>
            </a:r>
            <a:r>
              <a:rPr sz="1400" b="1" i="1">
                <a:solidFill>
                  <a:srgbClr val="FFFFFF"/>
                </a:solidFill>
              </a:rPr>
              <a:t>tech-spec (RAG · draft, evolves)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795528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CF12D3"/>
              </a:gs>
              <a:gs pos="100000">
                <a:srgbClr val="E82BED"/>
              </a:gs>
            </a:gsLst>
            <a:lin ang="16200000" scaled="0"/>
          </a:gradFill>
          <a:ln w="3175">
            <a:solidFill>
              <a:srgbClr val="644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Phase 3 · Plan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You: </a:t>
            </a:r>
            <a:r>
              <a:rPr sz="1400">
                <a:solidFill>
                  <a:srgbClr val="FFFFFF"/>
                </a:solidFill>
              </a:rPr>
              <a:t>project manager · check order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AI: </a:t>
            </a:r>
            <a:r>
              <a:rPr sz="1400">
                <a:solidFill>
                  <a:srgbClr val="FFFFFF"/>
                </a:solidFill>
              </a:rPr>
              <a:t>lead developer · order steps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In: </a:t>
            </a:r>
            <a:r>
              <a:rPr sz="1400">
                <a:solidFill>
                  <a:srgbClr val="FFFFFF"/>
                </a:solidFill>
              </a:rPr>
              <a:t>tech-spec (RAG)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Out: </a:t>
            </a:r>
            <a:r>
              <a:rPr sz="1400" b="1" i="1">
                <a:solidFill>
                  <a:srgbClr val="FFFFFF"/>
                </a:solidFill>
              </a:rPr>
              <a:t>impl-plan (RAG · ordered steps)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Phase 4 · build layer by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DEPENDENCY ORDER · LAYERED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ChevronProcess:chevron0"/>
          <p:cNvSpPr/>
          <p:nvPr/>
        </p:nvSpPr>
        <p:spPr>
          <a:xfrm>
            <a:off x="457200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004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Package</a:t>
            </a:r>
          </a:p>
        </p:txBody>
      </p:sp>
      <p:sp>
        <p:nvSpPr>
          <p:cNvPr id="6" name="c_1_ChevronProcess:chevron1"/>
          <p:cNvSpPr/>
          <p:nvPr/>
        </p:nvSpPr>
        <p:spPr>
          <a:xfrm>
            <a:off x="1845945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A08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Domains</a:t>
            </a:r>
          </a:p>
        </p:txBody>
      </p:sp>
      <p:sp>
        <p:nvSpPr>
          <p:cNvPr id="7" name="c_1_ChevronProcess:chevron2"/>
          <p:cNvSpPr/>
          <p:nvPr/>
        </p:nvSpPr>
        <p:spPr>
          <a:xfrm>
            <a:off x="3234690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00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Data el</a:t>
            </a:r>
          </a:p>
        </p:txBody>
      </p:sp>
      <p:sp>
        <p:nvSpPr>
          <p:cNvPr id="8" name="c_1_ChevronProcess:chevron3"/>
          <p:cNvSpPr/>
          <p:nvPr/>
        </p:nvSpPr>
        <p:spPr>
          <a:xfrm>
            <a:off x="4623435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107E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Tables</a:t>
            </a:r>
          </a:p>
        </p:txBody>
      </p:sp>
      <p:sp>
        <p:nvSpPr>
          <p:cNvPr id="9" name="c_1_ChevronProcess:chevron4"/>
          <p:cNvSpPr/>
          <p:nvPr/>
        </p:nvSpPr>
        <p:spPr>
          <a:xfrm>
            <a:off x="6012180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CDS R</a:t>
            </a:r>
          </a:p>
        </p:txBody>
      </p:sp>
      <p:sp>
        <p:nvSpPr>
          <p:cNvPr id="10" name="c_1_ChevronProcess:chevron5"/>
          <p:cNvSpPr/>
          <p:nvPr/>
        </p:nvSpPr>
        <p:spPr>
          <a:xfrm>
            <a:off x="7400925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00A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CDS C</a:t>
            </a:r>
          </a:p>
        </p:txBody>
      </p:sp>
      <p:sp>
        <p:nvSpPr>
          <p:cNvPr id="11" name="c_1_ChevronProcess:chevron6"/>
          <p:cNvSpPr/>
          <p:nvPr/>
        </p:nvSpPr>
        <p:spPr>
          <a:xfrm>
            <a:off x="8789670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A84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BDEF</a:t>
            </a:r>
          </a:p>
        </p:txBody>
      </p:sp>
      <p:sp>
        <p:nvSpPr>
          <p:cNvPr id="12" name="c_1_ChevronProcess:chevron7"/>
          <p:cNvSpPr/>
          <p:nvPr/>
        </p:nvSpPr>
        <p:spPr>
          <a:xfrm>
            <a:off x="10178415" y="1920240"/>
            <a:ext cx="1343025" cy="548640"/>
          </a:xfrm>
          <a:prstGeom prst="chevron">
            <a:avLst>
              <a:gd name="adj" fmla="val 45000"/>
            </a:avLst>
          </a:prstGeom>
          <a:solidFill>
            <a:srgbClr val="013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Service</a:t>
            </a:r>
          </a:p>
        </p:txBody>
      </p:sp>
      <p:sp>
        <p:nvSpPr>
          <p:cNvPr id="13" name="c_1_ChevronProcess:content0"/>
          <p:cNvSpPr/>
          <p:nvPr/>
        </p:nvSpPr>
        <p:spPr>
          <a:xfrm>
            <a:off x="457200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prefix Z##_</a:t>
            </a:r>
          </a:p>
        </p:txBody>
      </p:sp>
      <p:sp>
        <p:nvSpPr>
          <p:cNvPr id="14" name="c_1_ChevronProcess:content1"/>
          <p:cNvSpPr/>
          <p:nvPr/>
        </p:nvSpPr>
        <p:spPr>
          <a:xfrm>
            <a:off x="1845945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value ranges</a:t>
            </a:r>
          </a:p>
        </p:txBody>
      </p:sp>
      <p:sp>
        <p:nvSpPr>
          <p:cNvPr id="15" name="c_1_ChevronProcess:content2"/>
          <p:cNvSpPr/>
          <p:nvPr/>
        </p:nvSpPr>
        <p:spPr>
          <a:xfrm>
            <a:off x="3234690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typed fields</a:t>
            </a:r>
          </a:p>
        </p:txBody>
      </p:sp>
      <p:sp>
        <p:nvSpPr>
          <p:cNvPr id="16" name="c_1_ChevronProcess:content3"/>
          <p:cNvSpPr/>
          <p:nvPr/>
        </p:nvSpPr>
        <p:spPr>
          <a:xfrm>
            <a:off x="4623435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persistent + draft</a:t>
            </a:r>
          </a:p>
        </p:txBody>
      </p:sp>
      <p:sp>
        <p:nvSpPr>
          <p:cNvPr id="17" name="c_1_ChevronProcess:content4"/>
          <p:cNvSpPr/>
          <p:nvPr/>
        </p:nvSpPr>
        <p:spPr>
          <a:xfrm>
            <a:off x="6012180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interface views</a:t>
            </a:r>
          </a:p>
        </p:txBody>
      </p:sp>
      <p:sp>
        <p:nvSpPr>
          <p:cNvPr id="18" name="c_1_ChevronProcess:content5"/>
          <p:cNvSpPr/>
          <p:nvPr/>
        </p:nvSpPr>
        <p:spPr>
          <a:xfrm>
            <a:off x="7400925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projection</a:t>
            </a:r>
          </a:p>
        </p:txBody>
      </p:sp>
      <p:sp>
        <p:nvSpPr>
          <p:cNvPr id="19" name="c_1_ChevronProcess:content6"/>
          <p:cNvSpPr/>
          <p:nvPr/>
        </p:nvSpPr>
        <p:spPr>
          <a:xfrm>
            <a:off x="8789670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behaviour</a:t>
            </a:r>
          </a:p>
        </p:txBody>
      </p:sp>
      <p:sp>
        <p:nvSpPr>
          <p:cNvPr id="20" name="c_1_ChevronProcess:content7"/>
          <p:cNvSpPr/>
          <p:nvPr/>
        </p:nvSpPr>
        <p:spPr>
          <a:xfrm>
            <a:off x="10178415" y="2560320"/>
            <a:ext cx="134302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definition + bind</a:t>
            </a:r>
          </a:p>
        </p:txBody>
      </p:sp>
      <p:graphicFrame>
        <p:nvGraphicFramePr>
          <p:cNvPr id="21" name="c_1_Block"/>
          <p:cNvGraphicFramePr>
            <a:graphicFrameLocks noGrp="1"/>
          </p:cNvGraphicFramePr>
          <p:nvPr/>
        </p:nvGraphicFramePr>
        <p:xfrm>
          <a:off x="457200" y="4846320"/>
          <a:ext cx="11064240" cy="12801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12801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Rule: </a:t>
                      </a:r>
                      <a:r>
                        <a:rPr sz="1400">
                          <a:solidFill>
                            <a:srgbClr val="000000"/>
                          </a:solidFill>
                        </a:rPr>
                        <a:t>3-4 objects per prompt · activate before next layer.</a:t>
                      </a:r>
                    </a:p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Trust check: </a:t>
                      </a:r>
                      <a:r>
                        <a:rPr sz="1400">
                          <a:solidFill>
                            <a:srgbClr val="000000"/>
                          </a:solidFill>
                        </a:rPr>
                        <a:t>"Active" is a claim until ReadDomain / ReadTable returns active: true.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c_1_DiagramCanvas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Complex objects · never assume first attempt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CREATE · CHECK · FIX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DiagramCanvas:node0"/>
          <p:cNvSpPr/>
          <p:nvPr/>
        </p:nvSpPr>
        <p:spPr>
          <a:xfrm>
            <a:off x="5120640" y="2171700"/>
            <a:ext cx="1737360" cy="868680"/>
          </a:xfrm>
          <a:prstGeom prst="roundRect">
            <a:avLst/>
          </a:prstGeom>
          <a:solidFill>
            <a:srgbClr val="0047FF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no activate yet</a:t>
            </a:r>
          </a:p>
        </p:txBody>
      </p:sp>
      <p:sp>
        <p:nvSpPr>
          <p:cNvPr id="7" name="c_1_DiagramCanvas:node1"/>
          <p:cNvSpPr/>
          <p:nvPr/>
        </p:nvSpPr>
        <p:spPr>
          <a:xfrm>
            <a:off x="7315200" y="3360420"/>
            <a:ext cx="1737360" cy="868680"/>
          </a:xfrm>
          <a:prstGeom prst="flowChartDecision">
            <a:avLst/>
          </a:prstGeom>
          <a:solidFill>
            <a:srgbClr val="2590EE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syntax · refs</a:t>
            </a:r>
          </a:p>
        </p:txBody>
      </p:sp>
      <p:sp>
        <p:nvSpPr>
          <p:cNvPr id="8" name="c_1_DiagramCanvas:node2"/>
          <p:cNvSpPr/>
          <p:nvPr/>
        </p:nvSpPr>
        <p:spPr>
          <a:xfrm>
            <a:off x="5120640" y="4549140"/>
            <a:ext cx="1737360" cy="868680"/>
          </a:xfrm>
          <a:prstGeom prst="roundRect">
            <a:avLst/>
          </a:prstGeom>
          <a:solidFill>
            <a:srgbClr val="E06C00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agent edits spec · retry</a:t>
            </a:r>
          </a:p>
        </p:txBody>
      </p:sp>
      <p:sp>
        <p:nvSpPr>
          <p:cNvPr id="9" name="c_1_DiagramCanvas:node3"/>
          <p:cNvSpPr/>
          <p:nvPr/>
        </p:nvSpPr>
        <p:spPr>
          <a:xfrm>
            <a:off x="2926080" y="3360420"/>
            <a:ext cx="1737360" cy="868680"/>
          </a:xfrm>
          <a:prstGeom prst="roundRect">
            <a:avLst/>
          </a:prstGeom>
          <a:solidFill>
            <a:srgbClr val="107E8D"/>
          </a:solidFill>
          <a:ln w="9144">
            <a:solidFill>
              <a:srgbClr val="000000"/>
            </a:solidFill>
          </a:ln>
          <a:effectLst>
            <a:outerShdw blurRad="76200" dist="38100" dir="2700000" algn="ctr">
              <a:srgbClr val="000000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whole layer together</a:t>
            </a:r>
          </a:p>
        </p:txBody>
      </p:sp>
      <p:cxnSp>
        <p:nvCxnSpPr>
          <p:cNvPr id="10" name="c_1_DiagramCanvas:conn0"/>
          <p:cNvCxnSpPr>
            <a:stCxn id="6" idx="3"/>
            <a:endCxn id="7" idx="1"/>
          </p:cNvCxnSpPr>
          <p:nvPr/>
        </p:nvCxnSpPr>
        <p:spPr>
          <a:xfrm>
            <a:off x="6858000" y="2606040"/>
            <a:ext cx="457200" cy="1188720"/>
          </a:xfrm>
          <a:prstGeom prst="curvedConnector3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_1_DiagramCanvas:conn1"/>
          <p:cNvCxnSpPr>
            <a:stCxn id="7" idx="1"/>
            <a:endCxn id="8" idx="3"/>
          </p:cNvCxnSpPr>
          <p:nvPr/>
        </p:nvCxnSpPr>
        <p:spPr>
          <a:xfrm flipH="1">
            <a:off x="6858000" y="3794760"/>
            <a:ext cx="457200" cy="1188720"/>
          </a:xfrm>
          <a:prstGeom prst="curvedConnector3">
            <a:avLst/>
          </a:prstGeom>
          <a:ln w="9144">
            <a:solidFill>
              <a:srgbClr val="0000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_1_DiagramCanvas:conn1:text"/>
          <p:cNvSpPr txBox="1"/>
          <p:nvPr/>
        </p:nvSpPr>
        <p:spPr>
          <a:xfrm>
            <a:off x="6629400" y="406908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spAutoFit/>
          </a:bodyPr>
          <a:lstStyle/>
          <a:p>
            <a:pPr algn="l"/>
            <a:r>
              <a:rPr sz="1000">
                <a:solidFill>
                  <a:srgbClr val="000000"/>
                </a:solidFill>
              </a:rPr>
              <a:t>errors</a:t>
            </a:r>
          </a:p>
        </p:txBody>
      </p:sp>
      <p:cxnSp>
        <p:nvCxnSpPr>
          <p:cNvPr id="13" name="c_1_DiagramCanvas:conn2"/>
          <p:cNvCxnSpPr>
            <a:stCxn id="8" idx="0"/>
            <a:endCxn id="6" idx="2"/>
          </p:cNvCxnSpPr>
          <p:nvPr/>
        </p:nvCxnSpPr>
        <p:spPr>
          <a:xfrm flipV="1">
            <a:off x="5989320" y="3040380"/>
            <a:ext cx="0" cy="1508760"/>
          </a:xfrm>
          <a:prstGeom prst="curvedConnector3">
            <a:avLst/>
          </a:prstGeom>
          <a:ln w="9144">
            <a:solidFill>
              <a:srgbClr val="0000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_1_DiagramCanvas:conn2:text"/>
          <p:cNvSpPr txBox="1"/>
          <p:nvPr/>
        </p:nvSpPr>
        <p:spPr>
          <a:xfrm>
            <a:off x="5532120" y="347472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spAutoFit/>
          </a:bodyPr>
          <a:lstStyle/>
          <a:p>
            <a:pPr algn="l"/>
            <a:r>
              <a:rPr sz="1000">
                <a:solidFill>
                  <a:srgbClr val="000000"/>
                </a:solidFill>
              </a:rPr>
              <a:t>retry</a:t>
            </a:r>
          </a:p>
        </p:txBody>
      </p:sp>
      <p:cxnSp>
        <p:nvCxnSpPr>
          <p:cNvPr id="15" name="c_1_DiagramCanvas:conn3"/>
          <p:cNvCxnSpPr>
            <a:stCxn id="7" idx="1"/>
            <a:endCxn id="9" idx="3"/>
          </p:cNvCxnSpPr>
          <p:nvPr/>
        </p:nvCxnSpPr>
        <p:spPr>
          <a:xfrm flipH="1">
            <a:off x="4663440" y="3794760"/>
            <a:ext cx="2651760" cy="0"/>
          </a:xfrm>
          <a:prstGeom prst="curvedConnector3">
            <a:avLst/>
          </a:prstGeom>
          <a:ln w="9144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_1_DiagramCanvas:conn3:text"/>
          <p:cNvSpPr txBox="1"/>
          <p:nvPr/>
        </p:nvSpPr>
        <p:spPr>
          <a:xfrm>
            <a:off x="5532120" y="3474720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wrap="none" anchor="ctr">
            <a:spAutoFit/>
          </a:bodyPr>
          <a:lstStyle/>
          <a:p>
            <a:pPr algn="l"/>
            <a:r>
              <a:rPr sz="1000">
                <a:solidFill>
                  <a:srgbClr val="000000"/>
                </a:solidFill>
              </a:rPr>
              <a:t>clean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catalog · one task per file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16 SKILLS · 33-74 LINES EACH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3566160" cy="256032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DDIC layer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creating-domain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creating-data-element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creating-persistent-table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creating-draft-table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4206240" y="1463040"/>
            <a:ext cx="3566160" cy="256032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RAP layer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creating-interface-cds-view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creating-projection-cds-view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creating-metadata-extension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creating-bdef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creating-bimp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creating-projection-bdef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7955280" y="1463040"/>
            <a:ext cx="3566160" cy="2560320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Service · operational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creating-service-definition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creating-service-binding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enforcing-target-package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avoiding-hallucinations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managing-rag-artifacts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activating-objects</a:t>
            </a:r>
          </a:p>
        </p:txBody>
      </p:sp>
      <p:graphicFrame>
        <p:nvGraphicFramePr>
          <p:cNvPr id="8" name="c_4_Block"/>
          <p:cNvGraphicFramePr>
            <a:graphicFrameLocks noGrp="1"/>
          </p:cNvGraphicFramePr>
          <p:nvPr/>
        </p:nvGraphicFramePr>
        <p:xfrm>
          <a:off x="457200" y="5303520"/>
          <a:ext cx="11064240" cy="8229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Why split: </a:t>
                      </a:r>
                      <a:r>
                        <a:rPr sz="1400">
                          <a:solidFill>
                            <a:srgbClr val="000000"/>
                          </a:solidFill>
                        </a:rPr>
                        <a:t>one skill = one task · no stage / phase references inside · load only what the current step needs · easier to evolve · fits on one screen.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 example · activating-objects.md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WHOLE FILE · AS-IS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36576"/>
          <a:lstStyle/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name: Activating Objects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tags: [sap, activation, governance]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# Activating Objects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## Hard rules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- Never bare "Activate all inactive objects" — filter by prefix Z##_.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- Check before activating. Partial failures cascade.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- Group activation for circular refs (CDS R-views, C-views).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- BDEF + BIMP must be activated together.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- BDEFs: ActivateBehaviorDefinition. ActivateObjects = DDIC + CDS only.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## After activation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- Re-run syntax check to surface warnings hidden by earlier errors.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- Read… each object — response must include active: true.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## Common error fix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  Activated unrelated objects   → missing prefix filter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  Still inactive after activate → wrong tool: use ActivateBehaviorDefinition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  Half-active layer             → activated one-by-one; group-activate whole layer</a:t>
            </a:r>
          </a:p>
          <a:p>
            <a:pPr algn="l">
              <a:spcAft>
                <a:spcPts val="0"/>
              </a:spcAft>
            </a:pPr>
            <a:r>
              <a:rPr sz="900">
                <a:solidFill>
                  <a:srgbClr val="000000"/>
                </a:solidFill>
              </a:rPr>
              <a:t>  Syntax clean, activate fails  → prerequisite layer not active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same entity moves through the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AUTHOR · FROM IDEA TO OBJECT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2697480" cy="466344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Phase 1 · business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Entity: Author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Name (string 100, required)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Country (string 50)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Birth Year (int 4)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Biography (text)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Rule: </a:t>
            </a:r>
            <a:r>
              <a:rPr sz="1400">
                <a:solidFill>
                  <a:srgbClr val="FFFFFF"/>
                </a:solidFill>
              </a:rPr>
              <a:t>name unique; birth-year 1000..now.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3246120" y="1463040"/>
            <a:ext cx="2697480" cy="466344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Phase 2 · spec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Table Z##_AUTHOR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author_id uuid · key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name z##_e_name (z##_d_name CHAR 100)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country z##_e_country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birth_year z##_e_year (NUMC 4)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biography STRING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6035040" y="1463040"/>
            <a:ext cx="2697480" cy="4663440"/>
          </a:xfrm>
          <a:prstGeom prst="rect">
            <a:avLst/>
          </a:prstGeom>
          <a:gradFill rotWithShape="1">
            <a:gsLst>
              <a:gs pos="0">
                <a:srgbClr val="CF12D3"/>
              </a:gs>
              <a:gs pos="100000">
                <a:srgbClr val="E82BED"/>
              </a:gs>
            </a:gsLst>
            <a:lin ang="16200000" scaled="0"/>
          </a:gradFill>
          <a:ln w="3175">
            <a:solidFill>
              <a:srgbClr val="644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</a:rPr>
              <a:t>Phase 3 · plan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Step group · Author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1.1 create 5 domains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1.2 create 5 data elements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2.1 create Z##_AUTHOR + draft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3.1 CDS Z##_R_AUTHOR + C view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900">
                <a:solidFill>
                  <a:srgbClr val="FFFFFF"/>
                </a:solidFill>
              </a:rPr>
              <a:t>4.1 BDEF + BIMP + activate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8823960" y="1463040"/>
            <a:ext cx="2697480" cy="4663440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Phase 4 · objects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Active on SAP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DOMA · DTEL · 5+5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TABL Z##_AUTHOR + _D draft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DDLS Z##_R_AUTHOR + C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BDEF + BIMP class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900">
                <a:solidFill>
                  <a:srgbClr val="000000"/>
                </a:solidFill>
              </a:rPr>
              <a:t>Service + binding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got built · 72 objects, all active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4 ENTITIES · 1 RAP APP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9748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33172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72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33172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objects active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46120" y="1463040"/>
            <a:ext cx="269748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29000" y="1600200"/>
            <a:ext cx="233172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77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29000" y="2077719"/>
            <a:ext cx="233172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API prompts in P4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35040" y="1463040"/>
            <a:ext cx="269748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17920" y="1600200"/>
            <a:ext cx="233172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~$19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17920" y="2077719"/>
            <a:ext cx="233172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API cost · vs ~$2k manual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23960" y="1463040"/>
            <a:ext cx="2697480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06840" y="1600200"/>
            <a:ext cx="233172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614EB"/>
                </a:solidFill>
              </a:rPr>
              <a:t>~3h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06840" y="2077719"/>
            <a:ext cx="233172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wall-clock · vs ~2 weeks</a:t>
            </a:r>
          </a:p>
        </p:txBody>
      </p:sp>
      <p:sp>
        <p:nvSpPr>
          <p:cNvPr id="17" name="c_2_BlockGrid:0:c_5_Block"/>
          <p:cNvSpPr/>
          <p:nvPr/>
        </p:nvSpPr>
        <p:spPr>
          <a:xfrm>
            <a:off x="457200" y="3200400"/>
            <a:ext cx="3566160" cy="2926080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DDIC layer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20 domains (DOMA)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20 data elements (DTEL)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persistent tables (TABL)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draft tables (TABL _D)</a:t>
            </a:r>
          </a:p>
        </p:txBody>
      </p:sp>
      <p:sp>
        <p:nvSpPr>
          <p:cNvPr id="18" name="c_2_BlockGrid:1:c_6_Block"/>
          <p:cNvSpPr/>
          <p:nvPr/>
        </p:nvSpPr>
        <p:spPr>
          <a:xfrm>
            <a:off x="4206240" y="3200400"/>
            <a:ext cx="3566160" cy="2926080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RAP layer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interface CDS (Z##_R_*)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projection CDS (Z##_C_*)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metadata extensions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BDEF + 4 BIMP classes</a:t>
            </a:r>
          </a:p>
        </p:txBody>
      </p:sp>
      <p:sp>
        <p:nvSpPr>
          <p:cNvPr id="19" name="c_2_BlockGrid:2:c_7_Block"/>
          <p:cNvSpPr/>
          <p:nvPr/>
        </p:nvSpPr>
        <p:spPr>
          <a:xfrm>
            <a:off x="7955280" y="3200400"/>
            <a:ext cx="3566160" cy="2926080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Service · UI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1 service definition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1 OData V4 binding (published)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Fiori Elements preview · CRUD + draft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100">
                <a:solidFill>
                  <a:srgbClr val="000000"/>
                </a:solidFill>
              </a:rPr>
              <a:t>Author shows by name, not UUID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failure modes · how to catch them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DRIFT · HALLUCINATION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Spec / plan drift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Symptom: </a:t>
            </a:r>
            <a:r>
              <a:rPr sz="1400">
                <a:solidFill>
                  <a:srgbClr val="000000"/>
                </a:solidFill>
              </a:rPr>
              <a:t>extra objects, missing ones, silent renames.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Catch: </a:t>
            </a:r>
            <a:r>
              <a:rPr sz="1400">
                <a:solidFill>
                  <a:srgbClr val="000000"/>
                </a:solidFill>
              </a:rPr>
              <a:t>quote the plan back; force exact list.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420624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CE0101"/>
              </a:gs>
              <a:gs pos="100000">
                <a:srgbClr val="FC0606"/>
              </a:gs>
            </a:gsLst>
            <a:lin ang="16200000" scaled="0"/>
          </a:gradFill>
          <a:ln w="3175">
            <a:solidFill>
              <a:srgbClr val="5D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Hallucination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Symptom: </a:t>
            </a:r>
            <a:r>
              <a:rPr sz="1400">
                <a:solidFill>
                  <a:srgbClr val="FFFFFF"/>
                </a:solidFill>
              </a:rPr>
              <a:t>"All N active" with no Executing trace.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Catch: </a:t>
            </a:r>
            <a:r>
              <a:rPr sz="1400">
                <a:solidFill>
                  <a:srgbClr val="FFFFFF"/>
                </a:solidFill>
              </a:rPr>
              <a:t>low token count · ask agent to read each object back.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7955280" y="1463040"/>
            <a:ext cx="3566160" cy="4663440"/>
          </a:xfrm>
          <a:prstGeom prst="rect">
            <a:avLst/>
          </a:prstGeom>
          <a:gradFill rotWithShape="1">
            <a:gsLst>
              <a:gs pos="0">
                <a:srgbClr val="CF12D3"/>
              </a:gs>
              <a:gs pos="100000">
                <a:srgbClr val="E82BED"/>
              </a:gs>
            </a:gsLst>
            <a:lin ang="16200000" scaled="0"/>
          </a:gradFill>
          <a:ln w="3175">
            <a:solidFill>
              <a:srgbClr val="644D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</a:rPr>
              <a:t>Phase confusion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Symptom: </a:t>
            </a:r>
            <a:r>
              <a:rPr sz="1400">
                <a:solidFill>
                  <a:srgbClr val="FFFFFF"/>
                </a:solidFill>
              </a:rPr>
              <a:t>Create/Update runs during Phase 1-3.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Catch: </a:t>
            </a:r>
            <a:r>
              <a:rPr sz="1400">
                <a:solidFill>
                  <a:srgbClr val="FFFFFF"/>
                </a:solidFill>
              </a:rPr>
              <a:t>say "document only, not system" · revert.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walk away with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OUTCOMES · 1-2 HOURS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356616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320040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1 app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320040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active RAP BO · Fiori preview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206240" y="1463040"/>
            <a:ext cx="356616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4389120" y="1600200"/>
            <a:ext cx="320040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3 docs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4389120" y="2077719"/>
            <a:ext cx="320040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business-req · tech-spec · impl-plan in RAG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7955280" y="1463040"/>
            <a:ext cx="3566160" cy="1828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8138160" y="1600200"/>
            <a:ext cx="320040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1-2 h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8138160" y="2077719"/>
            <a:ext cx="320040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end to end wall-clock</a:t>
            </a:r>
          </a:p>
        </p:txBody>
      </p:sp>
      <p:sp>
        <p:nvSpPr>
          <p:cNvPr id="14" name="c_4_Block"/>
          <p:cNvSpPr/>
          <p:nvPr/>
        </p:nvSpPr>
        <p:spPr>
          <a:xfrm>
            <a:off x="457200" y="4297680"/>
            <a:ext cx="11064240" cy="1828800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What you learn: </a:t>
            </a:r>
            <a:r>
              <a:rPr sz="1400">
                <a:solidFill>
                  <a:srgbClr val="000000"/>
                </a:solidFill>
              </a:rPr>
              <a:t>turn ideas into requirements, review AI specs, plan in dependency order, build layer by layer.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What stays yours: </a:t>
            </a:r>
            <a:r>
              <a:rPr sz="1400">
                <a:solidFill>
                  <a:srgbClr val="000000"/>
                </a:solidFill>
              </a:rPr>
              <a:t>every business decision and every field mapping.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</a:rPr>
              <a:t>What AI gives you: </a:t>
            </a:r>
            <a:r>
              <a:rPr sz="1400">
                <a:solidFill>
                  <a:srgbClr val="000000"/>
                </a:solidFill>
              </a:rPr>
              <a:t>the fastest pair programmer you can get · only if you lead.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HANGETRACKING" val="true"/>
  <p:tag name="MIO_UPDATE" val="True"/>
  <p:tag name="MIO_OBJECTNAME" val="EPAM Overview"/>
  <p:tag name="MIO_LASTEDITORNAME" val="Peter Rutsch"/>
  <p:tag name="MIO_DBID" val="D7ED4A1B-644D-42C8-B85A-3AF7EB19A1AD"/>
  <p:tag name="MIO_LASTDOWNLOADED" val="25.09.2019 20:19:12"/>
  <p:tag name="MIO_VERSION" val="25.09.2019 19:19:12"/>
  <p:tag name="MIO_EKGUID" val="d7e3e5f7-9b32-4300-a908-3232d6ed981a"/>
  <p:tag name="MIO_NATIVESECTIONS" val="﻿&lt;?xml version=&quot;1.0&quot; encoding=&quot;utf-8&quot;?&gt;&lt;ArrayOfNativeSection xmlns:xsd=&quot;http://www.w3.org/2001/XMLSchema&quot; xmlns:xsi=&quot;http://www.w3.org/2001/XMLSchema-instance&quot;&gt;&lt;NativeSection&gt;&lt;Name&gt;About EPAM&lt;/Name&gt;&lt;FirstSlideIndex&gt;3&lt;/FirstSlideIndex&gt;&lt;SlidesCount&gt;15&lt;/SlidesCount&gt;&lt;SlideIDs /&gt;&lt;SlideGuids&gt;&lt;guid&gt;41917f75-77c0-48c8-a973-0468f4fe6223&lt;/guid&gt;&lt;guid&gt;4c4084ce-9dc3-4a2a-bd15-284b0659bb1d&lt;/guid&gt;&lt;guid&gt;c25f9840-0bea-411d-962d-9f3050c735d6&lt;/guid&gt;&lt;guid&gt;7d12a499-7701-4a6e-8610-d9d576cb0dec&lt;/guid&gt;&lt;guid&gt;61ee236e-49d2-4ed5-a476-38e350e3bfd2&lt;/guid&gt;&lt;guid&gt;ef65a5ca-8d54-4147-8afa-2ebb941538e3&lt;/guid&gt;&lt;guid&gt;c94ecc82-7873-4e32-885c-f35e7d8f652f&lt;/guid&gt;&lt;guid&gt;c3fea710-23c7-43d8-8d5d-f36b24c7383e&lt;/guid&gt;&lt;guid&gt;2bba986c-ee29-49a3-8223-b3a7867a5f4b&lt;/guid&gt;&lt;guid&gt;00e49fa1-ccf7-49ac-b1ea-429440dc91c2&lt;/guid&gt;&lt;guid&gt;cd433048-84df-4410-81de-4a8b6f9b00db&lt;/guid&gt;&lt;guid&gt;3c65c556-57fe-432d-8e6c-e872ce9c17e6&lt;/guid&gt;&lt;guid&gt;cfbce635-1caa-40a0-8168-f7cd9a71855f&lt;/guid&gt;&lt;guid&gt;0dd5438a-71f4-45bd-aeb7-e9afb36545e3&lt;/guid&gt;&lt;guid&gt;025c768f-d8c8-481b-827c-fb70a3dea855&lt;/guid&gt;&lt;/SlideGuids&gt;&lt;/NativeSection&gt;&lt;NativeSection&gt;&lt;Name&gt;EPAM Advantage&lt;/Name&gt;&lt;FirstSlideIndex&gt;18&lt;/FirstSlideIndex&gt;&lt;SlidesCount&gt;7&lt;/SlidesCount&gt;&lt;SlideIDs /&gt;&lt;SlideGuids&gt;&lt;guid&gt;1d3f40df-0be8-4722-86b4-ba408afacf35&lt;/guid&gt;&lt;guid&gt;1e4e570a-a814-43ca-b0e7-827ba1e99159&lt;/guid&gt;&lt;guid&gt;10e9fa43-a251-4d26-a911-d8ed059b1b96&lt;/guid&gt;&lt;guid&gt;c7beb776-8ff1-4acc-8007-da30e0319d43&lt;/guid&gt;&lt;guid&gt;34f142e0-cb5b-44f7-b22f-231c1a8fc0f9&lt;/guid&gt;&lt;guid&gt;26526e34-7c79-495c-b434-1b8afad190de&lt;/guid&gt;&lt;guid&gt;877dc4cd-9bef-4f8a-8bbc-52177ac46c56&lt;/guid&gt;&lt;/SlideGuids&gt;&lt;/NativeSection&gt;&lt;/ArrayOfNativeSection&gt;"/>
</p:tagLst>
</file>

<file path=ppt/theme/theme1.xml><?xml version="1.0" encoding="utf-8"?>
<a:theme xmlns:a="http://schemas.openxmlformats.org/drawingml/2006/main" name="EPAM Master 2024.1">
  <a:themeElements>
    <a:clrScheme name="EPAM 2023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square" lIns="0" tIns="0" rIns="0" bIns="0" rtlCol="0" anchor="ctr"/>
      <a:lstStyle>
        <a:defPPr algn="ctr">
          <a:defRPr sz="2400" dirty="0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wrap="square" lIns="0" tIns="0" rIns="0" bIns="0">
        <a:spAutoFit/>
      </a:bodyPr>
      <a:lstStyle>
        <a:defPPr algn="l">
          <a:defRPr dirty="0" smtClean="0"/>
        </a:defPPr>
      </a:lstStyle>
    </a:txDef>
  </a:objectDefaults>
  <a:extraClrSchemeLst/>
  <a:custClrLst>
    <a:custClr name="PALINA BLUE">
      <a:srgbClr val="A9C9D7"/>
    </a:custClr>
    <a:custClr name="DARK PURPLE ">
      <a:srgbClr val="8A7CBB"/>
    </a:custClr>
    <a:custClr name="LIGHT PURPLE">
      <a:srgbClr val="AE9BD8"/>
    </a:custClr>
    <a:custClr name="BRIGHT CORAL">
      <a:srgbClr val="FF4E33"/>
    </a:custClr>
    <a:custClr name="EPAM CORAL">
      <a:srgbClr val="FF8468"/>
    </a:custClr>
    <a:custClr name="BRIGHT ORANGE">
      <a:srgbClr val="FF8500"/>
    </a:custClr>
    <a:custClr name="ORANGE ">
      <a:srgbClr val="FFA436"/>
    </a:custClr>
    <a:custClr name="DARK GREEN">
      <a:srgbClr val="62A230"/>
    </a:custClr>
    <a:custClr name="BRIGHT GREEN">
      <a:srgbClr val="9BC838"/>
    </a:custClr>
    <a:custClr name="LIME GREEN">
      <a:srgbClr val="C8DE49"/>
    </a:custClr>
    <a:custClr name="Coral Orange">
      <a:srgbClr val="F57F41"/>
    </a:custClr>
    <a:custClr name="Tangerine">
      <a:srgbClr val="F15C44"/>
    </a:custClr>
    <a:custClr name="Gold">
      <a:srgbClr val="DBB661"/>
    </a:custClr>
    <a:custClr name="Turqoise">
      <a:srgbClr val="2A9D8E"/>
    </a:custClr>
    <a:custClr name="Ocean">
      <a:srgbClr val="209EBD"/>
    </a:custClr>
    <a:custClr name="Charcoal">
      <a:srgbClr val="264553"/>
    </a:custClr>
    <a:custClr name="Eggplant">
      <a:srgbClr val="58335E"/>
    </a:custClr>
    <a:custClr name="Grape Soda">
      <a:srgbClr val="745C97"/>
    </a:custClr>
    <a:custClr name="Wild Berry">
      <a:srgbClr val="89608E"/>
    </a:custClr>
    <a:custClr name="Taffy">
      <a:srgbClr val="8ACDEA"/>
    </a:custClr>
    <a:custClr name="Honey">
      <a:srgbClr val="EFEA5A"/>
    </a:custClr>
    <a:custClr name="Mint">
      <a:srgbClr val="2CD094"/>
    </a:custClr>
    <a:custClr name="Malibu">
      <a:srgbClr val="BAD49C"/>
    </a:custClr>
    <a:custClr name="Cotton Candy">
      <a:srgbClr val="EEB4B3"/>
    </a:custClr>
    <a:custClr name="Guava">
      <a:srgbClr val="E26D5C"/>
    </a:custClr>
  </a:custClrLst>
  <a:extLst>
    <a:ext uri="{05A4C25C-085E-4340-85A3-A5531E510DB2}">
      <thm15:themeFamily xmlns:thm15="http://schemas.microsoft.com/office/thememl/2012/main" name="EPAM_PresalesTemplate" id="{BA2CABEF-164A-0B40-9E1D-A9B96AE60B87}" vid="{65C357FB-1C5F-AA46-A42C-758D0D8059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B325E2B-52F7-4394-BC3E-1C5545ED6C41}">
  <we:reference id="0712333e-3078-4353-bc6c-307328446e34" version="1.0.1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5da436-b9c0-45a6-9ecc-c0655a249673">
      <Value>1635</Value>
      <Value>116</Value>
      <Value>72</Value>
      <Value>1</Value>
      <Value>3444</Value>
    </TaxCatchAll>
    <LikesCount xmlns="http://schemas.microsoft.com/sharepoint/v3">37</LikesCount>
    <ica38aae1f42489fb9720caef7617fcd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General Decks:About EPAM</TermName>
          <TermId xmlns="http://schemas.microsoft.com/office/infopath/2007/PartnerControls">1bb3a607-45a4-4116-99d9-b95075743ae1</TermId>
        </TermInfo>
      </Terms>
    </ica38aae1f42489fb9720caef7617fcd>
    <StoryOwner xmlns="f45da436-b9c0-45a6-9ecc-c0655a249673">
      <UserInfo>
        <DisplayName>c:0t.c|tenant|5250c590-249d-4ccd-91b6-76bf54384662</DisplayName>
        <AccountId>15</AccountId>
        <AccountType/>
      </UserInfo>
      <UserInfo>
        <DisplayName>i:0#.f|membership|viktar_dvorkin@epam.com,#i:0#.f|membership|viktar_dvorkin@epam.com,#Viktar_Dvorkin@epam.com,#Viktar_Dvorkin@epam.com,#Viktar Dvorkin,#,#GDO Office,#SVP, Global Head of Advanced Engineering, Cloud and Enterprise Platforms</DisplayName>
        <AccountId>1450</AccountId>
        <AccountType/>
      </UserInfo>
    </StoryOwner>
    <StoryVideoLink xmlns="f45da436-b9c0-45a6-9ecc-c0655a249673">
      <Url>https://videoportal.epam.com/video/2JwbXbYM</Url>
      <Description>https://videoportal.epam.com/video/2JwbXbYM</Description>
    </StoryVideoLink>
    <a6a6423fd38e469e9a7567459672989e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Continuum</TermName>
          <TermId xmlns="http://schemas.microsoft.com/office/infopath/2007/PartnerControls">036b37b0-418a-48a3-ad40-f27762061154</TermId>
        </TermInfo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e35b7162-8377-4ac0-bb47-f30ed6f0902e</TermId>
        </TermInfo>
      </Terms>
    </a6a6423fd38e469e9a7567459672989e>
    <ExpirationDate xmlns="f45da436-b9c0-45a6-9ecc-c0655a249673">2025-11-20T00:00:00+00:00</ExpirationDate>
    <_dlc_DocId xmlns="f45da436-b9c0-45a6-9ecc-c0655a249673">EPAMSTORY-1389392072-5</_dlc_DocId>
    <_dlc_DocIdUrl xmlns="f45da436-b9c0-45a6-9ecc-c0655a249673">
      <Url>https://epam.sharepoint.com/sites/EPAMPresalesStories/_layouts/15/DocIdRedir.aspx?ID=EPAMSTORY-1389392072-5</Url>
      <Description>EPAMSTORY-1389392072-5</Description>
    </_dlc_DocIdUrl>
    <ExpirationStatus xmlns="cce964ea-0c98-4d20-81b3-11b96e0098eb">ok</ExpirationStatus>
    <ConfigNotes xmlns="http://schemas.microsoft.com/sharepoint/v3" xsi:nil="true"/>
    <o10324d9d8f24f3d87174cfdfd74b2e5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5e1ed0a0-89ac-446a-837d-6ea8b9460059</TermId>
        </TermInfo>
      </Terms>
    </o10324d9d8f24f3d87174cfdfd74b2e5>
    <Contributors xmlns="cce964ea-0c98-4d20-81b3-11b96e0098eb">
      <UserInfo>
        <DisplayName/>
        <AccountId xsi:nil="true"/>
        <AccountType/>
      </UserInfo>
    </Contributors>
    <Part_x0020_of_x0020_Story xmlns="f45da436-b9c0-45a6-9ecc-c0655a249673" xsi:nil="true"/>
    <SharedWithUsers xmlns="f45da436-b9c0-45a6-9ecc-c0655a249673">
      <UserInfo>
        <DisplayName/>
        <AccountId xsi:nil="true"/>
        <AccountType/>
      </UserInfo>
    </SharedWithUsers>
    <TaxCatchAllLabel xmlns="f45da436-b9c0-45a6-9ecc-c0655a249673" xsi:nil="true"/>
    <_dlc_DocIdPersistId xmlns="f45da436-b9c0-45a6-9ecc-c0655a249673" xsi:nil="true"/>
    <h557d92785684d7cbabbc42229493ceb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Confidential: NDA Required</TermName>
          <TermId xmlns="http://schemas.microsoft.com/office/infopath/2007/PartnerControls">1078c1ca-8558-4f4e-bb3a-506201fcb43c</TermId>
        </TermInfo>
      </Terms>
    </h557d92785684d7cbabbc42229493ceb>
    <d0b4fb09d84842999ca30d5dd3a1ca39 xmlns="f45da436-b9c0-45a6-9ecc-c0655a249673">
      <Terms xmlns="http://schemas.microsoft.com/office/infopath/2007/PartnerControls"/>
    </d0b4fb09d84842999ca30d5dd3a1ca39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EPAM Story" ma:contentTypeID="0x0101009D00C2DDB7BE0A4F95197A46FA9E762A002B352ACE8C7DF74FABD5BBBE23F6FD6F" ma:contentTypeVersion="24" ma:contentTypeDescription="Create a new EPAM Story" ma:contentTypeScope="" ma:versionID="6c7ad0fab38022b33ef4691436c7fb7a">
  <xsd:schema xmlns:xsd="http://www.w3.org/2001/XMLSchema" xmlns:xs="http://www.w3.org/2001/XMLSchema" xmlns:p="http://schemas.microsoft.com/office/2006/metadata/properties" xmlns:ns1="http://schemas.microsoft.com/sharepoint/v3" xmlns:ns2="f45da436-b9c0-45a6-9ecc-c0655a249673" xmlns:ns3="cce964ea-0c98-4d20-81b3-11b96e0098eb" targetNamespace="http://schemas.microsoft.com/office/2006/metadata/properties" ma:root="true" ma:fieldsID="aef5d73f16a20ab942390f9d63fc4095" ns1:_="" ns2:_="" ns3:_="">
    <xsd:import namespace="http://schemas.microsoft.com/sharepoint/v3"/>
    <xsd:import namespace="f45da436-b9c0-45a6-9ecc-c0655a249673"/>
    <xsd:import namespace="cce964ea-0c98-4d20-81b3-11b96e0098eb"/>
    <xsd:element name="properties">
      <xsd:complexType>
        <xsd:sequence>
          <xsd:element name="documentManagement">
            <xsd:complexType>
              <xsd:all>
                <xsd:element ref="ns2:ExpirationDate"/>
                <xsd:element ref="ns2:StoryOwner"/>
                <xsd:element ref="ns3:Contributors" minOccurs="0"/>
                <xsd:element ref="ns3:ExpirationStatus" minOccurs="0"/>
                <xsd:element ref="ns2:Part_x0020_of_x0020_Story" minOccurs="0"/>
                <xsd:element ref="ns2:StoryVideoLink" minOccurs="0"/>
                <xsd:element ref="ns1:ConfigNotes" minOccurs="0"/>
                <xsd:element ref="ns2:_dlc_DocIdUrl" minOccurs="0"/>
                <xsd:element ref="ns2:a6a6423fd38e469e9a7567459672989e" minOccurs="0"/>
                <xsd:element ref="ns1:LikesCount" minOccurs="0"/>
                <xsd:element ref="ns2:SharedWithUsers" minOccurs="0"/>
                <xsd:element ref="ns2:SharedWithDetails" minOccurs="0"/>
                <xsd:element ref="ns2:ica38aae1f42489fb9720caef7617fcd" minOccurs="0"/>
                <xsd:element ref="ns2:_dlc_DocId" minOccurs="0"/>
                <xsd:element ref="ns2:o10324d9d8f24f3d87174cfdfd74b2e5" minOccurs="0"/>
                <xsd:element ref="ns2:_dlc_DocIdPersistId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2:h557d92785684d7cbabbc42229493ceb" minOccurs="0"/>
                <xsd:element ref="ns3:MediaServiceBillingMetadata" minOccurs="0"/>
                <xsd:element ref="ns2:d0b4fb09d84842999ca30d5dd3a1ca39" minOccurs="0"/>
                <xsd:element ref="ns2:TaxCatchAllLabe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nfigNotes" ma:index="11" nillable="true" ma:displayName="Notes" ma:internalName="ConfigNotes" ma:readOnly="false">
      <xsd:simpleType>
        <xsd:restriction base="dms:Note">
          <xsd:maxLength value="255"/>
        </xsd:restriction>
      </xsd:simpleType>
    </xsd:element>
    <xsd:element name="LikesCount" ma:index="19" nillable="true" ma:displayName="Number of Likes" ma:hidden="true" ma:internalName="Likes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da436-b9c0-45a6-9ecc-c0655a249673" elementFormDefault="qualified">
    <xsd:import namespace="http://schemas.microsoft.com/office/2006/documentManagement/types"/>
    <xsd:import namespace="http://schemas.microsoft.com/office/infopath/2007/PartnerControls"/>
    <xsd:element name="ExpirationDate" ma:index="4" ma:displayName="Review Date" ma:default="[today]" ma:format="DateOnly" ma:internalName="ExpirationDate" ma:readOnly="false">
      <xsd:simpleType>
        <xsd:restriction base="dms:DateTime"/>
      </xsd:simpleType>
    </xsd:element>
    <xsd:element name="StoryOwner" ma:index="5" ma:displayName="StoryOwner" ma:list="UserInfo" ma:SearchPeopleOnly="false" ma:SharePointGroup="0" ma:internalName="StoryOwner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art_x0020_of_x0020_Story" ma:index="9" nillable="true" ma:displayName="Part of Collection" ma:list="{caf6492b-c3a1-41e6-9ddd-75f5bc3198ae}" ma:internalName="Part_x0020_of_x0020_Story" ma:readOnly="false" ma:showField="Title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toryVideoLink" ma:index="10" nillable="true" ma:displayName="StoryVideoLink" ma:description="Link to video on EPAM VideoPortal about this story" ma:format="Hyperlink" ma:internalName="StoryVideo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Url" ma:index="14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6a6423fd38e469e9a7567459672989e" ma:index="17" nillable="true" ma:taxonomy="true" ma:internalName="a6a6423fd38e469e9a7567459672989e" ma:taxonomyFieldName="StoryTags" ma:displayName="StoryTags" ma:readOnly="false" ma:default="" ma:fieldId="{a6a6423f-d38e-469e-9a75-67459672989e}" ma:taxonomyMulti="true" ma:sspId="debda6a7-6b37-4000-ac6c-4fd0a963898e" ma:termSetId="f1da140d-ef9e-4ced-9281-d8ea40222c81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SharedWithUsers" ma:index="2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hidden="true" ma:internalName="SharedWithDetails" ma:readOnly="true">
      <xsd:simpleType>
        <xsd:restriction base="dms:Note"/>
      </xsd:simpleType>
    </xsd:element>
    <xsd:element name="ica38aae1f42489fb9720caef7617fcd" ma:index="23" ma:taxonomy="true" ma:internalName="ica38aae1f42489fb9720caef7617fcd" ma:taxonomyFieldName="Story" ma:displayName="Taxonomy" ma:readOnly="false" ma:default="" ma:fieldId="{2ca38aae-1f42-489f-b972-0caef7617fcd}" ma:taxonomyMulti="true" ma:sspId="debda6a7-6b37-4000-ac6c-4fd0a963898e" ma:termSetId="d72849a2-9b0d-48bf-bf08-492c9dccb84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4" nillable="true" ma:displayName="Document ID Value" ma:description="The value of the document ID assigned to this item." ma:hidden="true" ma:indexed="true" ma:internalName="_dlc_DocId" ma:readOnly="true">
      <xsd:simpleType>
        <xsd:restriction base="dms:Text"/>
      </xsd:simpleType>
    </xsd:element>
    <xsd:element name="o10324d9d8f24f3d87174cfdfd74b2e5" ma:index="25" ma:taxonomy="true" ma:internalName="o10324d9d8f24f3d87174cfdfd74b2e5" ma:taxonomyFieldName="StoryCategories" ma:displayName="StoryCategories" ma:readOnly="false" ma:default="1628;#Capability|437677bb-e3a5-4872-945b-ba4270c6cbb4" ma:fieldId="{810324d9-d8f2-4f3d-8717-4cfdfd74b2e5}" ma:taxonomyMulti="true" ma:sspId="debda6a7-6b37-4000-ac6c-4fd0a963898e" ma:termSetId="ddcebb0a-3fca-4e23-b6a5-f1f8550db2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PersistId" ma:index="27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TaxCatchAll" ma:index="28" nillable="true" ma:displayName="Taxonomy Catch All Column" ma:hidden="true" ma:list="{f4ef9fac-c5ce-424a-9df9-4a92c932d921}" ma:internalName="TaxCatchAll" ma:readOnly="false" ma:showField="CatchAllData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557d92785684d7cbabbc42229493ceb" ma:index="31" ma:taxonomy="true" ma:internalName="h557d92785684d7cbabbc42229493ceb" ma:taxonomyFieldName="UsagePermission" ma:displayName="UsagePermission" ma:readOnly="false" ma:default="3444;#Confidential: NDA Required|1078c1ca-8558-4f4e-bb3a-506201fcb43c" ma:fieldId="{1557d927-8568-4d7c-babb-c42229493ceb}" ma:sspId="debda6a7-6b37-4000-ac6c-4fd0a963898e" ma:termSetId="8fdd4e80-0ab9-4356-9b99-f53e66d463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0b4fb09d84842999ca30d5dd3a1ca39" ma:index="34" nillable="true" ma:taxonomy="true" ma:internalName="d0b4fb09d84842999ca30d5dd3a1ca39" ma:taxonomyFieldName="VCN" ma:displayName="VCN" ma:readOnly="false" ma:default="" ma:fieldId="{d0b4fb09-d848-4299-9ca3-0d5dd3a1ca39}" ma:taxonomyMulti="true" ma:sspId="debda6a7-6b37-4000-ac6c-4fd0a963898e" ma:termSetId="983cafd6-05e4-4154-90f9-0772cf21af6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35" nillable="true" ma:displayName="Taxonomy Catch All Column1" ma:hidden="true" ma:list="{f4ef9fac-c5ce-424a-9df9-4a92c932d921}" ma:internalName="TaxCatchAllLabel" ma:readOnly="false" ma:showField="CatchAllDataLabel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e964ea-0c98-4d20-81b3-11b96e0098eb" elementFormDefault="qualified">
    <xsd:import namespace="http://schemas.microsoft.com/office/2006/documentManagement/types"/>
    <xsd:import namespace="http://schemas.microsoft.com/office/infopath/2007/PartnerControls"/>
    <xsd:element name="Contributors" ma:index="6" nillable="true" ma:displayName="Contributors" ma:format="Dropdown" ma:list="UserInfo" ma:SharePointGroup="0" ma:internalName="Contributo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xpirationStatus" ma:index="7" nillable="true" ma:displayName="ExpirationStatus" ma:internalName="ExpirationStatus" ma:readOnly="false">
      <xsd:simpleType>
        <xsd:restriction base="dms:Text">
          <xsd:maxLength value="255"/>
        </xsd:restriction>
      </xsd:simple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B216C-B8AE-4FE7-A9EB-F5691280A8C7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D5483322-9D94-4891-9E64-C985B1D86A41}">
  <ds:schemaRefs>
    <ds:schemaRef ds:uri="f45da436-b9c0-45a6-9ecc-c0655a249673"/>
    <ds:schemaRef ds:uri="http://purl.org/dc/dcmitype/"/>
    <ds:schemaRef ds:uri="http://purl.org/dc/terms/"/>
    <ds:schemaRef ds:uri="http://purl.org/dc/elements/1.1/"/>
    <ds:schemaRef ds:uri="http://schemas.microsoft.com/sharepoint/v3"/>
    <ds:schemaRef ds:uri="http://schemas.microsoft.com/office/2006/documentManagement/types"/>
    <ds:schemaRef ds:uri="http://www.w3.org/XML/1998/namespace"/>
    <ds:schemaRef ds:uri="cce964ea-0c98-4d20-81b3-11b96e0098e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BE67F4B-6A2F-473F-80F8-05CE7721E7A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23FEB0C-CC02-4177-8430-04E42C5C0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45da436-b9c0-45a6-9ecc-c0655a249673"/>
    <ds:schemaRef ds:uri="cce964ea-0c98-4d20-81b3-11b96e0098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1266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Human Sans</vt:lpstr>
      <vt:lpstr>EPAM Master 2024.1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EPAM Overview</dc:title>
  <dc:creator>Jennifer Markowitz</dc:creator>
  <cp:lastModifiedBy>Dmitry Zdanovich</cp:lastModifiedBy>
  <cp:revision>4</cp:revision>
  <dcterms:created xsi:type="dcterms:W3CDTF">2018-01-26T19:23:30Z</dcterms:created>
  <dcterms:modified xsi:type="dcterms:W3CDTF">2026-04-24T13:17:55Z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0x0101009D00C2DDB7BE0A4F95197A46FA9E762A002B352ACE8C7DF74FABD5BBBE23F6FD6F</vt:lpwstr>
  </property>
  <property fmtid="{D5CDD505-2E9C-101B-9397-08002B2CF9AE}" pid="3" name="ImportRevision">
    <vt:lpwstr>636751944040000000</vt:lpwstr>
  </property>
  <property fmtid="{D5CDD505-2E9C-101B-9397-08002B2CF9AE}" pid="4" name="StoryTags">
    <vt:lpwstr>72;#Continuum|036b37b0-418a-48a3-ad40-f27762061154;#116;#About EPAM|e35b7162-8377-4ac0-bb47-f30ed6f0902e</vt:lpwstr>
  </property>
  <property fmtid="{D5CDD505-2E9C-101B-9397-08002B2CF9AE}" pid="5" name="_dlc_DocIdItemGuid">
    <vt:lpwstr>041f0451-e7b6-47dd-8915-ddc72a6e399d</vt:lpwstr>
  </property>
  <property fmtid="{D5CDD505-2E9C-101B-9397-08002B2CF9AE}" pid="6" name="StoryTaxonomy">
    <vt:lpwstr>204;#EPAM Overview|107422c5-c5be-4599-981e-e0bc82e53d69</vt:lpwstr>
  </property>
  <property fmtid="{D5CDD505-2E9C-101B-9397-08002B2CF9AE}" pid="7" name="h098c32ae4474a2397bbdf9bd347fc14">
    <vt:lpwstr>EPAM Overview|107422c5-c5be-4599-981e-e0bc82e53d69</vt:lpwstr>
  </property>
  <property fmtid="{D5CDD505-2E9C-101B-9397-08002B2CF9AE}" pid="8" name="LikedBy">
    <vt:lpwstr>17;#Palina Vilava;#78;#Martin Asencio;#39;#Sergey Levchenko;#970;#Jesal Panchal;#5014;#Yury Slobodski;#243;#Esmy Jensen;#2461;#David Aldrich;#36;#Yuliya Ziaziulina;#899;#Markus Eriksson;#1694;#David Guerri;#7200;#Anand Topu;#219;#Sofia Odintseva;#22949;#Andrew Macey;#9941;#Ilya Kuntsevich;#22597;#Claudia Gorham1;#23522;#Volodymyr Stepanets (Contractor);#24069;#Deborah Regal;#24283;#Vladimir Grevtsev;#27435;#Ryan Ahmed;#20380;#Karan Bhardwaj;#27681;#Caroline Prenn;#24469;#Maneesh Khare;#30037;#CLAUDIA GIANFELICE;#418;#Gary Thomson;#863;#Ghislain Siewe;#7315;#Vivek Agarwal;#31715;#Mahesh Aluvala;#32105;#Alexa Robinson;#32214;#Ted Slater;#22485;#Giuseppe Riefoli;#33929;#Trinh Nguyen;#3914;#Bogdan Jurjevich;#2215;#Taryn Hess;#35911;#Kiryl Domnitch;#16039;#Quentin Odier;#15333;#Jack Maher;#29060;#i:0#.f|membership|marius_constantinescu@epam.com</vt:lpwstr>
  </property>
  <property fmtid="{D5CDD505-2E9C-101B-9397-08002B2CF9AE}" pid="9" name="StoryCategories">
    <vt:lpwstr>1635;#About EPAM|5e1ed0a0-89ac-446a-837d-6ea8b9460059</vt:lpwstr>
  </property>
  <property fmtid="{D5CDD505-2E9C-101B-9397-08002B2CF9AE}" pid="10" name="UsagePermission">
    <vt:lpwstr>3444;#Confidential: NDA Required|1078c1ca-8558-4f4e-bb3a-506201fcb43c</vt:lpwstr>
  </property>
  <property fmtid="{D5CDD505-2E9C-101B-9397-08002B2CF9AE}" pid="11" name="VCN">
    <vt:lpwstr/>
  </property>
  <property fmtid="{D5CDD505-2E9C-101B-9397-08002B2CF9AE}" pid="12" name="Story">
    <vt:lpwstr>1;#General Decks:About EPAM|1bb3a607-45a4-4116-99d9-b95075743ae1</vt:lpwstr>
  </property>
  <property fmtid="{D5CDD505-2E9C-101B-9397-08002B2CF9AE}" pid="13" name="MSIP_Label_2a535040-0af2-483f-adc3-a132c21e3e2b_Enabled">
    <vt:lpwstr>true</vt:lpwstr>
  </property>
  <property fmtid="{D5CDD505-2E9C-101B-9397-08002B2CF9AE}" pid="14" name="MSIP_Label_2a535040-0af2-483f-adc3-a132c21e3e2b_SetDate">
    <vt:lpwstr>2026-01-27T08:34:32Z</vt:lpwstr>
  </property>
  <property fmtid="{D5CDD505-2E9C-101B-9397-08002B2CF9AE}" pid="15" name="MSIP_Label_2a535040-0af2-483f-adc3-a132c21e3e2b_Method">
    <vt:lpwstr>Standard</vt:lpwstr>
  </property>
  <property fmtid="{D5CDD505-2E9C-101B-9397-08002B2CF9AE}" pid="16" name="MSIP_Label_2a535040-0af2-483f-adc3-a132c21e3e2b_Name">
    <vt:lpwstr>EPAM_Confidential</vt:lpwstr>
  </property>
  <property fmtid="{D5CDD505-2E9C-101B-9397-08002B2CF9AE}" pid="17" name="MSIP_Label_2a535040-0af2-483f-adc3-a132c21e3e2b_SiteId">
    <vt:lpwstr>b41b72d0-4e9f-4c26-8a69-f949f367c91d</vt:lpwstr>
  </property>
  <property fmtid="{D5CDD505-2E9C-101B-9397-08002B2CF9AE}" pid="18" name="MSIP_Label_2a535040-0af2-483f-adc3-a132c21e3e2b_ActionId">
    <vt:lpwstr>6de4626a-a598-4337-88df-2d099c6d2fce</vt:lpwstr>
  </property>
  <property fmtid="{D5CDD505-2E9C-101B-9397-08002B2CF9AE}" pid="19" name="MSIP_Label_2a535040-0af2-483f-adc3-a132c21e3e2b_ContentBits">
    <vt:lpwstr>0</vt:lpwstr>
  </property>
  <property fmtid="{D5CDD505-2E9C-101B-9397-08002B2CF9AE}" pid="20" name="MSIP_Label_2a535040-0af2-483f-adc3-a132c21e3e2b_Tag">
    <vt:lpwstr>10, 3, 0, 1</vt:lpwstr>
  </property>
</Properties>
</file>