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8.svg" ContentType="image/svg+xml"/>
  <Override PartName="/ppt/media/image19.svg" ContentType="image/svg+xml"/>
  <Override PartName="/ppt/media/image2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50" r:id="rId5"/>
  </p:sldMasterIdLst>
  <p:notesMasterIdLst>
    <p:notesMasterId r:id="rId6"/>
  </p:notesMasterIdLst>
  <p:handoutMasterIdLst>
    <p:handoutMasterId r:id="rId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55DA"/>
    <a:srgbClr val="D9D9D9"/>
    <a:srgbClr val="FED143"/>
    <a:srgbClr val="77CED7"/>
    <a:srgbClr val="484749"/>
    <a:srgbClr val="7F993A"/>
    <a:srgbClr val="39C2D7"/>
    <a:srgbClr val="1887BB"/>
    <a:srgbClr val="62A230"/>
    <a:srgbClr val="675C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10" autoAdjust="0"/>
  </p:normalViewPr>
  <p:slideViewPr>
    <p:cSldViewPr snapToGrid="0" showGuides="1">
      <p:cViewPr varScale="1">
        <p:scale>
          <a:sx n="83" d="100"/>
          <a:sy n="83" d="100"/>
        </p:scale>
        <p:origin x="1084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emf"/><Relationship Id="rId4" Type="http://schemas.openxmlformats.org/officeDocument/2006/relationships/image" Target="../media/image6.png"/><Relationship Id="rId5" Type="http://schemas.openxmlformats.org/officeDocument/2006/relationships/image" Target="../media/image8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ight light in the dark&#10;&#10;Description automatically generated with medium confidence">
            <a:extLst>
              <a:ext uri="{FF2B5EF4-FFF2-40B4-BE49-F238E27FC236}">
                <a16:creationId xmlns:a16="http://schemas.microsoft.com/office/drawing/2014/main" id="{292D94B7-0233-C940-0B7E-BB187340B7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AC7376-20F0-E0B1-E7D5-414FC5DC35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-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DE3A7CEE-E1C9-5E29-7BD1-4DC1A1B47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tx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46FBA0-34E7-8BA0-8C70-B6AFD4D64D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414" y="748727"/>
            <a:ext cx="1226857" cy="43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06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BD2E969-F100-6B32-8DFD-11A45E5E43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7B491-F517-CB8D-96B1-B02A50D723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430FF820-B532-1296-E817-DF961B67D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54D4BD-6E7A-841D-F70C-31FAEF56CD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21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 userDrawn="1"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0094E5E-6EFF-CE7E-D775-2FA95EEE2F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5309027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E632B84-D810-D682-26F1-538579099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5309027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7E6BD730-15BB-8DAE-B807-85A733E0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5311637" cy="184665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229A6F-36FA-05D5-E223-1581D31CE2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7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5001996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F2C7208-C4AB-4962-96F0-F897DFFC3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37B4F039-C58D-468E-394C-C92CD517A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Contents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BDF361-F375-D313-8D06-BDA2782784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BC6E842-5D88-CC5C-F1DA-808D61BEE7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D37A923-9C8E-6CA3-1F51-1680DBD253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B5EB1A-8556-A82E-AC69-301BA431D9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1E3B50A-6363-7824-DFC1-3035609DF6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13E6F179-1003-654A-7321-F8FE6D12AC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A7166E3-13D7-44C2-45BA-F8800FCD1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42EBD53-BF92-55A6-E85A-50AD5A80A5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41709A76-8AD3-E8A8-447B-E2C8D00A4A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A4DA4A4-AEAC-105E-34C0-12EBA35F1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6DD83F2-9BFD-E0B8-4706-D7200B45D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0D94FEEB-2EA8-081B-0B69-F0ED7A8348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CA163-9EEA-54E4-57D2-BFE989F6F9C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0B6ADF-5C55-9945-3F05-7FFC190F1FD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06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49D503E-C57A-9E5B-19CF-94AF46BB63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2BD3FFC-05D4-6AF7-0434-C1AC0298E5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0952C60-604F-9F1A-9D20-17D094CE48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D164F81-CDD1-C1B4-ED55-A3321E1032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F71D53-1D3F-D8F8-96D5-6DE13F1A9C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42F11AF-BF37-8BBB-B5E7-A8655CF947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</p:spTree>
    <p:extLst>
      <p:ext uri="{BB962C8B-B14F-4D97-AF65-F5344CB8AC3E}">
        <p14:creationId xmlns:p14="http://schemas.microsoft.com/office/powerpoint/2010/main" val="2212901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Agenda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04C027E-E5F6-C4D1-7BE4-B87D52F48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2B4D0-A39C-FAF6-B1FC-E813800600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00A134C-93F9-0B06-D8F4-9B3C7532A4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37B92C4-122A-5377-7B74-D58A2319E9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28A167B-CD8D-159B-58DB-AD9C0600F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3238DD8-4A7D-554B-8216-37EA1F0231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1D58AB5-54CF-F584-79F8-821E69DF60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367AC01-84C2-7E8C-3BF8-201856803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0B1A9C8-7F43-7DB1-4F91-53075745C4B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6C8629B-DFA8-41AA-9C67-96D3D02BED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11CC2B96-A6B1-5232-3AEE-F9B7FDBBC1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00:00 – 00:00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A18B250-73F5-69E3-5878-B1D8C984F4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62FE180-ECE1-55D7-0248-053AC1E99B1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34F95-D03F-BB17-0BA8-0AB623989FD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0C2139A-0FDA-8116-257B-67457AE6A971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819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om_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919866F5-F57A-6C40-4D30-D67CB6A3D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EC5345-D2D0-6B03-7DDB-B62AB64329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B32F50E-D900-4FFA-87A8-502151FBE2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BA73176-A11D-D62A-EC12-39C3DF983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ED43E1-5036-AF03-3AFC-AC404D716E4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4AFFE7B-BAB3-2BE6-68C7-82413494811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03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5BDBBF2-452B-8A53-D3BC-946EEC4030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CA620CE-1B8B-D388-B43E-902BAFDB8F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21D373-42F2-86AB-3F79-81C1BE348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8720EBE-A59D-52D5-044F-DF5C07F83D7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1129-9154-6101-E99F-40D9C428A70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8E2-6131-A98D-36C8-080B716E4D6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212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3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BEA6F8A-F8D2-0E03-127C-C4C39351E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86F72EA-0ABE-9A8E-4E77-930AA5496A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5E6E347-3D84-596D-2504-6BB7F34831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5684E56-61FE-0760-81FB-D738FF31CE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FDEA9-4B5D-18D7-3B7C-ADC156E9EFC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241-0582-A630-8CB0-7598682D85E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292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4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8956E04-CBD7-E482-8975-949516BE3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DF04DE8-18FA-CC1C-A2E5-416F24CA0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BD1EAAB-FF14-59B6-EB7C-E327DBE476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3ED1D57-42C1-01EC-FDEC-8930A13F02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58379-42B6-CCBC-ACEF-3055CDBB2D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C1715E-3786-F104-88AB-8B85E2F6D91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488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C286D-0325-2652-6DE3-BC17B7921CDE}"/>
              </a:ext>
            </a:extLst>
          </p:cNvPr>
          <p:cNvSpPr txBox="1">
            <a:spLocks/>
          </p:cNvSpPr>
          <p:nvPr userDrawn="1"/>
        </p:nvSpPr>
        <p:spPr>
          <a:xfrm>
            <a:off x="481264" y="1667844"/>
            <a:ext cx="4403565" cy="101566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lang="en-US" sz="6000" b="1" i="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Disclaimer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5C60129C-ED73-46C0-0FB7-BB32CA2BD978}"/>
              </a:ext>
            </a:extLst>
          </p:cNvPr>
          <p:cNvSpPr txBox="1">
            <a:spLocks/>
          </p:cNvSpPr>
          <p:nvPr userDrawn="1"/>
        </p:nvSpPr>
        <p:spPr>
          <a:xfrm>
            <a:off x="481263" y="2919114"/>
            <a:ext cx="6664971" cy="1050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Do not share this presentation without a signed NDA.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Convert to PDF to protect sensitive slide notes.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3464A0-B9BD-B9A5-38BA-45F5800B2D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264" y="872962"/>
            <a:ext cx="668294" cy="622205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9E71BD3-C16B-E833-87BA-15C3037764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42082F-236C-033C-4BB1-ED91055E10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DDC278-1F97-461F-020F-97C4F17BCD4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494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3E89BDD-DFE0-2F52-8234-B4BA719C24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4529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AB1331E-AD8D-C6DD-2EB9-162F1E8744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73F41-F196-FE58-99BD-8AFA2B909861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CA775BE-E377-94D3-AEB3-0F6AC5EABBE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1296AC5-6772-5447-9F7F-930222E7D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522FF93D-C8A6-33EF-5BC7-877E52BEE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A81627C-09AF-5EC8-CA35-DF312ECAD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322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8E60C0F2-79B7-EE1B-6041-90317B3CB1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199D6FE-5F94-4710-8291-B343815879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F08F0-0194-EA75-42BA-A0773D6D3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BCD999-82B2-EE7A-6B7F-62E9DF0FC3B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60BC1F9-F5BB-BACB-98D9-6B1EA76689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21A2213A-A5D0-F62A-BDB3-8BB538A65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00BD8D1-BEE3-CC7B-18BC-B2C6739412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1137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47254E77-EA64-0D5B-1B56-09AF228EFA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1AD50E6-D58E-3D8C-41A0-48F21CC758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EC493A-D2B3-E243-2D3B-B6C3183A317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48D13-7FE0-0CB2-89F9-E7AA85593DB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D221B2F-F01A-3D8B-58F3-2E0CD57769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E154CAE-C4D8-C2A0-6BE8-461C3B8FA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02DE92A-A744-9D66-5950-661ECF019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01721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5381F3-7ADD-A798-2917-70C400E5FC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04668" y="2820541"/>
            <a:ext cx="4487332" cy="403745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47460E-84D6-E4C7-66CE-0A88D0D3B7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C926E2E-67D5-D03F-CAF1-D936DD3C01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70B9D3F-8FFD-EE49-3B30-05286E2EBB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07165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35273E55-8F47-AC18-08B7-C31C53E2A2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BBCDB36-A5F4-DF81-FE84-1CBB05508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36520FD8-AF16-A7D1-FBFD-C07B1B5276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A145C4-F1AE-010B-FC94-C27466A66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04833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1896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033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79939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4284D-C7B7-AF33-505C-3BCE7054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CBF3641-43B5-6FAC-E7AA-3C2E1B6868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6271990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121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14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AA4049EA-1C80-CEF2-C39E-9249C1D29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84776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D2FFF58-70EB-C86F-9E59-1581F18B8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1242001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CE1444-B151-5430-2753-A94BFE598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51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891C23-3EE8-0CED-28FE-170D18A2D615}"/>
              </a:ext>
            </a:extLst>
          </p:cNvPr>
          <p:cNvGrpSpPr/>
          <p:nvPr userDrawn="1"/>
        </p:nvGrpSpPr>
        <p:grpSpPr>
          <a:xfrm>
            <a:off x="3909694" y="-2"/>
            <a:ext cx="4653972" cy="6858002"/>
            <a:chOff x="3300840" y="-2"/>
            <a:chExt cx="4653972" cy="6858002"/>
          </a:xfrm>
          <a:solidFill>
            <a:schemeClr val="bg1">
              <a:lumMod val="9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4E5E53-9F1A-D61C-9EEB-E1510482E5BF}"/>
                </a:ext>
              </a:extLst>
            </p:cNvPr>
            <p:cNvSpPr/>
            <p:nvPr userDrawn="1"/>
          </p:nvSpPr>
          <p:spPr bwMode="auto">
            <a:xfrm>
              <a:off x="3300840" y="0"/>
              <a:ext cx="4110732" cy="6858000"/>
            </a:xfrm>
            <a:prstGeom prst="rect">
              <a:avLst/>
            </a:prstGeom>
            <a:grpFill/>
            <a:ln>
              <a:noFill/>
            </a:ln>
            <a:effectLst/>
          </p:spPr>
          <p:txBody>
            <a:bodyPr wrap="none" rtlCol="0" anchor="ctr"/>
            <a:lstStyle/>
            <a:p>
              <a:pPr algn="ctr"/>
              <a:endPara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sp>
          <p:nvSpPr>
            <p:cNvPr id="13" name="Isosceles Triangle 13">
              <a:extLst>
                <a:ext uri="{FF2B5EF4-FFF2-40B4-BE49-F238E27FC236}">
                  <a16:creationId xmlns:a16="http://schemas.microsoft.com/office/drawing/2014/main" id="{DF41968F-990C-67B1-0475-04E0249E281A}"/>
                </a:ext>
              </a:extLst>
            </p:cNvPr>
            <p:cNvSpPr/>
            <p:nvPr userDrawn="1"/>
          </p:nvSpPr>
          <p:spPr>
            <a:xfrm rot="5400000" flipH="1">
              <a:off x="4249415" y="3152602"/>
              <a:ext cx="6858002" cy="5527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1" y="0"/>
            <a:ext cx="40767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936060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0E4AD9-5B60-F04F-FEE1-80647A0E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189EAA6-8653-D9C5-4653-C4B7BB2BB3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49190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91D4E-6AE3-3F04-D0A0-8C96044CC29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78EB0A-0FF2-079E-6368-97511A388F2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77284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5" y="0"/>
            <a:ext cx="2371722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6AE37-FC1E-5269-1E83-C3E9928ED25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7A8488-5F43-686E-E10B-16D16E352EE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7DE099-ACDF-D41B-FBC3-5EE9A76F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7450138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F7055BE-CD0F-6E9E-5992-4C7B9EF5FA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3600000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02645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0FD50C-06F7-21CC-1F6A-D75586A5063A}"/>
              </a:ext>
            </a:extLst>
          </p:cNvPr>
          <p:cNvSpPr/>
          <p:nvPr userDrawn="1"/>
        </p:nvSpPr>
        <p:spPr bwMode="auto">
          <a:xfrm>
            <a:off x="5166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6866651-9DE6-3C00-E38E-CCE80D6049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67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D1CA3-DE0B-7A9B-CE98-826ACE3DFEB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5F033AD-4765-5FA3-B45B-9232B4A16A8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0826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6CAB9-3229-A377-2782-A27CB6B30495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B5412B9-D91D-8002-0693-897E81DD8C8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658784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441E88-7FE8-D22E-100F-B090659320A1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A5AB7F-48A8-2636-3278-4702BB8C5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ACC802-5D81-6EBD-4496-14A01AE49DB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233E5D9-D527-CAC4-3B1E-44AA802D724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843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DF51-3B9F-C5D8-7A84-09B7B6CB9E8B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3A15A-582D-3DDB-CC40-43726E84CA43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D8F2DF5-DE6F-E2FC-0057-63CC0417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4897430-924B-CB14-9A94-8DB20A76C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053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19051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C5343-68AD-9879-2727-7ECBCB6A1B23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EF0FAA-381C-3A89-42AF-830EF5911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56236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24921F-F7DB-7A40-465F-85F610FC20C6}"/>
              </a:ext>
            </a:extLst>
          </p:cNvPr>
          <p:cNvSpPr txBox="1"/>
          <p:nvPr userDrawn="1"/>
        </p:nvSpPr>
        <p:spPr>
          <a:xfrm>
            <a:off x="10048875" y="6423925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4F018D9-6B5F-8BCB-BD75-7816BF58C56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2392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586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40C5E2-D359-5FED-B284-19CF47A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A60CDFE-3A94-5F3A-0523-ABA560780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052EF-2C83-09DE-9638-F3492217FF7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997612B5-8615-3AC0-8239-012312B6FD9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4374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2960BA-AA0C-9715-43A2-22B9050A478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1783F67-AD13-06FC-C79E-DE6FBF4D0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414E4-F961-7DD4-8CFB-7B93DD10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2BE525B-A1C0-1DD5-E075-79F96E71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67A229-8E7F-A1E8-7492-218AEFB06B0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71751A4-BF09-09F2-77C6-42F2F2AEB24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184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7486B-35A7-A3FF-6F44-2159B1E9FAD3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82A7F25-3763-4002-A844-19432F96312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BC1AB0-2CF4-70A1-0BD7-A9A57D9F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342021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299D4E-38EF-AC64-7836-1AD1E87996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342021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98776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4D51ED0-4D08-4641-87AC-8F2B5E2A3B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6BA4E-CBCB-554D-CA98-146A521CFDF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BB62B8-4926-8E23-51B4-D8AC31708BB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808058-9E6F-F0D8-A385-7B4C5476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00513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3D95AB9-CE03-7AFD-DBBE-C67756B352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005137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4010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16804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463925-928E-4FE1-B9E5-B83141A2C221}"/>
              </a:ext>
            </a:extLst>
          </p:cNvPr>
          <p:cNvSpPr/>
          <p:nvPr userDrawn="1"/>
        </p:nvSpPr>
        <p:spPr bwMode="auto"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69AD5E-5F94-E6C0-0DB3-77E8A5A0D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438901"/>
            <a:ext cx="540540" cy="1904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DBF0C-CA25-003D-B5D8-6EE24C1F808C}"/>
              </a:ext>
            </a:extLst>
          </p:cNvPr>
          <p:cNvSpPr txBox="1"/>
          <p:nvPr userDrawn="1"/>
        </p:nvSpPr>
        <p:spPr>
          <a:xfrm>
            <a:off x="10048874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7B36E0-E687-34C7-ACB3-F681FF77C582}"/>
              </a:ext>
            </a:extLst>
          </p:cNvPr>
          <p:cNvSpPr txBox="1">
            <a:spLocks/>
          </p:cNvSpPr>
          <p:nvPr userDrawn="1"/>
        </p:nvSpPr>
        <p:spPr>
          <a:xfrm>
            <a:off x="11498093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1739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5EB0785-A8B2-B844-97DC-362F6DEDBA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8022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310AE-15DA-337B-9B5E-33A904BF35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dirty="0" err="1"/>
              <a:t>popularised</a:t>
            </a:r>
            <a:r>
              <a:rPr lang="en-US" dirty="0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314DE-C7E3-7237-4318-0407E44F57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5B1A98-E850-C3DE-38BF-EFAE0A2DC98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6FC5F8-7CE5-D29D-2CCA-C5715CDD43B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655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D48285-8885-4D22-8AE4-172AF61141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738485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9C4A8F-5B1E-7B0E-CAF7-B9F33D92C84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D6F42AB-F517-759C-A3C4-63443ED771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E9D77-5CF8-5131-6018-48DF58117EC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4280A7-4796-759A-6B00-0444E865A6A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289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F61EEF5-D25E-43F9-9DE7-B0D48CE58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700771F-7FE8-2510-0C0E-734572A3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1513A24-C9FD-06A1-1015-D9656D68B8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543363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5D96D1E-C1BD-6F40-A978-D03F53CD4A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837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543917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104305F-427E-7B08-9801-43AF5256FF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890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 userDrawn="1"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C45522-9A1C-E9EB-4D96-B0CFFD2F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250256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E6E8F6-4D6C-2884-0A7D-72BB39B21D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2502567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07FC1-18DF-2355-0123-10BF2390C02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024407-B901-7B1F-04F9-932983C670E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550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A9547FE-7857-4A70-ACDF-06ACC0CC38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55158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DC425F-9CC1-9DF3-3F54-17DAA0EB5E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75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E44CDB4-CF54-423C-9681-C9AAACA56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2F6686-8C0A-120D-0C06-1F8DA97E3C4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65D26-CB94-F414-6836-638151C91C4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205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817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ictures-Leil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2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2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07656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7656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7867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7867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23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307338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40700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7107384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3350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-Lei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3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87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4C3044EB-579C-1960-F9EB-F116665A72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32000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6271A-50EF-A83C-8073-0A6628457E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3A26170-4FED-69CC-E7CF-6F163320DA0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FF5574A-DA2F-79E2-5257-E464C4DCBED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70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E50C4C1-6951-43AE-9158-49572E0C92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70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000C3D5-7B7C-EDA2-9F53-869EC3327C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4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9AE19AD-1845-6345-DD33-3FC9CF178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4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FF38F98-219B-60E4-DEE4-A49FED7181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6073D28-63C4-4EAB-D10E-E4C9A179B8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</p:spTree>
    <p:extLst>
      <p:ext uri="{BB962C8B-B14F-4D97-AF65-F5344CB8AC3E}">
        <p14:creationId xmlns:p14="http://schemas.microsoft.com/office/powerpoint/2010/main" val="269782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F219C23-5248-6A23-1656-7F24D37DB2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0F7879-EF16-5C25-BC5F-DF85AD10BA3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7931746-EE72-E501-E583-1218E82991F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43703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216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32DEA7B-FE87-E4A3-0E28-5A6940077AAF}"/>
              </a:ext>
            </a:extLst>
          </p:cNvPr>
          <p:cNvSpPr/>
          <p:nvPr userDrawn="1"/>
        </p:nvSpPr>
        <p:spPr bwMode="auto">
          <a:xfrm>
            <a:off x="1020000" y="999000"/>
            <a:ext cx="10152000" cy="4860000"/>
          </a:xfrm>
          <a:prstGeom prst="rect">
            <a:avLst/>
          </a:prstGeom>
          <a:gradFill>
            <a:gsLst>
              <a:gs pos="66000">
                <a:schemeClr val="accent5"/>
              </a:gs>
              <a:gs pos="0">
                <a:schemeClr val="accent2"/>
              </a:gs>
              <a:gs pos="100000">
                <a:schemeClr val="accent4"/>
              </a:gs>
            </a:gsLst>
            <a:lin ang="1800000" scaled="0"/>
          </a:gra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lvl="0"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88A2ACC-EFED-3CEF-B58F-EA44CFA3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49475" y="2464175"/>
            <a:ext cx="7899400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000" b="0" i="0" spc="0" dirty="0">
                <a:solidFill>
                  <a:schemeClr val="bg1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Insert your quote here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A967559A-5EC8-8B92-65E3-76928C972876}"/>
              </a:ext>
            </a:extLst>
          </p:cNvPr>
          <p:cNvSpPr txBox="1">
            <a:spLocks/>
          </p:cNvSpPr>
          <p:nvPr userDrawn="1"/>
        </p:nvSpPr>
        <p:spPr>
          <a:xfrm>
            <a:off x="2062976" y="1531155"/>
            <a:ext cx="1248633" cy="14773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sz="9600" dirty="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118382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84736574-B51A-9653-821A-E3F5C3FCD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91EA3E-7B20-955D-0C59-DF85A915365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BB0EE7-0219-6A5E-BA7F-872F2C48D7E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0476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-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tx2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62515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663" y="1035424"/>
            <a:ext cx="464820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7200" b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4663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4663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4663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663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663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663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474663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5E39841-8080-2E83-D8BB-7AD807F024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8728A8-4504-9979-0928-94780E8A451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625CBB-5BC8-9235-54D3-C8F265017D7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11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Calibri" panose="020F05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EPAM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dirty="0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9418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theme" Target="../theme/theme1.xml"/><Relationship Id="rId66" Type="http://schemas.openxmlformats.org/officeDocument/2006/relationships/image" Target="../media/image1.png"/><Relationship Id="rId6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723899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B532318-7ECA-4FB6-ADB1-48895B543C86}"/>
              </a:ext>
            </a:extLst>
          </p:cNvPr>
          <p:cNvPicPr>
            <a:picLocks noChangeAspect="1"/>
          </p:cNvPicPr>
          <p:nvPr userDrawn="1"/>
        </p:nvPicPr>
        <p:blipFill>
          <a:blip r:embed="rId6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641FF6-5DCC-D34B-9DD7-29931472CBC7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A6592-6579-C548-911C-85A5195E10B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A0289-E5C4-74D3-46E5-CB49BE90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139" y="1680713"/>
            <a:ext cx="11267660" cy="44914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88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1" r:id="rId1"/>
    <p:sldLayoutId id="2147484352" r:id="rId2"/>
    <p:sldLayoutId id="2147484353" r:id="rId3"/>
    <p:sldLayoutId id="2147484354" r:id="rId4"/>
    <p:sldLayoutId id="2147484355" r:id="rId5"/>
    <p:sldLayoutId id="2147484356" r:id="rId6"/>
    <p:sldLayoutId id="2147484357" r:id="rId7"/>
    <p:sldLayoutId id="2147484358" r:id="rId8"/>
    <p:sldLayoutId id="2147484359" r:id="rId9"/>
    <p:sldLayoutId id="2147484360" r:id="rId10"/>
    <p:sldLayoutId id="2147484361" r:id="rId11"/>
    <p:sldLayoutId id="2147484362" r:id="rId12"/>
    <p:sldLayoutId id="2147484363" r:id="rId13"/>
    <p:sldLayoutId id="2147484364" r:id="rId14"/>
    <p:sldLayoutId id="2147484365" r:id="rId15"/>
    <p:sldLayoutId id="2147484366" r:id="rId16"/>
    <p:sldLayoutId id="2147484367" r:id="rId17"/>
    <p:sldLayoutId id="2147484368" r:id="rId18"/>
    <p:sldLayoutId id="2147484369" r:id="rId19"/>
    <p:sldLayoutId id="2147484370" r:id="rId20"/>
    <p:sldLayoutId id="2147484371" r:id="rId21"/>
    <p:sldLayoutId id="2147484372" r:id="rId22"/>
    <p:sldLayoutId id="2147484373" r:id="rId23"/>
    <p:sldLayoutId id="2147484374" r:id="rId24"/>
    <p:sldLayoutId id="2147484375" r:id="rId25"/>
    <p:sldLayoutId id="2147484376" r:id="rId26"/>
    <p:sldLayoutId id="2147484377" r:id="rId27"/>
    <p:sldLayoutId id="2147484378" r:id="rId28"/>
    <p:sldLayoutId id="2147484379" r:id="rId29"/>
    <p:sldLayoutId id="2147484380" r:id="rId30"/>
    <p:sldLayoutId id="2147484381" r:id="rId31"/>
    <p:sldLayoutId id="2147484382" r:id="rId32"/>
    <p:sldLayoutId id="2147484383" r:id="rId33"/>
    <p:sldLayoutId id="2147484384" r:id="rId34"/>
    <p:sldLayoutId id="2147484385" r:id="rId35"/>
    <p:sldLayoutId id="2147484386" r:id="rId36"/>
    <p:sldLayoutId id="2147484387" r:id="rId37"/>
    <p:sldLayoutId id="2147484388" r:id="rId38"/>
    <p:sldLayoutId id="2147484389" r:id="rId39"/>
    <p:sldLayoutId id="2147484390" r:id="rId40"/>
    <p:sldLayoutId id="2147484391" r:id="rId41"/>
    <p:sldLayoutId id="2147484392" r:id="rId42"/>
    <p:sldLayoutId id="2147484393" r:id="rId43"/>
    <p:sldLayoutId id="2147484394" r:id="rId44"/>
    <p:sldLayoutId id="2147484395" r:id="rId45"/>
    <p:sldLayoutId id="2147484396" r:id="rId46"/>
    <p:sldLayoutId id="2147484397" r:id="rId47"/>
    <p:sldLayoutId id="2147484398" r:id="rId48"/>
    <p:sldLayoutId id="2147484399" r:id="rId49"/>
    <p:sldLayoutId id="2147484400" r:id="rId50"/>
    <p:sldLayoutId id="2147484401" r:id="rId51"/>
    <p:sldLayoutId id="2147484402" r:id="rId52"/>
    <p:sldLayoutId id="2147484403" r:id="rId53"/>
    <p:sldLayoutId id="2147484404" r:id="rId54"/>
    <p:sldLayoutId id="2147484405" r:id="rId55"/>
    <p:sldLayoutId id="2147484406" r:id="rId56"/>
    <p:sldLayoutId id="2147484407" r:id="rId57"/>
    <p:sldLayoutId id="2147484408" r:id="rId58"/>
    <p:sldLayoutId id="2147484409" r:id="rId59"/>
    <p:sldLayoutId id="2147484410" r:id="rId60"/>
    <p:sldLayoutId id="2147484411" r:id="rId61"/>
    <p:sldLayoutId id="2147484412" r:id="rId62"/>
    <p:sldLayoutId id="2147484413" r:id="rId63"/>
    <p:sldLayoutId id="2147484414" r:id="rId6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dirty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2538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o"/>
        <a:defRPr sz="14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56">
          <p15:clr>
            <a:srgbClr val="F26B43"/>
          </p15:clr>
        </p15:guide>
        <p15:guide id="16" orient="horz" pos="239">
          <p15:clr>
            <a:srgbClr val="F26B43"/>
          </p15:clr>
        </p15:guide>
        <p15:guide id="17" orient="horz" pos="454">
          <p15:clr>
            <a:srgbClr val="F26B43"/>
          </p15:clr>
        </p15:guide>
        <p15:guide id="20" orient="horz" pos="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Four-phase pipeline · RAP app with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 A Y  2 0 2 6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AI-Assisted RAP BO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The pipeline · phases · loop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What the skill teaches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Artifacts across phases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What got built · 72 objects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What goes wrong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Outcome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c_1_DiagramCanvas"/>
          <p:cNvSpPr/>
          <p:nvPr/>
        </p:nvSpPr>
        <p:spPr>
          <a:xfrm>
            <a:off x="457200" y="1463040"/>
            <a:ext cx="1106424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pipeline · idea to running app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PHASES · ONE PIPE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DiagramCanvas:node0"/>
          <p:cNvSpPr/>
          <p:nvPr/>
        </p:nvSpPr>
        <p:spPr>
          <a:xfrm>
            <a:off x="1051560" y="1828800"/>
            <a:ext cx="1508760" cy="1051560"/>
          </a:xfrm>
          <a:prstGeom prst="roundRect">
            <a:avLst/>
          </a:prstGeom>
          <a:solidFill>
            <a:srgbClr val="898989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plain words · no ABAP</a:t>
            </a:r>
          </a:p>
        </p:txBody>
      </p:sp>
      <p:sp>
        <p:nvSpPr>
          <p:cNvPr id="7" name="c_1_DiagramCanvas:node1"/>
          <p:cNvSpPr/>
          <p:nvPr/>
        </p:nvSpPr>
        <p:spPr>
          <a:xfrm>
            <a:off x="2724912" y="1828800"/>
            <a:ext cx="1508760" cy="1051560"/>
          </a:xfrm>
          <a:prstGeom prst="roundRect">
            <a:avLst/>
          </a:prstGeom>
          <a:solidFill>
            <a:srgbClr val="0047FF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business-requirements</a:t>
            </a:r>
          </a:p>
        </p:txBody>
      </p:sp>
      <p:sp>
        <p:nvSpPr>
          <p:cNvPr id="8" name="c_1_DiagramCanvas:node2"/>
          <p:cNvSpPr/>
          <p:nvPr/>
        </p:nvSpPr>
        <p:spPr>
          <a:xfrm>
            <a:off x="4398264" y="1828800"/>
            <a:ext cx="1508760" cy="1051560"/>
          </a:xfrm>
          <a:prstGeom prst="roundRect">
            <a:avLst/>
          </a:prstGeom>
          <a:solidFill>
            <a:srgbClr val="107E8D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tech-spec</a:t>
            </a:r>
          </a:p>
        </p:txBody>
      </p:sp>
      <p:sp>
        <p:nvSpPr>
          <p:cNvPr id="9" name="c_1_DiagramCanvas:node3"/>
          <p:cNvSpPr/>
          <p:nvPr/>
        </p:nvSpPr>
        <p:spPr>
          <a:xfrm>
            <a:off x="6071616" y="1828800"/>
            <a:ext cx="1508760" cy="1051560"/>
          </a:xfrm>
          <a:prstGeom prst="roundRect">
            <a:avLst/>
          </a:prstGeom>
          <a:solidFill>
            <a:srgbClr val="E614EB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impl-plan</a:t>
            </a:r>
          </a:p>
        </p:txBody>
      </p:sp>
      <p:sp>
        <p:nvSpPr>
          <p:cNvPr id="10" name="c_1_DiagramCanvas:node4"/>
          <p:cNvSpPr/>
          <p:nvPr/>
        </p:nvSpPr>
        <p:spPr>
          <a:xfrm>
            <a:off x="7744968" y="1828800"/>
            <a:ext cx="1508760" cy="1051560"/>
          </a:xfrm>
          <a:prstGeom prst="roundRect">
            <a:avLst/>
          </a:prstGeom>
          <a:solidFill>
            <a:srgbClr val="E06C00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active SAP objects</a:t>
            </a:r>
          </a:p>
        </p:txBody>
      </p:sp>
      <p:sp>
        <p:nvSpPr>
          <p:cNvPr id="11" name="c_1_DiagramCanvas:node5"/>
          <p:cNvSpPr/>
          <p:nvPr/>
        </p:nvSpPr>
        <p:spPr>
          <a:xfrm>
            <a:off x="9418320" y="1828800"/>
            <a:ext cx="1508760" cy="1051560"/>
          </a:xfrm>
          <a:prstGeom prst="roundRect">
            <a:avLst/>
          </a:prstGeom>
          <a:solidFill>
            <a:srgbClr val="E80202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Fiori preview</a:t>
            </a:r>
          </a:p>
        </p:txBody>
      </p:sp>
      <p:cxnSp>
        <p:nvCxnSpPr>
          <p:cNvPr id="12" name="c_1_DiagramCanvas:conn0"/>
          <p:cNvCxnSpPr>
            <a:stCxn id="6" idx="3"/>
            <a:endCxn id="7" idx="1"/>
          </p:cNvCxnSpPr>
          <p:nvPr/>
        </p:nvCxnSpPr>
        <p:spPr>
          <a:xfrm>
            <a:off x="2560320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_1_DiagramCanvas:conn1"/>
          <p:cNvCxnSpPr>
            <a:stCxn id="7" idx="3"/>
            <a:endCxn id="8" idx="1"/>
          </p:cNvCxnSpPr>
          <p:nvPr/>
        </p:nvCxnSpPr>
        <p:spPr>
          <a:xfrm>
            <a:off x="4233672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_1_DiagramCanvas:conn2"/>
          <p:cNvCxnSpPr>
            <a:stCxn id="8" idx="3"/>
            <a:endCxn id="9" idx="1"/>
          </p:cNvCxnSpPr>
          <p:nvPr/>
        </p:nvCxnSpPr>
        <p:spPr>
          <a:xfrm>
            <a:off x="5907024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_1_DiagramCanvas:conn3"/>
          <p:cNvCxnSpPr>
            <a:stCxn id="9" idx="3"/>
            <a:endCxn id="10" idx="1"/>
          </p:cNvCxnSpPr>
          <p:nvPr/>
        </p:nvCxnSpPr>
        <p:spPr>
          <a:xfrm>
            <a:off x="7580376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_1_DiagramCanvas:conn4"/>
          <p:cNvCxnSpPr>
            <a:stCxn id="10" idx="3"/>
            <a:endCxn id="11" idx="1"/>
          </p:cNvCxnSpPr>
          <p:nvPr/>
        </p:nvCxnSpPr>
        <p:spPr>
          <a:xfrm>
            <a:off x="9253728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c_1_Block"/>
          <p:cNvGraphicFramePr>
            <a:graphicFrameLocks noGrp="1"/>
          </p:cNvGraphicFramePr>
          <p:nvPr/>
        </p:nvGraphicFramePr>
        <p:xfrm>
          <a:off x="457200" y="5212080"/>
          <a:ext cx="11064240" cy="914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Phases 1-3 save their artifact into a RAG collection. Phase 4 pulls plan + spec from RAG · you do not retype DDL.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Phases 1-3 · documents only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WHO DOES WHAT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1 · Requirements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You: </a:t>
            </a:r>
            <a:r>
              <a:rPr sz="1400">
                <a:solidFill>
                  <a:srgbClr val="FFFFFF"/>
                </a:solidFill>
              </a:rPr>
              <a:t>domain expert · approve entities/rules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AI: </a:t>
            </a:r>
            <a:r>
              <a:rPr sz="1400">
                <a:solidFill>
                  <a:srgbClr val="FFFFFF"/>
                </a:solidFill>
              </a:rPr>
              <a:t>business analyst · formalize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In: </a:t>
            </a:r>
            <a:r>
              <a:rPr sz="1400">
                <a:solidFill>
                  <a:srgbClr val="FFFFFF"/>
                </a:solidFill>
              </a:rPr>
              <a:t>your idea in plain words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Out: </a:t>
            </a:r>
            <a:r>
              <a:rPr sz="1400" b="1" i="1">
                <a:solidFill>
                  <a:srgbClr val="FFFFFF"/>
                </a:solidFill>
              </a:rPr>
              <a:t>business-requirements (RAG)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420624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2 · Tech spec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You: </a:t>
            </a:r>
            <a:r>
              <a:rPr sz="1400">
                <a:solidFill>
                  <a:srgbClr val="FFFFFF"/>
                </a:solidFill>
              </a:rPr>
              <a:t>architect · review draft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AI: </a:t>
            </a:r>
            <a:r>
              <a:rPr sz="1400">
                <a:solidFill>
                  <a:srgbClr val="FFFFFF"/>
                </a:solidFill>
              </a:rPr>
              <a:t>technical writer · propose DDL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In: </a:t>
            </a:r>
            <a:r>
              <a:rPr sz="1400">
                <a:solidFill>
                  <a:srgbClr val="FFFFFF"/>
                </a:solidFill>
              </a:rPr>
              <a:t>business-requirements (RAG)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Out: </a:t>
            </a:r>
            <a:r>
              <a:rPr sz="1400" b="1" i="1">
                <a:solidFill>
                  <a:srgbClr val="FFFFFF"/>
                </a:solidFill>
              </a:rPr>
              <a:t>tech-spec (RAG · draft, evolves)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795528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F12D3"/>
              </a:gs>
              <a:gs pos="100000">
                <a:srgbClr val="E82BED"/>
              </a:gs>
            </a:gsLst>
            <a:lin ang="16200000" scaled="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3 · Plan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You: </a:t>
            </a:r>
            <a:r>
              <a:rPr sz="1400">
                <a:solidFill>
                  <a:srgbClr val="FFFFFF"/>
                </a:solidFill>
              </a:rPr>
              <a:t>project manager · check order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AI: </a:t>
            </a:r>
            <a:r>
              <a:rPr sz="1400">
                <a:solidFill>
                  <a:srgbClr val="FFFFFF"/>
                </a:solidFill>
              </a:rPr>
              <a:t>lead developer · order steps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In: </a:t>
            </a:r>
            <a:r>
              <a:rPr sz="1400">
                <a:solidFill>
                  <a:srgbClr val="FFFFFF"/>
                </a:solidFill>
              </a:rPr>
              <a:t>tech-spec (RAG)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Out: </a:t>
            </a:r>
            <a:r>
              <a:rPr sz="1400" b="1" i="1">
                <a:solidFill>
                  <a:srgbClr val="FFFFFF"/>
                </a:solidFill>
              </a:rPr>
              <a:t>impl-plan (RAG · ordered steps)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4 · build layer by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DEPENDENCY ORDER · LAYERED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ChevronProcess:chevron0"/>
          <p:cNvSpPr/>
          <p:nvPr/>
        </p:nvSpPr>
        <p:spPr>
          <a:xfrm>
            <a:off x="45720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04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Package</a:t>
            </a:r>
          </a:p>
        </p:txBody>
      </p:sp>
      <p:sp>
        <p:nvSpPr>
          <p:cNvPr id="6" name="c_1_ChevronProcess:chevron1"/>
          <p:cNvSpPr/>
          <p:nvPr/>
        </p:nvSpPr>
        <p:spPr>
          <a:xfrm>
            <a:off x="184594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A08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Domains</a:t>
            </a:r>
          </a:p>
        </p:txBody>
      </p:sp>
      <p:sp>
        <p:nvSpPr>
          <p:cNvPr id="7" name="c_1_ChevronProcess:chevron2"/>
          <p:cNvSpPr/>
          <p:nvPr/>
        </p:nvSpPr>
        <p:spPr>
          <a:xfrm>
            <a:off x="323469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0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Data el</a:t>
            </a:r>
          </a:p>
        </p:txBody>
      </p:sp>
      <p:sp>
        <p:nvSpPr>
          <p:cNvPr id="8" name="c_1_ChevronProcess:chevron3"/>
          <p:cNvSpPr/>
          <p:nvPr/>
        </p:nvSpPr>
        <p:spPr>
          <a:xfrm>
            <a:off x="462343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107E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Tables</a:t>
            </a:r>
          </a:p>
        </p:txBody>
      </p:sp>
      <p:sp>
        <p:nvSpPr>
          <p:cNvPr id="9" name="c_1_ChevronProcess:chevron4"/>
          <p:cNvSpPr/>
          <p:nvPr/>
        </p:nvSpPr>
        <p:spPr>
          <a:xfrm>
            <a:off x="601218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CDS R</a:t>
            </a:r>
          </a:p>
        </p:txBody>
      </p:sp>
      <p:sp>
        <p:nvSpPr>
          <p:cNvPr id="10" name="c_1_ChevronProcess:chevron5"/>
          <p:cNvSpPr/>
          <p:nvPr/>
        </p:nvSpPr>
        <p:spPr>
          <a:xfrm>
            <a:off x="740092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0A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CDS C</a:t>
            </a:r>
          </a:p>
        </p:txBody>
      </p:sp>
      <p:sp>
        <p:nvSpPr>
          <p:cNvPr id="11" name="c_1_ChevronProcess:chevron6"/>
          <p:cNvSpPr/>
          <p:nvPr/>
        </p:nvSpPr>
        <p:spPr>
          <a:xfrm>
            <a:off x="878967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A84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BDEF</a:t>
            </a:r>
          </a:p>
        </p:txBody>
      </p:sp>
      <p:sp>
        <p:nvSpPr>
          <p:cNvPr id="12" name="c_1_ChevronProcess:chevron7"/>
          <p:cNvSpPr/>
          <p:nvPr/>
        </p:nvSpPr>
        <p:spPr>
          <a:xfrm>
            <a:off x="1017841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13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13" name="c_1_ChevronProcess:content0"/>
          <p:cNvSpPr/>
          <p:nvPr/>
        </p:nvSpPr>
        <p:spPr>
          <a:xfrm>
            <a:off x="45720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prefix Z##_</a:t>
            </a:r>
          </a:p>
        </p:txBody>
      </p:sp>
      <p:sp>
        <p:nvSpPr>
          <p:cNvPr id="14" name="c_1_ChevronProcess:content1"/>
          <p:cNvSpPr/>
          <p:nvPr/>
        </p:nvSpPr>
        <p:spPr>
          <a:xfrm>
            <a:off x="184594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value ranges</a:t>
            </a:r>
          </a:p>
        </p:txBody>
      </p:sp>
      <p:sp>
        <p:nvSpPr>
          <p:cNvPr id="15" name="c_1_ChevronProcess:content2"/>
          <p:cNvSpPr/>
          <p:nvPr/>
        </p:nvSpPr>
        <p:spPr>
          <a:xfrm>
            <a:off x="323469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typed fields</a:t>
            </a:r>
          </a:p>
        </p:txBody>
      </p:sp>
      <p:sp>
        <p:nvSpPr>
          <p:cNvPr id="16" name="c_1_ChevronProcess:content3"/>
          <p:cNvSpPr/>
          <p:nvPr/>
        </p:nvSpPr>
        <p:spPr>
          <a:xfrm>
            <a:off x="462343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persistent + draft</a:t>
            </a:r>
          </a:p>
        </p:txBody>
      </p:sp>
      <p:sp>
        <p:nvSpPr>
          <p:cNvPr id="17" name="c_1_ChevronProcess:content4"/>
          <p:cNvSpPr/>
          <p:nvPr/>
        </p:nvSpPr>
        <p:spPr>
          <a:xfrm>
            <a:off x="601218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interface views</a:t>
            </a:r>
          </a:p>
        </p:txBody>
      </p:sp>
      <p:sp>
        <p:nvSpPr>
          <p:cNvPr id="18" name="c_1_ChevronProcess:content5"/>
          <p:cNvSpPr/>
          <p:nvPr/>
        </p:nvSpPr>
        <p:spPr>
          <a:xfrm>
            <a:off x="740092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projection</a:t>
            </a:r>
          </a:p>
        </p:txBody>
      </p:sp>
      <p:sp>
        <p:nvSpPr>
          <p:cNvPr id="19" name="c_1_ChevronProcess:content6"/>
          <p:cNvSpPr/>
          <p:nvPr/>
        </p:nvSpPr>
        <p:spPr>
          <a:xfrm>
            <a:off x="878967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behaviour</a:t>
            </a:r>
          </a:p>
        </p:txBody>
      </p:sp>
      <p:sp>
        <p:nvSpPr>
          <p:cNvPr id="20" name="c_1_ChevronProcess:content7"/>
          <p:cNvSpPr/>
          <p:nvPr/>
        </p:nvSpPr>
        <p:spPr>
          <a:xfrm>
            <a:off x="1017841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definition + bind</a:t>
            </a:r>
          </a:p>
        </p:txBody>
      </p:sp>
      <p:graphicFrame>
        <p:nvGraphicFramePr>
          <p:cNvPr id="21" name="c_1_Block"/>
          <p:cNvGraphicFramePr>
            <a:graphicFrameLocks noGrp="1"/>
          </p:cNvGraphicFramePr>
          <p:nvPr/>
        </p:nvGraphicFramePr>
        <p:xfrm>
          <a:off x="457200" y="4846320"/>
          <a:ext cx="11064240" cy="12801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12801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Rule: </a:t>
                      </a:r>
                      <a:r>
                        <a:rPr sz="1400">
                          <a:solidFill>
                            <a:srgbClr val="000000"/>
                          </a:solidFill>
                        </a:rPr>
                        <a:t>3-4 objects per prompt · activate before next layer.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Trust check: </a:t>
                      </a:r>
                      <a:r>
                        <a:rPr sz="1400">
                          <a:solidFill>
                            <a:srgbClr val="000000"/>
                          </a:solidFill>
                        </a:rPr>
                        <a:t>"Active" is a claim until ReadDomain / ReadTable returns active: true.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c_1_DiagramCanvas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Complex objects · never assume first attempt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CREATE · CHECK · FIX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DiagramCanvas:node0"/>
          <p:cNvSpPr/>
          <p:nvPr/>
        </p:nvSpPr>
        <p:spPr>
          <a:xfrm>
            <a:off x="5120640" y="2171700"/>
            <a:ext cx="1737360" cy="868680"/>
          </a:xfrm>
          <a:prstGeom prst="roundRect">
            <a:avLst/>
          </a:prstGeom>
          <a:solidFill>
            <a:srgbClr val="0047FF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no activate yet</a:t>
            </a:r>
          </a:p>
        </p:txBody>
      </p:sp>
      <p:sp>
        <p:nvSpPr>
          <p:cNvPr id="7" name="c_1_DiagramCanvas:node1"/>
          <p:cNvSpPr/>
          <p:nvPr/>
        </p:nvSpPr>
        <p:spPr>
          <a:xfrm>
            <a:off x="7315200" y="3360420"/>
            <a:ext cx="1737360" cy="868680"/>
          </a:xfrm>
          <a:prstGeom prst="flowChartDecision">
            <a:avLst/>
          </a:prstGeom>
          <a:solidFill>
            <a:srgbClr val="2590EE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syntax · refs</a:t>
            </a:r>
          </a:p>
        </p:txBody>
      </p:sp>
      <p:sp>
        <p:nvSpPr>
          <p:cNvPr id="8" name="c_1_DiagramCanvas:node2"/>
          <p:cNvSpPr/>
          <p:nvPr/>
        </p:nvSpPr>
        <p:spPr>
          <a:xfrm>
            <a:off x="5120640" y="4549140"/>
            <a:ext cx="1737360" cy="868680"/>
          </a:xfrm>
          <a:prstGeom prst="roundRect">
            <a:avLst/>
          </a:prstGeom>
          <a:solidFill>
            <a:srgbClr val="E06C00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agent edits spec · retry</a:t>
            </a:r>
          </a:p>
        </p:txBody>
      </p:sp>
      <p:sp>
        <p:nvSpPr>
          <p:cNvPr id="9" name="c_1_DiagramCanvas:node3"/>
          <p:cNvSpPr/>
          <p:nvPr/>
        </p:nvSpPr>
        <p:spPr>
          <a:xfrm>
            <a:off x="2926080" y="3360420"/>
            <a:ext cx="1737360" cy="868680"/>
          </a:xfrm>
          <a:prstGeom prst="roundRect">
            <a:avLst/>
          </a:prstGeom>
          <a:solidFill>
            <a:srgbClr val="107E8D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whole layer together</a:t>
            </a:r>
          </a:p>
        </p:txBody>
      </p:sp>
      <p:cxnSp>
        <p:nvCxnSpPr>
          <p:cNvPr id="10" name="c_1_DiagramCanvas:conn0"/>
          <p:cNvCxnSpPr>
            <a:stCxn id="6" idx="3"/>
            <a:endCxn id="7" idx="1"/>
          </p:cNvCxnSpPr>
          <p:nvPr/>
        </p:nvCxnSpPr>
        <p:spPr>
          <a:xfrm>
            <a:off x="6858000" y="2606040"/>
            <a:ext cx="457200" cy="1188720"/>
          </a:xfrm>
          <a:prstGeom prst="curvedConnector3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_1_DiagramCanvas:conn1"/>
          <p:cNvCxnSpPr>
            <a:stCxn id="7" idx="1"/>
            <a:endCxn id="8" idx="3"/>
          </p:cNvCxnSpPr>
          <p:nvPr/>
        </p:nvCxnSpPr>
        <p:spPr>
          <a:xfrm flipH="1">
            <a:off x="6858000" y="3794760"/>
            <a:ext cx="457200" cy="1188720"/>
          </a:xfrm>
          <a:prstGeom prst="curvedConnector3">
            <a:avLst/>
          </a:prstGeom>
          <a:ln w="9144">
            <a:solidFill>
              <a:srgbClr val="0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_1_DiagramCanvas:conn1:text"/>
          <p:cNvSpPr txBox="1"/>
          <p:nvPr/>
        </p:nvSpPr>
        <p:spPr>
          <a:xfrm>
            <a:off x="6629400" y="406908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/>
          <a:p>
            <a:pPr algn="l"/>
            <a:r>
              <a:rPr sz="1000">
                <a:solidFill>
                  <a:srgbClr val="000000"/>
                </a:solidFill>
              </a:rPr>
              <a:t>errors</a:t>
            </a:r>
          </a:p>
        </p:txBody>
      </p:sp>
      <p:cxnSp>
        <p:nvCxnSpPr>
          <p:cNvPr id="13" name="c_1_DiagramCanvas:conn2"/>
          <p:cNvCxnSpPr>
            <a:stCxn id="8" idx="0"/>
            <a:endCxn id="6" idx="2"/>
          </p:cNvCxnSpPr>
          <p:nvPr/>
        </p:nvCxnSpPr>
        <p:spPr>
          <a:xfrm flipV="1">
            <a:off x="5989320" y="3040380"/>
            <a:ext cx="0" cy="1508760"/>
          </a:xfrm>
          <a:prstGeom prst="curvedConnector3">
            <a:avLst/>
          </a:prstGeom>
          <a:ln w="9144">
            <a:solidFill>
              <a:srgbClr val="0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_1_DiagramCanvas:conn2:text"/>
          <p:cNvSpPr txBox="1"/>
          <p:nvPr/>
        </p:nvSpPr>
        <p:spPr>
          <a:xfrm>
            <a:off x="5532120" y="347472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/>
          <a:p>
            <a:pPr algn="l"/>
            <a:r>
              <a:rPr sz="100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15" name="c_1_DiagramCanvas:conn3"/>
          <p:cNvCxnSpPr>
            <a:stCxn id="7" idx="1"/>
            <a:endCxn id="9" idx="3"/>
          </p:cNvCxnSpPr>
          <p:nvPr/>
        </p:nvCxnSpPr>
        <p:spPr>
          <a:xfrm flipH="1">
            <a:off x="4663440" y="3794760"/>
            <a:ext cx="2651760" cy="0"/>
          </a:xfrm>
          <a:prstGeom prst="curvedConnector3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_1_DiagramCanvas:conn3:text"/>
          <p:cNvSpPr txBox="1"/>
          <p:nvPr/>
        </p:nvSpPr>
        <p:spPr>
          <a:xfrm>
            <a:off x="5532120" y="347472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/>
          <a:p>
            <a:pPr algn="l"/>
            <a:r>
              <a:rPr sz="1000">
                <a:solidFill>
                  <a:srgbClr val="000000"/>
                </a:solidFill>
              </a:rPr>
              <a:t>clean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catalog · one task per file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16 SKILLS · 33-74 LINES EACH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3566160" cy="256032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DDIC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creating-domain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creating-data-element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creating-persistent-table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creating-draft-table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4206240" y="1463040"/>
            <a:ext cx="3566160" cy="256032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RAP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creating-interface-cds-view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creating-projection-cds-view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creating-metadata-extension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creating-bdef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creating-bimp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creating-projection-bdef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7955280" y="1463040"/>
            <a:ext cx="3566160" cy="256032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Service · operational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creating-service-definition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creating-service-binding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enforcing-target-package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avoiding-hallucinations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managing-rag-artifacts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activating-objects</a:t>
            </a:r>
          </a:p>
        </p:txBody>
      </p:sp>
      <p:graphicFrame>
        <p:nvGraphicFramePr>
          <p:cNvPr id="8" name="c_4_Block"/>
          <p:cNvGraphicFramePr>
            <a:graphicFrameLocks noGrp="1"/>
          </p:cNvGraphicFramePr>
          <p:nvPr/>
        </p:nvGraphicFramePr>
        <p:xfrm>
          <a:off x="457200" y="5303520"/>
          <a:ext cx="11064240" cy="8229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Why split: </a:t>
                      </a:r>
                      <a:r>
                        <a:rPr sz="1400">
                          <a:solidFill>
                            <a:srgbClr val="000000"/>
                          </a:solidFill>
                        </a:rPr>
                        <a:t>one skill = one task · no stage / phase references inside · load only what the current step needs · easier to evolve · fits on one screen.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same entity moves through the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AUTHOR · FROM IDEA TO OBJECT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Phase 1 · business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Entity: Author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Name (string 100, required)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Country (string 50)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Birth Year (int 4)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Biography (text)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Rule: </a:t>
            </a:r>
            <a:r>
              <a:rPr sz="1400">
                <a:solidFill>
                  <a:srgbClr val="FFFFFF"/>
                </a:solidFill>
              </a:rPr>
              <a:t>name unique; birth-year 1000..now.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324612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Phase 2 · spec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Table Z##_AUTHOR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author_id uuid · key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name z##_e_name (z##_d_name CHAR 100)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country z##_e_country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birth_year z##_e_year (NUMC 4)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biography STRING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603504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CF12D3"/>
              </a:gs>
              <a:gs pos="100000">
                <a:srgbClr val="E82BED"/>
              </a:gs>
            </a:gsLst>
            <a:lin ang="16200000" scaled="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Phase 3 · plan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Step group · Author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1.1 create 5 domains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1.2 create 5 data elements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2.1 create Z##_AUTHOR + draft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3.1 CDS Z##_R_AUTHOR + C view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4.1 BDEF + BIMP + activate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882396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Phase 4 · objects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Active on SAP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DOMA · DTEL · 5+5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TABL Z##_AUTHOR + _D draft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DDLS Z##_R_AUTHOR + C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BDEF + BIMP class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Service + binding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got built · 72 objects, all active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4 ENTITIES · 1 RAP APP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72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objects active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4612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2900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77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2900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API prompts in P4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3504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1792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~$19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1792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API cost · vs ~$2k manual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2396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0684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614EB"/>
                </a:solidFill>
              </a:rPr>
              <a:t>~3h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0684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wall-clock · vs ~2 weeks</a:t>
            </a:r>
          </a:p>
        </p:txBody>
      </p:sp>
      <p:sp>
        <p:nvSpPr>
          <p:cNvPr id="17" name="c_2_BlockGrid:0:c_5_Block"/>
          <p:cNvSpPr/>
          <p:nvPr/>
        </p:nvSpPr>
        <p:spPr>
          <a:xfrm>
            <a:off x="457200" y="3200400"/>
            <a:ext cx="3566160" cy="292608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DDIC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20 domains (DOMA)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20 data elements (DTEL)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persistent tables (TABL)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draft tables (TABL _D)</a:t>
            </a:r>
          </a:p>
        </p:txBody>
      </p:sp>
      <p:sp>
        <p:nvSpPr>
          <p:cNvPr id="18" name="c_2_BlockGrid:1:c_6_Block"/>
          <p:cNvSpPr/>
          <p:nvPr/>
        </p:nvSpPr>
        <p:spPr>
          <a:xfrm>
            <a:off x="4206240" y="3200400"/>
            <a:ext cx="3566160" cy="292608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RAP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interface CDS (Z##_R_*)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projection CDS (Z##_C_*)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metadata extensions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BDEF + 4 BIMP classes</a:t>
            </a:r>
          </a:p>
        </p:txBody>
      </p:sp>
      <p:sp>
        <p:nvSpPr>
          <p:cNvPr id="19" name="c_2_BlockGrid:2:c_7_Block"/>
          <p:cNvSpPr/>
          <p:nvPr/>
        </p:nvSpPr>
        <p:spPr>
          <a:xfrm>
            <a:off x="7955280" y="3200400"/>
            <a:ext cx="3566160" cy="292608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Service · UI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1 service definition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1 OData V4 binding (published)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Fiori Elements preview · CRUD + draft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Author shows by name, not UUID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failure modes · how to catch them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DRIFT · HALLUCINATION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Spec / plan drift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Symptom: </a:t>
            </a:r>
            <a:r>
              <a:rPr sz="1400">
                <a:solidFill>
                  <a:srgbClr val="000000"/>
                </a:solidFill>
              </a:rPr>
              <a:t>extra objects, missing ones, silent renames.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Catch: </a:t>
            </a:r>
            <a:r>
              <a:rPr sz="1400">
                <a:solidFill>
                  <a:srgbClr val="000000"/>
                </a:solidFill>
              </a:rPr>
              <a:t>quote the plan back; force exact list.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420624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E0101"/>
              </a:gs>
              <a:gs pos="100000">
                <a:srgbClr val="FC0606"/>
              </a:gs>
            </a:gsLst>
            <a:lin ang="16200000" scaled="0"/>
          </a:gradFill>
          <a:ln w="3175">
            <a:solidFill>
              <a:srgbClr val="5D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Hallucination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Symptom: </a:t>
            </a:r>
            <a:r>
              <a:rPr sz="1400">
                <a:solidFill>
                  <a:srgbClr val="FFFFFF"/>
                </a:solidFill>
              </a:rPr>
              <a:t>"All N active" with no Executing trace.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Catch: </a:t>
            </a:r>
            <a:r>
              <a:rPr sz="1400">
                <a:solidFill>
                  <a:srgbClr val="FFFFFF"/>
                </a:solidFill>
              </a:rPr>
              <a:t>low token count · ask agent to read each object back.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795528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F12D3"/>
              </a:gs>
              <a:gs pos="100000">
                <a:srgbClr val="E82BED"/>
              </a:gs>
            </a:gsLst>
            <a:lin ang="16200000" scaled="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confusion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Symptom: </a:t>
            </a:r>
            <a:r>
              <a:rPr sz="1400">
                <a:solidFill>
                  <a:srgbClr val="FFFFFF"/>
                </a:solidFill>
              </a:rPr>
              <a:t>Create/Update runs during Phase 1-3.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Catch: </a:t>
            </a:r>
            <a:r>
              <a:rPr sz="1400">
                <a:solidFill>
                  <a:srgbClr val="FFFFFF"/>
                </a:solidFill>
              </a:rPr>
              <a:t>say "document only, not system" · revert.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walk away with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OUTCOMES · 1-2 HOURS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3566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32004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1 app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320040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active RAP BO · Fiori preview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206240" y="1463040"/>
            <a:ext cx="3566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4389120" y="1600200"/>
            <a:ext cx="32004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3 docs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4389120" y="2077719"/>
            <a:ext cx="320040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business-req · tech-spec · impl-plan in RAG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7955280" y="1463040"/>
            <a:ext cx="3566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8138160" y="1600200"/>
            <a:ext cx="32004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1-2 h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8138160" y="2077719"/>
            <a:ext cx="320040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end to end wall-clock</a:t>
            </a:r>
          </a:p>
        </p:txBody>
      </p:sp>
      <p:sp>
        <p:nvSpPr>
          <p:cNvPr id="14" name="c_4_Block"/>
          <p:cNvSpPr/>
          <p:nvPr/>
        </p:nvSpPr>
        <p:spPr>
          <a:xfrm>
            <a:off x="457200" y="4297680"/>
            <a:ext cx="11064240" cy="1828800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What you learn: </a:t>
            </a:r>
            <a:r>
              <a:rPr sz="1400">
                <a:solidFill>
                  <a:srgbClr val="000000"/>
                </a:solidFill>
              </a:rPr>
              <a:t>turn ideas into requirements, review AI specs, plan in dependency order, build layer by layer.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What stays yours: </a:t>
            </a:r>
            <a:r>
              <a:rPr sz="1400">
                <a:solidFill>
                  <a:srgbClr val="000000"/>
                </a:solidFill>
              </a:rPr>
              <a:t>every business decision and every field mapping.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What AI gives you: </a:t>
            </a:r>
            <a:r>
              <a:rPr sz="1400">
                <a:solidFill>
                  <a:srgbClr val="000000"/>
                </a:solidFill>
              </a:rPr>
              <a:t>the fastest pair programmer you can get · only if you lead.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MIO_UPDATE" val="True"/>
  <p:tag name="MIO_OBJECTNAME" val="EPAM Overview"/>
  <p:tag name="MIO_LASTEDITORNAME" val="Peter Rutsch"/>
  <p:tag name="MIO_DBID" val="D7ED4A1B-644D-42C8-B85A-3AF7EB19A1AD"/>
  <p:tag name="MIO_LASTDOWNLOADED" val="25.09.2019 20:19:12"/>
  <p:tag name="MIO_VERSION" val="25.09.2019 19:19:12"/>
  <p:tag name="MIO_EKGUID" val="d7e3e5f7-9b32-4300-a908-3232d6ed981a"/>
  <p:tag name="MIO_NATIVESECTIONS" val="﻿&lt;?xml version=&quot;1.0&quot; encoding=&quot;utf-8&quot;?&gt;&lt;ArrayOfNativeSection xmlns:xsd=&quot;http://www.w3.org/2001/XMLSchema&quot; xmlns:xsi=&quot;http://www.w3.org/2001/XMLSchema-instance&quot;&gt;&lt;NativeSection&gt;&lt;Name&gt;About EPAM&lt;/Name&gt;&lt;FirstSlideIndex&gt;3&lt;/FirstSlideIndex&gt;&lt;SlidesCount&gt;15&lt;/SlidesCount&gt;&lt;SlideIDs /&gt;&lt;SlideGuids&gt;&lt;guid&gt;41917f75-77c0-48c8-a973-0468f4fe6223&lt;/guid&gt;&lt;guid&gt;4c4084ce-9dc3-4a2a-bd15-284b0659bb1d&lt;/guid&gt;&lt;guid&gt;c25f9840-0bea-411d-962d-9f3050c735d6&lt;/guid&gt;&lt;guid&gt;7d12a499-7701-4a6e-8610-d9d576cb0dec&lt;/guid&gt;&lt;guid&gt;61ee236e-49d2-4ed5-a476-38e350e3bfd2&lt;/guid&gt;&lt;guid&gt;ef65a5ca-8d54-4147-8afa-2ebb941538e3&lt;/guid&gt;&lt;guid&gt;c94ecc82-7873-4e32-885c-f35e7d8f652f&lt;/guid&gt;&lt;guid&gt;c3fea710-23c7-43d8-8d5d-f36b24c7383e&lt;/guid&gt;&lt;guid&gt;2bba986c-ee29-49a3-8223-b3a7867a5f4b&lt;/guid&gt;&lt;guid&gt;00e49fa1-ccf7-49ac-b1ea-429440dc91c2&lt;/guid&gt;&lt;guid&gt;cd433048-84df-4410-81de-4a8b6f9b00db&lt;/guid&gt;&lt;guid&gt;3c65c556-57fe-432d-8e6c-e872ce9c17e6&lt;/guid&gt;&lt;guid&gt;cfbce635-1caa-40a0-8168-f7cd9a71855f&lt;/guid&gt;&lt;guid&gt;0dd5438a-71f4-45bd-aeb7-e9afb36545e3&lt;/guid&gt;&lt;guid&gt;025c768f-d8c8-481b-827c-fb70a3dea855&lt;/guid&gt;&lt;/SlideGuids&gt;&lt;/NativeSection&gt;&lt;NativeSection&gt;&lt;Name&gt;EPAM Advantage&lt;/Name&gt;&lt;FirstSlideIndex&gt;18&lt;/FirstSlideIndex&gt;&lt;SlidesCount&gt;7&lt;/SlidesCount&gt;&lt;SlideIDs /&gt;&lt;SlideGuids&gt;&lt;guid&gt;1d3f40df-0be8-4722-86b4-ba408afacf35&lt;/guid&gt;&lt;guid&gt;1e4e570a-a814-43ca-b0e7-827ba1e99159&lt;/guid&gt;&lt;guid&gt;10e9fa43-a251-4d26-a911-d8ed059b1b96&lt;/guid&gt;&lt;guid&gt;c7beb776-8ff1-4acc-8007-da30e0319d43&lt;/guid&gt;&lt;guid&gt;34f142e0-cb5b-44f7-b22f-231c1a8fc0f9&lt;/guid&gt;&lt;guid&gt;26526e34-7c79-495c-b434-1b8afad190de&lt;/guid&gt;&lt;guid&gt;877dc4cd-9bef-4f8a-8bbc-52177ac46c56&lt;/guid&gt;&lt;/SlideGuids&gt;&lt;/NativeSection&gt;&lt;/ArrayOfNativeSection&gt;"/>
</p:tagLst>
</file>

<file path=ppt/theme/theme1.xml><?xml version="1.0" encoding="utf-8"?>
<a:theme xmlns:a="http://schemas.openxmlformats.org/drawingml/2006/main" name="EPAM Master 2024.1">
  <a:themeElements>
    <a:clrScheme name="EPAM 2023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square" lIns="0" tIns="0" rIns="0" bIns="0" rtlCol="0" anchor="ctr"/>
      <a:lstStyle>
        <a:defPPr algn="ctr">
          <a:defRPr sz="2400" dirty="0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>
        <a:spAutoFit/>
      </a:bodyPr>
      <a:lstStyle>
        <a:defPPr algn="l">
          <a:defRPr dirty="0" smtClean="0"/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EPAM_PresalesTemplate" id="{BA2CABEF-164A-0B40-9E1D-A9B96AE60B87}" vid="{65C357FB-1C5F-AA46-A42C-758D0D8059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325E2B-52F7-4394-BC3E-1C5545ED6C41}">
  <we:reference id="0712333e-3078-4353-bc6c-307328446e34" version="1.0.1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General Decks:About EPAM</TermName>
          <TermId xmlns="http://schemas.microsoft.com/office/infopath/2007/PartnerControls"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Continuum</TermName>
          <TermId xmlns="http://schemas.microsoft.com/office/infopath/2007/PartnerControls">036b37b0-418a-48a3-ad40-f27762061154</TermId>
        </TermInfo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Confidential: NDA Required</TermName>
          <TermId xmlns="http://schemas.microsoft.com/office/infopath/2007/PartnerControls"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Human Sans</vt:lpstr>
      <vt:lpstr>EPAM Master 2024.1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EPAM Overview</dc:title>
  <dc:creator>Jennifer Markowitz</dc:creator>
  <cp:lastModifiedBy>Dmitry Zdanovich</cp:lastModifiedBy>
  <cp:revision>4</cp:revision>
  <dcterms:created xsi:type="dcterms:W3CDTF">2018-01-26T19:23:30Z</dcterms:created>
  <dcterms:modified xsi:type="dcterms:W3CDTF">2026-04-24T13:17:55Z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StoryTags">
    <vt:lpwstr>72;#Continuum|036b37b0-418a-48a3-ad40-f27762061154;#116;#About EPAM|e35b7162-8377-4ac0-bb47-f30ed6f0902e</vt:lpwstr>
  </property>
  <property fmtid="{D5CDD505-2E9C-101B-9397-08002B2CF9AE}" pid="5" name="_dlc_DocIdItemGuid">
    <vt:lpwstr>041f0451-e7b6-47dd-8915-ddc72a6e399d</vt:lpwstr>
  </property>
  <property fmtid="{D5CDD505-2E9C-101B-9397-08002B2CF9AE}" pid="6" name="StoryTaxonomy">
    <vt:lpwstr>204;#EPAM Overview|107422c5-c5be-4599-981e-e0bc82e53d69</vt:lpwstr>
  </property>
  <property fmtid="{D5CDD505-2E9C-101B-9397-08002B2CF9AE}" pid="7" name="h098c32ae4474a2397bbdf9bd347fc14">
    <vt:lpwstr>EPAM Overview|107422c5-c5be-4599-981e-e0bc82e53d69</vt:lpwstr>
  </property>
  <property fmtid="{D5CDD505-2E9C-101B-9397-08002B2CF9AE}" pid="8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9" name="StoryCategories">
    <vt:lpwstr>1635;#About EPAM|5e1ed0a0-89ac-446a-837d-6ea8b9460059</vt:lpwstr>
  </property>
  <property fmtid="{D5CDD505-2E9C-101B-9397-08002B2CF9AE}" pid="10" name="UsagePermission">
    <vt:lpwstr>3444;#Confidential: NDA Required|1078c1ca-8558-4f4e-bb3a-506201fcb43c</vt:lpwstr>
  </property>
  <property fmtid="{D5CDD505-2E9C-101B-9397-08002B2CF9AE}" pid="11" name="VCN">
    <vt:lpwstr/>
  </property>
  <property fmtid="{D5CDD505-2E9C-101B-9397-08002B2CF9AE}" pid="12" name="Story">
    <vt:lpwstr>1;#General Decks:About EPAM|1bb3a607-45a4-4116-99d9-b95075743ae1</vt:lpwstr>
  </property>
  <property fmtid="{D5CDD505-2E9C-101B-9397-08002B2CF9AE}" pid="13" name="MSIP_Label_2a535040-0af2-483f-adc3-a132c21e3e2b_Enabled">
    <vt:lpwstr>true</vt:lpwstr>
  </property>
  <property fmtid="{D5CDD505-2E9C-101B-9397-08002B2CF9AE}" pid="14" name="MSIP_Label_2a535040-0af2-483f-adc3-a132c21e3e2b_SetDate">
    <vt:lpwstr>2026-01-27T08:34:32Z</vt:lpwstr>
  </property>
  <property fmtid="{D5CDD505-2E9C-101B-9397-08002B2CF9AE}" pid="15" name="MSIP_Label_2a535040-0af2-483f-adc3-a132c21e3e2b_Method">
    <vt:lpwstr>Standard</vt:lpwstr>
  </property>
  <property fmtid="{D5CDD505-2E9C-101B-9397-08002B2CF9AE}" pid="16" name="MSIP_Label_2a535040-0af2-483f-adc3-a132c21e3e2b_Name">
    <vt:lpwstr>EPAM_Confidential</vt:lpwstr>
  </property>
  <property fmtid="{D5CDD505-2E9C-101B-9397-08002B2CF9AE}" pid="17" name="MSIP_Label_2a535040-0af2-483f-adc3-a132c21e3e2b_SiteId">
    <vt:lpwstr>b41b72d0-4e9f-4c26-8a69-f949f367c91d</vt:lpwstr>
  </property>
  <property fmtid="{D5CDD505-2E9C-101B-9397-08002B2CF9AE}" pid="18" name="MSIP_Label_2a535040-0af2-483f-adc3-a132c21e3e2b_ActionId">
    <vt:lpwstr>6de4626a-a598-4337-88df-2d099c6d2fce</vt:lpwstr>
  </property>
  <property fmtid="{D5CDD505-2E9C-101B-9397-08002B2CF9AE}" pid="19" name="MSIP_Label_2a535040-0af2-483f-adc3-a132c21e3e2b_ContentBits">
    <vt:lpwstr>0</vt:lpwstr>
  </property>
  <property fmtid="{D5CDD505-2E9C-101B-9397-08002B2CF9AE}" pid="20" name="MSIP_Label_2a535040-0af2-483f-adc3-a132c21e3e2b_Tag">
    <vt:lpwstr>10, 3, 0, 1</vt:lpwstr>
  </property>
</Properties>
</file>