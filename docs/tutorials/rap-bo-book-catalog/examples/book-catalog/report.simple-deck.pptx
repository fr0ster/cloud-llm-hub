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4.xml.rels" ContentType="application/vnd.openxmlformats-package.relationships+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customXml/item4.xml" ContentType="application/xml"/>
  <Override PartName="/customXml/itemProps4.xml" ContentType="application/vnd.openxmlformats-officedocument.customXmlProperties+xml"/>
  <Override PartName="/ppt/webextensions/taskpanes.xml" ContentType="application/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wmf" ContentType="image/x-wmf"/>
  <Override PartName="/ppt/media/image4.png" ContentType="image/png"/>
  <Override PartName="/ppt/media/image5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customXml" Target="../customXml/item4.xml"/><Relationship Id="rId8" Type="http://schemas.microsoft.com/office/2011/relationships/webextensiontaskpanes" Target="ppt/webextensions/taskpanes.xml"/><Relationship Id="rId9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ubTitle"/>
          </p:nvPr>
        </p:nvSpPr>
        <p:spPr>
          <a:xfrm>
            <a:off x="457200" y="267120"/>
            <a:ext cx="3611520" cy="45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6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ubTitle"/>
          </p:nvPr>
        </p:nvSpPr>
        <p:spPr>
          <a:xfrm>
            <a:off x="457200" y="723960"/>
            <a:ext cx="1127412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3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/>
          </p:nvPr>
        </p:nvSpPr>
        <p:spPr>
          <a:xfrm>
            <a:off x="457200" y="500040"/>
            <a:ext cx="361152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2307960" y="38232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45720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2307960" y="500040"/>
            <a:ext cx="17622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167868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/>
          </p:nvPr>
        </p:nvSpPr>
        <p:spPr>
          <a:xfrm>
            <a:off x="2899800" y="38232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/>
          </p:nvPr>
        </p:nvSpPr>
        <p:spPr>
          <a:xfrm>
            <a:off x="4572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/>
          </p:nvPr>
        </p:nvSpPr>
        <p:spPr>
          <a:xfrm>
            <a:off x="167868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/>
          </p:nvPr>
        </p:nvSpPr>
        <p:spPr>
          <a:xfrm>
            <a:off x="2899800" y="500040"/>
            <a:ext cx="1162800" cy="10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41000"/>
          </a:bodyPr>
          <a:p>
            <a:pPr>
              <a:lnSpc>
                <a:spcPct val="110000"/>
              </a:lnSpc>
              <a:spcBef>
                <a:spcPts val="1417"/>
              </a:spcBef>
              <a:buNone/>
            </a:pPr>
            <a:endParaRPr b="0" lang="en-US" sz="16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wmf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1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2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A274629D-8149-49F3-9819-AAA2634E64A3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pic>
        <p:nvPicPr>
          <p:cNvPr id="3" name="Picture 3" descr="A bright light in the dark&#10;&#10;Description automatically generated with medium confidence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468720" y="466344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Sub-description text goes here over one or two lines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8720" y="5245560"/>
            <a:ext cx="648936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JANUARY 2023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365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Click to edit Master title style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7" name="Picture 7" descr=""/>
          <p:cNvPicPr/>
          <p:nvPr/>
        </p:nvPicPr>
        <p:blipFill>
          <a:blip r:embed="rId4"/>
          <a:stretch/>
        </p:blipFill>
        <p:spPr>
          <a:xfrm>
            <a:off x="485280" y="740880"/>
            <a:ext cx="1226520" cy="4507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45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46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990162EC-7B67-4AFF-9CFE-6C9D4674A991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182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3055da"/>
                </a:solidFill>
                <a:latin typeface="Calibri"/>
                <a:ea typeface="Calibri"/>
              </a:rPr>
              <a:t>Contents</a:t>
            </a:r>
            <a:endParaRPr b="0" lang="en-US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324320" y="1521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324320" y="221436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324320" y="2897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324320" y="359028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4324320" y="427320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body"/>
          </p:nvPr>
        </p:nvSpPr>
        <p:spPr>
          <a:xfrm>
            <a:off x="4324320" y="4956120"/>
            <a:ext cx="4986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body"/>
          </p:nvPr>
        </p:nvSpPr>
        <p:spPr>
          <a:xfrm>
            <a:off x="5056560" y="1521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9"/>
          <p:cNvSpPr>
            <a:spLocks noGrp="1"/>
          </p:cNvSpPr>
          <p:nvPr>
            <p:ph type="body"/>
          </p:nvPr>
        </p:nvSpPr>
        <p:spPr>
          <a:xfrm>
            <a:off x="5056560" y="221436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10"/>
          <p:cNvSpPr>
            <a:spLocks noGrp="1"/>
          </p:cNvSpPr>
          <p:nvPr>
            <p:ph type="body"/>
          </p:nvPr>
        </p:nvSpPr>
        <p:spPr>
          <a:xfrm>
            <a:off x="5056560" y="2897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11"/>
          <p:cNvSpPr>
            <a:spLocks noGrp="1"/>
          </p:cNvSpPr>
          <p:nvPr>
            <p:ph type="body"/>
          </p:nvPr>
        </p:nvSpPr>
        <p:spPr>
          <a:xfrm>
            <a:off x="5056560" y="359028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12"/>
          <p:cNvSpPr>
            <a:spLocks noGrp="1"/>
          </p:cNvSpPr>
          <p:nvPr>
            <p:ph type="body"/>
          </p:nvPr>
        </p:nvSpPr>
        <p:spPr>
          <a:xfrm>
            <a:off x="5056560" y="427320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13"/>
          <p:cNvSpPr>
            <a:spLocks noGrp="1"/>
          </p:cNvSpPr>
          <p:nvPr>
            <p:ph type="body"/>
          </p:nvPr>
        </p:nvSpPr>
        <p:spPr>
          <a:xfrm>
            <a:off x="5056560" y="4956120"/>
            <a:ext cx="4554000" cy="397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Section header here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raphic 6" descr=""/>
          <p:cNvPicPr/>
          <p:nvPr/>
        </p:nvPicPr>
        <p:blipFill>
          <a:blip r:embed="rId2"/>
          <a:stretch/>
        </p:blipFill>
        <p:spPr>
          <a:xfrm>
            <a:off x="457200" y="6438960"/>
            <a:ext cx="540360" cy="190080"/>
          </a:xfrm>
          <a:prstGeom prst="rect">
            <a:avLst/>
          </a:prstGeom>
          <a:ln w="0">
            <a:noFill/>
          </a:ln>
        </p:spPr>
      </p:pic>
      <p:sp>
        <p:nvSpPr>
          <p:cNvPr id="97" name="TextBox 10"/>
          <p:cNvSpPr/>
          <p:nvPr/>
        </p:nvSpPr>
        <p:spPr>
          <a:xfrm>
            <a:off x="10049040" y="6406560"/>
            <a:ext cx="1396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000000"/>
                </a:solidFill>
                <a:latin typeface="Calibri"/>
                <a:ea typeface="Calibri"/>
              </a:rPr>
              <a:t>EPAM Proprietary &amp; Confidential.</a:t>
            </a:r>
            <a:endParaRPr b="0" lang="en-US" sz="600" spc="-1" strike="noStrike">
              <a:latin typeface="Arial"/>
            </a:endParaRPr>
          </a:p>
        </p:txBody>
      </p:sp>
      <p:sp>
        <p:nvSpPr>
          <p:cNvPr id="98" name="Text Placeholder 3"/>
          <p:cNvSpPr/>
          <p:nvPr/>
        </p:nvSpPr>
        <p:spPr>
          <a:xfrm>
            <a:off x="11498040" y="6406560"/>
            <a:ext cx="2426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fld id="{0C4FF4F5-1C0F-4086-8851-C000CE50A064}" type="slidenum">
              <a:rPr b="0" lang="en-US" sz="1000" spc="-1" strike="noStrike">
                <a:solidFill>
                  <a:srgbClr val="222222"/>
                </a:solidFill>
                <a:latin typeface="Calibri"/>
                <a:ea typeface="Calibri"/>
              </a:rPr>
              <a:t>&lt;number&gt;</a:t>
            </a:fld>
            <a:endParaRPr b="0" lang="en-US" sz="1000" spc="-1" strike="noStrike">
              <a:latin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Click to edit Master title style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Click to add section title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/>
          </p:nvPr>
        </p:nvSpPr>
        <p:spPr>
          <a:xfrm>
            <a:off x="468720" y="4663440"/>
            <a:ext cx="6489360" cy="27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 Light"/>
                <a:ea typeface="Calibri"/>
              </a:rPr>
              <a:t>Four-phase pipeline · RAP app with AI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68720" y="5245560"/>
            <a:ext cx="6489360" cy="1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1" lang="en-US" sz="1200" spc="398" strike="noStrike">
                <a:solidFill>
                  <a:srgbClr val="ffffff"/>
                </a:solidFill>
                <a:latin typeface="Calibri"/>
                <a:ea typeface="Calibri"/>
              </a:rPr>
              <a:t>M A Y  2 0 2 6</a:t>
            </a:r>
            <a:endParaRPr b="0" lang="en-US" sz="1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title"/>
          </p:nvPr>
        </p:nvSpPr>
        <p:spPr>
          <a:xfrm>
            <a:off x="466200" y="1696320"/>
            <a:ext cx="7843320" cy="246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000" spc="-1" strike="noStrike">
                <a:solidFill>
                  <a:srgbClr val="ffffff"/>
                </a:solidFill>
                <a:latin typeface="Calibri Light"/>
                <a:ea typeface="Calibri"/>
              </a:rPr>
              <a:t>AI-Assisted RAP BO</a:t>
            </a:r>
            <a:endParaRPr b="0" lang="en-US" sz="8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67280" y="1190880"/>
            <a:ext cx="3024360" cy="92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3055da"/>
                </a:solidFill>
                <a:latin typeface="Calibri"/>
                <a:ea typeface="Calibri"/>
              </a:rPr>
              <a:t>Contents</a:t>
            </a:r>
            <a:endParaRPr b="0" lang="en-US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4324320" y="1521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01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4324320" y="221436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/>
          </p:nvPr>
        </p:nvSpPr>
        <p:spPr>
          <a:xfrm>
            <a:off x="4324320" y="2897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/>
          </p:nvPr>
        </p:nvSpPr>
        <p:spPr>
          <a:xfrm>
            <a:off x="4324320" y="359028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5" name="PlaceHolder 6"/>
          <p:cNvSpPr>
            <a:spLocks noGrp="1"/>
          </p:cNvSpPr>
          <p:nvPr>
            <p:ph/>
          </p:nvPr>
        </p:nvSpPr>
        <p:spPr>
          <a:xfrm>
            <a:off x="4324320" y="427320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6" name="PlaceHolder 7"/>
          <p:cNvSpPr>
            <a:spLocks noGrp="1"/>
          </p:cNvSpPr>
          <p:nvPr>
            <p:ph/>
          </p:nvPr>
        </p:nvSpPr>
        <p:spPr>
          <a:xfrm>
            <a:off x="4324320" y="4956120"/>
            <a:ext cx="4986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8"/>
          <p:cNvSpPr>
            <a:spLocks noGrp="1"/>
          </p:cNvSpPr>
          <p:nvPr>
            <p:ph/>
          </p:nvPr>
        </p:nvSpPr>
        <p:spPr>
          <a:xfrm>
            <a:off x="5056560" y="1521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The pipeline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8" name="PlaceHolder 9"/>
          <p:cNvSpPr>
            <a:spLocks noGrp="1"/>
          </p:cNvSpPr>
          <p:nvPr>
            <p:ph/>
          </p:nvPr>
        </p:nvSpPr>
        <p:spPr>
          <a:xfrm>
            <a:off x="5056560" y="221436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Phases 1-3 · documents only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10"/>
          <p:cNvSpPr>
            <a:spLocks noGrp="1"/>
          </p:cNvSpPr>
          <p:nvPr>
            <p:ph/>
          </p:nvPr>
        </p:nvSpPr>
        <p:spPr>
          <a:xfrm>
            <a:off x="5056560" y="2897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Phase 4 · build order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0" name="PlaceHolder 11"/>
          <p:cNvSpPr>
            <a:spLocks noGrp="1"/>
          </p:cNvSpPr>
          <p:nvPr>
            <p:ph/>
          </p:nvPr>
        </p:nvSpPr>
        <p:spPr>
          <a:xfrm>
            <a:off x="5056560" y="359028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Create · check · fix loop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1" name="PlaceHolder 12"/>
          <p:cNvSpPr>
            <a:spLocks noGrp="1"/>
          </p:cNvSpPr>
          <p:nvPr>
            <p:ph/>
          </p:nvPr>
        </p:nvSpPr>
        <p:spPr>
          <a:xfrm>
            <a:off x="5056560" y="427320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What goes wrong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13"/>
          <p:cNvSpPr>
            <a:spLocks noGrp="1"/>
          </p:cNvSpPr>
          <p:nvPr>
            <p:ph/>
          </p:nvPr>
        </p:nvSpPr>
        <p:spPr>
          <a:xfrm>
            <a:off x="5056560" y="4956120"/>
            <a:ext cx="4554000" cy="32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Calibri"/>
              </a:rPr>
              <a:t>Outcome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c_1_DiagramCanvas"/>
          <p:cNvSpPr/>
          <p:nvPr/>
        </p:nvSpPr>
        <p:spPr>
          <a:xfrm>
            <a:off x="457200" y="1463040"/>
            <a:ext cx="11063880" cy="356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The pipeline · idea to running app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FOUR PHASES · ONE PIPE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c_1_DiagramCanvas:node0"/>
          <p:cNvSpPr/>
          <p:nvPr/>
        </p:nvSpPr>
        <p:spPr>
          <a:xfrm>
            <a:off x="105156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898989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</a:rPr>
              <a:t>plain words · no ABAP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8" name="c_1_DiagramCanvas:node1"/>
          <p:cNvSpPr/>
          <p:nvPr/>
        </p:nvSpPr>
        <p:spPr>
          <a:xfrm>
            <a:off x="272484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business-requirements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9" name="c_1_DiagramCanvas:node2"/>
          <p:cNvSpPr/>
          <p:nvPr/>
        </p:nvSpPr>
        <p:spPr>
          <a:xfrm>
            <a:off x="439812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tech-spec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0" name="c_1_DiagramCanvas:node3"/>
          <p:cNvSpPr/>
          <p:nvPr/>
        </p:nvSpPr>
        <p:spPr>
          <a:xfrm>
            <a:off x="607176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e614eb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impl-plan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1" name="c_1_DiagramCanvas:node4"/>
          <p:cNvSpPr/>
          <p:nvPr/>
        </p:nvSpPr>
        <p:spPr>
          <a:xfrm>
            <a:off x="774504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</a:rPr>
              <a:t>active SAP objects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2" name="c_1_DiagramCanvas:node5"/>
          <p:cNvSpPr/>
          <p:nvPr/>
        </p:nvSpPr>
        <p:spPr>
          <a:xfrm>
            <a:off x="9418320" y="1828800"/>
            <a:ext cx="1508400" cy="1051200"/>
          </a:xfrm>
          <a:prstGeom prst="roundRect">
            <a:avLst>
              <a:gd name="adj" fmla="val 16667"/>
            </a:avLst>
          </a:prstGeom>
          <a:solidFill>
            <a:srgbClr val="e80202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Fiori preview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3" name="c_1_DiagramCanvas:conn0"/>
          <p:cNvSpPr/>
          <p:nvPr/>
        </p:nvSpPr>
        <p:spPr>
          <a:xfrm>
            <a:off x="2560320" y="2354400"/>
            <a:ext cx="164520" cy="36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64" name="c_1_DiagramCanvas:conn1"/>
          <p:cNvSpPr/>
          <p:nvPr/>
        </p:nvSpPr>
        <p:spPr>
          <a:xfrm>
            <a:off x="4233600" y="2354400"/>
            <a:ext cx="164520" cy="36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65" name="c_1_DiagramCanvas:conn2"/>
          <p:cNvSpPr/>
          <p:nvPr/>
        </p:nvSpPr>
        <p:spPr>
          <a:xfrm>
            <a:off x="5906880" y="2354400"/>
            <a:ext cx="164520" cy="36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66" name="c_1_DiagramCanvas:conn3"/>
          <p:cNvSpPr/>
          <p:nvPr/>
        </p:nvSpPr>
        <p:spPr>
          <a:xfrm>
            <a:off x="7580160" y="2354400"/>
            <a:ext cx="164520" cy="36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167" name="c_1_DiagramCanvas:conn4"/>
          <p:cNvSpPr/>
          <p:nvPr/>
        </p:nvSpPr>
        <p:spPr>
          <a:xfrm>
            <a:off x="9253440" y="2354400"/>
            <a:ext cx="164880" cy="360"/>
          </a:xfrm>
          <a:prstGeom prst="line">
            <a:avLst/>
          </a:prstGeom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graphicFrame>
        <p:nvGraphicFramePr>
          <p:cNvPr id="168" name="c_1_Block"/>
          <p:cNvGraphicFramePr/>
          <p:nvPr/>
        </p:nvGraphicFramePr>
        <p:xfrm>
          <a:off x="457200" y="5212080"/>
          <a:ext cx="11063880" cy="91404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914400">
                <a:tc>
                  <a:txBody>
                    <a:bodyPr lIns="179640" rIns="182880" tIns="73080" bIns="13716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Phases 1-3 save their artifact into a RAG collection. Phase 4 pulls plan + spec from RAG · you do not retype DDL.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t" marL="179640" marR="182880">
                    <a:lnL w="72720">
                      <a:solidFill>
                        <a:srgbClr val="0047ff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Phases 1-3 · documents only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WHO DOES WHAT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2" name="c_1_BlockGrid:0:c_1_Block"/>
          <p:cNvSpPr/>
          <p:nvPr/>
        </p:nvSpPr>
        <p:spPr>
          <a:xfrm>
            <a:off x="45720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003fe5"/>
              </a:gs>
              <a:gs pos="100000">
                <a:srgbClr val="1959ff"/>
              </a:gs>
            </a:gsLst>
            <a:lin ang="1620000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Phase 1 · Requirements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You: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domain expert · approve entities/rules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AI: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business analyst · formalize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In: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your idea in plain words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Out: </a:t>
            </a:r>
            <a:r>
              <a:rPr b="1" i="1" lang="en-US" sz="1400" spc="-1" strike="noStrike">
                <a:solidFill>
                  <a:srgbClr val="ffffff"/>
                </a:solidFill>
                <a:latin typeface="Calibri"/>
              </a:rPr>
              <a:t>business-requirements (RAG)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3" name="c_1_BlockGrid:1:c_2_Block"/>
          <p:cNvSpPr/>
          <p:nvPr/>
        </p:nvSpPr>
        <p:spPr>
          <a:xfrm>
            <a:off x="420624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0d6976"/>
              </a:gs>
              <a:gs pos="100000">
                <a:srgbClr val="1292a3"/>
              </a:gs>
            </a:gsLst>
            <a:lin ang="1620000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Phase 2 · Tech spec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You: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architect · review draft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AI: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technical writer · propose DDL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In: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business-requirements (RAG)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Out: </a:t>
            </a:r>
            <a:r>
              <a:rPr b="1" i="1" lang="en-US" sz="1400" spc="-1" strike="noStrike">
                <a:solidFill>
                  <a:srgbClr val="ffffff"/>
                </a:solidFill>
                <a:latin typeface="Calibri"/>
              </a:rPr>
              <a:t>tech-spec (RAG · draft, evolves)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4" name="c_1_BlockGrid:2:c_3_Block"/>
          <p:cNvSpPr/>
          <p:nvPr/>
        </p:nvSpPr>
        <p:spPr>
          <a:xfrm>
            <a:off x="795528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cf12d3"/>
              </a:gs>
              <a:gs pos="100000">
                <a:srgbClr val="e82bed"/>
              </a:gs>
            </a:gsLst>
            <a:lin ang="1620000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Phase 3 · Plan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You: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project manager · check order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AI: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lead developer · order steps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In: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tech-spec (RAG)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Out: </a:t>
            </a:r>
            <a:r>
              <a:rPr b="1" i="1" lang="en-US" sz="1400" spc="-1" strike="noStrike">
                <a:solidFill>
                  <a:srgbClr val="ffffff"/>
                </a:solidFill>
                <a:latin typeface="Calibri"/>
              </a:rPr>
              <a:t>impl-plan (RAG · ordered steps)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Phase 4 · build layer by layer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DEPENDENCY ORDER · LAYERED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7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8" name="c_1_ChevronProcess:chevron0"/>
          <p:cNvSpPr/>
          <p:nvPr/>
        </p:nvSpPr>
        <p:spPr>
          <a:xfrm>
            <a:off x="45720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004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Package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9" name="c_1_ChevronProcess:chevron1"/>
          <p:cNvSpPr/>
          <p:nvPr/>
        </p:nvSpPr>
        <p:spPr>
          <a:xfrm>
            <a:off x="184608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a08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Domains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0" name="c_1_ChevronProcess:chevron2"/>
          <p:cNvSpPr/>
          <p:nvPr/>
        </p:nvSpPr>
        <p:spPr>
          <a:xfrm>
            <a:off x="323460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00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Data el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1" name="c_1_ChevronProcess:chevron3"/>
          <p:cNvSpPr/>
          <p:nvPr/>
        </p:nvSpPr>
        <p:spPr>
          <a:xfrm>
            <a:off x="462348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107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Tables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2" name="c_1_ChevronProcess:chevron4"/>
          <p:cNvSpPr/>
          <p:nvPr/>
        </p:nvSpPr>
        <p:spPr>
          <a:xfrm>
            <a:off x="601236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CDS 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3" name="c_1_ChevronProcess:chevron5"/>
          <p:cNvSpPr/>
          <p:nvPr/>
        </p:nvSpPr>
        <p:spPr>
          <a:xfrm>
            <a:off x="740088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00a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CDS C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4" name="c_1_ChevronProcess:chevron6"/>
          <p:cNvSpPr/>
          <p:nvPr/>
        </p:nvSpPr>
        <p:spPr>
          <a:xfrm>
            <a:off x="878976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a84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BDEF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5" name="c_1_ChevronProcess:chevron7"/>
          <p:cNvSpPr/>
          <p:nvPr/>
        </p:nvSpPr>
        <p:spPr>
          <a:xfrm>
            <a:off x="10178280" y="1920240"/>
            <a:ext cx="1342800" cy="548280"/>
          </a:xfrm>
          <a:prstGeom prst="chevron">
            <a:avLst>
              <a:gd name="adj" fmla="val 45000"/>
            </a:avLst>
          </a:prstGeom>
          <a:solidFill>
            <a:srgbClr val="013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Service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86" name="c_1_ChevronProcess:content0"/>
          <p:cNvSpPr/>
          <p:nvPr/>
        </p:nvSpPr>
        <p:spPr>
          <a:xfrm>
            <a:off x="45720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prefix Z##_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7" name="c_1_ChevronProcess:content1"/>
          <p:cNvSpPr/>
          <p:nvPr/>
        </p:nvSpPr>
        <p:spPr>
          <a:xfrm>
            <a:off x="184608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value ranges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8" name="c_1_ChevronProcess:content2"/>
          <p:cNvSpPr/>
          <p:nvPr/>
        </p:nvSpPr>
        <p:spPr>
          <a:xfrm>
            <a:off x="323460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typed fields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9" name="c_1_ChevronProcess:content3"/>
          <p:cNvSpPr/>
          <p:nvPr/>
        </p:nvSpPr>
        <p:spPr>
          <a:xfrm>
            <a:off x="462348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persistent + draft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0" name="c_1_ChevronProcess:content4"/>
          <p:cNvSpPr/>
          <p:nvPr/>
        </p:nvSpPr>
        <p:spPr>
          <a:xfrm>
            <a:off x="601236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interface views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1" name="c_1_ChevronProcess:content5"/>
          <p:cNvSpPr/>
          <p:nvPr/>
        </p:nvSpPr>
        <p:spPr>
          <a:xfrm>
            <a:off x="740088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projection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2" name="c_1_ChevronProcess:content6"/>
          <p:cNvSpPr/>
          <p:nvPr/>
        </p:nvSpPr>
        <p:spPr>
          <a:xfrm>
            <a:off x="878976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behaviour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3" name="c_1_ChevronProcess:content7"/>
          <p:cNvSpPr/>
          <p:nvPr/>
        </p:nvSpPr>
        <p:spPr>
          <a:xfrm>
            <a:off x="10178280" y="2560320"/>
            <a:ext cx="1342800" cy="914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000000"/>
                </a:solidFill>
                <a:latin typeface="Calibri"/>
              </a:rPr>
              <a:t>definition + bind</a:t>
            </a:r>
            <a:endParaRPr b="0" lang="en-US" sz="1100" spc="-1" strike="noStrike">
              <a:latin typeface="Arial"/>
            </a:endParaRPr>
          </a:p>
        </p:txBody>
      </p:sp>
      <p:graphicFrame>
        <p:nvGraphicFramePr>
          <p:cNvPr id="194" name="c_1_Block"/>
          <p:cNvGraphicFramePr/>
          <p:nvPr/>
        </p:nvGraphicFramePr>
        <p:xfrm>
          <a:off x="457200" y="4846320"/>
          <a:ext cx="11063880" cy="1279800"/>
        </p:xfrm>
        <a:graphic>
          <a:graphicData uri="http://schemas.openxmlformats.org/drawingml/2006/table">
            <a:tbl>
              <a:tblPr/>
              <a:tblGrid>
                <a:gridCol w="11064240"/>
              </a:tblGrid>
              <a:tr h="1280160">
                <a:tc>
                  <a:txBody>
                    <a:bodyPr lIns="179640" rIns="182880" tIns="73080" bIns="13716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Rule: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3-4 objects per prompt · activate before next layer.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Trust check: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"Active" is a claim until ReadDomain / ReadTable returns active: true.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anchor="t" marL="179640" marR="182880">
                    <a:lnL w="72720">
                      <a:solidFill>
                        <a:srgbClr val="e06c00"/>
                      </a:solidFill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c_1_DiagramCanvas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Complex objects · never assume first attempt works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CREATE · CHECK · FIX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c_1_DiagramCanvas:node0"/>
          <p:cNvSpPr/>
          <p:nvPr/>
        </p:nvSpPr>
        <p:spPr>
          <a:xfrm>
            <a:off x="5120640" y="217188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no activate yet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0" name="c_1_DiagramCanvas:node1"/>
          <p:cNvSpPr/>
          <p:nvPr/>
        </p:nvSpPr>
        <p:spPr>
          <a:xfrm>
            <a:off x="7315200" y="3360600"/>
            <a:ext cx="1737000" cy="868320"/>
          </a:xfrm>
          <a:prstGeom prst="flowChartDecision">
            <a:avLst/>
          </a:prstGeom>
          <a:solidFill>
            <a:srgbClr val="2590ee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syntax · refs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1" name="c_1_DiagramCanvas:node2"/>
          <p:cNvSpPr/>
          <p:nvPr/>
        </p:nvSpPr>
        <p:spPr>
          <a:xfrm>
            <a:off x="5120640" y="454932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</a:rPr>
              <a:t>agent edits spec · retry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2" name="c_1_DiagramCanvas:node3"/>
          <p:cNvSpPr/>
          <p:nvPr/>
        </p:nvSpPr>
        <p:spPr>
          <a:xfrm>
            <a:off x="2926080" y="3360600"/>
            <a:ext cx="1737000" cy="868320"/>
          </a:xfrm>
          <a:prstGeom prst="roundRect">
            <a:avLst>
              <a:gd name="adj" fmla="val 16667"/>
            </a:avLst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algn="ctr" blurRad="76320" dir="2700000" dist="37674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whole layer together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3" name="c_1_DiagramCanvas:conn0"/>
          <p:cNvSpPr/>
          <p:nvPr/>
        </p:nvSpPr>
        <p:spPr>
          <a:xfrm>
            <a:off x="6858000" y="2606040"/>
            <a:ext cx="456840" cy="1188360"/>
          </a:xfrm>
          <a:prstGeom prst="curvedConnector3">
            <a:avLst>
              <a:gd name="adj1" fmla="val 50000"/>
            </a:avLst>
          </a:prstGeom>
          <a:noFill/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4" name="c_1_DiagramCanvas:conn1"/>
          <p:cNvSpPr/>
          <p:nvPr/>
        </p:nvSpPr>
        <p:spPr>
          <a:xfrm flipH="1">
            <a:off x="6857280" y="3794760"/>
            <a:ext cx="456840" cy="1188360"/>
          </a:xfrm>
          <a:prstGeom prst="curvedConnector3">
            <a:avLst>
              <a:gd name="adj1" fmla="val 50000"/>
            </a:avLst>
          </a:prstGeom>
          <a:noFill/>
          <a:ln w="9144">
            <a:solidFill>
              <a:srgbClr val="000000"/>
            </a:solidFill>
            <a:prstDash val="dash"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5" name="c_1_DiagramCanvas:conn1:text"/>
          <p:cNvSpPr/>
          <p:nvPr/>
        </p:nvSpPr>
        <p:spPr>
          <a:xfrm>
            <a:off x="6809760" y="4176720"/>
            <a:ext cx="5529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errors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06" name="c_1_DiagramCanvas:conn2"/>
          <p:cNvSpPr/>
          <p:nvPr/>
        </p:nvSpPr>
        <p:spPr>
          <a:xfrm flipV="1">
            <a:off x="5989320" y="3040560"/>
            <a:ext cx="360" cy="1508400"/>
          </a:xfrm>
          <a:prstGeom prst="curvedConnector3">
            <a:avLst>
              <a:gd name="adj1" fmla="val 50000"/>
            </a:avLst>
          </a:prstGeom>
          <a:noFill/>
          <a:ln w="9144">
            <a:solidFill>
              <a:srgbClr val="000000"/>
            </a:solidFill>
            <a:prstDash val="dash"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7" name="c_1_DiagramCanvas:conn2:text"/>
          <p:cNvSpPr/>
          <p:nvPr/>
        </p:nvSpPr>
        <p:spPr>
          <a:xfrm>
            <a:off x="5747040" y="3582360"/>
            <a:ext cx="48420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retry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08" name="c_1_DiagramCanvas:conn3"/>
          <p:cNvSpPr/>
          <p:nvPr/>
        </p:nvSpPr>
        <p:spPr>
          <a:xfrm flipH="1">
            <a:off x="4662720" y="3794760"/>
            <a:ext cx="2651400" cy="360"/>
          </a:xfrm>
          <a:prstGeom prst="curvedConnector3">
            <a:avLst>
              <a:gd name="adj1" fmla="val 50000"/>
            </a:avLst>
          </a:prstGeom>
          <a:noFill/>
          <a:ln w="9144">
            <a:solidFill>
              <a:srgbClr val="000000"/>
            </a:solidFill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</p:sp>
      <p:sp>
        <p:nvSpPr>
          <p:cNvPr id="209" name="c_1_DiagramCanvas:conn3:text"/>
          <p:cNvSpPr/>
          <p:nvPr/>
        </p:nvSpPr>
        <p:spPr>
          <a:xfrm>
            <a:off x="5727960" y="3582360"/>
            <a:ext cx="5223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clean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Two failure modes · how to catch them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DRIFT · HALLUCINATION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2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c_1_BlockGrid:0:c_1_Block"/>
          <p:cNvSpPr/>
          <p:nvPr/>
        </p:nvSpPr>
        <p:spPr>
          <a:xfrm>
            <a:off x="45720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c65f00"/>
              </a:gs>
              <a:gs pos="100000">
                <a:srgbClr val="f97800"/>
              </a:gs>
            </a:gsLst>
            <a:lin ang="1620000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Spec / plan drift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Symptom: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extra objects, missing ones, silent renames.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Catch: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quote the plan back; force exact list.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4" name="c_1_BlockGrid:1:c_2_Block"/>
          <p:cNvSpPr/>
          <p:nvPr/>
        </p:nvSpPr>
        <p:spPr>
          <a:xfrm>
            <a:off x="420624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ce0101"/>
              </a:gs>
              <a:gs pos="100000">
                <a:srgbClr val="fc0606"/>
              </a:gs>
            </a:gsLst>
            <a:lin ang="1620000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Hallucination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Symptom: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"All N active" with no Executing trace.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Catch: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low token count · ask agent to read each object back.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5" name="c_1_BlockGrid:2:c_3_Block"/>
          <p:cNvSpPr/>
          <p:nvPr/>
        </p:nvSpPr>
        <p:spPr>
          <a:xfrm>
            <a:off x="7955280" y="1463040"/>
            <a:ext cx="3565800" cy="4663080"/>
          </a:xfrm>
          <a:prstGeom prst="rect">
            <a:avLst/>
          </a:prstGeom>
          <a:gradFill rotWithShape="0">
            <a:gsLst>
              <a:gs pos="0">
                <a:srgbClr val="cf12d3"/>
              </a:gs>
              <a:gs pos="100000">
                <a:srgbClr val="e82bed"/>
              </a:gs>
            </a:gsLst>
            <a:lin ang="1620000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Aft>
                <a:spcPts val="499"/>
              </a:spcAft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Phase confusion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Symptom: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Create/Update runs during Phase 1-3.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Catch: </a:t>
            </a: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say "document only, not system" · revert.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723960"/>
            <a:ext cx="1127412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Calibri"/>
                <a:ea typeface="Calibri"/>
              </a:rPr>
              <a:t>What you walk away with</a:t>
            </a:r>
            <a:endParaRPr b="0" lang="en-US" sz="2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382320"/>
            <a:ext cx="3611520" cy="22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spcBef>
                <a:spcPts val="601"/>
              </a:spcBef>
              <a:buNone/>
              <a:tabLst>
                <a:tab algn="l" pos="0"/>
              </a:tabLst>
            </a:pPr>
            <a:r>
              <a:rPr b="0" lang="en-US" sz="1000" spc="299" strike="noStrike" cap="all">
                <a:solidFill>
                  <a:srgbClr val="000000"/>
                </a:solidFill>
                <a:latin typeface="Calibri"/>
                <a:ea typeface="Calibri"/>
              </a:rPr>
              <a:t>OUTCOMES · 1-2 HOURS</a:t>
            </a:r>
            <a:endParaRPr b="0" lang="en-US" sz="1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8" name="ContentArea"/>
          <p:cNvSpPr/>
          <p:nvPr/>
        </p:nvSpPr>
        <p:spPr>
          <a:xfrm>
            <a:off x="457200" y="1463040"/>
            <a:ext cx="11063880" cy="4663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c_1_BlockGrid:0:c_1_Block:container"/>
          <p:cNvSpPr/>
          <p:nvPr/>
        </p:nvSpPr>
        <p:spPr>
          <a:xfrm>
            <a:off x="457200" y="1463040"/>
            <a:ext cx="356580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c_1_BlockGrid:0:c_1_Block:metric"/>
          <p:cNvSpPr/>
          <p:nvPr/>
        </p:nvSpPr>
        <p:spPr>
          <a:xfrm>
            <a:off x="1680120" y="1600200"/>
            <a:ext cx="111960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07e8d"/>
                </a:solidFill>
                <a:latin typeface="Calibri"/>
              </a:rPr>
              <a:t>1 app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21" name="c_1_BlockGrid:0:c_1_Block:content"/>
          <p:cNvSpPr/>
          <p:nvPr/>
        </p:nvSpPr>
        <p:spPr>
          <a:xfrm>
            <a:off x="640080" y="2077560"/>
            <a:ext cx="3200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active RAP BO · Fiori preview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2" name="c_1_BlockGrid:1:c_2_Block:container"/>
          <p:cNvSpPr/>
          <p:nvPr/>
        </p:nvSpPr>
        <p:spPr>
          <a:xfrm>
            <a:off x="4206240" y="1463040"/>
            <a:ext cx="356580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c_1_BlockGrid:1:c_2_Block:metric"/>
          <p:cNvSpPr/>
          <p:nvPr/>
        </p:nvSpPr>
        <p:spPr>
          <a:xfrm>
            <a:off x="5343120" y="1600200"/>
            <a:ext cx="12920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47ff"/>
                </a:solidFill>
                <a:latin typeface="Calibri"/>
              </a:rPr>
              <a:t>3 docs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24" name="c_1_BlockGrid:1:c_2_Block:content"/>
          <p:cNvSpPr/>
          <p:nvPr/>
        </p:nvSpPr>
        <p:spPr>
          <a:xfrm>
            <a:off x="4389120" y="2077560"/>
            <a:ext cx="320004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business-req · tech-spec · impl-plan in RAG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5" name="c_1_BlockGrid:2:c_3_Block:container"/>
          <p:cNvSpPr/>
          <p:nvPr/>
        </p:nvSpPr>
        <p:spPr>
          <a:xfrm>
            <a:off x="7955280" y="1463040"/>
            <a:ext cx="3565800" cy="1828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c_1_BlockGrid:2:c_3_Block:metric"/>
          <p:cNvSpPr/>
          <p:nvPr/>
        </p:nvSpPr>
        <p:spPr>
          <a:xfrm>
            <a:off x="9228600" y="1600200"/>
            <a:ext cx="101916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e06c00"/>
                </a:solidFill>
                <a:latin typeface="Calibri"/>
              </a:rPr>
              <a:t>1-2 h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27" name="c_1_BlockGrid:2:c_3_Block:content"/>
          <p:cNvSpPr/>
          <p:nvPr/>
        </p:nvSpPr>
        <p:spPr>
          <a:xfrm>
            <a:off x="8138160" y="2077560"/>
            <a:ext cx="3200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end to end wall-clock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8" name="c_4_Block"/>
          <p:cNvSpPr/>
          <p:nvPr/>
        </p:nvSpPr>
        <p:spPr>
          <a:xfrm>
            <a:off x="457200" y="4297680"/>
            <a:ext cx="11063880" cy="1828440"/>
          </a:xfrm>
          <a:prstGeom prst="rect">
            <a:avLst/>
          </a:prstGeom>
          <a:gradFill rotWithShape="0">
            <a:gsLst>
              <a:gs pos="0">
                <a:srgbClr val="7c7c7c"/>
              </a:gs>
              <a:gs pos="100000">
                <a:srgbClr val="959595"/>
              </a:gs>
            </a:gsLst>
            <a:lin ang="1620000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What you learn: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turn ideas into requirements, review AI specs, plan in dependency order, build layer by layer.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What stays yours: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every business decision and every field mapping.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What AI gives you: </a:t>
            </a: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the fastest pair programmer you can get · only if you lead.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_rels/item4.xml.rels><?xml version="1.0" encoding="UTF-8"?>
<Relationships xmlns="http://schemas.openxmlformats.org/package/2006/relationships"><Relationship Id="rId1" Type="http://schemas.openxmlformats.org/officeDocument/2006/relationships/customXmlProps" Target="itemProps4.xml"/>
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>
          <TermName>General Decks:About EPAM</TermName>
          <TermId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>
          <TermName>Continuum</TermName>
          <TermId>036b37b0-418a-48a3-ad40-f27762061154</TermId>
        </TermInfo>
        <TermInfo>
          <TermName>About EPAM</TermName>
          <TermId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>
          <TermName>About EPAM</TermName>
          <TermId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>
          <TermName>Confidential: NDA Required</TermName>
          <TermId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2018-01-26T19:23:30Z</dcterms:created>
  <dc:creator>Jennifer Markowitz</dc:creator>
  <dc:description/>
  <dc:language>en-US</dc:language>
  <cp:lastModifiedBy/>
  <dcterms:modified xsi:type="dcterms:W3CDTF">2026-05-21T12:27:06Z</dcterms:modified>
  <cp:revision>5</cp:revision>
  <dc:subject/>
  <dc:title>EPAM Overview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5" name="MSIP_Label_2a535040-0af2-483f-adc3-a132c21e3e2b_ActionId">
    <vt:lpwstr>6de4626a-a598-4337-88df-2d099c6d2fce</vt:lpwstr>
  </property>
  <property fmtid="{D5CDD505-2E9C-101B-9397-08002B2CF9AE}" pid="6" name="MSIP_Label_2a535040-0af2-483f-adc3-a132c21e3e2b_ContentBits">
    <vt:lpwstr>0</vt:lpwstr>
  </property>
  <property fmtid="{D5CDD505-2E9C-101B-9397-08002B2CF9AE}" pid="7" name="MSIP_Label_2a535040-0af2-483f-adc3-a132c21e3e2b_Enabled">
    <vt:lpwstr>true</vt:lpwstr>
  </property>
  <property fmtid="{D5CDD505-2E9C-101B-9397-08002B2CF9AE}" pid="8" name="MSIP_Label_2a535040-0af2-483f-adc3-a132c21e3e2b_Method">
    <vt:lpwstr>Standard</vt:lpwstr>
  </property>
  <property fmtid="{D5CDD505-2E9C-101B-9397-08002B2CF9AE}" pid="9" name="MSIP_Label_2a535040-0af2-483f-adc3-a132c21e3e2b_Name">
    <vt:lpwstr>EPAM_Confidential</vt:lpwstr>
  </property>
  <property fmtid="{D5CDD505-2E9C-101B-9397-08002B2CF9AE}" pid="10" name="MSIP_Label_2a535040-0af2-483f-adc3-a132c21e3e2b_SetDate">
    <vt:lpwstr>2026-01-27T08:34:32Z</vt:lpwstr>
  </property>
  <property fmtid="{D5CDD505-2E9C-101B-9397-08002B2CF9AE}" pid="11" name="MSIP_Label_2a535040-0af2-483f-adc3-a132c21e3e2b_SiteId">
    <vt:lpwstr>b41b72d0-4e9f-4c26-8a69-f949f367c91d</vt:lpwstr>
  </property>
  <property fmtid="{D5CDD505-2E9C-101B-9397-08002B2CF9AE}" pid="12" name="MSIP_Label_2a535040-0af2-483f-adc3-a132c21e3e2b_Tag">
    <vt:lpwstr>10, 3, 0, 1</vt:lpwstr>
  </property>
  <property fmtid="{D5CDD505-2E9C-101B-9397-08002B2CF9AE}" pid="13" name="PresentationFormat">
    <vt:lpwstr>Widescreen</vt:lpwstr>
  </property>
  <property fmtid="{D5CDD505-2E9C-101B-9397-08002B2CF9AE}" pid="14" name="Story">
    <vt:lpwstr>1;#General Decks:About EPAM|1bb3a607-45a4-4116-99d9-b95075743ae1</vt:lpwstr>
  </property>
  <property fmtid="{D5CDD505-2E9C-101B-9397-08002B2CF9AE}" pid="15" name="StoryCategories">
    <vt:lpwstr>1635;#About EPAM|5e1ed0a0-89ac-446a-837d-6ea8b9460059</vt:lpwstr>
  </property>
  <property fmtid="{D5CDD505-2E9C-101B-9397-08002B2CF9AE}" pid="16" name="StoryTags">
    <vt:lpwstr>72;#Continuum|036b37b0-418a-48a3-ad40-f27762061154;#116;#About EPAM|e35b7162-8377-4ac0-bb47-f30ed6f0902e</vt:lpwstr>
  </property>
  <property fmtid="{D5CDD505-2E9C-101B-9397-08002B2CF9AE}" pid="17" name="StoryTaxonomy">
    <vt:lpwstr>204;#EPAM Overview|107422c5-c5be-4599-981e-e0bc82e53d69</vt:lpwstr>
  </property>
  <property fmtid="{D5CDD505-2E9C-101B-9397-08002B2CF9AE}" pid="18" name="UsagePermission">
    <vt:lpwstr>3444;#Confidential: NDA Required|1078c1ca-8558-4f4e-bb3a-506201fcb43c</vt:lpwstr>
  </property>
  <property fmtid="{D5CDD505-2E9C-101B-9397-08002B2CF9AE}" pid="19" name="VCN">
    <vt:lpwstr/>
  </property>
  <property fmtid="{D5CDD505-2E9C-101B-9397-08002B2CF9AE}" pid="20" name="_dlc_DocIdItemGuid">
    <vt:lpwstr>041f0451-e7b6-47dd-8915-ddc72a6e399d</vt:lpwstr>
  </property>
  <property fmtid="{D5CDD505-2E9C-101B-9397-08002B2CF9AE}" pid="21" name="h098c32ae4474a2397bbdf9bd347fc14">
    <vt:lpwstr>EPAM Overview|107422c5-c5be-4599-981e-e0bc82e53d69</vt:lpwstr>
  </property>
</Properties>
</file>