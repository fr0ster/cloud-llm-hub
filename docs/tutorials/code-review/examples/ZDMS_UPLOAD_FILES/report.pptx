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10.xml"/><Relationship Id="rId20" Type="http://schemas.openxmlformats.org/officeDocument/2006/relationships/slide" Target="slides/slide9.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0.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Code Review — ZDMS_UPLOAD_FILES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Package Z001 · destination DS4_CLH · 4 parallel category checks · 30 findings</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Code-Review Findings</a:t>
            </a:r>
            <a:br>
              <a:rPr lang="pl-PL">
                <a:latin typeface="Calibri Light"/>
                <a:ea typeface="Calibri"/>
                <a:cs typeface="Calibri Light"/>
              </a:rPr>
            </a:b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
        <p:nvSpPr>
          <p:cNvPr id="6" name="Rectangle 5"/>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2392935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Verdict</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OBJECT UNDER REVIEW</a:t>
            </a:r>
          </a:p>
          <a:p>
            <a:pPr>
              <a:defRPr sz="1200" b="1">
                <a:solidFill>
                  <a:srgbClr val="161616"/>
                </a:solidFill>
                <a:latin typeface="Calibri"/>
              </a:defRPr>
            </a:pPr>
            <a:r>
              <a:t>Object:</a:t>
            </a:r>
            <a:r>
              <a:rPr sz="1200" b="0">
                <a:solidFill>
                  <a:srgbClr val="333333"/>
                </a:solidFill>
                <a:latin typeface="Calibri"/>
              </a:rPr>
              <a:t> ZDMS_UPLOAD_FILES</a:t>
            </a:r>
          </a:p>
          <a:p>
            <a:pPr>
              <a:defRPr sz="1200" b="1">
                <a:solidFill>
                  <a:srgbClr val="161616"/>
                </a:solidFill>
                <a:latin typeface="Calibri"/>
              </a:defRPr>
            </a:pPr>
            <a:r>
              <a:t>Type:</a:t>
            </a:r>
            <a:r>
              <a:rPr sz="1200" b="0">
                <a:solidFill>
                  <a:srgbClr val="333333"/>
                </a:solidFill>
                <a:latin typeface="Calibri"/>
              </a:rPr>
              <a:t> PROG</a:t>
            </a:r>
          </a:p>
          <a:p>
            <a:pPr>
              <a:defRPr sz="1200" b="1">
                <a:solidFill>
                  <a:srgbClr val="161616"/>
                </a:solidFill>
                <a:latin typeface="Calibri"/>
              </a:defRPr>
            </a:pPr>
            <a:r>
              <a:t>Package:</a:t>
            </a:r>
            <a:r>
              <a:rPr sz="1200" b="0">
                <a:solidFill>
                  <a:srgbClr val="333333"/>
                </a:solidFill>
                <a:latin typeface="Calibri"/>
              </a:rPr>
              <a:t> Z001</a:t>
            </a:r>
          </a:p>
          <a:p>
            <a:pPr>
              <a:defRPr sz="1200" b="1">
                <a:solidFill>
                  <a:srgbClr val="161616"/>
                </a:solidFill>
                <a:latin typeface="Calibri"/>
              </a:defRPr>
            </a:pPr>
            <a:r>
              <a:t>Destination:</a:t>
            </a:r>
            <a:r>
              <a:rPr sz="1200" b="0">
                <a:solidFill>
                  <a:srgbClr val="333333"/>
                </a:solidFill>
                <a:latin typeface="Calibri"/>
              </a:rPr>
              <a:t> DS4_CLH</a:t>
            </a:r>
          </a:p>
          <a:p>
            <a:pPr>
              <a:defRPr sz="1200" b="1">
                <a:solidFill>
                  <a:srgbClr val="161616"/>
                </a:solidFill>
                <a:latin typeface="Calibri"/>
              </a:defRPr>
            </a:pPr>
            <a:r>
              <a:t>Includes:</a:t>
            </a:r>
            <a:r>
              <a:rPr sz="1200" b="0">
                <a:solidFill>
                  <a:srgbClr val="333333"/>
                </a:solidFill>
                <a:latin typeface="Calibri"/>
              </a:rPr>
              <a:t> …_F01</a:t>
            </a:r>
          </a:p>
        </p:txBody>
      </p:sp>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30</a:t>
            </a:r>
          </a:p>
          <a:p>
            <a:pPr algn="ctr">
              <a:defRPr sz="1200">
                <a:solidFill>
                  <a:srgbClr val="FFFFFF"/>
                </a:solidFill>
                <a:latin typeface="Calibri"/>
              </a:defRPr>
            </a:pPr>
            <a:r>
              <a:t>total findings</a:t>
            </a:r>
          </a:p>
        </p:txBody>
      </p:sp>
      <p:sp>
        <p:nvSpPr>
          <p:cNvPr id="51" name="Rectangle 50"/>
          <p:cNvSpPr/>
          <p:nvPr/>
        </p:nvSpPr>
        <p:spPr>
          <a:xfrm>
            <a:off x="6309360" y="731520"/>
            <a:ext cx="2697480" cy="1463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10</a:t>
            </a:r>
          </a:p>
          <a:p>
            <a:pPr algn="ctr">
              <a:defRPr sz="1200">
                <a:solidFill>
                  <a:srgbClr val="FFFFFF"/>
                </a:solidFill>
                <a:latin typeface="Calibri"/>
              </a:defRPr>
            </a:pPr>
            <a:r>
              <a:t>HIGH severity</a:t>
            </a:r>
          </a:p>
        </p:txBody>
      </p:sp>
      <p:sp>
        <p:nvSpPr>
          <p:cNvPr id="52" name="Rectangle 51"/>
          <p:cNvSpPr/>
          <p:nvPr/>
        </p:nvSpPr>
        <p:spPr>
          <a:xfrm>
            <a:off x="9144000" y="731520"/>
            <a:ext cx="2697480" cy="1463040"/>
          </a:xfrm>
          <a:prstGeom prst="rect">
            <a:avLst/>
          </a:prstGeom>
          <a:solidFill>
            <a:srgbClr val="C8363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6</a:t>
            </a:r>
          </a:p>
          <a:p>
            <a:pPr algn="ctr">
              <a:defRPr sz="1200">
                <a:solidFill>
                  <a:srgbClr val="FFFFFF"/>
                </a:solidFill>
                <a:latin typeface="Calibri"/>
              </a:defRPr>
            </a:pPr>
            <a:r>
              <a:t>CleanCore blockers</a:t>
            </a:r>
          </a:p>
        </p:txBody>
      </p:sp>
      <p:graphicFrame>
        <p:nvGraphicFramePr>
          <p:cNvPr id="53" name="Table 52"/>
          <p:cNvGraphicFramePr>
            <a:graphicFrameLocks noGrp="1"/>
          </p:cNvGraphicFramePr>
          <p:nvPr/>
        </p:nvGraphicFramePr>
        <p:xfrm>
          <a:off x="3474720" y="2468880"/>
          <a:ext cx="7498080" cy="2377440"/>
        </p:xfrm>
        <a:graphic>
          <a:graphicData uri="http://schemas.openxmlformats.org/drawingml/2006/table">
            <a:tbl>
              <a:tblPr firstRow="1" bandRow="1">
                <a:tableStyleId>{5C22544A-7EE6-4342-B048-85BDC9FD1C3A}</a:tableStyleId>
              </a:tblPr>
              <a:tblGrid>
                <a:gridCol w="2194560"/>
                <a:gridCol w="914400"/>
                <a:gridCol w="914400"/>
                <a:gridCol w="914400"/>
                <a:gridCol w="914400"/>
                <a:gridCol w="1645920"/>
              </a:tblGrid>
              <a:tr h="396240">
                <a:tc>
                  <a:txBody>
                    <a:bodyPr/>
                    <a:lstStyle/>
                    <a:p>
                      <a:pPr>
                        <a:defRPr sz="1100" b="1">
                          <a:solidFill>
                            <a:srgbClr val="FFFFFF"/>
                          </a:solidFill>
                          <a:latin typeface="Calibri"/>
                        </a:defRPr>
                      </a:pPr>
                      <a:r>
                        <a:t>Category</a:t>
                      </a:r>
                    </a:p>
                  </a:txBody>
                  <a:tcPr>
                    <a:solidFill>
                      <a:srgbClr val="161616"/>
                    </a:solidFill>
                  </a:tcPr>
                </a:tc>
                <a:tc>
                  <a:txBody>
                    <a:bodyPr/>
                    <a:lstStyle/>
                    <a:p>
                      <a:pPr>
                        <a:defRPr sz="1100" b="1">
                          <a:solidFill>
                            <a:srgbClr val="FFFFFF"/>
                          </a:solidFill>
                          <a:latin typeface="Calibri"/>
                        </a:defRPr>
                      </a:pPr>
                      <a:r>
                        <a:t>CRITICAL</a:t>
                      </a:r>
                    </a:p>
                  </a:txBody>
                  <a:tcPr>
                    <a:solidFill>
                      <a:srgbClr val="161616"/>
                    </a:solidFill>
                  </a:tcPr>
                </a:tc>
                <a:tc>
                  <a:txBody>
                    <a:bodyPr/>
                    <a:lstStyle/>
                    <a:p>
                      <a:pPr>
                        <a:defRPr sz="1100" b="1">
                          <a:solidFill>
                            <a:srgbClr val="FFFFFF"/>
                          </a:solidFill>
                          <a:latin typeface="Calibri"/>
                        </a:defRPr>
                      </a:pPr>
                      <a:r>
                        <a:t>HIGH</a:t>
                      </a:r>
                    </a:p>
                  </a:txBody>
                  <a:tcPr>
                    <a:solidFill>
                      <a:srgbClr val="161616"/>
                    </a:solidFill>
                  </a:tcPr>
                </a:tc>
                <a:tc>
                  <a:txBody>
                    <a:bodyPr/>
                    <a:lstStyle/>
                    <a:p>
                      <a:pPr>
                        <a:defRPr sz="1100" b="1">
                          <a:solidFill>
                            <a:srgbClr val="FFFFFF"/>
                          </a:solidFill>
                          <a:latin typeface="Calibri"/>
                        </a:defRPr>
                      </a:pPr>
                      <a:r>
                        <a:t>MEDIUM</a:t>
                      </a:r>
                    </a:p>
                  </a:txBody>
                  <a:tcPr>
                    <a:solidFill>
                      <a:srgbClr val="161616"/>
                    </a:solidFill>
                  </a:tcPr>
                </a:tc>
                <a:tc>
                  <a:txBody>
                    <a:bodyPr/>
                    <a:lstStyle/>
                    <a:p>
                      <a:pPr>
                        <a:defRPr sz="1100" b="1">
                          <a:solidFill>
                            <a:srgbClr val="FFFFFF"/>
                          </a:solidFill>
                          <a:latin typeface="Calibri"/>
                        </a:defRPr>
                      </a:pPr>
                      <a:r>
                        <a:t>LOW</a:t>
                      </a:r>
                    </a:p>
                  </a:txBody>
                  <a:tcPr>
                    <a:solidFill>
                      <a:srgbClr val="161616"/>
                    </a:solidFill>
                  </a:tcPr>
                </a:tc>
                <a:tc>
                  <a:txBody>
                    <a:bodyPr/>
                    <a:lstStyle/>
                    <a:p>
                      <a:pPr>
                        <a:defRPr sz="1100" b="1">
                          <a:solidFill>
                            <a:srgbClr val="FFFFFF"/>
                          </a:solidFill>
                          <a:latin typeface="Calibri"/>
                        </a:defRPr>
                      </a:pPr>
                      <a:r>
                        <a:t>Total</a:t>
                      </a:r>
                    </a:p>
                  </a:txBody>
                  <a:tcPr>
                    <a:solidFill>
                      <a:srgbClr val="161616"/>
                    </a:solidFill>
                  </a:tcPr>
                </a:tc>
              </a:tr>
              <a:tr h="396240">
                <a:tc>
                  <a:txBody>
                    <a:bodyPr/>
                    <a:lstStyle/>
                    <a:p>
                      <a:pPr>
                        <a:defRPr sz="1100">
                          <a:solidFill>
                            <a:srgbClr val="333333"/>
                          </a:solidFill>
                          <a:latin typeface="Calibri"/>
                        </a:defRPr>
                      </a:pPr>
                      <a:r>
                        <a:t>Security</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2</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1</a:t>
                      </a:r>
                    </a:p>
                  </a:txBody>
                  <a:tcPr>
                    <a:solidFill>
                      <a:srgbClr val="FFFFFF"/>
                    </a:solidFill>
                  </a:tcPr>
                </a:tc>
                <a:tc>
                  <a:txBody>
                    <a:bodyPr/>
                    <a:lstStyle/>
                    <a:p>
                      <a:pPr>
                        <a:defRPr sz="1100">
                          <a:solidFill>
                            <a:srgbClr val="333333"/>
                          </a:solidFill>
                          <a:latin typeface="Calibri"/>
                        </a:defRPr>
                      </a:pPr>
                      <a:r>
                        <a:t>4</a:t>
                      </a:r>
                    </a:p>
                  </a:txBody>
                  <a:tcPr>
                    <a:solidFill>
                      <a:srgbClr val="FFFFFF"/>
                    </a:solidFill>
                  </a:tcPr>
                </a:tc>
              </a:tr>
              <a:tr h="396240">
                <a:tc>
                  <a:txBody>
                    <a:bodyPr/>
                    <a:lstStyle/>
                    <a:p>
                      <a:pPr>
                        <a:defRPr sz="1100">
                          <a:solidFill>
                            <a:srgbClr val="333333"/>
                          </a:solidFill>
                          <a:latin typeface="Calibri"/>
                        </a:defRPr>
                      </a:pPr>
                      <a:r>
                        <a:t>Performance</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2</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4</a:t>
                      </a:r>
                    </a:p>
                  </a:txBody>
                  <a:tcPr>
                    <a:solidFill>
                      <a:srgbClr val="F5F5F5"/>
                    </a:solidFill>
                  </a:tcPr>
                </a:tc>
              </a:tr>
              <a:tr h="396240">
                <a:tc>
                  <a:txBody>
                    <a:bodyPr/>
                    <a:lstStyle/>
                    <a:p>
                      <a:pPr>
                        <a:defRPr sz="1100">
                          <a:solidFill>
                            <a:srgbClr val="333333"/>
                          </a:solidFill>
                          <a:latin typeface="Calibri"/>
                        </a:defRPr>
                      </a:pPr>
                      <a:r>
                        <a:t>CleanCore</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0</a:t>
                      </a:r>
                    </a:p>
                  </a:txBody>
                  <a:tcPr>
                    <a:solidFill>
                      <a:srgbClr val="FFFFFF"/>
                    </a:solidFill>
                  </a:tcPr>
                </a:tc>
                <a:tc>
                  <a:txBody>
                    <a:bodyPr/>
                    <a:lstStyle/>
                    <a:p>
                      <a:pPr>
                        <a:defRPr sz="1100">
                          <a:solidFill>
                            <a:srgbClr val="333333"/>
                          </a:solidFill>
                          <a:latin typeface="Calibri"/>
                        </a:defRPr>
                      </a:pPr>
                      <a:r>
                        <a:t>6</a:t>
                      </a:r>
                    </a:p>
                  </a:txBody>
                  <a:tcPr>
                    <a:solidFill>
                      <a:srgbClr val="FFFFFF"/>
                    </a:solidFill>
                  </a:tcPr>
                </a:tc>
              </a:tr>
              <a:tr h="396240">
                <a:tc>
                  <a:txBody>
                    <a:bodyPr/>
                    <a:lstStyle/>
                    <a:p>
                      <a:pPr>
                        <a:defRPr sz="1100">
                          <a:solidFill>
                            <a:srgbClr val="333333"/>
                          </a:solidFill>
                          <a:latin typeface="Calibri"/>
                        </a:defRPr>
                      </a:pPr>
                      <a:r>
                        <a:t>Maintainability</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0</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c>
                  <a:txBody>
                    <a:bodyPr/>
                    <a:lstStyle/>
                    <a:p>
                      <a:pPr>
                        <a:defRPr sz="1100">
                          <a:solidFill>
                            <a:srgbClr val="333333"/>
                          </a:solidFill>
                          <a:latin typeface="Calibri"/>
                        </a:defRPr>
                      </a:pPr>
                      <a:r>
                        <a:t>16</a:t>
                      </a:r>
                    </a:p>
                  </a:txBody>
                  <a:tcPr>
                    <a:solidFill>
                      <a:srgbClr val="F5F5F5"/>
                    </a:solidFill>
                  </a:tcPr>
                </a:tc>
              </a:tr>
              <a:tr h="396240">
                <a:tc>
                  <a:txBody>
                    <a:bodyPr/>
                    <a:lstStyle/>
                    <a:p>
                      <a:pPr>
                        <a:defRPr sz="1100" b="1">
                          <a:solidFill>
                            <a:srgbClr val="333333"/>
                          </a:solidFill>
                          <a:latin typeface="Calibri"/>
                        </a:defRPr>
                      </a:pPr>
                      <a:r>
                        <a:t>TOTAL</a:t>
                      </a:r>
                    </a:p>
                  </a:txBody>
                  <a:tcPr>
                    <a:solidFill>
                      <a:srgbClr val="FFFFFF"/>
                    </a:solidFill>
                  </a:tcPr>
                </a:tc>
                <a:tc>
                  <a:txBody>
                    <a:bodyPr/>
                    <a:lstStyle/>
                    <a:p>
                      <a:pPr>
                        <a:defRPr sz="1100" b="1">
                          <a:solidFill>
                            <a:srgbClr val="333333"/>
                          </a:solidFill>
                          <a:latin typeface="Calibri"/>
                        </a:defRPr>
                      </a:pPr>
                      <a:r>
                        <a:t>0</a:t>
                      </a:r>
                    </a:p>
                  </a:txBody>
                  <a:tcPr>
                    <a:solidFill>
                      <a:srgbClr val="FFFFFF"/>
                    </a:solidFill>
                  </a:tcPr>
                </a:tc>
                <a:tc>
                  <a:txBody>
                    <a:bodyPr/>
                    <a:lstStyle/>
                    <a:p>
                      <a:pPr>
                        <a:defRPr sz="1100" b="1">
                          <a:solidFill>
                            <a:srgbClr val="333333"/>
                          </a:solidFill>
                          <a:latin typeface="Calibri"/>
                        </a:defRPr>
                      </a:pPr>
                      <a:r>
                        <a:t>10</a:t>
                      </a:r>
                    </a:p>
                  </a:txBody>
                  <a:tcPr>
                    <a:solidFill>
                      <a:srgbClr val="FFFFFF"/>
                    </a:solidFill>
                  </a:tcPr>
                </a:tc>
                <a:tc>
                  <a:txBody>
                    <a:bodyPr/>
                    <a:lstStyle/>
                    <a:p>
                      <a:pPr>
                        <a:defRPr sz="1100" b="1">
                          <a:solidFill>
                            <a:srgbClr val="333333"/>
                          </a:solidFill>
                          <a:latin typeface="Calibri"/>
                        </a:defRPr>
                      </a:pPr>
                      <a:r>
                        <a:t>3</a:t>
                      </a:r>
                    </a:p>
                  </a:txBody>
                  <a:tcPr>
                    <a:solidFill>
                      <a:srgbClr val="FFFFFF"/>
                    </a:solidFill>
                  </a:tcPr>
                </a:tc>
                <a:tc>
                  <a:txBody>
                    <a:bodyPr/>
                    <a:lstStyle/>
                    <a:p>
                      <a:pPr>
                        <a:defRPr sz="1100" b="1">
                          <a:solidFill>
                            <a:srgbClr val="333333"/>
                          </a:solidFill>
                          <a:latin typeface="Calibri"/>
                        </a:defRPr>
                      </a:pPr>
                      <a:r>
                        <a:t>17</a:t>
                      </a:r>
                    </a:p>
                  </a:txBody>
                  <a:tcPr>
                    <a:solidFill>
                      <a:srgbClr val="FFFFFF"/>
                    </a:solidFill>
                  </a:tcPr>
                </a:tc>
                <a:tc>
                  <a:txBody>
                    <a:bodyPr/>
                    <a:lstStyle/>
                    <a:p>
                      <a:pPr>
                        <a:defRPr sz="1100" b="1">
                          <a:solidFill>
                            <a:srgbClr val="333333"/>
                          </a:solidFill>
                          <a:latin typeface="Calibri"/>
                        </a:defRPr>
                      </a:pPr>
                      <a:r>
                        <a:t>30</a:t>
                      </a:r>
                    </a:p>
                  </a:txBody>
                  <a:tcPr>
                    <a:solidFill>
                      <a:srgbClr val="FFFFFF"/>
                    </a:solidFill>
                  </a:tcPr>
                </a:tc>
              </a:tr>
            </a:tbl>
          </a:graphicData>
        </a:graphic>
      </p:graphicFrame>
      <p:sp>
        <p:nvSpPr>
          <p:cNvPr id="54" name="TextBox 53"/>
          <p:cNvSpPr txBox="1"/>
          <p:nvPr/>
        </p:nvSpPr>
        <p:spPr>
          <a:xfrm>
            <a:off x="3474720" y="5029200"/>
            <a:ext cx="8412480" cy="274320"/>
          </a:xfrm>
          <a:prstGeom prst="rect">
            <a:avLst/>
          </a:prstGeom>
          <a:noFill/>
        </p:spPr>
        <p:txBody>
          <a:bodyPr wrap="square">
            <a:spAutoFit/>
          </a:bodyPr>
          <a:lstStyle/>
          <a:p>
            <a:pPr>
              <a:defRPr sz="1400" b="1">
                <a:solidFill>
                  <a:srgbClr val="00B4C8"/>
                </a:solidFill>
                <a:latin typeface="Calibri"/>
              </a:defRPr>
            </a:pPr>
            <a:r>
              <a:t>Take-aways</a:t>
            </a:r>
          </a:p>
        </p:txBody>
      </p:sp>
      <p:sp>
        <p:nvSpPr>
          <p:cNvPr id="55" name="TextBox 54"/>
          <p:cNvSpPr txBox="1"/>
          <p:nvPr/>
        </p:nvSpPr>
        <p:spPr>
          <a:xfrm>
            <a:off x="3474720" y="5349240"/>
            <a:ext cx="8412480" cy="1280160"/>
          </a:xfrm>
          <a:prstGeom prst="rect">
            <a:avLst/>
          </a:prstGeom>
          <a:noFill/>
        </p:spPr>
        <p:txBody>
          <a:bodyPr wrap="square">
            <a:spAutoFit/>
          </a:bodyPr>
          <a:lstStyle/>
          <a:p>
            <a:pPr>
              <a:defRPr sz="1100" b="0">
                <a:solidFill>
                  <a:srgbClr val="333333"/>
                </a:solidFill>
                <a:latin typeface="Calibri"/>
              </a:defRPr>
            </a:pPr>
            <a:r>
              <a:t>• 0 CRITICAL — no immediate blockers on existing functionality.</a:t>
            </a:r>
          </a:p>
          <a:p>
            <a:pPr>
              <a:defRPr sz="1100" b="0">
                <a:solidFill>
                  <a:srgbClr val="333333"/>
                </a:solidFill>
                <a:latin typeface="Calibri"/>
              </a:defRPr>
            </a:pPr>
            <a:r>
              <a:t>• 10 HIGH — 6 CleanCore (blocks S/4HANA Cloud), 2 security, 2 performance.</a:t>
            </a:r>
          </a:p>
          <a:p>
            <a:pPr>
              <a:defRPr sz="1100" b="0">
                <a:solidFill>
                  <a:srgbClr val="333333"/>
                </a:solidFill>
                <a:latin typeface="Calibri"/>
              </a:defRPr>
            </a:pPr>
            <a:r>
              <a:t>• 16 LOW Maintainability — style debt; defer to next refactor.</a:t>
            </a:r>
          </a:p>
          <a:p>
            <a:pPr>
              <a:defRPr sz="1100" b="0">
                <a:solidFill>
                  <a:srgbClr val="333333"/>
                </a:solidFill>
                <a:latin typeface="Calibri"/>
              </a:defRPr>
            </a:pPr>
            <a:r>
              <a:t>• All 30 findings listed by category on the following slides.</a:t>
            </a:r>
          </a:p>
        </p:txBody>
      </p:sp>
    </p:spTree>
    <p:extLst>
      <p:ext uri="{BB962C8B-B14F-4D97-AF65-F5344CB8AC3E}">
        <p14:creationId xmlns:p14="http://schemas.microsoft.com/office/powerpoint/2010/main" val="776662744"/>
      </p:ext>
    </p:extLst>
  </p:cSld>
  <p:clrMapOvr>
    <a:masterClrMapping/>
  </p:clrMapOvr>
  <p:transition spd="slow"/>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CleanCore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6</a:t>
            </a:r>
          </a:p>
          <a:p>
            <a:pPr>
              <a:defRPr sz="1200" b="1">
                <a:solidFill>
                  <a:srgbClr val="161616"/>
                </a:solidFill>
                <a:latin typeface="Calibri"/>
              </a:defRPr>
            </a:pPr>
            <a:r>
              <a:t>HIGH:</a:t>
            </a:r>
            <a:r>
              <a:rPr sz="1200" b="0">
                <a:solidFill>
                  <a:srgbClr val="333333"/>
                </a:solidFill>
                <a:latin typeface="Calibri"/>
              </a:rPr>
              <a:t> 6</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All HIGH severity.</a:t>
            </a:r>
          </a:p>
          <a:p>
            <a:pPr>
              <a:defRPr sz="1100">
                <a:solidFill>
                  <a:srgbClr val="333333"/>
                </a:solidFill>
                <a:latin typeface="Calibri"/>
              </a:defRPr>
            </a:pPr>
            <a:r>
              <a:t>Blocks S/4HANA Cloud.</a:t>
            </a:r>
          </a:p>
        </p:txBody>
      </p:sp>
      <p:graphicFrame>
        <p:nvGraphicFramePr>
          <p:cNvPr id="50" name="Table 49"/>
          <p:cNvGraphicFramePr>
            <a:graphicFrameLocks noGrp="1"/>
          </p:cNvGraphicFramePr>
          <p:nvPr/>
        </p:nvGraphicFramePr>
        <p:xfrm>
          <a:off x="3474720" y="731520"/>
          <a:ext cx="8412480" cy="3200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724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OS command execution via `SXPG_COMMAND_EXECUTE` (shell access)</a:t>
                      </a:r>
                    </a:p>
                  </a:txBody>
                  <a:tcPr>
                    <a:solidFill>
                      <a:srgbClr val="FFFFFF"/>
                    </a:solidFill>
                  </a:tcPr>
                </a:tc>
                <a:tc>
                  <a:txBody>
                    <a:bodyPr/>
                    <a:lstStyle/>
                    <a:p>
                      <a:pPr>
                        <a:defRPr sz="1000">
                          <a:solidFill>
                            <a:srgbClr val="333333"/>
                          </a:solidFill>
                          <a:latin typeface="Consolas"/>
                        </a:defRPr>
                      </a:pPr>
                      <a:r>
                        <a:t>ZDMS_UPLOAD_FILES_F01:~325</a:t>
                      </a:r>
                    </a:p>
                  </a:txBody>
                  <a:tcPr>
                    <a:solidFill>
                      <a:srgbClr val="FFFFFF"/>
                    </a:solidFill>
                  </a:tcPr>
                </a:tc>
              </a:tr>
              <a:tr h="4724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OS command execution via `SXPG_COMMAND_EXECUTE` (shell access)</a:t>
                      </a:r>
                    </a:p>
                  </a:txBody>
                  <a:tcPr>
                    <a:solidFill>
                      <a:srgbClr val="F5F5F5"/>
                    </a:solidFill>
                  </a:tcPr>
                </a:tc>
                <a:tc>
                  <a:txBody>
                    <a:bodyPr/>
                    <a:lstStyle/>
                    <a:p>
                      <a:pPr>
                        <a:defRPr sz="1000">
                          <a:solidFill>
                            <a:srgbClr val="333333"/>
                          </a:solidFill>
                          <a:latin typeface="Consolas"/>
                        </a:defRPr>
                      </a:pPr>
                      <a:r>
                        <a:t>ZDMS_UPLOAD_FILES_F01:~388</a:t>
                      </a:r>
                    </a:p>
                  </a:txBody>
                  <a:tcPr>
                    <a:solidFill>
                      <a:srgbClr val="F5F5F5"/>
                    </a:solidFill>
                  </a:tcPr>
                </a:tc>
              </a:tr>
              <a:tr h="4724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operations on application server via `OPEN DATASET` / `READ DATASET` / `TRANSFER` / `DELETE DATASET` (AL11-style)</a:t>
                      </a:r>
                    </a:p>
                  </a:txBody>
                  <a:tcPr>
                    <a:solidFill>
                      <a:srgbClr val="FFFFFF"/>
                    </a:solidFill>
                  </a:tcPr>
                </a:tc>
                <a:tc>
                  <a:txBody>
                    <a:bodyPr/>
                    <a:lstStyle/>
                    <a:p>
                      <a:pPr>
                        <a:defRPr sz="1000">
                          <a:solidFill>
                            <a:srgbClr val="333333"/>
                          </a:solidFill>
                          <a:latin typeface="Consolas"/>
                        </a:defRPr>
                      </a:pPr>
                      <a:r>
                        <a:t>ZDMS_UPLOAD_FILES_F01:~468</a:t>
                      </a:r>
                    </a:p>
                  </a:txBody>
                  <a:tcPr>
                    <a:solidFill>
                      <a:srgbClr val="FFFFFF"/>
                    </a:solidFill>
                  </a:tcPr>
                </a:tc>
              </a:tr>
              <a:tr h="4724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File deletion on application server via `DELETE DATASET` (AL11-style)</a:t>
                      </a:r>
                    </a:p>
                  </a:txBody>
                  <a:tcPr>
                    <a:solidFill>
                      <a:srgbClr val="F5F5F5"/>
                    </a:solidFill>
                  </a:tcPr>
                </a:tc>
                <a:tc>
                  <a:txBody>
                    <a:bodyPr/>
                    <a:lstStyle/>
                    <a:p>
                      <a:pPr>
                        <a:defRPr sz="1000">
                          <a:solidFill>
                            <a:srgbClr val="333333"/>
                          </a:solidFill>
                          <a:latin typeface="Consolas"/>
                        </a:defRPr>
                      </a:pPr>
                      <a:r>
                        <a:t>ZDMS_UPLOAD_FILES_F01:~494</a:t>
                      </a:r>
                    </a:p>
                  </a:txBody>
                  <a:tcPr>
                    <a:solidFill>
                      <a:srgbClr val="F5F5F5"/>
                    </a:solidFill>
                  </a:tcPr>
                </a:tc>
              </a:tr>
              <a:tr h="4724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File deletion on application server via `DELETE DATASET` (AL11-style)</a:t>
                      </a:r>
                    </a:p>
                  </a:txBody>
                  <a:tcPr>
                    <a:solidFill>
                      <a:srgbClr val="FFFFFF"/>
                    </a:solidFill>
                  </a:tcPr>
                </a:tc>
                <a:tc>
                  <a:txBody>
                    <a:bodyPr/>
                    <a:lstStyle/>
                    <a:p>
                      <a:pPr>
                        <a:defRPr sz="1000">
                          <a:solidFill>
                            <a:srgbClr val="333333"/>
                          </a:solidFill>
                          <a:latin typeface="Consolas"/>
                        </a:defRPr>
                      </a:pPr>
                      <a:r>
                        <a:t>ZDMS_UPLOAD_FILES_F01:~656</a:t>
                      </a:r>
                    </a:p>
                  </a:txBody>
                  <a:tcPr>
                    <a:solidFill>
                      <a:srgbClr val="FFFFFF"/>
                    </a:solidFill>
                  </a:tcPr>
                </a:tc>
              </a:tr>
              <a:tr h="4724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Direct read of standard table `TVARVC` (released API alternative expected)</a:t>
                      </a:r>
                    </a:p>
                  </a:txBody>
                  <a:tcPr>
                    <a:solidFill>
                      <a:srgbClr val="F5F5F5"/>
                    </a:solidFill>
                  </a:tcPr>
                </a:tc>
                <a:tc>
                  <a:txBody>
                    <a:bodyPr/>
                    <a:lstStyle/>
                    <a:p>
                      <a:pPr>
                        <a:defRPr sz="1000">
                          <a:solidFill>
                            <a:srgbClr val="333333"/>
                          </a:solidFill>
                          <a:latin typeface="Consolas"/>
                        </a:defRPr>
                      </a:pPr>
                      <a:r>
                        <a:t>ZDMS_UPLOAD_FILES_F01:~164</a:t>
                      </a:r>
                    </a:p>
                  </a:txBody>
                  <a:tcPr>
                    <a:solidFill>
                      <a:srgbClr val="F5F5F5"/>
                    </a:solidFill>
                  </a:tcPr>
                </a:tc>
              </a:tr>
            </a:tbl>
          </a:graphicData>
        </a:graphic>
      </p:graphicFrame>
      <p:sp>
        <p:nvSpPr>
          <p:cNvPr id="51" name="TextBox 50"/>
          <p:cNvSpPr txBox="1"/>
          <p:nvPr/>
        </p:nvSpPr>
        <p:spPr>
          <a:xfrm>
            <a:off x="3474720" y="4206240"/>
            <a:ext cx="8412480" cy="274320"/>
          </a:xfrm>
          <a:prstGeom prst="rect">
            <a:avLst/>
          </a:prstGeom>
          <a:noFill/>
        </p:spPr>
        <p:txBody>
          <a:bodyPr wrap="square">
            <a:spAutoFit/>
          </a:bodyPr>
          <a:lstStyle/>
          <a:p>
            <a:pPr>
              <a:defRPr sz="1100" b="1">
                <a:solidFill>
                  <a:srgbClr val="C83636"/>
                </a:solidFill>
                <a:latin typeface="Calibri"/>
              </a:defRPr>
            </a:pPr>
            <a:r>
              <a:t>Representative · #1 · OS command execution via `SXPG_COMMAND_EXECUTE` (shell access)</a:t>
            </a:r>
          </a:p>
        </p:txBody>
      </p:sp>
      <p:sp>
        <p:nvSpPr>
          <p:cNvPr id="52" name="TextBox 51"/>
          <p:cNvSpPr txBox="1"/>
          <p:nvPr/>
        </p:nvSpPr>
        <p:spPr>
          <a:xfrm>
            <a:off x="3474720" y="4572000"/>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58978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6263640"/>
            <a:ext cx="8412480" cy="822960"/>
          </a:xfrm>
          <a:prstGeom prst="rect">
            <a:avLst/>
          </a:prstGeom>
          <a:noFill/>
        </p:spPr>
        <p:txBody>
          <a:bodyPr wrap="square">
            <a:spAutoFit/>
          </a:bodyPr>
          <a:lstStyle/>
          <a:p>
            <a:pPr>
              <a:defRPr sz="1000" b="0">
                <a:solidFill>
                  <a:srgbClr val="333333"/>
                </a:solidFill>
                <a:latin typeface="Calibri"/>
              </a:defRPr>
            </a:pPr>
            <a:r>
              <a:t>Replace SXPG_COMMAND_EXECUTE + AL11 file I/O with released integration: native ABAP SFTP class, BTP Integration Suite SFTP adapter, or attachment/document APIs. Avoid direct reads of standard SAP tables when a released CDS/API exists.</a:t>
            </a:r>
          </a:p>
        </p:txBody>
      </p:sp>
    </p:spTree>
    <p:extLst>
      <p:ext uri="{BB962C8B-B14F-4D97-AF65-F5344CB8AC3E}">
        <p14:creationId xmlns:p14="http://schemas.microsoft.com/office/powerpoint/2010/main" val="2620996960"/>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Security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1</a:t>
            </a:r>
          </a:p>
          <a:p>
            <a:pPr>
              <a:defRPr sz="1200" b="1">
                <a:solidFill>
                  <a:srgbClr val="161616"/>
                </a:solidFill>
                <a:latin typeface="Calibri"/>
              </a:defRPr>
            </a:pPr>
            <a:r>
              <a:t>LOW:</a:t>
            </a:r>
            <a:r>
              <a:rPr sz="1200" b="0">
                <a:solidFill>
                  <a:srgbClr val="333333"/>
                </a:solidFill>
                <a:latin typeface="Calibri"/>
              </a:rPr>
              <a:t> 1</a:t>
            </a:r>
          </a:p>
          <a:p>
            <a:pPr>
              <a:defRPr sz="1100">
                <a:solidFill>
                  <a:srgbClr val="333333"/>
                </a:solidFill>
                <a:latin typeface="Calibri"/>
              </a:defRPr>
            </a:pPr>
          </a:p>
          <a:p>
            <a:pPr>
              <a:defRPr sz="1100">
                <a:solidFill>
                  <a:srgbClr val="333333"/>
                </a:solidFill>
                <a:latin typeface="Calibri"/>
              </a:defRPr>
            </a:pPr>
            <a:r>
              <a:t>Missing AUTHORITY-CHECKs.</a:t>
            </a:r>
          </a:p>
          <a:p>
            <a:pPr>
              <a:defRPr sz="1100">
                <a:solidFill>
                  <a:srgbClr val="333333"/>
                </a:solidFill>
                <a:latin typeface="Calibri"/>
              </a:defRPr>
            </a:pPr>
            <a:r>
              <a:t>Shell-injection risk.</a:t>
            </a:r>
          </a:p>
        </p:txBody>
      </p:sp>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Missing explicit authorization check before OS command execution (SFTP GET)</a:t>
                      </a:r>
                    </a:p>
                  </a:txBody>
                  <a:tcPr>
                    <a:solidFill>
                      <a:srgbClr val="FFFFFF"/>
                    </a:solidFill>
                  </a:tcPr>
                </a:tc>
                <a:tc>
                  <a:txBody>
                    <a:bodyPr/>
                    <a:lstStyle/>
                    <a:p>
                      <a:pPr>
                        <a:defRPr sz="1000">
                          <a:solidFill>
                            <a:srgbClr val="333333"/>
                          </a:solidFill>
                          <a:latin typeface="Consolas"/>
                        </a:defRPr>
                      </a:pPr>
                      <a:r>
                        <a:t>ZDMS_UPLOAD_FILES_F01:~250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Missing explicit authorization check before OS command execution (SFTP PUT)</a:t>
                      </a:r>
                    </a:p>
                  </a:txBody>
                  <a:tcPr>
                    <a:solidFill>
                      <a:srgbClr val="F5F5F5"/>
                    </a:solidFill>
                  </a:tcPr>
                </a:tc>
                <a:tc>
                  <a:txBody>
                    <a:bodyPr/>
                    <a:lstStyle/>
                    <a:p>
                      <a:pPr>
                        <a:defRPr sz="1000">
                          <a:solidFill>
                            <a:srgbClr val="333333"/>
                          </a:solidFill>
                          <a:latin typeface="Consolas"/>
                        </a:defRPr>
                      </a:pPr>
                      <a:r>
                        <a:t>ZDMS_UPLOAD_FILES_F01:~320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Shell-injection risk: building `additional_parameters` via concatenation of configurable values</a:t>
                      </a:r>
                    </a:p>
                  </a:txBody>
                  <a:tcPr>
                    <a:solidFill>
                      <a:srgbClr val="FFFFFF"/>
                    </a:solidFill>
                  </a:tcPr>
                </a:tc>
                <a:tc>
                  <a:txBody>
                    <a:bodyPr/>
                    <a:lstStyle/>
                    <a:p>
                      <a:pPr>
                        <a:defRPr sz="1000">
                          <a:solidFill>
                            <a:srgbClr val="333333"/>
                          </a:solidFill>
                          <a:latin typeface="Consolas"/>
                        </a:defRPr>
                      </a:pPr>
                      <a:r>
                        <a:t>ZDMS_UPLOAD_FILES_F01:~420</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Sensitive operational details may be exposed via plain report output</a:t>
                      </a:r>
                    </a:p>
                  </a:txBody>
                  <a:tcPr>
                    <a:solidFill>
                      <a:srgbClr val="F5F5F5"/>
                    </a:solidFill>
                  </a:tcPr>
                </a:tc>
                <a:tc>
                  <a:txBody>
                    <a:bodyPr/>
                    <a:lstStyle/>
                    <a:p>
                      <a:pPr>
                        <a:defRPr sz="1000">
                          <a:solidFill>
                            <a:srgbClr val="333333"/>
                          </a:solidFill>
                          <a:latin typeface="Consolas"/>
                        </a:defRPr>
                      </a:pPr>
                      <a:r>
                        <a:t>ZDMS_UPLOAD_FILES_F01:~385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#1 · Missing explicit authorization check before OS command execution (SFTP GET)</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CALL FUNCTION 'SXPG_COMMAND_EXECUTE'</a:t>
            </a:r>
          </a:p>
          <a:p>
            <a:pPr>
              <a:defRPr sz="1000" b="0">
                <a:solidFill>
                  <a:srgbClr val="333333"/>
                </a:solidFill>
                <a:latin typeface="Consolas"/>
              </a:defRPr>
            </a:pPr>
            <a:r>
              <a:t>  EXPORTING</a:t>
            </a:r>
          </a:p>
          <a:p>
            <a:pPr>
              <a:defRPr sz="1000" b="0">
                <a:solidFill>
                  <a:srgbClr val="333333"/>
                </a:solidFill>
                <a:latin typeface="Consolas"/>
              </a:defRPr>
            </a:pPr>
            <a:r>
              <a:t>    commandname           = lv_comm</a:t>
            </a:r>
          </a:p>
          <a:p>
            <a:pPr>
              <a:defRPr sz="1000" b="0">
                <a:solidFill>
                  <a:srgbClr val="333333"/>
                </a:solidFill>
                <a:latin typeface="Consolas"/>
              </a:defRPr>
            </a:pPr>
            <a:r>
              <a:t>    additional_parameters = gv_param</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Add explicit AUTHORITY-CHECK (S_LOG_COM / S_RZL_ADM) before every SXPG_COMMAND_EXECUTE. Validate/escape additional_parameters values before concatenation. Restrict allowed commands in SM69.</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Performance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4</a:t>
            </a:r>
          </a:p>
          <a:p>
            <a:pPr>
              <a:defRPr sz="1200" b="1">
                <a:solidFill>
                  <a:srgbClr val="161616"/>
                </a:solidFill>
                <a:latin typeface="Calibri"/>
              </a:defRPr>
            </a:pPr>
            <a:r>
              <a:t>HIGH:</a:t>
            </a:r>
            <a:r>
              <a:rPr sz="1200" b="0">
                <a:solidFill>
                  <a:srgbClr val="333333"/>
                </a:solidFill>
                <a:latin typeface="Calibri"/>
              </a:rPr>
              <a:t> 2</a:t>
            </a:r>
          </a:p>
          <a:p>
            <a:pPr>
              <a:defRPr sz="1200" b="1">
                <a:solidFill>
                  <a:srgbClr val="161616"/>
                </a:solidFill>
                <a:latin typeface="Calibri"/>
              </a:defRPr>
            </a:pPr>
            <a:r>
              <a:t>MEDIUM:</a:t>
            </a:r>
            <a:r>
              <a:rPr sz="1200" b="0">
                <a:solidFill>
                  <a:srgbClr val="333333"/>
                </a:solidFill>
                <a:latin typeface="Calibri"/>
              </a:rPr>
              <a:t> 2</a:t>
            </a:r>
          </a:p>
          <a:p>
            <a:pPr>
              <a:defRPr sz="1200" b="1">
                <a:solidFill>
                  <a:srgbClr val="161616"/>
                </a:solidFill>
                <a:latin typeface="Calibri"/>
              </a:defRPr>
            </a:pPr>
            <a:r>
              <a:t>LOW:</a:t>
            </a:r>
            <a:r>
              <a:rPr sz="1200" b="0">
                <a:solidFill>
                  <a:srgbClr val="333333"/>
                </a:solidFill>
                <a:latin typeface="Calibri"/>
              </a:rPr>
              <a:t> 0</a:t>
            </a:r>
          </a:p>
          <a:p>
            <a:pPr>
              <a:defRPr sz="1100">
                <a:solidFill>
                  <a:srgbClr val="333333"/>
                </a:solidFill>
                <a:latin typeface="Calibri"/>
              </a:defRPr>
            </a:pPr>
          </a:p>
          <a:p>
            <a:pPr>
              <a:defRPr sz="1100">
                <a:solidFill>
                  <a:srgbClr val="333333"/>
                </a:solidFill>
                <a:latin typeface="Calibri"/>
              </a:defRPr>
            </a:pPr>
            <a:r>
              <a:t>Repeated FM in LOOP.</a:t>
            </a:r>
          </a:p>
          <a:p>
            <a:pPr>
              <a:defRPr sz="1100">
                <a:solidFill>
                  <a:srgbClr val="333333"/>
                </a:solidFill>
                <a:latin typeface="Calibri"/>
              </a:defRPr>
            </a:pPr>
            <a:r>
              <a:t>SELECT * on wide tables.</a:t>
            </a:r>
          </a:p>
        </p:txBody>
      </p:sp>
      <p:graphicFrame>
        <p:nvGraphicFramePr>
          <p:cNvPr id="50" name="Table 49"/>
          <p:cNvGraphicFramePr>
            <a:graphicFrameLocks noGrp="1"/>
          </p:cNvGraphicFramePr>
          <p:nvPr/>
        </p:nvGraphicFramePr>
        <p:xfrm>
          <a:off x="3474720" y="731520"/>
          <a:ext cx="8412480" cy="22860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48006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CC9900"/>
                          </a:solidFill>
                          <a:latin typeface="Calibri"/>
                        </a:defRPr>
                      </a:pPr>
                      <a:r>
                        <a:t>MEDIUM</a:t>
                      </a:r>
                    </a:p>
                  </a:txBody>
                  <a:tcPr>
                    <a:solidFill>
                      <a:srgbClr val="FFFFFF"/>
                    </a:solidFill>
                  </a:tcPr>
                </a:tc>
                <a:tc>
                  <a:txBody>
                    <a:bodyPr/>
                    <a:lstStyle/>
                    <a:p>
                      <a:pPr>
                        <a:defRPr sz="1000">
                          <a:solidFill>
                            <a:srgbClr val="333333"/>
                          </a:solidFill>
                          <a:latin typeface="Calibri"/>
                        </a:defRPr>
                      </a:pPr>
                      <a:r>
                        <a:t>`SELECT *` from TVARVC (unnecessary wide fetch)</a:t>
                      </a:r>
                    </a:p>
                  </a:txBody>
                  <a:tcPr>
                    <a:solidFill>
                      <a:srgbClr val="FFFFFF"/>
                    </a:solidFill>
                  </a:tcPr>
                </a:tc>
                <a:tc>
                  <a:txBody>
                    <a:bodyPr/>
                    <a:lstStyle/>
                    <a:p>
                      <a:pPr>
                        <a:defRPr sz="1000">
                          <a:solidFill>
                            <a:srgbClr val="333333"/>
                          </a:solidFill>
                          <a:latin typeface="Consolas"/>
                        </a:defRPr>
                      </a:pPr>
                      <a:r>
                        <a:t>ZDMS_UPLOAD_FILES_F01:~120</a:t>
                      </a:r>
                    </a:p>
                  </a:txBody>
                  <a:tcPr>
                    <a:solidFill>
                      <a:srgbClr val="FFFFFF"/>
                    </a:solidFill>
                  </a:tcPr>
                </a:tc>
              </a:tr>
              <a:tr h="48006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CC9900"/>
                          </a:solidFill>
                          <a:latin typeface="Calibri"/>
                        </a:defRPr>
                      </a:pPr>
                      <a:r>
                        <a:t>MEDIUM</a:t>
                      </a:r>
                    </a:p>
                  </a:txBody>
                  <a:tcPr>
                    <a:solidFill>
                      <a:srgbClr val="F5F5F5"/>
                    </a:solidFill>
                  </a:tcPr>
                </a:tc>
                <a:tc>
                  <a:txBody>
                    <a:bodyPr/>
                    <a:lstStyle/>
                    <a:p>
                      <a:pPr>
                        <a:defRPr sz="1000">
                          <a:solidFill>
                            <a:srgbClr val="333333"/>
                          </a:solidFill>
                          <a:latin typeface="Calibri"/>
                        </a:defRPr>
                      </a:pPr>
                      <a:r>
                        <a:t>`SELECT *` from DMS_DOC_FILES (potentially wide table)</a:t>
                      </a:r>
                    </a:p>
                  </a:txBody>
                  <a:tcPr>
                    <a:solidFill>
                      <a:srgbClr val="F5F5F5"/>
                    </a:solidFill>
                  </a:tcPr>
                </a:tc>
                <a:tc>
                  <a:txBody>
                    <a:bodyPr/>
                    <a:lstStyle/>
                    <a:p>
                      <a:pPr>
                        <a:defRPr sz="1000">
                          <a:solidFill>
                            <a:srgbClr val="333333"/>
                          </a:solidFill>
                          <a:latin typeface="Consolas"/>
                        </a:defRPr>
                      </a:pPr>
                      <a:r>
                        <a:t>ZDMS_UPLOAD_FILES_F01:~150</a:t>
                      </a:r>
                    </a:p>
                  </a:txBody>
                  <a:tcPr>
                    <a:solidFill>
                      <a:srgbClr val="F5F5F5"/>
                    </a:solidFill>
                  </a:tcPr>
                </a:tc>
              </a:tr>
              <a:tr h="48006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E67E22"/>
                          </a:solidFill>
                          <a:latin typeface="Calibri"/>
                        </a:defRPr>
                      </a:pPr>
                      <a:r>
                        <a:t>HIGH</a:t>
                      </a:r>
                    </a:p>
                  </a:txBody>
                  <a:tcPr>
                    <a:solidFill>
                      <a:srgbClr val="FFFFFF"/>
                    </a:solidFill>
                  </a:tcPr>
                </a:tc>
                <a:tc>
                  <a:txBody>
                    <a:bodyPr/>
                    <a:lstStyle/>
                    <a:p>
                      <a:pPr>
                        <a:defRPr sz="1000">
                          <a:solidFill>
                            <a:srgbClr val="333333"/>
                          </a:solidFill>
                          <a:latin typeface="Calibri"/>
                        </a:defRPr>
                      </a:pPr>
                      <a:r>
                        <a:t>Repeated function/module calls inside loop (FORMAT_MESSAGE)</a:t>
                      </a:r>
                    </a:p>
                  </a:txBody>
                  <a:tcPr>
                    <a:solidFill>
                      <a:srgbClr val="FFFFFF"/>
                    </a:solidFill>
                  </a:tcPr>
                </a:tc>
                <a:tc>
                  <a:txBody>
                    <a:bodyPr/>
                    <a:lstStyle/>
                    <a:p>
                      <a:pPr>
                        <a:defRPr sz="1000">
                          <a:solidFill>
                            <a:srgbClr val="333333"/>
                          </a:solidFill>
                          <a:latin typeface="Consolas"/>
                        </a:defRPr>
                      </a:pPr>
                      <a:r>
                        <a:t>ZDMS_UPLOAD_FILES_F01:~235</a:t>
                      </a:r>
                    </a:p>
                  </a:txBody>
                  <a:tcPr>
                    <a:solidFill>
                      <a:srgbClr val="FFFFFF"/>
                    </a:solidFill>
                  </a:tcPr>
                </a:tc>
              </a:tr>
              <a:tr h="48006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E67E22"/>
                          </a:solidFill>
                          <a:latin typeface="Calibri"/>
                        </a:defRPr>
                      </a:pPr>
                      <a:r>
                        <a:t>HIGH</a:t>
                      </a:r>
                    </a:p>
                  </a:txBody>
                  <a:tcPr>
                    <a:solidFill>
                      <a:srgbClr val="F5F5F5"/>
                    </a:solidFill>
                  </a:tcPr>
                </a:tc>
                <a:tc>
                  <a:txBody>
                    <a:bodyPr/>
                    <a:lstStyle/>
                    <a:p>
                      <a:pPr>
                        <a:defRPr sz="1000">
                          <a:solidFill>
                            <a:srgbClr val="333333"/>
                          </a:solidFill>
                          <a:latin typeface="Calibri"/>
                        </a:defRPr>
                      </a:pPr>
                      <a:r>
                        <a:t>Repeated function/module calls inside loop (ZDMS_UPLOAD_DOCUMENTS)</a:t>
                      </a:r>
                    </a:p>
                  </a:txBody>
                  <a:tcPr>
                    <a:solidFill>
                      <a:srgbClr val="F5F5F5"/>
                    </a:solidFill>
                  </a:tcPr>
                </a:tc>
                <a:tc>
                  <a:txBody>
                    <a:bodyPr/>
                    <a:lstStyle/>
                    <a:p>
                      <a:pPr>
                        <a:defRPr sz="1000">
                          <a:solidFill>
                            <a:srgbClr val="333333"/>
                          </a:solidFill>
                          <a:latin typeface="Consolas"/>
                        </a:defRPr>
                      </a:pPr>
                      <a:r>
                        <a:t>ZDMS_UPLOAD_FILES_F01:~205</a:t>
                      </a:r>
                    </a:p>
                  </a:txBody>
                  <a:tcPr>
                    <a:solidFill>
                      <a:srgbClr val="F5F5F5"/>
                    </a:solidFill>
                  </a:tcPr>
                </a:tc>
              </a:tr>
            </a:tbl>
          </a:graphicData>
        </a:graphic>
      </p:graphicFrame>
      <p:sp>
        <p:nvSpPr>
          <p:cNvPr id="51" name="TextBox 50"/>
          <p:cNvSpPr txBox="1"/>
          <p:nvPr/>
        </p:nvSpPr>
        <p:spPr>
          <a:xfrm>
            <a:off x="3474720" y="3291839"/>
            <a:ext cx="8412480" cy="274320"/>
          </a:xfrm>
          <a:prstGeom prst="rect">
            <a:avLst/>
          </a:prstGeom>
          <a:noFill/>
        </p:spPr>
        <p:txBody>
          <a:bodyPr wrap="square">
            <a:spAutoFit/>
          </a:bodyPr>
          <a:lstStyle/>
          <a:p>
            <a:pPr>
              <a:defRPr sz="1100" b="1">
                <a:solidFill>
                  <a:srgbClr val="E67E22"/>
                </a:solidFill>
                <a:latin typeface="Calibri"/>
              </a:defRPr>
            </a:pPr>
            <a:r>
              <a:t>Representative · #3 · Repeated function/module calls inside loop (FORMAT_MESSAGE)</a:t>
            </a:r>
          </a:p>
        </p:txBody>
      </p:sp>
      <p:sp>
        <p:nvSpPr>
          <p:cNvPr id="52" name="TextBox 51"/>
          <p:cNvSpPr txBox="1"/>
          <p:nvPr/>
        </p:nvSpPr>
        <p:spPr>
          <a:xfrm>
            <a:off x="3474720" y="3657599"/>
            <a:ext cx="8412480" cy="1097280"/>
          </a:xfrm>
          <a:prstGeom prst="rect">
            <a:avLst/>
          </a:prstGeom>
          <a:solidFill>
            <a:srgbClr val="F5F5F5"/>
          </a:solidFill>
        </p:spPr>
        <p:txBody>
          <a:bodyPr wrap="square">
            <a:spAutoFit/>
          </a:bodyPr>
          <a:lstStyle/>
          <a:p>
            <a:pPr>
              <a:defRPr sz="1000" b="0">
                <a:solidFill>
                  <a:srgbClr val="333333"/>
                </a:solidFill>
                <a:latin typeface="Consolas"/>
              </a:defRPr>
            </a:pPr>
            <a:r>
              <a:t>LOOP AT pt_data ASSIGNING FIELD-SYMBOL(&lt;fs_data&gt;).</a:t>
            </a:r>
          </a:p>
          <a:p>
            <a:pPr>
              <a:defRPr sz="1000" b="0">
                <a:solidFill>
                  <a:srgbClr val="333333"/>
                </a:solidFill>
                <a:latin typeface="Consolas"/>
              </a:defRPr>
            </a:pPr>
            <a:r>
              <a:t>  ...</a:t>
            </a:r>
          </a:p>
          <a:p>
            <a:pPr>
              <a:defRPr sz="1000" b="0">
                <a:solidFill>
                  <a:srgbClr val="333333"/>
                </a:solidFill>
                <a:latin typeface="Consolas"/>
              </a:defRPr>
            </a:pPr>
            <a:r>
              <a:t>  CALL FUNCTION 'FORMAT_MESSAGE'</a:t>
            </a:r>
          </a:p>
          <a:p>
            <a:pPr>
              <a:defRPr sz="1000" b="0">
                <a:solidFill>
                  <a:srgbClr val="333333"/>
                </a:solidFill>
                <a:latin typeface="Consolas"/>
              </a:defRPr>
            </a:pPr>
            <a:r>
              <a:t>    EXPORTING</a:t>
            </a:r>
          </a:p>
        </p:txBody>
      </p:sp>
      <p:sp>
        <p:nvSpPr>
          <p:cNvPr id="53" name="TextBox 52"/>
          <p:cNvSpPr txBox="1"/>
          <p:nvPr/>
        </p:nvSpPr>
        <p:spPr>
          <a:xfrm>
            <a:off x="3474720" y="4983479"/>
            <a:ext cx="8412480" cy="274320"/>
          </a:xfrm>
          <a:prstGeom prst="rect">
            <a:avLst/>
          </a:prstGeom>
          <a:noFill/>
        </p:spPr>
        <p:txBody>
          <a:bodyPr wrap="square">
            <a:spAutoFit/>
          </a:bodyPr>
          <a:lstStyle/>
          <a:p>
            <a:pPr>
              <a:defRPr sz="1100" b="1">
                <a:solidFill>
                  <a:srgbClr val="00B4C8"/>
                </a:solidFill>
                <a:latin typeface="Calibri"/>
              </a:defRPr>
            </a:pPr>
            <a:r>
              <a:t>Recommendation pattern</a:t>
            </a:r>
          </a:p>
        </p:txBody>
      </p:sp>
      <p:sp>
        <p:nvSpPr>
          <p:cNvPr id="54" name="TextBox 53"/>
          <p:cNvSpPr txBox="1"/>
          <p:nvPr/>
        </p:nvSpPr>
        <p:spPr>
          <a:xfrm>
            <a:off x="3474720" y="5349240"/>
            <a:ext cx="8412480" cy="822960"/>
          </a:xfrm>
          <a:prstGeom prst="rect">
            <a:avLst/>
          </a:prstGeom>
          <a:noFill/>
        </p:spPr>
        <p:txBody>
          <a:bodyPr wrap="square">
            <a:spAutoFit/>
          </a:bodyPr>
          <a:lstStyle/>
          <a:p>
            <a:pPr>
              <a:defRPr sz="1000" b="0">
                <a:solidFill>
                  <a:srgbClr val="333333"/>
                </a:solidFill>
                <a:latin typeface="Calibri"/>
              </a:defRPr>
            </a:pPr>
            <a:r>
              <a:t>Hoist repeated function-module calls out of LOOPs; cache results in HASHED tables. Replace SELECT * with explicit field lists; add WHERE on indexed keys. Use BINARY SEARCH or sorted itab for inner lookups.</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Maintainability</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ZDMS_UPLOAD_FILES</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FINDING COUNTS</a:t>
            </a:r>
          </a:p>
          <a:p>
            <a:pPr>
              <a:defRPr sz="1200" b="1">
                <a:solidFill>
                  <a:srgbClr val="161616"/>
                </a:solidFill>
                <a:latin typeface="Calibri"/>
              </a:defRPr>
            </a:pPr>
            <a:r>
              <a:t>Total:</a:t>
            </a:r>
            <a:r>
              <a:rPr sz="1200" b="0">
                <a:solidFill>
                  <a:srgbClr val="333333"/>
                </a:solidFill>
                <a:latin typeface="Calibri"/>
              </a:rPr>
              <a:t> 16</a:t>
            </a:r>
          </a:p>
          <a:p>
            <a:pPr>
              <a:defRPr sz="1200" b="1">
                <a:solidFill>
                  <a:srgbClr val="161616"/>
                </a:solidFill>
                <a:latin typeface="Calibri"/>
              </a:defRPr>
            </a:pPr>
            <a:r>
              <a:t>HIGH:</a:t>
            </a:r>
            <a:r>
              <a:rPr sz="1200" b="0">
                <a:solidFill>
                  <a:srgbClr val="333333"/>
                </a:solidFill>
                <a:latin typeface="Calibri"/>
              </a:rPr>
              <a:t> 0</a:t>
            </a:r>
          </a:p>
          <a:p>
            <a:pPr>
              <a:defRPr sz="1200" b="1">
                <a:solidFill>
                  <a:srgbClr val="161616"/>
                </a:solidFill>
                <a:latin typeface="Calibri"/>
              </a:defRPr>
            </a:pPr>
            <a:r>
              <a:t>MEDIUM:</a:t>
            </a:r>
            <a:r>
              <a:rPr sz="1200" b="0">
                <a:solidFill>
                  <a:srgbClr val="333333"/>
                </a:solidFill>
                <a:latin typeface="Calibri"/>
              </a:rPr>
              <a:t> 0</a:t>
            </a:r>
          </a:p>
          <a:p>
            <a:pPr>
              <a:defRPr sz="1200" b="1">
                <a:solidFill>
                  <a:srgbClr val="161616"/>
                </a:solidFill>
                <a:latin typeface="Calibri"/>
              </a:defRPr>
            </a:pPr>
            <a:r>
              <a:t>LOW:</a:t>
            </a:r>
            <a:r>
              <a:rPr sz="1200" b="0">
                <a:solidFill>
                  <a:srgbClr val="333333"/>
                </a:solidFill>
                <a:latin typeface="Calibri"/>
              </a:rPr>
              <a:t> 16</a:t>
            </a:r>
          </a:p>
          <a:p>
            <a:pPr>
              <a:defRPr sz="1100">
                <a:solidFill>
                  <a:srgbClr val="333333"/>
                </a:solidFill>
                <a:latin typeface="Calibri"/>
              </a:defRPr>
            </a:pPr>
          </a:p>
          <a:p>
            <a:pPr>
              <a:defRPr sz="1100">
                <a:solidFill>
                  <a:srgbClr val="333333"/>
                </a:solidFill>
                <a:latin typeface="Calibri"/>
              </a:defRPr>
            </a:pPr>
            <a:r>
              <a:t>Style debt only.</a:t>
            </a:r>
          </a:p>
          <a:p>
            <a:pPr>
              <a:defRPr sz="1100">
                <a:solidFill>
                  <a:srgbClr val="333333"/>
                </a:solidFill>
                <a:latin typeface="Calibri"/>
              </a:defRPr>
            </a:pPr>
            <a:r>
              <a:t>Defer to refactor.</a:t>
            </a:r>
          </a:p>
        </p:txBody>
      </p:sp>
      <p:graphicFrame>
        <p:nvGraphicFramePr>
          <p:cNvPr id="50" name="Table 49"/>
          <p:cNvGraphicFramePr>
            <a:graphicFrameLocks noGrp="1"/>
          </p:cNvGraphicFramePr>
          <p:nvPr/>
        </p:nvGraphicFramePr>
        <p:xfrm>
          <a:off x="3474720" y="640080"/>
          <a:ext cx="8412480" cy="5486400"/>
        </p:xfrm>
        <a:graphic>
          <a:graphicData uri="http://schemas.openxmlformats.org/drawingml/2006/table">
            <a:tbl>
              <a:tblPr firstRow="1" bandRow="1">
                <a:tableStyleId>{5C22544A-7EE6-4342-B048-85BDC9FD1C3A}</a:tableStyleId>
              </a:tblPr>
              <a:tblGrid>
                <a:gridCol w="365760"/>
                <a:gridCol w="640080"/>
                <a:gridCol w="5029200"/>
                <a:gridCol w="2377440"/>
              </a:tblGrid>
              <a:tr h="365760">
                <a:tc>
                  <a:txBody>
                    <a:bodyPr/>
                    <a:lstStyle/>
                    <a:p>
                      <a:pPr>
                        <a:defRPr sz="1100" b="1">
                          <a:solidFill>
                            <a:srgbClr val="FFFFFF"/>
                          </a:solidFill>
                          <a:latin typeface="Calibri"/>
                        </a:defRPr>
                      </a:pPr>
                      <a:r>
                        <a:t>#</a:t>
                      </a:r>
                    </a:p>
                  </a:txBody>
                  <a:tcPr>
                    <a:solidFill>
                      <a:srgbClr val="161616"/>
                    </a:solidFill>
                  </a:tcPr>
                </a:tc>
                <a:tc>
                  <a:txBody>
                    <a:bodyPr/>
                    <a:lstStyle/>
                    <a:p>
                      <a:pPr>
                        <a:defRPr sz="1100" b="1">
                          <a:solidFill>
                            <a:srgbClr val="FFFFFF"/>
                          </a:solidFill>
                          <a:latin typeface="Calibri"/>
                        </a:defRPr>
                      </a:pPr>
                      <a:r>
                        <a:t>Sev</a:t>
                      </a:r>
                    </a:p>
                  </a:txBody>
                  <a:tcPr>
                    <a:solidFill>
                      <a:srgbClr val="161616"/>
                    </a:solidFill>
                  </a:tcPr>
                </a:tc>
                <a:tc>
                  <a:txBody>
                    <a:bodyPr/>
                    <a:lstStyle/>
                    <a:p>
                      <a:pPr>
                        <a:defRPr sz="1100" b="1">
                          <a:solidFill>
                            <a:srgbClr val="FFFFFF"/>
                          </a:solidFill>
                          <a:latin typeface="Calibri"/>
                        </a:defRPr>
                      </a:pPr>
                      <a:r>
                        <a:t>Finding title</a:t>
                      </a:r>
                    </a:p>
                  </a:txBody>
                  <a:tcPr>
                    <a:solidFill>
                      <a:srgbClr val="161616"/>
                    </a:solidFill>
                  </a:tcPr>
                </a:tc>
                <a:tc>
                  <a:txBody>
                    <a:bodyPr/>
                    <a:lstStyle/>
                    <a:p>
                      <a:pPr>
                        <a:defRPr sz="1100" b="1">
                          <a:solidFill>
                            <a:srgbClr val="FFFFFF"/>
                          </a:solidFill>
                          <a:latin typeface="Calibri"/>
                        </a:defRPr>
                      </a:pPr>
                      <a:r>
                        <a:t>Location</a:t>
                      </a:r>
                    </a:p>
                  </a:txBody>
                  <a:tcPr>
                    <a:solidFill>
                      <a:srgbClr val="161616"/>
                    </a:solidFill>
                  </a:tcPr>
                </a:tc>
              </a:tr>
              <a:tr h="320040">
                <a:tc>
                  <a:txBody>
                    <a:bodyPr/>
                    <a:lstStyle/>
                    <a:p>
                      <a:pPr>
                        <a:defRPr sz="1000">
                          <a:solidFill>
                            <a:srgbClr val="333333"/>
                          </a:solidFill>
                          <a:latin typeface="Calibri"/>
                        </a:defRPr>
                      </a:pPr>
                      <a:r>
                        <a:t>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a:t>
                      </a:r>
                    </a:p>
                  </a:txBody>
                  <a:tcPr>
                    <a:solidFill>
                      <a:srgbClr val="FFFFFF"/>
                    </a:solidFill>
                  </a:tcPr>
                </a:tc>
                <a:tc>
                  <a:txBody>
                    <a:bodyPr/>
                    <a:lstStyle/>
                    <a:p>
                      <a:pPr>
                        <a:defRPr sz="1000">
                          <a:solidFill>
                            <a:srgbClr val="333333"/>
                          </a:solidFill>
                          <a:latin typeface="Consolas"/>
                        </a:defRPr>
                      </a:pPr>
                      <a:r>
                        <a:t>ZDMS_UPLOAD_FILES_F01:33</a:t>
                      </a:r>
                    </a:p>
                  </a:txBody>
                  <a:tcPr>
                    <a:solidFill>
                      <a:srgbClr val="FFFFFF"/>
                    </a:solidFill>
                  </a:tcPr>
                </a:tc>
              </a:tr>
              <a:tr h="320040">
                <a:tc>
                  <a:txBody>
                    <a:bodyPr/>
                    <a:lstStyle/>
                    <a:p>
                      <a:pPr>
                        <a:defRPr sz="1000">
                          <a:solidFill>
                            <a:srgbClr val="333333"/>
                          </a:solidFill>
                          <a:latin typeface="Calibri"/>
                        </a:defRPr>
                      </a:pPr>
                      <a:r>
                        <a:t>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value for “color” control (unclear semantics)</a:t>
                      </a:r>
                    </a:p>
                  </a:txBody>
                  <a:tcPr>
                    <a:solidFill>
                      <a:srgbClr val="F5F5F5"/>
                    </a:solidFill>
                  </a:tcPr>
                </a:tc>
                <a:tc>
                  <a:txBody>
                    <a:bodyPr/>
                    <a:lstStyle/>
                    <a:p>
                      <a:pPr>
                        <a:defRPr sz="1000">
                          <a:solidFill>
                            <a:srgbClr val="333333"/>
                          </a:solidFill>
                          <a:latin typeface="Consolas"/>
                        </a:defRPr>
                      </a:pPr>
                      <a:r>
                        <a:t>ZDMS_UPLOAD_FILES_F01:54</a:t>
                      </a:r>
                    </a:p>
                  </a:txBody>
                  <a:tcPr>
                    <a:solidFill>
                      <a:srgbClr val="F5F5F5"/>
                    </a:solidFill>
                  </a:tcPr>
                </a:tc>
              </a:tr>
              <a:tr h="320040">
                <a:tc>
                  <a:txBody>
                    <a:bodyPr/>
                    <a:lstStyle/>
                    <a:p>
                      <a:pPr>
                        <a:defRPr sz="1000">
                          <a:solidFill>
                            <a:srgbClr val="333333"/>
                          </a:solidFill>
                          <a:latin typeface="Calibri"/>
                        </a:defRPr>
                      </a:pPr>
                      <a:r>
                        <a:t>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Magic literals for color codes</a:t>
                      </a:r>
                    </a:p>
                  </a:txBody>
                  <a:tcPr>
                    <a:solidFill>
                      <a:srgbClr val="FFFFFF"/>
                    </a:solidFill>
                  </a:tcPr>
                </a:tc>
                <a:tc>
                  <a:txBody>
                    <a:bodyPr/>
                    <a:lstStyle/>
                    <a:p>
                      <a:pPr>
                        <a:defRPr sz="1000">
                          <a:solidFill>
                            <a:srgbClr val="333333"/>
                          </a:solidFill>
                          <a:latin typeface="Consolas"/>
                        </a:defRPr>
                      </a:pPr>
                      <a:r>
                        <a:t>ZDMS_UPLOAD_FILES_F01:61</a:t>
                      </a:r>
                    </a:p>
                  </a:txBody>
                  <a:tcPr>
                    <a:solidFill>
                      <a:srgbClr val="FFFFFF"/>
                    </a:solidFill>
                  </a:tcPr>
                </a:tc>
              </a:tr>
              <a:tr h="320040">
                <a:tc>
                  <a:txBody>
                    <a:bodyPr/>
                    <a:lstStyle/>
                    <a:p>
                      <a:pPr>
                        <a:defRPr sz="1000">
                          <a:solidFill>
                            <a:srgbClr val="333333"/>
                          </a:solidFill>
                          <a:latin typeface="Calibri"/>
                        </a:defRPr>
                      </a:pPr>
                      <a:r>
                        <a:t>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Obsolete internal table declaration with HEADER LINE</a:t>
                      </a:r>
                    </a:p>
                  </a:txBody>
                  <a:tcPr>
                    <a:solidFill>
                      <a:srgbClr val="F5F5F5"/>
                    </a:solidFill>
                  </a:tcPr>
                </a:tc>
                <a:tc>
                  <a:txBody>
                    <a:bodyPr/>
                    <a:lstStyle/>
                    <a:p>
                      <a:pPr>
                        <a:defRPr sz="1000">
                          <a:solidFill>
                            <a:srgbClr val="333333"/>
                          </a:solidFill>
                          <a:latin typeface="Consolas"/>
                        </a:defRPr>
                      </a:pPr>
                      <a:r>
                        <a:t>ZDMS_UPLOAD_FILES_F01:332</a:t>
                      </a:r>
                    </a:p>
                  </a:txBody>
                  <a:tcPr>
                    <a:solidFill>
                      <a:srgbClr val="F5F5F5"/>
                    </a:solidFill>
                  </a:tcPr>
                </a:tc>
              </a:tr>
              <a:tr h="320040">
                <a:tc>
                  <a:txBody>
                    <a:bodyPr/>
                    <a:lstStyle/>
                    <a:p>
                      <a:pPr>
                        <a:defRPr sz="1000">
                          <a:solidFill>
                            <a:srgbClr val="333333"/>
                          </a:solidFill>
                          <a:latin typeface="Calibri"/>
                        </a:defRPr>
                      </a:pPr>
                      <a:r>
                        <a:t>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internal table declaration with HEADER LINE (second instance)</a:t>
                      </a:r>
                    </a:p>
                  </a:txBody>
                  <a:tcPr>
                    <a:solidFill>
                      <a:srgbClr val="FFFFFF"/>
                    </a:solidFill>
                  </a:tcPr>
                </a:tc>
                <a:tc>
                  <a:txBody>
                    <a:bodyPr/>
                    <a:lstStyle/>
                    <a:p>
                      <a:pPr>
                        <a:defRPr sz="1000">
                          <a:solidFill>
                            <a:srgbClr val="333333"/>
                          </a:solidFill>
                          <a:latin typeface="Consolas"/>
                        </a:defRPr>
                      </a:pPr>
                      <a:r>
                        <a:t>ZDMS_UPLOAD_FILES_F01:411</a:t>
                      </a:r>
                    </a:p>
                  </a:txBody>
                  <a:tcPr>
                    <a:solidFill>
                      <a:srgbClr val="FFFFFF"/>
                    </a:solidFill>
                  </a:tcPr>
                </a:tc>
              </a:tr>
              <a:tr h="320040">
                <a:tc>
                  <a:txBody>
                    <a:bodyPr/>
                    <a:lstStyle/>
                    <a:p>
                      <a:pPr>
                        <a:defRPr sz="1000">
                          <a:solidFill>
                            <a:srgbClr val="333333"/>
                          </a:solidFill>
                          <a:latin typeface="Calibri"/>
                        </a:defRPr>
                      </a:pPr>
                      <a:r>
                        <a:t>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Commented-out code left in place</a:t>
                      </a:r>
                    </a:p>
                  </a:txBody>
                  <a:tcPr>
                    <a:solidFill>
                      <a:srgbClr val="F5F5F5"/>
                    </a:solidFill>
                  </a:tcPr>
                </a:tc>
                <a:tc>
                  <a:txBody>
                    <a:bodyPr/>
                    <a:lstStyle/>
                    <a:p>
                      <a:pPr>
                        <a:defRPr sz="1000">
                          <a:solidFill>
                            <a:srgbClr val="333333"/>
                          </a:solidFill>
                          <a:latin typeface="Consolas"/>
                        </a:defRPr>
                      </a:pPr>
                      <a:r>
                        <a:t>ZDMS_UPLOAD_FILES_F01:103</a:t>
                      </a:r>
                    </a:p>
                  </a:txBody>
                  <a:tcPr>
                    <a:solidFill>
                      <a:srgbClr val="F5F5F5"/>
                    </a:solidFill>
                  </a:tcPr>
                </a:tc>
              </a:tr>
              <a:tr h="320040">
                <a:tc>
                  <a:txBody>
                    <a:bodyPr/>
                    <a:lstStyle/>
                    <a:p>
                      <a:pPr>
                        <a:defRPr sz="1000">
                          <a:solidFill>
                            <a:srgbClr val="333333"/>
                          </a:solidFill>
                          <a:latin typeface="Calibri"/>
                        </a:defRPr>
                      </a:pPr>
                      <a:r>
                        <a:t>7</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parsing with SPLIT</a:t>
                      </a:r>
                    </a:p>
                  </a:txBody>
                  <a:tcPr>
                    <a:solidFill>
                      <a:srgbClr val="FFFFFF"/>
                    </a:solidFill>
                  </a:tcPr>
                </a:tc>
                <a:tc>
                  <a:txBody>
                    <a:bodyPr/>
                    <a:lstStyle/>
                    <a:p>
                      <a:pPr>
                        <a:defRPr sz="1000">
                          <a:solidFill>
                            <a:srgbClr val="333333"/>
                          </a:solidFill>
                          <a:latin typeface="Consolas"/>
                        </a:defRPr>
                      </a:pPr>
                      <a:r>
                        <a:t>ZDMS_UPLOAD_FILES_F01:137</a:t>
                      </a:r>
                    </a:p>
                  </a:txBody>
                  <a:tcPr>
                    <a:solidFill>
                      <a:srgbClr val="FFFFFF"/>
                    </a:solidFill>
                  </a:tcPr>
                </a:tc>
              </a:tr>
              <a:tr h="320040">
                <a:tc>
                  <a:txBody>
                    <a:bodyPr/>
                    <a:lstStyle/>
                    <a:p>
                      <a:pPr>
                        <a:defRPr sz="1000">
                          <a:solidFill>
                            <a:srgbClr val="333333"/>
                          </a:solidFill>
                          <a:latin typeface="Calibri"/>
                        </a:defRPr>
                      </a:pPr>
                      <a:r>
                        <a:t>8</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Dead code: variable declared but never used</a:t>
                      </a:r>
                    </a:p>
                  </a:txBody>
                  <a:tcPr>
                    <a:solidFill>
                      <a:srgbClr val="F5F5F5"/>
                    </a:solidFill>
                  </a:tcPr>
                </a:tc>
                <a:tc>
                  <a:txBody>
                    <a:bodyPr/>
                    <a:lstStyle/>
                    <a:p>
                      <a:pPr>
                        <a:defRPr sz="1000">
                          <a:solidFill>
                            <a:srgbClr val="333333"/>
                          </a:solidFill>
                          <a:latin typeface="Consolas"/>
                        </a:defRPr>
                      </a:pPr>
                      <a:r>
                        <a:t>ZDMS_UPLOAD_FILES_F01:90</a:t>
                      </a:r>
                    </a:p>
                  </a:txBody>
                  <a:tcPr>
                    <a:solidFill>
                      <a:srgbClr val="F5F5F5"/>
                    </a:solidFill>
                  </a:tcPr>
                </a:tc>
              </a:tr>
              <a:tr h="320040">
                <a:tc>
                  <a:txBody>
                    <a:bodyPr/>
                    <a:lstStyle/>
                    <a:p>
                      <a:pPr>
                        <a:defRPr sz="1000">
                          <a:solidFill>
                            <a:srgbClr val="333333"/>
                          </a:solidFill>
                          <a:latin typeface="Calibri"/>
                        </a:defRPr>
                      </a:pPr>
                      <a:r>
                        <a:t>9</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Mixed inline and explicit DATA declarations in same routine</a:t>
                      </a:r>
                    </a:p>
                  </a:txBody>
                  <a:tcPr>
                    <a:solidFill>
                      <a:srgbClr val="FFFFFF"/>
                    </a:solidFill>
                  </a:tcPr>
                </a:tc>
                <a:tc>
                  <a:txBody>
                    <a:bodyPr/>
                    <a:lstStyle/>
                    <a:p>
                      <a:pPr>
                        <a:defRPr sz="1000">
                          <a:solidFill>
                            <a:srgbClr val="333333"/>
                          </a:solidFill>
                          <a:latin typeface="Consolas"/>
                        </a:defRPr>
                      </a:pPr>
                      <a:r>
                        <a:t>ZDMS_UPLOAD_FILES_F01:237</a:t>
                      </a:r>
                    </a:p>
                  </a:txBody>
                  <a:tcPr>
                    <a:solidFill>
                      <a:srgbClr val="FFFFFF"/>
                    </a:solidFill>
                  </a:tcPr>
                </a:tc>
              </a:tr>
              <a:tr h="320040">
                <a:tc>
                  <a:txBody>
                    <a:bodyPr/>
                    <a:lstStyle/>
                    <a:p>
                      <a:pPr>
                        <a:defRPr sz="1000">
                          <a:solidFill>
                            <a:srgbClr val="333333"/>
                          </a:solidFill>
                          <a:latin typeface="Calibri"/>
                        </a:defRPr>
                      </a:pPr>
                      <a:r>
                        <a:t>10</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literals used for business rules / messages</a:t>
                      </a:r>
                    </a:p>
                  </a:txBody>
                  <a:tcPr>
                    <a:solidFill>
                      <a:srgbClr val="F5F5F5"/>
                    </a:solidFill>
                  </a:tcPr>
                </a:tc>
                <a:tc>
                  <a:txBody>
                    <a:bodyPr/>
                    <a:lstStyle/>
                    <a:p>
                      <a:pPr>
                        <a:defRPr sz="1000">
                          <a:solidFill>
                            <a:srgbClr val="333333"/>
                          </a:solidFill>
                          <a:latin typeface="Consolas"/>
                        </a:defRPr>
                      </a:pPr>
                      <a:r>
                        <a:t>ZDMS_UPLOAD_FILES_F01:171</a:t>
                      </a:r>
                    </a:p>
                  </a:txBody>
                  <a:tcPr>
                    <a:solidFill>
                      <a:srgbClr val="F5F5F5"/>
                    </a:solidFill>
                  </a:tcPr>
                </a:tc>
              </a:tr>
              <a:tr h="320040">
                <a:tc>
                  <a:txBody>
                    <a:bodyPr/>
                    <a:lstStyle/>
                    <a:p>
                      <a:pPr>
                        <a:defRPr sz="1000">
                          <a:solidFill>
                            <a:srgbClr val="333333"/>
                          </a:solidFill>
                          <a:latin typeface="Calibri"/>
                        </a:defRPr>
                      </a:pPr>
                      <a:r>
                        <a:t>11</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(message construction)</a:t>
                      </a:r>
                    </a:p>
                  </a:txBody>
                  <a:tcPr>
                    <a:solidFill>
                      <a:srgbClr val="FFFFFF"/>
                    </a:solidFill>
                  </a:tcPr>
                </a:tc>
                <a:tc>
                  <a:txBody>
                    <a:bodyPr/>
                    <a:lstStyle/>
                    <a:p>
                      <a:pPr>
                        <a:defRPr sz="1000">
                          <a:solidFill>
                            <a:srgbClr val="333333"/>
                          </a:solidFill>
                          <a:latin typeface="Consolas"/>
                        </a:defRPr>
                      </a:pPr>
                      <a:r>
                        <a:t>ZDMS_UPLOAD_FILES_F01:171</a:t>
                      </a:r>
                    </a:p>
                  </a:txBody>
                  <a:tcPr>
                    <a:solidFill>
                      <a:srgbClr val="FFFFFF"/>
                    </a:solidFill>
                  </a:tcPr>
                </a:tc>
              </a:tr>
              <a:tr h="320040">
                <a:tc>
                  <a:txBody>
                    <a:bodyPr/>
                    <a:lstStyle/>
                    <a:p>
                      <a:pPr>
                        <a:defRPr sz="1000">
                          <a:solidFill>
                            <a:srgbClr val="333333"/>
                          </a:solidFill>
                          <a:latin typeface="Calibri"/>
                        </a:defRPr>
                      </a:pPr>
                      <a:r>
                        <a:t>12</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Magic constants for document type</a:t>
                      </a:r>
                    </a:p>
                  </a:txBody>
                  <a:tcPr>
                    <a:solidFill>
                      <a:srgbClr val="F5F5F5"/>
                    </a:solidFill>
                  </a:tcPr>
                </a:tc>
                <a:tc>
                  <a:txBody>
                    <a:bodyPr/>
                    <a:lstStyle/>
                    <a:p>
                      <a:pPr>
                        <a:defRPr sz="1000">
                          <a:solidFill>
                            <a:srgbClr val="333333"/>
                          </a:solidFill>
                          <a:latin typeface="Consolas"/>
                        </a:defRPr>
                      </a:pPr>
                      <a:r>
                        <a:t>ZDMS_UPLOAD_FILES_F01:237</a:t>
                      </a:r>
                    </a:p>
                  </a:txBody>
                  <a:tcPr>
                    <a:solidFill>
                      <a:srgbClr val="F5F5F5"/>
                    </a:solidFill>
                  </a:tcPr>
                </a:tc>
              </a:tr>
              <a:tr h="320040">
                <a:tc>
                  <a:txBody>
                    <a:bodyPr/>
                    <a:lstStyle/>
                    <a:p>
                      <a:pPr>
                        <a:defRPr sz="1000">
                          <a:solidFill>
                            <a:srgbClr val="333333"/>
                          </a:solidFill>
                          <a:latin typeface="Calibri"/>
                        </a:defRPr>
                      </a:pPr>
                      <a:r>
                        <a:t>13</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Commented-out ENDIF left behind</a:t>
                      </a:r>
                    </a:p>
                  </a:txBody>
                  <a:tcPr>
                    <a:solidFill>
                      <a:srgbClr val="FFFFFF"/>
                    </a:solidFill>
                  </a:tcPr>
                </a:tc>
                <a:tc>
                  <a:txBody>
                    <a:bodyPr/>
                    <a:lstStyle/>
                    <a:p>
                      <a:pPr>
                        <a:defRPr sz="1000">
                          <a:solidFill>
                            <a:srgbClr val="333333"/>
                          </a:solidFill>
                          <a:latin typeface="Consolas"/>
                        </a:defRPr>
                      </a:pPr>
                      <a:r>
                        <a:t>ZDMS_UPLOAD_FILES_F01:192</a:t>
                      </a:r>
                    </a:p>
                  </a:txBody>
                  <a:tcPr>
                    <a:solidFill>
                      <a:srgbClr val="FFFFFF"/>
                    </a:solidFill>
                  </a:tcPr>
                </a:tc>
              </a:tr>
              <a:tr h="320040">
                <a:tc>
                  <a:txBody>
                    <a:bodyPr/>
                    <a:lstStyle/>
                    <a:p>
                      <a:pPr>
                        <a:defRPr sz="1000">
                          <a:solidFill>
                            <a:srgbClr val="333333"/>
                          </a:solidFill>
                          <a:latin typeface="Calibri"/>
                        </a:defRPr>
                      </a:pPr>
                      <a:r>
                        <a:t>14</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Hard-coded “allowed characters” string (magic literal)</a:t>
                      </a:r>
                    </a:p>
                  </a:txBody>
                  <a:tcPr>
                    <a:solidFill>
                      <a:srgbClr val="F5F5F5"/>
                    </a:solidFill>
                  </a:tcPr>
                </a:tc>
                <a:tc>
                  <a:txBody>
                    <a:bodyPr/>
                    <a:lstStyle/>
                    <a:p>
                      <a:pPr>
                        <a:defRPr sz="1000">
                          <a:solidFill>
                            <a:srgbClr val="333333"/>
                          </a:solidFill>
                          <a:latin typeface="Consolas"/>
                        </a:defRPr>
                      </a:pPr>
                      <a:r>
                        <a:t>ZDMS_UPLOAD_FILES_F01:260</a:t>
                      </a:r>
                    </a:p>
                  </a:txBody>
                  <a:tcPr>
                    <a:solidFill>
                      <a:srgbClr val="F5F5F5"/>
                    </a:solidFill>
                  </a:tcPr>
                </a:tc>
              </a:tr>
              <a:tr h="320040">
                <a:tc>
                  <a:txBody>
                    <a:bodyPr/>
                    <a:lstStyle/>
                    <a:p>
                      <a:pPr>
                        <a:defRPr sz="1000">
                          <a:solidFill>
                            <a:srgbClr val="333333"/>
                          </a:solidFill>
                          <a:latin typeface="Calibri"/>
                        </a:defRPr>
                      </a:pPr>
                      <a:r>
                        <a:t>15</a:t>
                      </a:r>
                    </a:p>
                  </a:txBody>
                  <a:tcPr>
                    <a:solidFill>
                      <a:srgbClr val="FFFFFF"/>
                    </a:solidFill>
                  </a:tcPr>
                </a:tc>
                <a:tc>
                  <a:txBody>
                    <a:bodyPr/>
                    <a:lstStyle/>
                    <a:p>
                      <a:pPr>
                        <a:defRPr sz="1000" b="1">
                          <a:solidFill>
                            <a:srgbClr val="707070"/>
                          </a:solidFill>
                          <a:latin typeface="Calibri"/>
                        </a:defRPr>
                      </a:pPr>
                      <a:r>
                        <a:t>LOW</a:t>
                      </a:r>
                    </a:p>
                  </a:txBody>
                  <a:tcPr>
                    <a:solidFill>
                      <a:srgbClr val="FFFFFF"/>
                    </a:solidFill>
                  </a:tcPr>
                </a:tc>
                <a:tc>
                  <a:txBody>
                    <a:bodyPr/>
                    <a:lstStyle/>
                    <a:p>
                      <a:pPr>
                        <a:defRPr sz="1000">
                          <a:solidFill>
                            <a:srgbClr val="333333"/>
                          </a:solidFill>
                          <a:latin typeface="Calibri"/>
                        </a:defRPr>
                      </a:pPr>
                      <a:r>
                        <a:t>Obsolete string building with CONCATENATE (path construction)</a:t>
                      </a:r>
                    </a:p>
                  </a:txBody>
                  <a:tcPr>
                    <a:solidFill>
                      <a:srgbClr val="FFFFFF"/>
                    </a:solidFill>
                  </a:tcPr>
                </a:tc>
                <a:tc>
                  <a:txBody>
                    <a:bodyPr/>
                    <a:lstStyle/>
                    <a:p>
                      <a:pPr>
                        <a:defRPr sz="1000">
                          <a:solidFill>
                            <a:srgbClr val="333333"/>
                          </a:solidFill>
                          <a:latin typeface="Consolas"/>
                        </a:defRPr>
                      </a:pPr>
                      <a:r>
                        <a:t>ZDMS_UPLOAD_FILES_F01:509</a:t>
                      </a:r>
                    </a:p>
                  </a:txBody>
                  <a:tcPr>
                    <a:solidFill>
                      <a:srgbClr val="FFFFFF"/>
                    </a:solidFill>
                  </a:tcPr>
                </a:tc>
              </a:tr>
              <a:tr h="320040">
                <a:tc>
                  <a:txBody>
                    <a:bodyPr/>
                    <a:lstStyle/>
                    <a:p>
                      <a:pPr>
                        <a:defRPr sz="1000">
                          <a:solidFill>
                            <a:srgbClr val="333333"/>
                          </a:solidFill>
                          <a:latin typeface="Calibri"/>
                        </a:defRPr>
                      </a:pPr>
                      <a:r>
                        <a:t>16</a:t>
                      </a:r>
                    </a:p>
                  </a:txBody>
                  <a:tcPr>
                    <a:solidFill>
                      <a:srgbClr val="F5F5F5"/>
                    </a:solidFill>
                  </a:tcPr>
                </a:tc>
                <a:tc>
                  <a:txBody>
                    <a:bodyPr/>
                    <a:lstStyle/>
                    <a:p>
                      <a:pPr>
                        <a:defRPr sz="1000" b="1">
                          <a:solidFill>
                            <a:srgbClr val="707070"/>
                          </a:solidFill>
                          <a:latin typeface="Calibri"/>
                        </a:defRPr>
                      </a:pPr>
                      <a:r>
                        <a:t>LOW</a:t>
                      </a:r>
                    </a:p>
                  </a:txBody>
                  <a:tcPr>
                    <a:solidFill>
                      <a:srgbClr val="F5F5F5"/>
                    </a:solidFill>
                  </a:tcPr>
                </a:tc>
                <a:tc>
                  <a:txBody>
                    <a:bodyPr/>
                    <a:lstStyle/>
                    <a:p>
                      <a:pPr>
                        <a:defRPr sz="1000">
                          <a:solidFill>
                            <a:srgbClr val="333333"/>
                          </a:solidFill>
                          <a:latin typeface="Calibri"/>
                        </a:defRPr>
                      </a:pPr>
                      <a:r>
                        <a:t>Missing typing for FORM parameters (implicit ANY)</a:t>
                      </a:r>
                    </a:p>
                  </a:txBody>
                  <a:tcPr>
                    <a:solidFill>
                      <a:srgbClr val="F5F5F5"/>
                    </a:solidFill>
                  </a:tcPr>
                </a:tc>
                <a:tc>
                  <a:txBody>
                    <a:bodyPr/>
                    <a:lstStyle/>
                    <a:p>
                      <a:pPr>
                        <a:defRPr sz="1000">
                          <a:solidFill>
                            <a:srgbClr val="333333"/>
                          </a:solidFill>
                          <a:latin typeface="Consolas"/>
                        </a:defRPr>
                      </a:pPr>
                      <a:r>
                        <a:t>ZDMS_UPLOAD_FILES_F01:579</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Method &amp; Cost</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sp>
        <p:nvSpPr>
          <p:cNvPr id="7" name="Rectangle 6"/>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40501249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Method</a:t>
            </a: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ZDMS_UPLOAD_FILES</a:t>
            </a:r>
            <a:endParaRPr lang="en-US" sz="1000" dirty="0"/>
          </a:p>
        </p:txBody>
      </p:sp>
      <p:sp>
        <p:nvSpPr>
          <p:cNvPr id="9" name="TextBox 8"/>
          <p:cNvSpPr txBox="1"/>
          <p:nvPr/>
        </p:nvSpPr>
        <p:spPr>
          <a:xfrm>
            <a:off x="3474720" y="731520"/>
            <a:ext cx="8412480" cy="5486400"/>
          </a:xfrm>
          <a:prstGeom prst="rect">
            <a:avLst/>
          </a:prstGeom>
          <a:noFill/>
        </p:spPr>
        <p:txBody>
          <a:bodyPr wrap="square">
            <a:spAutoFit/>
          </a:bodyPr>
          <a:lstStyle/>
          <a:p>
            <a:pPr>
              <a:defRPr sz="1200">
                <a:solidFill>
                  <a:srgbClr val="FFFFFF"/>
                </a:solidFill>
                <a:latin typeface="Calibri"/>
              </a:defRPr>
            </a:pPr>
            <a:r>
              <a:t>Tutorial: docs/tutorials/code-review/  (6 skill files + worked example)</a:t>
            </a:r>
          </a:p>
          <a:p>
            <a:pPr>
              <a:defRPr sz="1200">
                <a:solidFill>
                  <a:srgbClr val="FFFFFF"/>
                </a:solidFill>
                <a:latin typeface="Calibri"/>
              </a:defRPr>
            </a:pPr>
          </a:p>
          <a:p>
            <a:pPr>
              <a:defRPr sz="1200">
                <a:solidFill>
                  <a:srgbClr val="FFFFFF"/>
                </a:solidFill>
                <a:latin typeface="Calibri"/>
              </a:defRPr>
            </a:pPr>
            <a:r>
              <a:t>Pipeline:</a:t>
            </a:r>
          </a:p>
          <a:p>
            <a:pPr>
              <a:defRPr sz="1200">
                <a:solidFill>
                  <a:srgbClr val="FFFFFF"/>
                </a:solidFill>
                <a:latin typeface="Calibri"/>
              </a:defRPr>
            </a:pPr>
            <a:r>
              <a:t>    Stage 1 — Formalize target (object, scope, severity scale)</a:t>
            </a:r>
          </a:p>
          <a:p>
            <a:pPr>
              <a:defRPr sz="1200">
                <a:solidFill>
                  <a:srgbClr val="FFFFFF"/>
                </a:solidFill>
                <a:latin typeface="Calibri"/>
              </a:defRPr>
            </a:pPr>
            <a:r>
              <a:t>    Stages 2-5 — Independent checks: Security / Performance / CleanCore / Maintainability  (parallel)</a:t>
            </a:r>
          </a:p>
          <a:p>
            <a:pPr>
              <a:defRPr sz="1200">
                <a:solidFill>
                  <a:srgbClr val="FFFFFF"/>
                </a:solidFill>
                <a:latin typeface="Calibri"/>
              </a:defRPr>
            </a:pPr>
            <a:r>
              <a:t>    Stage 6 — Aggregate findings with severity ranking and verdict</a:t>
            </a:r>
          </a:p>
          <a:p>
            <a:pPr>
              <a:defRPr sz="1200">
                <a:solidFill>
                  <a:srgbClr val="FFFFFF"/>
                </a:solidFill>
                <a:latin typeface="Calibri"/>
              </a:defRPr>
            </a:pPr>
          </a:p>
          <a:p>
            <a:pPr>
              <a:defRPr sz="1200">
                <a:solidFill>
                  <a:srgbClr val="FFFFFF"/>
                </a:solidFill>
                <a:latin typeface="Calibri"/>
              </a:defRPr>
            </a:pPr>
            <a:r>
              <a:t>Wall-clock end-to-end: ~5 minutes.</a:t>
            </a:r>
          </a:p>
          <a:p>
            <a:pPr>
              <a:defRPr sz="1200">
                <a:solidFill>
                  <a:srgbClr val="FFFFFF"/>
                </a:solidFill>
                <a:latin typeface="Calibri"/>
              </a:defRPr>
            </a:pPr>
          </a:p>
          <a:p>
            <a:pPr>
              <a:defRPr sz="1200">
                <a:solidFill>
                  <a:srgbClr val="FFFFFF"/>
                </a:solidFill>
                <a:latin typeface="Calibri"/>
              </a:defRPr>
            </a:pPr>
            <a:r>
              <a:t>Token cost — two layers (code-review share = 30% of combined session):</a:t>
            </a:r>
          </a:p>
          <a:p>
            <a:pPr>
              <a:defRPr sz="1200">
                <a:solidFill>
                  <a:srgbClr val="FFFFFF"/>
                </a:solidFill>
                <a:latin typeface="Calibri"/>
              </a:defRPr>
            </a:pPr>
            <a:r>
              <a:t>    Executor (cloud-llm-hub, gpt-5.2 + embedder):  ~381,000 tokens across 90 requests.</a:t>
            </a:r>
          </a:p>
          <a:p>
            <a:pPr>
              <a:defRPr sz="1200">
                <a:solidFill>
                  <a:srgbClr val="FFFFFF"/>
                </a:solidFill>
                <a:latin typeface="Calibri"/>
              </a:defRPr>
            </a:pPr>
            <a:r>
              <a:t>    Controller (Claude Opus 4.7, this CLI session):  ~155,000 output + ~5.3k input + ~42M cache-read tokens — ≈ $28 of $94.53 combined session.</a:t>
            </a:r>
          </a:p>
          <a:p>
            <a:pPr>
              <a:defRPr sz="1200">
                <a:solidFill>
                  <a:srgbClr val="FFFFFF"/>
                </a:solidFill>
                <a:latin typeface="Calibri"/>
              </a:defRPr>
            </a:pPr>
          </a:p>
          <a:p>
            <a:pPr>
              <a:defRPr sz="1200">
                <a:solidFill>
                  <a:srgbClr val="FFFFFF"/>
                </a:solidFill>
                <a:latin typeface="Calibri"/>
              </a:defRPr>
            </a:pPr>
            <a:r>
              <a:t>Comparable manual review estimate: 1-2 hours per category × 4 = 4-8 hours by senior ABAP reviewer.</a:t>
            </a:r>
          </a:p>
        </p:txBody>
      </p:sp>
      <p:sp>
        <p:nvSpPr>
          <p:cNvPr id="10" name="Rectangle 9"/>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994579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under docs/tutorials/code-review/ — replay or apply to other ABAP objects.</a:t>
            </a:r>
          </a:p>
        </p:txBody>
      </p:sp>
      <p:sp>
        <p:nvSpPr>
          <p:cNvPr id="13" name="Rectangle 12"/>
          <p:cNvSpPr/>
          <p:nvPr/>
        </p:nvSpPr>
        <p:spPr>
          <a:xfrm>
            <a:off x="9601200" y="5394960"/>
            <a:ext cx="2286000" cy="8229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058400" y="0"/>
            <a:ext cx="2194560" cy="5486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3107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258F7F3E-C1F2-EEE7-E736-965875D70CED}"/>
              </a:ext>
            </a:extLst>
          </p:cNvPr>
          <p:cNvPicPr>
            <a:picLocks noGrp="1" noChangeAspect="1"/>
          </p:cNvPicPr>
          <p:nvPr>
            <p:ph type="pic" sz="quarter" idx="24"/>
          </p:nvPr>
        </p:nvPicPr>
        <p:blipFill>
          <a:blip r:embed="rId3"/>
          <a:srcRect l="2238" r="2238"/>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63FAB504-5A41-EC72-77ED-1FC746DB9611}"/>
              </a:ext>
            </a:extLst>
          </p:cNvPr>
          <p:cNvSpPr>
            <a:spLocks noGrp="1"/>
          </p:cNvSpPr>
          <p:nvPr>
            <p:ph type="title"/>
          </p:nvPr>
        </p:nvSpPr>
        <p:spPr>
          <a:xfrm>
            <a:off x="633632" y="665116"/>
            <a:ext cx="4015014" cy="442462"/>
          </a:xfrm>
        </p:spPr>
        <p:txBody>
          <a:bodyPr lIns="0" tIns="0" rIns="0" bIns="0" anchor="t">
            <a:noAutofit/>
          </a:bodyPr>
          <a:lstStyle/>
          <a:p>
            <a:r>
              <a:rPr lang="en-US" sz="2800">
                <a:latin typeface="Calibri Light"/>
                <a:ea typeface="Calibri"/>
                <a:cs typeface="Calibri"/>
              </a:rPr>
              <a:t>Option 2 — Medartis BTP</a:t>
            </a:r>
          </a:p>
        </p:txBody>
      </p:sp>
      <p:sp>
        <p:nvSpPr>
          <p:cNvPr id="11" name="Text Placeholder 3">
            <a:extLst>
              <a:ext uri="{FF2B5EF4-FFF2-40B4-BE49-F238E27FC236}">
                <a16:creationId xmlns:a16="http://schemas.microsoft.com/office/drawing/2014/main" id="{F1565FB2-7436-1BDA-6D48-0EFFB08D7612}"/>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2" name="TextBox 6">
            <a:extLst>
              <a:ext uri="{FF2B5EF4-FFF2-40B4-BE49-F238E27FC236}">
                <a16:creationId xmlns:a16="http://schemas.microsoft.com/office/drawing/2014/main" id="{43388088-A2E4-5C34-B997-46BA1FC9F7D5}"/>
              </a:ext>
            </a:extLst>
          </p:cNvPr>
          <p:cNvSpPr txBox="1"/>
          <p:nvPr/>
        </p:nvSpPr>
        <p:spPr>
          <a:xfrm>
            <a:off x="1473041" y="1555054"/>
            <a:ext cx="3144345" cy="3816429"/>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Cloud‑LLM‑Hub deployed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ea typeface="Segoe UI"/>
                <a:cs typeface="Segoe UI"/>
              </a:rPr>
              <a:t>Vector DB also stored in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cloud environment</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Direct On‑Prem ABAP access via </a:t>
            </a:r>
            <a:r>
              <a:rPr lang="en-US" sz="1100" b="1" dirty="0">
                <a:solidFill>
                  <a:schemeClr val="bg1"/>
                </a:solidFill>
                <a:latin typeface="Segoe UI"/>
                <a:ea typeface="Segoe UI"/>
                <a:cs typeface="Segoe UI"/>
              </a:rPr>
              <a:t>local Cloud Connector</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LLM provider accessed from within customer’s BTP</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Full control remains within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All AI components inside customer security perimeter</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Simplified compliance and data governance</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Limited scalability due to customer BTP capacity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Additional operational load on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teams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Less flexibility for large workloads</a:t>
            </a:r>
            <a:endParaRPr lang="en-US" dirty="0">
              <a:solidFill>
                <a:schemeClr val="bg1"/>
              </a:solidFill>
              <a:ea typeface="Calibri"/>
              <a:cs typeface="Calibri"/>
            </a:endParaRPr>
          </a:p>
          <a:p>
            <a:endParaRPr lang="en-US" b="1" dirty="0">
              <a:solidFill>
                <a:schemeClr val="bg1"/>
              </a:solidFill>
              <a:latin typeface="Calibri"/>
              <a:ea typeface="Calibri"/>
              <a:cs typeface="Calibri"/>
            </a:endParaRPr>
          </a:p>
        </p:txBody>
      </p:sp>
    </p:spTree>
    <p:extLst>
      <p:ext uri="{BB962C8B-B14F-4D97-AF65-F5344CB8AC3E}">
        <p14:creationId xmlns:p14="http://schemas.microsoft.com/office/powerpoint/2010/main" val="16727572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Q&amp;A and Next Steps</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pic>
        <p:nvPicPr>
          <p:cNvPr id="6" name="Picture 2" descr="News - Page 2 of 13 :: medartis AG">
            <a:extLst>
              <a:ext uri="{FF2B5EF4-FFF2-40B4-BE49-F238E27FC236}">
                <a16:creationId xmlns:a16="http://schemas.microsoft.com/office/drawing/2014/main" id="{2E99A7B8-6432-0314-769C-21ABC43859E6}"/>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Premium Photo | Question mark background and dark space or room.Concept ...">
            <a:extLst>
              <a:ext uri="{FF2B5EF4-FFF2-40B4-BE49-F238E27FC236}">
                <a16:creationId xmlns:a16="http://schemas.microsoft.com/office/drawing/2014/main" id="{ACC993C1-9B60-44BE-3E24-43F4B2C9B91B}"/>
              </a:ext>
            </a:extLst>
          </p:cNvPr>
          <p:cNvPicPr>
            <a:picLocks noChangeAspect="1"/>
          </p:cNvPicPr>
          <p:nvPr/>
        </p:nvPicPr>
        <p:blipFill>
          <a:blip r:embed="rId4">
            <a:alphaModFix amt="59000"/>
          </a:blip>
          <a:stretch>
            <a:fillRect/>
          </a:stretch>
        </p:blipFill>
        <p:spPr>
          <a:xfrm>
            <a:off x="5188607" y="1466543"/>
            <a:ext cx="4792716" cy="2882637"/>
          </a:xfrm>
          <a:prstGeom prst="roundRect">
            <a:avLst/>
          </a:prstGeom>
          <a:effectLst>
            <a:reflection stA="52000" endPos="35000" dir="5400000" sy="-100000" algn="bl" rotWithShape="0"/>
          </a:effectLst>
        </p:spPr>
      </p:pic>
    </p:spTree>
    <p:extLst>
      <p:ext uri="{BB962C8B-B14F-4D97-AF65-F5344CB8AC3E}">
        <p14:creationId xmlns:p14="http://schemas.microsoft.com/office/powerpoint/2010/main" val="13675213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