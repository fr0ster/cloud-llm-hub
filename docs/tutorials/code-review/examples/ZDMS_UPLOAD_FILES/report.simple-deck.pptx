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4.xml.rels" ContentType="application/vnd.openxmlformats-package.relationships+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customXml/item4.xml" ContentType="application/xml"/>
  <Override PartName="/customXml/itemProps4.xml" ContentType="application/vnd.openxmlformats-officedocument.customXmlProperties+xml"/>
  <Override PartName="/ppt/webextensions/taskpanes.xml" ContentType="application/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wmf" ContentType="image/x-wmf"/>
  <Override PartName="/ppt/media/image4.png" ContentType="image/png"/>
  <Override PartName="/ppt/media/image5.png" ContentType="image/png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customXml" Target="../customXml/item4.xml"/><Relationship Id="rId8" Type="http://schemas.microsoft.com/office/2011/relationships/webextensiontaskpanes" Target="ppt/webextensions/taskpanes.xml"/><Relationship Id="rId9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wmf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1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2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6792F9DC-4047-411A-976D-81170533C749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pic>
        <p:nvPicPr>
          <p:cNvPr id="3" name="Picture 3" descr="A bright light in the dark&#10;&#10;Description automatically generated with medium confidence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468720" y="4663440"/>
            <a:ext cx="64893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Sub-description text goes here over </a:t>
            </a: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one or two lines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68720" y="5245560"/>
            <a:ext cx="64893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398" strike="noStrike">
                <a:solidFill>
                  <a:srgbClr val="ffffff"/>
                </a:solidFill>
                <a:latin typeface="Calibri"/>
                <a:ea typeface="Calibri"/>
              </a:rPr>
              <a:t>JANUARY 2023</a:t>
            </a:r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466200" y="1696320"/>
            <a:ext cx="7843320" cy="365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Click to edit Master title style</a:t>
            </a:r>
            <a:endParaRPr b="0" lang="en-US" sz="80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7" name="Picture 7" descr=""/>
          <p:cNvPicPr/>
          <p:nvPr/>
        </p:nvPicPr>
        <p:blipFill>
          <a:blip r:embed="rId4"/>
          <a:stretch/>
        </p:blipFill>
        <p:spPr>
          <a:xfrm>
            <a:off x="485280" y="740880"/>
            <a:ext cx="1226520" cy="4507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45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46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71FB60E8-3010-43FE-9BA0-D3C6FA05BADD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67280" y="1190880"/>
            <a:ext cx="3024360" cy="182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3055da"/>
                </a:solidFill>
                <a:latin typeface="Calibri"/>
                <a:ea typeface="Calibri"/>
              </a:rPr>
              <a:t>Contents</a:t>
            </a:r>
            <a:endParaRPr b="0" lang="en-US" sz="6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324320" y="152136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324320" y="221436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324320" y="289728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324320" y="359028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4324320" y="427320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body"/>
          </p:nvPr>
        </p:nvSpPr>
        <p:spPr>
          <a:xfrm>
            <a:off x="4324320" y="495612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body"/>
          </p:nvPr>
        </p:nvSpPr>
        <p:spPr>
          <a:xfrm>
            <a:off x="5056560" y="152136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tio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hea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der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her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9"/>
          <p:cNvSpPr>
            <a:spLocks noGrp="1"/>
          </p:cNvSpPr>
          <p:nvPr>
            <p:ph type="body"/>
          </p:nvPr>
        </p:nvSpPr>
        <p:spPr>
          <a:xfrm>
            <a:off x="5056560" y="221436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tio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hea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der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her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10"/>
          <p:cNvSpPr>
            <a:spLocks noGrp="1"/>
          </p:cNvSpPr>
          <p:nvPr>
            <p:ph type="body"/>
          </p:nvPr>
        </p:nvSpPr>
        <p:spPr>
          <a:xfrm>
            <a:off x="5056560" y="289728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tio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hea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der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her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11"/>
          <p:cNvSpPr>
            <a:spLocks noGrp="1"/>
          </p:cNvSpPr>
          <p:nvPr>
            <p:ph type="body"/>
          </p:nvPr>
        </p:nvSpPr>
        <p:spPr>
          <a:xfrm>
            <a:off x="5056560" y="359028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12"/>
          <p:cNvSpPr>
            <a:spLocks noGrp="1"/>
          </p:cNvSpPr>
          <p:nvPr>
            <p:ph type="body"/>
          </p:nvPr>
        </p:nvSpPr>
        <p:spPr>
          <a:xfrm>
            <a:off x="5056560" y="427320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13"/>
          <p:cNvSpPr>
            <a:spLocks noGrp="1"/>
          </p:cNvSpPr>
          <p:nvPr>
            <p:ph type="body"/>
          </p:nvPr>
        </p:nvSpPr>
        <p:spPr>
          <a:xfrm>
            <a:off x="5056560" y="495612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97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98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8DF71DA7-964A-4627-A9D4-B5D904F6FF95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Click to edit Master title style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Click to add section title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/>
          </p:nvPr>
        </p:nvSpPr>
        <p:spPr>
          <a:xfrm>
            <a:off x="468720" y="4663440"/>
            <a:ext cx="6489360" cy="2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Code review · findings by category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68720" y="5245560"/>
            <a:ext cx="648936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1" lang="en-US" sz="1200" spc="398" strike="noStrike">
                <a:solidFill>
                  <a:srgbClr val="ffffff"/>
                </a:solidFill>
                <a:latin typeface="Calibri"/>
                <a:ea typeface="Calibri"/>
              </a:rPr>
              <a:t>M A Y  2 0 2 6</a:t>
            </a:r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title"/>
          </p:nvPr>
        </p:nvSpPr>
        <p:spPr>
          <a:xfrm>
            <a:off x="466200" y="1696320"/>
            <a:ext cx="7843320" cy="246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ZDMS_UPLOAD_FILES</a:t>
            </a:r>
            <a:endParaRPr b="0" lang="en-US" sz="8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67280" y="1190880"/>
            <a:ext cx="3024360" cy="92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Contents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4324320" y="152136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4324320" y="221436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/>
          </p:nvPr>
        </p:nvSpPr>
        <p:spPr>
          <a:xfrm>
            <a:off x="4324320" y="289728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/>
          </p:nvPr>
        </p:nvSpPr>
        <p:spPr>
          <a:xfrm>
            <a:off x="4324320" y="359028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5" name="PlaceHolder 6"/>
          <p:cNvSpPr>
            <a:spLocks noGrp="1"/>
          </p:cNvSpPr>
          <p:nvPr>
            <p:ph/>
          </p:nvPr>
        </p:nvSpPr>
        <p:spPr>
          <a:xfrm>
            <a:off x="4324320" y="427320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7"/>
          <p:cNvSpPr>
            <a:spLocks noGrp="1"/>
          </p:cNvSpPr>
          <p:nvPr>
            <p:ph/>
          </p:nvPr>
        </p:nvSpPr>
        <p:spPr>
          <a:xfrm>
            <a:off x="4324320" y="495612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8"/>
          <p:cNvSpPr>
            <a:spLocks noGrp="1"/>
          </p:cNvSpPr>
          <p:nvPr>
            <p:ph/>
          </p:nvPr>
        </p:nvSpPr>
        <p:spPr>
          <a:xfrm>
            <a:off x="5056560" y="152136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Snapshot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8" name="PlaceHolder 9"/>
          <p:cNvSpPr>
            <a:spLocks noGrp="1"/>
          </p:cNvSpPr>
          <p:nvPr>
            <p:ph/>
          </p:nvPr>
        </p:nvSpPr>
        <p:spPr>
          <a:xfrm>
            <a:off x="5056560" y="221436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Security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10"/>
          <p:cNvSpPr>
            <a:spLocks noGrp="1"/>
          </p:cNvSpPr>
          <p:nvPr>
            <p:ph/>
          </p:nvPr>
        </p:nvSpPr>
        <p:spPr>
          <a:xfrm>
            <a:off x="5056560" y="289728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Performance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0" name="PlaceHolder 11"/>
          <p:cNvSpPr>
            <a:spLocks noGrp="1"/>
          </p:cNvSpPr>
          <p:nvPr>
            <p:ph/>
          </p:nvPr>
        </p:nvSpPr>
        <p:spPr>
          <a:xfrm>
            <a:off x="5056560" y="359028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Clean Core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1" name="PlaceHolder 12"/>
          <p:cNvSpPr>
            <a:spLocks noGrp="1"/>
          </p:cNvSpPr>
          <p:nvPr>
            <p:ph/>
          </p:nvPr>
        </p:nvSpPr>
        <p:spPr>
          <a:xfrm>
            <a:off x="5056560" y="427320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Maintainability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13"/>
          <p:cNvSpPr>
            <a:spLocks noGrp="1"/>
          </p:cNvSpPr>
          <p:nvPr>
            <p:ph/>
          </p:nvPr>
        </p:nvSpPr>
        <p:spPr>
          <a:xfrm>
            <a:off x="5056560" y="495612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Priorities &amp; retro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Severity snapshot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0C · 10H · 3M · 17L · 6 MIN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c_1_BlockGrid:0:c_1_Block:container"/>
          <p:cNvSpPr/>
          <p:nvPr/>
        </p:nvSpPr>
        <p:spPr>
          <a:xfrm>
            <a:off x="45720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c_1_BlockGrid:0:c_1_Block:metric"/>
          <p:cNvSpPr/>
          <p:nvPr/>
        </p:nvSpPr>
        <p:spPr>
          <a:xfrm>
            <a:off x="1402920" y="1600200"/>
            <a:ext cx="2480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e80202"/>
                </a:solidFill>
                <a:latin typeface="Calibri"/>
              </a:rPr>
              <a:t>0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8" name="c_1_BlockGrid:0:c_1_Block:content"/>
          <p:cNvSpPr/>
          <p:nvPr/>
        </p:nvSpPr>
        <p:spPr>
          <a:xfrm>
            <a:off x="640080" y="2077560"/>
            <a:ext cx="177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CRITICAL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9" name="c_1_BlockGrid:1:c_2_Block:container"/>
          <p:cNvSpPr/>
          <p:nvPr/>
        </p:nvSpPr>
        <p:spPr>
          <a:xfrm>
            <a:off x="268848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c_1_BlockGrid:1:c_2_Block:metric"/>
          <p:cNvSpPr/>
          <p:nvPr/>
        </p:nvSpPr>
        <p:spPr>
          <a:xfrm>
            <a:off x="3510720" y="1600200"/>
            <a:ext cx="4950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e06c00"/>
                </a:solidFill>
                <a:latin typeface="Calibri"/>
              </a:rPr>
              <a:t>10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1" name="c_1_BlockGrid:1:c_2_Block:content"/>
          <p:cNvSpPr/>
          <p:nvPr/>
        </p:nvSpPr>
        <p:spPr>
          <a:xfrm>
            <a:off x="2871360" y="2077560"/>
            <a:ext cx="177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HIGH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2" name="c_1_BlockGrid:2:c_3_Block:container"/>
          <p:cNvSpPr/>
          <p:nvPr/>
        </p:nvSpPr>
        <p:spPr>
          <a:xfrm>
            <a:off x="491940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c_1_BlockGrid:2:c_3_Block:metric"/>
          <p:cNvSpPr/>
          <p:nvPr/>
        </p:nvSpPr>
        <p:spPr>
          <a:xfrm>
            <a:off x="5865120" y="1600200"/>
            <a:ext cx="2480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07e8d"/>
                </a:solidFill>
                <a:latin typeface="Calibri"/>
              </a:rPr>
              <a:t>3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4" name="c_1_BlockGrid:2:c_3_Block:content"/>
          <p:cNvSpPr/>
          <p:nvPr/>
        </p:nvSpPr>
        <p:spPr>
          <a:xfrm>
            <a:off x="5102280" y="2077560"/>
            <a:ext cx="177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MEDIUM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5" name="c_1_BlockGrid:3:c_4_Block:container"/>
          <p:cNvSpPr/>
          <p:nvPr/>
        </p:nvSpPr>
        <p:spPr>
          <a:xfrm>
            <a:off x="715068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c_1_BlockGrid:3:c_4_Block:metric"/>
          <p:cNvSpPr/>
          <p:nvPr/>
        </p:nvSpPr>
        <p:spPr>
          <a:xfrm>
            <a:off x="7972920" y="1600200"/>
            <a:ext cx="4950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898989"/>
                </a:solidFill>
                <a:latin typeface="Calibri"/>
              </a:rPr>
              <a:t>17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7" name="c_1_BlockGrid:3:c_4_Block:content"/>
          <p:cNvSpPr/>
          <p:nvPr/>
        </p:nvSpPr>
        <p:spPr>
          <a:xfrm>
            <a:off x="7333560" y="2077560"/>
            <a:ext cx="177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LOW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8" name="c_1_BlockGrid:4:c_5_Block:container"/>
          <p:cNvSpPr/>
          <p:nvPr/>
        </p:nvSpPr>
        <p:spPr>
          <a:xfrm>
            <a:off x="9381600" y="1463040"/>
            <a:ext cx="213948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9" name="c_1_BlockGrid:4:c_5_Block:metric"/>
          <p:cNvSpPr/>
          <p:nvPr/>
        </p:nvSpPr>
        <p:spPr>
          <a:xfrm>
            <a:off x="9892800" y="1600200"/>
            <a:ext cx="111672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0047ff"/>
                </a:solidFill>
                <a:latin typeface="Calibri"/>
              </a:rPr>
              <a:t>6 min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70" name="c_1_BlockGrid:4:c_5_Block:content"/>
          <p:cNvSpPr/>
          <p:nvPr/>
        </p:nvSpPr>
        <p:spPr>
          <a:xfrm>
            <a:off x="9564480" y="2077560"/>
            <a:ext cx="177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Wall-clock · 4 parallel</a:t>
            </a:r>
            <a:endParaRPr b="0" lang="en-US" sz="1400" spc="-1" strike="noStrike">
              <a:latin typeface="Arial"/>
            </a:endParaRPr>
          </a:p>
        </p:txBody>
      </p:sp>
      <p:graphicFrame>
        <p:nvGraphicFramePr>
          <p:cNvPr id="171" name="c_6_Block"/>
          <p:cNvGraphicFramePr/>
          <p:nvPr/>
        </p:nvGraphicFramePr>
        <p:xfrm>
          <a:off x="457200" y="5029200"/>
          <a:ext cx="11063880" cy="1096920"/>
        </p:xfrm>
        <a:graphic>
          <a:graphicData uri="http://schemas.openxmlformats.org/drawingml/2006/table">
            <a:tbl>
              <a:tblPr/>
              <a:tblGrid>
                <a:gridCol w="11064240"/>
              </a:tblGrid>
              <a:tr h="1097280">
                <a:tc>
                  <a:txBody>
                    <a:bodyPr lIns="179640" rIns="182880" tIns="73080" bIns="13716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Significant rework needed. 6 Clean Core HIGH findings — would not run on S/4HANA Cloud as-is.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t" marL="179640" marR="182880">
                    <a:lnL w="72720">
                      <a:solidFill>
                        <a:srgbClr val="e06c00"/>
                      </a:solidFill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Security · 4 findings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2 HIGH · 1 MEDIUM · 1 LOW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4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5" name="c_1_Block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 · F01:~250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AUTHORITY-CHECK missing before SXPG (SFTP GET)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Add S_LOG_COM / S_RZL_ADM check; fail closed.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#2 · F01:~320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AUTHORITY-CHECK missing before SXPG (SFTP PUT)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Same; centralize in wrapper FORM.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[M]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#3 · F01:~420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Shell-injection: additional_parameters built by CONCATENATE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Allowlist+escape, or use SM69 with no extra params.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#4 · F01:~385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OPEN DATASET error message exposed via WRITE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Log technical details to SLG1; show generic message.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Performance · 4 findings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2 HIGH · 2 MEDIUM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9" name="c_1_Block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 · F01:~235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FORMAT_MESSAGE called inside loop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Cache per unique (id,number,v1..v4) key; reuse.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#2 · F01:~205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ZDMS_UPLOAD_DOCUMENTS called per row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Use mass-API table param; or aRFC/batch parallelism.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[M]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#3 · F01:~120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SELECT * from TVARVC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Select only fields used (name/type/value).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107e8d"/>
                </a:solidFill>
                <a:latin typeface="Calibri"/>
              </a:rPr>
              <a:t>[M]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#4 · F01:~150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SELECT * from DMS_DOC_FILES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Fetch only `filename` (or required key fields).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Clean Core · 6 findings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6 HIGH · BLOCKS S/4HANA CLOUD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2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c_1_Block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 · F01:~325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SXPG_COMMAND_EXECUTE (shell access)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Move SFTP to BTP/Integration Suite or HTTP API.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#2 · F01:~388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SXPG_COMMAND_EXECUTE (shell access, 2nd)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Same — eliminate OS layer entirely.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#3 · F01:~468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OPEN/READ/TRANSFER DATASET (AL11)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Use released DMS/attachment APIs or external store.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#4 · F01:~494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DELETE DATASET (AL11)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Lifecycle in external content store with released API.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#5 · F01:~656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DELETE DATASET (AL11, 2nd)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Same as above.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e06c00"/>
                </a:solidFill>
                <a:latin typeface="Calibri"/>
              </a:rPr>
              <a:t>[H]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#6 · F01:~164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 · Direct TVARVC read </a:t>
            </a: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— Use released config API or wrap behind Z-API.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Maintainability · 17 findings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ALL LOW · STYLE &amp; READABILITY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6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7" name="c_1_BlockGrid:0:c_1_Block"/>
          <p:cNvSpPr/>
          <p:nvPr/>
        </p:nvSpPr>
        <p:spPr>
          <a:xfrm>
            <a:off x="457200" y="1463040"/>
            <a:ext cx="544032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 · F01:33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Obsolete CONCATENATE → string templates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#2 · F01:54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Magic value for `color` control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#3 · F01:61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Magic literals for color codes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#4 · F01:332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Obsolete WITH HEADER LINE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#5 · F01:411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Obsolete WITH HEADER LINE (2nd)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#6 · F01:103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Commented-out code left in place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#7 · F01:137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Obsolete SPLIT → FIND REGEX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#8 · F01:90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Dead variable `lv_userid`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#9 · F01:237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Mixed inline + explicit DATA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8" name="c_1_BlockGrid:1:c_2_Block"/>
          <p:cNvSpPr/>
          <p:nvPr/>
        </p:nvSpPr>
        <p:spPr>
          <a:xfrm>
            <a:off x="6080760" y="1463040"/>
            <a:ext cx="5440320" cy="46630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#10 · F01:171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Magic literals for messages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#11 · F01:171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Obsolete CONCATENATE in messages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#12 · F01:237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Magic constant `'AU1'` (dokar)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#13 · F01:192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Commented-out ENDIF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#14 · F01:260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Hard-coded allowed chars string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#15 · F01:509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Obsolete CONCATENATE for paths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#16 · F01:579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Missing FORM parameter typing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en-US" sz="1400" spc="-1" strike="noStrike">
                <a:solidFill>
                  <a:srgbClr val="898989"/>
                </a:solidFill>
                <a:latin typeface="Calibri"/>
              </a:rPr>
              <a:t>[L] </a:t>
            </a:r>
            <a:r>
              <a:rPr b="0" i="1" lang="en-US" sz="1400" spc="-1" strike="noStrike">
                <a:solidFill>
                  <a:srgbClr val="000000"/>
                </a:solidFill>
                <a:latin typeface="Calibri"/>
              </a:rPr>
              <a:t>#17 · F01:varied ·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Cumulative · adopt ABAP Cleaner ruleset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Top priorities &amp; what we learned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3 FIXES · 3 LESSONS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1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2" name="c_1_BlockGrid:0:c_1_Block"/>
          <p:cNvSpPr/>
          <p:nvPr/>
        </p:nvSpPr>
        <p:spPr>
          <a:xfrm>
            <a:off x="457200" y="1463040"/>
            <a:ext cx="3565800" cy="1645560"/>
          </a:xfrm>
          <a:prstGeom prst="rect">
            <a:avLst/>
          </a:prstGeom>
          <a:gradFill rotWithShape="0">
            <a:gsLst>
              <a:gs pos="0">
                <a:srgbClr val="ce0101"/>
              </a:gs>
              <a:gs pos="100000">
                <a:srgbClr val="fc0606"/>
              </a:gs>
            </a:gsLst>
            <a:lin ang="16200000"/>
          </a:gradFill>
          <a:ln w="3175">
            <a:solidFill>
              <a:srgbClr val="5d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P1 · Stop shell I/O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Replace SXPG/AL11 with released integration. Unblocks Clean Core.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3" name="c_1_BlockGrid:1:c_2_Block"/>
          <p:cNvSpPr/>
          <p:nvPr/>
        </p:nvSpPr>
        <p:spPr>
          <a:xfrm>
            <a:off x="4206240" y="1463040"/>
            <a:ext cx="3565800" cy="1645560"/>
          </a:xfrm>
          <a:prstGeom prst="rect">
            <a:avLst/>
          </a:prstGeom>
          <a:gradFill rotWithShape="0">
            <a:gsLst>
              <a:gs pos="0">
                <a:srgbClr val="c65f00"/>
              </a:gs>
              <a:gs pos="100000">
                <a:srgbClr val="f97800"/>
              </a:gs>
            </a:gsLst>
            <a:lin ang="1620000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P2 · Add AUTHORITY-CHECK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Before every SXPG. Fail closed. Centralize in wrapper.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4" name="c_1_BlockGrid:2:c_3_Block"/>
          <p:cNvSpPr/>
          <p:nvPr/>
        </p:nvSpPr>
        <p:spPr>
          <a:xfrm>
            <a:off x="7955280" y="1463040"/>
            <a:ext cx="3565800" cy="1645560"/>
          </a:xfrm>
          <a:prstGeom prst="rect">
            <a:avLst/>
          </a:prstGeom>
          <a:gradFill rotWithShape="0">
            <a:gsLst>
              <a:gs pos="0">
                <a:srgbClr val="0d6976"/>
              </a:gs>
              <a:gs pos="100000">
                <a:srgbClr val="1292a3"/>
              </a:gs>
            </a:gsLst>
            <a:lin ang="1620000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P3 · Hoist loop calls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Cache FORMAT_MESSAGE per key. Switch to mass-API uploads.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5" name="c_2_BlockGrid:0:c_4_Block"/>
          <p:cNvSpPr/>
          <p:nvPr/>
        </p:nvSpPr>
        <p:spPr>
          <a:xfrm>
            <a:off x="457200" y="3291840"/>
            <a:ext cx="5440320" cy="2834280"/>
          </a:xfrm>
          <a:prstGeom prst="rect">
            <a:avLst/>
          </a:prstGeom>
          <a:gradFill rotWithShape="0">
            <a:gsLst>
              <a:gs pos="0">
                <a:srgbClr val="0d6976"/>
              </a:gs>
              <a:gs pos="100000">
                <a:srgbClr val="1292a3"/>
              </a:gs>
            </a:gsLst>
            <a:lin ang="1620000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What worked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Per-axis prompts kept categories clean.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Parallel light-tool calls — zero backend stress.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No source = no finding — no speculation.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6" name="c_2_BlockGrid:1:c_5_Block"/>
          <p:cNvSpPr/>
          <p:nvPr/>
        </p:nvSpPr>
        <p:spPr>
          <a:xfrm>
            <a:off x="6080760" y="3291840"/>
            <a:ext cx="5440320" cy="283428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What to improve</a:t>
            </a:r>
            <a:endParaRPr b="0" lang="en-US" sz="14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Tighten maintainability clustering rules.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Baseline /cost before each task for split.</a:t>
            </a:r>
            <a:endParaRPr b="0" lang="en-US" sz="1100" spc="-1" strike="noStrike">
              <a:latin typeface="Arial"/>
            </a:endParaRPr>
          </a:p>
          <a:p>
            <a:pPr marL="228600" indent="-1828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Promote recurring fixes into skills.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_rels/item4.xml.rels><?xml version="1.0" encoding="UTF-8"?>
<Relationships xmlns="http://schemas.openxmlformats.org/package/2006/relationships"><Relationship Id="rId1" Type="http://schemas.openxmlformats.org/officeDocument/2006/relationships/customXmlProps" Target="itemProps4.xml"/>
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>
          <TermName>General Decks:About EPAM</TermName>
          <TermId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>
          <TermName>Continuum</TermName>
          <TermId>036b37b0-418a-48a3-ad40-f27762061154</TermId>
        </TermInfo>
        <TermInfo>
          <TermName>About EPAM</TermName>
          <TermId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>
          <TermName>About EPAM</TermName>
          <TermId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>
          <TermName>Confidential: NDA Required</TermName>
          <TermId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1267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2018-01-26T19:23:30Z</dcterms:created>
  <dc:creator>Jennifer Markowitz</dc:creator>
  <dc:description/>
  <dc:language>en-US</dc:language>
  <cp:lastModifiedBy/>
  <dcterms:modified xsi:type="dcterms:W3CDTF">2026-05-21T10:59:29Z</dcterms:modified>
  <cp:revision>5</cp:revision>
  <dc:subject/>
  <dc:title>EPAM Overview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5" name="MSIP_Label_2a535040-0af2-483f-adc3-a132c21e3e2b_ActionId">
    <vt:lpwstr>6de4626a-a598-4337-88df-2d099c6d2fce</vt:lpwstr>
  </property>
  <property fmtid="{D5CDD505-2E9C-101B-9397-08002B2CF9AE}" pid="6" name="MSIP_Label_2a535040-0af2-483f-adc3-a132c21e3e2b_ContentBits">
    <vt:lpwstr>0</vt:lpwstr>
  </property>
  <property fmtid="{D5CDD505-2E9C-101B-9397-08002B2CF9AE}" pid="7" name="MSIP_Label_2a535040-0af2-483f-adc3-a132c21e3e2b_Enabled">
    <vt:lpwstr>true</vt:lpwstr>
  </property>
  <property fmtid="{D5CDD505-2E9C-101B-9397-08002B2CF9AE}" pid="8" name="MSIP_Label_2a535040-0af2-483f-adc3-a132c21e3e2b_Method">
    <vt:lpwstr>Standard</vt:lpwstr>
  </property>
  <property fmtid="{D5CDD505-2E9C-101B-9397-08002B2CF9AE}" pid="9" name="MSIP_Label_2a535040-0af2-483f-adc3-a132c21e3e2b_Name">
    <vt:lpwstr>EPAM_Confidential</vt:lpwstr>
  </property>
  <property fmtid="{D5CDD505-2E9C-101B-9397-08002B2CF9AE}" pid="10" name="MSIP_Label_2a535040-0af2-483f-adc3-a132c21e3e2b_SetDate">
    <vt:lpwstr>2026-01-27T08:34:32Z</vt:lpwstr>
  </property>
  <property fmtid="{D5CDD505-2E9C-101B-9397-08002B2CF9AE}" pid="11" name="MSIP_Label_2a535040-0af2-483f-adc3-a132c21e3e2b_SiteId">
    <vt:lpwstr>b41b72d0-4e9f-4c26-8a69-f949f367c91d</vt:lpwstr>
  </property>
  <property fmtid="{D5CDD505-2E9C-101B-9397-08002B2CF9AE}" pid="12" name="MSIP_Label_2a535040-0af2-483f-adc3-a132c21e3e2b_Tag">
    <vt:lpwstr>10, 3, 0, 1</vt:lpwstr>
  </property>
  <property fmtid="{D5CDD505-2E9C-101B-9397-08002B2CF9AE}" pid="13" name="PresentationFormat">
    <vt:lpwstr>Widescreen</vt:lpwstr>
  </property>
  <property fmtid="{D5CDD505-2E9C-101B-9397-08002B2CF9AE}" pid="14" name="Story">
    <vt:lpwstr>1;#General Decks:About EPAM|1bb3a607-45a4-4116-99d9-b95075743ae1</vt:lpwstr>
  </property>
  <property fmtid="{D5CDD505-2E9C-101B-9397-08002B2CF9AE}" pid="15" name="StoryCategories">
    <vt:lpwstr>1635;#About EPAM|5e1ed0a0-89ac-446a-837d-6ea8b9460059</vt:lpwstr>
  </property>
  <property fmtid="{D5CDD505-2E9C-101B-9397-08002B2CF9AE}" pid="16" name="StoryTags">
    <vt:lpwstr>72;#Continuum|036b37b0-418a-48a3-ad40-f27762061154;#116;#About EPAM|e35b7162-8377-4ac0-bb47-f30ed6f0902e</vt:lpwstr>
  </property>
  <property fmtid="{D5CDD505-2E9C-101B-9397-08002B2CF9AE}" pid="17" name="StoryTaxonomy">
    <vt:lpwstr>204;#EPAM Overview|107422c5-c5be-4599-981e-e0bc82e53d69</vt:lpwstr>
  </property>
  <property fmtid="{D5CDD505-2E9C-101B-9397-08002B2CF9AE}" pid="18" name="UsagePermission">
    <vt:lpwstr>3444;#Confidential: NDA Required|1078c1ca-8558-4f4e-bb3a-506201fcb43c</vt:lpwstr>
  </property>
  <property fmtid="{D5CDD505-2E9C-101B-9397-08002B2CF9AE}" pid="19" name="VCN">
    <vt:lpwstr/>
  </property>
  <property fmtid="{D5CDD505-2E9C-101B-9397-08002B2CF9AE}" pid="20" name="_dlc_DocIdItemGuid">
    <vt:lpwstr>041f0451-e7b6-47dd-8915-ddc72a6e399d</vt:lpwstr>
  </property>
  <property fmtid="{D5CDD505-2E9C-101B-9397-08002B2CF9AE}" pid="21" name="h098c32ae4474a2397bbdf9bd347fc14">
    <vt:lpwstr>EPAM Overview|107422c5-c5be-4599-981e-e0bc82e53d69</vt:lpwstr>
  </property>
</Properties>
</file>