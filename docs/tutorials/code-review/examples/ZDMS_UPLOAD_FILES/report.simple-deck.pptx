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4.xml.rels" ContentType="application/vnd.openxmlformats-package.relationships+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customXml/item4.xml" ContentType="application/xml"/>
  <Override PartName="/customXml/itemProps4.xml" ContentType="application/vnd.openxmlformats-officedocument.customXmlProperties+xml"/>
  <Override PartName="/ppt/webextensions/taskpanes.xml" ContentType="application/xml"/>
  <Override PartName="/ppt/presentation.xml" ContentType="application/vnd.openxmlformats-officedocument.presentationml.presentation.main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_rels/presentation.xml.rels" ContentType="application/vnd.openxmlformats-package.relationships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0.png" ContentType="image/png"/>
  <Override PartName="/ppt/media/image5.png" ContentType="image/png"/>
  <Override PartName="/ppt/media/image4.png" ContentType="image/png"/>
  <Override PartName="/ppt/media/image27.png" ContentType="image/png"/>
  <Override PartName="/ppt/media/image3.wmf" ContentType="image/x-wmf"/>
  <Override PartName="/ppt/media/image2.png" ContentType="image/png"/>
  <Override PartName="/ppt/media/image25.png" ContentType="image/png"/>
  <Override PartName="/ppt/media/image26.png" ContentType="image/png"/>
  <Override PartName="/ppt/media/image1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.png" ContentType="image/png"/>
  <Override PartName="/ppt/media/image24.png" ContentType="image/png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4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3.xml" ContentType="application/vnd.openxmlformats-officedocument.presentationml.slideLayout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_rels/slide16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27.xml.rels" ContentType="application/vnd.openxmlformats-package.relationships+xml"/>
  <Override PartName="/ppt/slides/_rels/slide8.xml.rels" ContentType="application/vnd.openxmlformats-package.relationships+xml"/>
  <Override PartName="/ppt/slides/_rels/slide21.xml.rels" ContentType="application/vnd.openxmlformats-package.relationships+xml"/>
  <Override PartName="/ppt/slides/_rels/slide2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7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17.xml.rels" ContentType="application/vnd.openxmlformats-package.relationships+xml"/>
  <Override PartName="/ppt/slides/_rels/slide12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9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14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24.xml.rels" ContentType="application/vnd.openxmlformats-package.relationships+xml"/>
  <Override PartName="/ppt/slides/_rels/slide28.xml.rels" ContentType="application/vnd.openxmlformats-package.relationships+xml"/>
  <Override PartName="/ppt/slides/_rels/slide9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slide30.xml" ContentType="application/vnd.openxmlformats-officedocument.presentationml.slide+xml"/>
  <Override PartName="/ppt/slides/slide28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customXml" Target="../customXml/item4.xml"/><Relationship Id="rId8" Type="http://schemas.microsoft.com/office/2011/relationships/webextensiontaskpanes" Target="ppt/webextensions/taskpanes.xml"/><Relationship Id="rId9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457200" y="267120"/>
            <a:ext cx="36115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361152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176220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2307960" y="382320"/>
            <a:ext cx="176220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457200" y="723960"/>
            <a:ext cx="11274120" cy="211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2307960" y="382320"/>
            <a:ext cx="176220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457200" y="50004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176220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2307960" y="38232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2307960" y="50004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2307960" y="38232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457200" y="500040"/>
            <a:ext cx="361152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361152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57200" y="500040"/>
            <a:ext cx="361152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2307960" y="38232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457200" y="50004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2307960" y="50004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11628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1678680" y="382320"/>
            <a:ext cx="11628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2899800" y="382320"/>
            <a:ext cx="11628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457200" y="500040"/>
            <a:ext cx="11628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1678680" y="500040"/>
            <a:ext cx="11628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2899800" y="500040"/>
            <a:ext cx="11628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457200" y="267120"/>
            <a:ext cx="36115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361152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176220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2307960" y="382320"/>
            <a:ext cx="176220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ubTitle"/>
          </p:nvPr>
        </p:nvSpPr>
        <p:spPr>
          <a:xfrm>
            <a:off x="457200" y="723960"/>
            <a:ext cx="11274120" cy="211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2307960" y="382320"/>
            <a:ext cx="176220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457200" y="50004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176220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2307960" y="38232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2307960" y="50004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2307960" y="38232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457200" y="500040"/>
            <a:ext cx="361152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361152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/>
          </p:nvPr>
        </p:nvSpPr>
        <p:spPr>
          <a:xfrm>
            <a:off x="457200" y="500040"/>
            <a:ext cx="361152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2307960" y="38232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/>
          </p:nvPr>
        </p:nvSpPr>
        <p:spPr>
          <a:xfrm>
            <a:off x="457200" y="50004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/>
          </p:nvPr>
        </p:nvSpPr>
        <p:spPr>
          <a:xfrm>
            <a:off x="2307960" y="50004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11628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1678680" y="382320"/>
            <a:ext cx="11628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/>
          </p:nvPr>
        </p:nvSpPr>
        <p:spPr>
          <a:xfrm>
            <a:off x="2899800" y="382320"/>
            <a:ext cx="11628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/>
          </p:nvPr>
        </p:nvSpPr>
        <p:spPr>
          <a:xfrm>
            <a:off x="457200" y="500040"/>
            <a:ext cx="11628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PlaceHolder 6"/>
          <p:cNvSpPr>
            <a:spLocks noGrp="1"/>
          </p:cNvSpPr>
          <p:nvPr>
            <p:ph/>
          </p:nvPr>
        </p:nvSpPr>
        <p:spPr>
          <a:xfrm>
            <a:off x="1678680" y="500040"/>
            <a:ext cx="11628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PlaceHolder 7"/>
          <p:cNvSpPr>
            <a:spLocks noGrp="1"/>
          </p:cNvSpPr>
          <p:nvPr>
            <p:ph/>
          </p:nvPr>
        </p:nvSpPr>
        <p:spPr>
          <a:xfrm>
            <a:off x="2899800" y="500040"/>
            <a:ext cx="11628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ubTitle"/>
          </p:nvPr>
        </p:nvSpPr>
        <p:spPr>
          <a:xfrm>
            <a:off x="457200" y="267120"/>
            <a:ext cx="36115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361152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176220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2307960" y="382320"/>
            <a:ext cx="176220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ubTitle"/>
          </p:nvPr>
        </p:nvSpPr>
        <p:spPr>
          <a:xfrm>
            <a:off x="457200" y="723960"/>
            <a:ext cx="11274120" cy="211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2307960" y="382320"/>
            <a:ext cx="176220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457200" y="50004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176220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2307960" y="38232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2307960" y="50004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2307960" y="38232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/>
          </p:nvPr>
        </p:nvSpPr>
        <p:spPr>
          <a:xfrm>
            <a:off x="457200" y="500040"/>
            <a:ext cx="361152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361152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457200" y="500040"/>
            <a:ext cx="361152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/>
          </p:nvPr>
        </p:nvSpPr>
        <p:spPr>
          <a:xfrm>
            <a:off x="2307960" y="38232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/>
          </p:nvPr>
        </p:nvSpPr>
        <p:spPr>
          <a:xfrm>
            <a:off x="457200" y="50004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/>
          </p:nvPr>
        </p:nvSpPr>
        <p:spPr>
          <a:xfrm>
            <a:off x="2307960" y="50004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11628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/>
          </p:nvPr>
        </p:nvSpPr>
        <p:spPr>
          <a:xfrm>
            <a:off x="1678680" y="382320"/>
            <a:ext cx="11628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/>
          </p:nvPr>
        </p:nvSpPr>
        <p:spPr>
          <a:xfrm>
            <a:off x="2899800" y="382320"/>
            <a:ext cx="11628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" name="PlaceHolder 5"/>
          <p:cNvSpPr>
            <a:spLocks noGrp="1"/>
          </p:cNvSpPr>
          <p:nvPr>
            <p:ph/>
          </p:nvPr>
        </p:nvSpPr>
        <p:spPr>
          <a:xfrm>
            <a:off x="457200" y="500040"/>
            <a:ext cx="11628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5" name="PlaceHolder 6"/>
          <p:cNvSpPr>
            <a:spLocks noGrp="1"/>
          </p:cNvSpPr>
          <p:nvPr>
            <p:ph/>
          </p:nvPr>
        </p:nvSpPr>
        <p:spPr>
          <a:xfrm>
            <a:off x="1678680" y="500040"/>
            <a:ext cx="11628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6" name="PlaceHolder 7"/>
          <p:cNvSpPr>
            <a:spLocks noGrp="1"/>
          </p:cNvSpPr>
          <p:nvPr>
            <p:ph/>
          </p:nvPr>
        </p:nvSpPr>
        <p:spPr>
          <a:xfrm>
            <a:off x="2899800" y="500040"/>
            <a:ext cx="11628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subTitle"/>
          </p:nvPr>
        </p:nvSpPr>
        <p:spPr>
          <a:xfrm>
            <a:off x="457200" y="267120"/>
            <a:ext cx="36115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361152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176220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/>
          </p:nvPr>
        </p:nvSpPr>
        <p:spPr>
          <a:xfrm>
            <a:off x="2307960" y="382320"/>
            <a:ext cx="176220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ubTitle"/>
          </p:nvPr>
        </p:nvSpPr>
        <p:spPr>
          <a:xfrm>
            <a:off x="457200" y="723960"/>
            <a:ext cx="11274120" cy="211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2307960" y="382320"/>
            <a:ext cx="176220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/>
          </p:nvPr>
        </p:nvSpPr>
        <p:spPr>
          <a:xfrm>
            <a:off x="457200" y="50004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176220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2307960" y="38232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/>
          </p:nvPr>
        </p:nvSpPr>
        <p:spPr>
          <a:xfrm>
            <a:off x="2307960" y="50004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/>
          </p:nvPr>
        </p:nvSpPr>
        <p:spPr>
          <a:xfrm>
            <a:off x="2307960" y="38232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/>
          </p:nvPr>
        </p:nvSpPr>
        <p:spPr>
          <a:xfrm>
            <a:off x="457200" y="500040"/>
            <a:ext cx="361152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361152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/>
          </p:nvPr>
        </p:nvSpPr>
        <p:spPr>
          <a:xfrm>
            <a:off x="457200" y="500040"/>
            <a:ext cx="361152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/>
          </p:nvPr>
        </p:nvSpPr>
        <p:spPr>
          <a:xfrm>
            <a:off x="2307960" y="38232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3" name="PlaceHolder 4"/>
          <p:cNvSpPr>
            <a:spLocks noGrp="1"/>
          </p:cNvSpPr>
          <p:nvPr>
            <p:ph/>
          </p:nvPr>
        </p:nvSpPr>
        <p:spPr>
          <a:xfrm>
            <a:off x="457200" y="50004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4" name="PlaceHolder 5"/>
          <p:cNvSpPr>
            <a:spLocks noGrp="1"/>
          </p:cNvSpPr>
          <p:nvPr>
            <p:ph/>
          </p:nvPr>
        </p:nvSpPr>
        <p:spPr>
          <a:xfrm>
            <a:off x="2307960" y="50004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11628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/>
          </p:nvPr>
        </p:nvSpPr>
        <p:spPr>
          <a:xfrm>
            <a:off x="1678680" y="382320"/>
            <a:ext cx="11628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/>
          </p:nvPr>
        </p:nvSpPr>
        <p:spPr>
          <a:xfrm>
            <a:off x="2899800" y="382320"/>
            <a:ext cx="11628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9" name="PlaceHolder 5"/>
          <p:cNvSpPr>
            <a:spLocks noGrp="1"/>
          </p:cNvSpPr>
          <p:nvPr>
            <p:ph/>
          </p:nvPr>
        </p:nvSpPr>
        <p:spPr>
          <a:xfrm>
            <a:off x="457200" y="500040"/>
            <a:ext cx="11628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0" name="PlaceHolder 6"/>
          <p:cNvSpPr>
            <a:spLocks noGrp="1"/>
          </p:cNvSpPr>
          <p:nvPr>
            <p:ph/>
          </p:nvPr>
        </p:nvSpPr>
        <p:spPr>
          <a:xfrm>
            <a:off x="1678680" y="500040"/>
            <a:ext cx="11628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1" name="PlaceHolder 7"/>
          <p:cNvSpPr>
            <a:spLocks noGrp="1"/>
          </p:cNvSpPr>
          <p:nvPr>
            <p:ph/>
          </p:nvPr>
        </p:nvSpPr>
        <p:spPr>
          <a:xfrm>
            <a:off x="2899800" y="500040"/>
            <a:ext cx="11628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subTitle"/>
          </p:nvPr>
        </p:nvSpPr>
        <p:spPr>
          <a:xfrm>
            <a:off x="457200" y="267120"/>
            <a:ext cx="36115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361152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176220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/>
          </p:nvPr>
        </p:nvSpPr>
        <p:spPr>
          <a:xfrm>
            <a:off x="2307960" y="382320"/>
            <a:ext cx="176220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ubTitle"/>
          </p:nvPr>
        </p:nvSpPr>
        <p:spPr>
          <a:xfrm>
            <a:off x="457200" y="723960"/>
            <a:ext cx="11274120" cy="211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/>
          </p:nvPr>
        </p:nvSpPr>
        <p:spPr>
          <a:xfrm>
            <a:off x="2307960" y="382320"/>
            <a:ext cx="176220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/>
          </p:nvPr>
        </p:nvSpPr>
        <p:spPr>
          <a:xfrm>
            <a:off x="457200" y="50004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176220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/>
          </p:nvPr>
        </p:nvSpPr>
        <p:spPr>
          <a:xfrm>
            <a:off x="2307960" y="38232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/>
          </p:nvPr>
        </p:nvSpPr>
        <p:spPr>
          <a:xfrm>
            <a:off x="2307960" y="50004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/>
          </p:nvPr>
        </p:nvSpPr>
        <p:spPr>
          <a:xfrm>
            <a:off x="2307960" y="38232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/>
          </p:nvPr>
        </p:nvSpPr>
        <p:spPr>
          <a:xfrm>
            <a:off x="457200" y="500040"/>
            <a:ext cx="361152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361152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/>
          </p:nvPr>
        </p:nvSpPr>
        <p:spPr>
          <a:xfrm>
            <a:off x="457200" y="500040"/>
            <a:ext cx="361152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/>
          </p:nvPr>
        </p:nvSpPr>
        <p:spPr>
          <a:xfrm>
            <a:off x="2307960" y="38232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/>
          </p:nvPr>
        </p:nvSpPr>
        <p:spPr>
          <a:xfrm>
            <a:off x="457200" y="50004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/>
          </p:nvPr>
        </p:nvSpPr>
        <p:spPr>
          <a:xfrm>
            <a:off x="2307960" y="50004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11628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/>
          </p:nvPr>
        </p:nvSpPr>
        <p:spPr>
          <a:xfrm>
            <a:off x="1678680" y="382320"/>
            <a:ext cx="11628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/>
          </p:nvPr>
        </p:nvSpPr>
        <p:spPr>
          <a:xfrm>
            <a:off x="2899800" y="382320"/>
            <a:ext cx="11628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0" name="PlaceHolder 5"/>
          <p:cNvSpPr>
            <a:spLocks noGrp="1"/>
          </p:cNvSpPr>
          <p:nvPr>
            <p:ph/>
          </p:nvPr>
        </p:nvSpPr>
        <p:spPr>
          <a:xfrm>
            <a:off x="457200" y="500040"/>
            <a:ext cx="11628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1" name="PlaceHolder 6"/>
          <p:cNvSpPr>
            <a:spLocks noGrp="1"/>
          </p:cNvSpPr>
          <p:nvPr>
            <p:ph/>
          </p:nvPr>
        </p:nvSpPr>
        <p:spPr>
          <a:xfrm>
            <a:off x="1678680" y="500040"/>
            <a:ext cx="11628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2" name="PlaceHolder 7"/>
          <p:cNvSpPr>
            <a:spLocks noGrp="1"/>
          </p:cNvSpPr>
          <p:nvPr>
            <p:ph/>
          </p:nvPr>
        </p:nvSpPr>
        <p:spPr>
          <a:xfrm>
            <a:off x="2899800" y="500040"/>
            <a:ext cx="11628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subTitle"/>
          </p:nvPr>
        </p:nvSpPr>
        <p:spPr>
          <a:xfrm>
            <a:off x="457200" y="267120"/>
            <a:ext cx="36115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361152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176220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/>
          </p:nvPr>
        </p:nvSpPr>
        <p:spPr>
          <a:xfrm>
            <a:off x="2307960" y="382320"/>
            <a:ext cx="176220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ubTitle"/>
          </p:nvPr>
        </p:nvSpPr>
        <p:spPr>
          <a:xfrm>
            <a:off x="457200" y="723960"/>
            <a:ext cx="11274120" cy="211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/>
          </p:nvPr>
        </p:nvSpPr>
        <p:spPr>
          <a:xfrm>
            <a:off x="2307960" y="382320"/>
            <a:ext cx="176220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4" name="PlaceHolder 4"/>
          <p:cNvSpPr>
            <a:spLocks noGrp="1"/>
          </p:cNvSpPr>
          <p:nvPr>
            <p:ph/>
          </p:nvPr>
        </p:nvSpPr>
        <p:spPr>
          <a:xfrm>
            <a:off x="457200" y="50004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176220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/>
          </p:nvPr>
        </p:nvSpPr>
        <p:spPr>
          <a:xfrm>
            <a:off x="2307960" y="38232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8" name="PlaceHolder 4"/>
          <p:cNvSpPr>
            <a:spLocks noGrp="1"/>
          </p:cNvSpPr>
          <p:nvPr>
            <p:ph/>
          </p:nvPr>
        </p:nvSpPr>
        <p:spPr>
          <a:xfrm>
            <a:off x="2307960" y="50004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/>
          </p:nvPr>
        </p:nvSpPr>
        <p:spPr>
          <a:xfrm>
            <a:off x="2307960" y="38232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2" name="PlaceHolder 4"/>
          <p:cNvSpPr>
            <a:spLocks noGrp="1"/>
          </p:cNvSpPr>
          <p:nvPr>
            <p:ph/>
          </p:nvPr>
        </p:nvSpPr>
        <p:spPr>
          <a:xfrm>
            <a:off x="457200" y="500040"/>
            <a:ext cx="361152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361152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/>
          </p:nvPr>
        </p:nvSpPr>
        <p:spPr>
          <a:xfrm>
            <a:off x="457200" y="500040"/>
            <a:ext cx="361152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/>
          </p:nvPr>
        </p:nvSpPr>
        <p:spPr>
          <a:xfrm>
            <a:off x="2307960" y="38232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9" name="PlaceHolder 4"/>
          <p:cNvSpPr>
            <a:spLocks noGrp="1"/>
          </p:cNvSpPr>
          <p:nvPr>
            <p:ph/>
          </p:nvPr>
        </p:nvSpPr>
        <p:spPr>
          <a:xfrm>
            <a:off x="457200" y="50004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0" name="PlaceHolder 5"/>
          <p:cNvSpPr>
            <a:spLocks noGrp="1"/>
          </p:cNvSpPr>
          <p:nvPr>
            <p:ph/>
          </p:nvPr>
        </p:nvSpPr>
        <p:spPr>
          <a:xfrm>
            <a:off x="2307960" y="500040"/>
            <a:ext cx="17622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11628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/>
          </p:nvPr>
        </p:nvSpPr>
        <p:spPr>
          <a:xfrm>
            <a:off x="1678680" y="382320"/>
            <a:ext cx="11628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4" name="PlaceHolder 4"/>
          <p:cNvSpPr>
            <a:spLocks noGrp="1"/>
          </p:cNvSpPr>
          <p:nvPr>
            <p:ph/>
          </p:nvPr>
        </p:nvSpPr>
        <p:spPr>
          <a:xfrm>
            <a:off x="2899800" y="382320"/>
            <a:ext cx="11628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5" name="PlaceHolder 5"/>
          <p:cNvSpPr>
            <a:spLocks noGrp="1"/>
          </p:cNvSpPr>
          <p:nvPr>
            <p:ph/>
          </p:nvPr>
        </p:nvSpPr>
        <p:spPr>
          <a:xfrm>
            <a:off x="457200" y="500040"/>
            <a:ext cx="11628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6" name="PlaceHolder 6"/>
          <p:cNvSpPr>
            <a:spLocks noGrp="1"/>
          </p:cNvSpPr>
          <p:nvPr>
            <p:ph/>
          </p:nvPr>
        </p:nvSpPr>
        <p:spPr>
          <a:xfrm>
            <a:off x="1678680" y="500040"/>
            <a:ext cx="11628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7" name="PlaceHolder 7"/>
          <p:cNvSpPr>
            <a:spLocks noGrp="1"/>
          </p:cNvSpPr>
          <p:nvPr>
            <p:ph/>
          </p:nvPr>
        </p:nvSpPr>
        <p:spPr>
          <a:xfrm>
            <a:off x="2899800" y="500040"/>
            <a:ext cx="1162800" cy="10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1000"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Relationship Id="rId9" Type="http://schemas.openxmlformats.org/officeDocument/2006/relationships/slideLayout" Target="../slideLayouts/slideLayout5.xml"/><Relationship Id="rId10" Type="http://schemas.openxmlformats.org/officeDocument/2006/relationships/slideLayout" Target="../slideLayouts/slideLayout6.xml"/><Relationship Id="rId11" Type="http://schemas.openxmlformats.org/officeDocument/2006/relationships/slideLayout" Target="../slideLayouts/slideLayout7.xml"/><Relationship Id="rId12" Type="http://schemas.openxmlformats.org/officeDocument/2006/relationships/slideLayout" Target="../slideLayouts/slideLayout8.xml"/><Relationship Id="rId13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5.xml"/><Relationship Id="rId9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7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raphic 6" descr=""/>
          <p:cNvPicPr/>
          <p:nvPr/>
        </p:nvPicPr>
        <p:blipFill>
          <a:blip r:embed="rId2"/>
          <a:stretch/>
        </p:blipFill>
        <p:spPr>
          <a:xfrm>
            <a:off x="457200" y="6438960"/>
            <a:ext cx="540360" cy="190080"/>
          </a:xfrm>
          <a:prstGeom prst="rect">
            <a:avLst/>
          </a:prstGeom>
          <a:ln w="0">
            <a:noFill/>
          </a:ln>
        </p:spPr>
      </p:pic>
      <p:sp>
        <p:nvSpPr>
          <p:cNvPr id="1" name="TextBox 10"/>
          <p:cNvSpPr/>
          <p:nvPr/>
        </p:nvSpPr>
        <p:spPr>
          <a:xfrm>
            <a:off x="10049040" y="6406560"/>
            <a:ext cx="13964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en-US" sz="600" spc="-1" strike="noStrike">
                <a:solidFill>
                  <a:srgbClr val="000000"/>
                </a:solidFill>
                <a:latin typeface="Calibri"/>
                <a:ea typeface="Calibri"/>
              </a:rPr>
              <a:t>EPAM Proprietary &amp; Confidential.</a:t>
            </a:r>
            <a:endParaRPr b="0" lang="en-US" sz="600" spc="-1" strike="noStrike">
              <a:latin typeface="Arial"/>
            </a:endParaRPr>
          </a:p>
        </p:txBody>
      </p:sp>
      <p:sp>
        <p:nvSpPr>
          <p:cNvPr id="2" name="Text Placeholder 3"/>
          <p:cNvSpPr/>
          <p:nvPr/>
        </p:nvSpPr>
        <p:spPr>
          <a:xfrm>
            <a:off x="11498040" y="6406560"/>
            <a:ext cx="2426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fld id="{9BB1A142-51C4-4112-A3E5-09EFB4755279}" type="slidenum">
              <a:rPr b="0" lang="en-US" sz="1000" spc="-1" strike="noStrike">
                <a:solidFill>
                  <a:srgbClr val="222222"/>
                </a:solidFill>
                <a:latin typeface="Calibri"/>
                <a:ea typeface="Calibri"/>
              </a:rPr>
              <a:t>&lt;number&gt;</a:t>
            </a:fld>
            <a:endParaRPr b="0" lang="en-US" sz="1000" spc="-1" strike="noStrike">
              <a:latin typeface="Arial"/>
            </a:endParaRPr>
          </a:p>
        </p:txBody>
      </p:sp>
      <p:pic>
        <p:nvPicPr>
          <p:cNvPr id="3" name="Picture 3" descr="A bright light in the dark&#10;&#10;Description automatically generated with medium confidence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body"/>
          </p:nvPr>
        </p:nvSpPr>
        <p:spPr>
          <a:xfrm>
            <a:off x="468720" y="4663440"/>
            <a:ext cx="648936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 Light"/>
                <a:ea typeface="Calibri"/>
              </a:rPr>
              <a:t>Sub-description text goes here over </a:t>
            </a:r>
            <a:r>
              <a:rPr b="0" lang="en-US" sz="1800" spc="-1" strike="noStrike">
                <a:solidFill>
                  <a:srgbClr val="ffffff"/>
                </a:solidFill>
                <a:latin typeface="Calibri Light"/>
                <a:ea typeface="Calibri"/>
              </a:rPr>
              <a:t>one or two lines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68720" y="5245560"/>
            <a:ext cx="648936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398" strike="noStrike">
                <a:solidFill>
                  <a:srgbClr val="ffffff"/>
                </a:solidFill>
                <a:latin typeface="Calibri"/>
                <a:ea typeface="Calibri"/>
              </a:rPr>
              <a:t>JANUARY 2023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title"/>
          </p:nvPr>
        </p:nvSpPr>
        <p:spPr>
          <a:xfrm>
            <a:off x="466200" y="1696320"/>
            <a:ext cx="7843320" cy="365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0" spc="-1" strike="noStrike">
                <a:solidFill>
                  <a:srgbClr val="ffffff"/>
                </a:solidFill>
                <a:latin typeface="Calibri Light"/>
                <a:ea typeface="Calibri"/>
              </a:rPr>
              <a:t>Click to </a:t>
            </a:r>
            <a:r>
              <a:rPr b="0" lang="en-US" sz="8000" spc="-1" strike="noStrike">
                <a:solidFill>
                  <a:srgbClr val="ffffff"/>
                </a:solidFill>
                <a:latin typeface="Calibri Light"/>
                <a:ea typeface="Calibri"/>
              </a:rPr>
              <a:t>edit </a:t>
            </a:r>
            <a:r>
              <a:rPr b="0" lang="en-US" sz="8000" spc="-1" strike="noStrike">
                <a:solidFill>
                  <a:srgbClr val="ffffff"/>
                </a:solidFill>
                <a:latin typeface="Calibri Light"/>
                <a:ea typeface="Calibri"/>
              </a:rPr>
              <a:t>Master </a:t>
            </a:r>
            <a:r>
              <a:rPr b="0" lang="en-US" sz="8000" spc="-1" strike="noStrike">
                <a:solidFill>
                  <a:srgbClr val="ffffff"/>
                </a:solidFill>
                <a:latin typeface="Calibri Light"/>
                <a:ea typeface="Calibri"/>
              </a:rPr>
              <a:t>title style</a:t>
            </a:r>
            <a:endParaRPr b="0" lang="en-US" sz="80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" name="Picture 7" descr=""/>
          <p:cNvPicPr/>
          <p:nvPr/>
        </p:nvPicPr>
        <p:blipFill>
          <a:blip r:embed="rId4"/>
          <a:stretch/>
        </p:blipFill>
        <p:spPr>
          <a:xfrm>
            <a:off x="485280" y="740880"/>
            <a:ext cx="1226520" cy="45072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raphic 6" descr=""/>
          <p:cNvPicPr/>
          <p:nvPr/>
        </p:nvPicPr>
        <p:blipFill>
          <a:blip r:embed="rId2"/>
          <a:stretch/>
        </p:blipFill>
        <p:spPr>
          <a:xfrm>
            <a:off x="457200" y="6438960"/>
            <a:ext cx="540360" cy="190080"/>
          </a:xfrm>
          <a:prstGeom prst="rect">
            <a:avLst/>
          </a:prstGeom>
          <a:ln w="0">
            <a:noFill/>
          </a:ln>
        </p:spPr>
      </p:pic>
      <p:sp>
        <p:nvSpPr>
          <p:cNvPr id="45" name="TextBox 10"/>
          <p:cNvSpPr/>
          <p:nvPr/>
        </p:nvSpPr>
        <p:spPr>
          <a:xfrm>
            <a:off x="10049040" y="6406560"/>
            <a:ext cx="13964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en-US" sz="600" spc="-1" strike="noStrike">
                <a:solidFill>
                  <a:srgbClr val="000000"/>
                </a:solidFill>
                <a:latin typeface="Calibri"/>
                <a:ea typeface="Calibri"/>
              </a:rPr>
              <a:t>EPAM Proprietary &amp; Confidential.</a:t>
            </a:r>
            <a:endParaRPr b="0" lang="en-US" sz="600" spc="-1" strike="noStrike">
              <a:latin typeface="Arial"/>
            </a:endParaRPr>
          </a:p>
        </p:txBody>
      </p:sp>
      <p:sp>
        <p:nvSpPr>
          <p:cNvPr id="46" name="Text Placeholder 3"/>
          <p:cNvSpPr/>
          <p:nvPr/>
        </p:nvSpPr>
        <p:spPr>
          <a:xfrm>
            <a:off x="11498040" y="6406560"/>
            <a:ext cx="2426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fld id="{A2E7E6D7-478F-40CE-B511-36903F834C03}" type="slidenum">
              <a:rPr b="0" lang="en-US" sz="1000" spc="-1" strike="noStrike">
                <a:solidFill>
                  <a:srgbClr val="222222"/>
                </a:solidFill>
                <a:latin typeface="Calibri"/>
                <a:ea typeface="Calibri"/>
              </a:rPr>
              <a:t>&lt;number&gt;</a:t>
            </a:fld>
            <a:endParaRPr b="0" lang="en-US" sz="1000" spc="-1" strike="noStrike">
              <a:latin typeface="Aria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67280" y="1190880"/>
            <a:ext cx="3024360" cy="182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6000" spc="-1" strike="noStrike">
                <a:solidFill>
                  <a:srgbClr val="3055da"/>
                </a:solidFill>
                <a:latin typeface="Calibri"/>
                <a:ea typeface="Calibri"/>
              </a:rPr>
              <a:t>Contents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324320" y="1521360"/>
            <a:ext cx="4986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01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324320" y="2214360"/>
            <a:ext cx="4986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02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4324320" y="2897280"/>
            <a:ext cx="4986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03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4324320" y="3590280"/>
            <a:ext cx="4986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04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body"/>
          </p:nvPr>
        </p:nvSpPr>
        <p:spPr>
          <a:xfrm>
            <a:off x="4324320" y="4273200"/>
            <a:ext cx="4986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05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body"/>
          </p:nvPr>
        </p:nvSpPr>
        <p:spPr>
          <a:xfrm>
            <a:off x="4324320" y="4956120"/>
            <a:ext cx="4986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06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body"/>
          </p:nvPr>
        </p:nvSpPr>
        <p:spPr>
          <a:xfrm>
            <a:off x="5056560" y="1521360"/>
            <a:ext cx="45540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Section header here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9"/>
          <p:cNvSpPr>
            <a:spLocks noGrp="1"/>
          </p:cNvSpPr>
          <p:nvPr>
            <p:ph type="body"/>
          </p:nvPr>
        </p:nvSpPr>
        <p:spPr>
          <a:xfrm>
            <a:off x="5056560" y="2214360"/>
            <a:ext cx="45540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Section header here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10"/>
          <p:cNvSpPr>
            <a:spLocks noGrp="1"/>
          </p:cNvSpPr>
          <p:nvPr>
            <p:ph type="body"/>
          </p:nvPr>
        </p:nvSpPr>
        <p:spPr>
          <a:xfrm>
            <a:off x="5056560" y="2897280"/>
            <a:ext cx="45540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Section header here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11"/>
          <p:cNvSpPr>
            <a:spLocks noGrp="1"/>
          </p:cNvSpPr>
          <p:nvPr>
            <p:ph type="body"/>
          </p:nvPr>
        </p:nvSpPr>
        <p:spPr>
          <a:xfrm>
            <a:off x="5056560" y="3590280"/>
            <a:ext cx="45540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Section header here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12"/>
          <p:cNvSpPr>
            <a:spLocks noGrp="1"/>
          </p:cNvSpPr>
          <p:nvPr>
            <p:ph type="body"/>
          </p:nvPr>
        </p:nvSpPr>
        <p:spPr>
          <a:xfrm>
            <a:off x="5056560" y="4273200"/>
            <a:ext cx="45540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Section header here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13"/>
          <p:cNvSpPr>
            <a:spLocks noGrp="1"/>
          </p:cNvSpPr>
          <p:nvPr>
            <p:ph type="body"/>
          </p:nvPr>
        </p:nvSpPr>
        <p:spPr>
          <a:xfrm>
            <a:off x="5056560" y="4956120"/>
            <a:ext cx="45540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Section header here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raphic 6" descr=""/>
          <p:cNvPicPr/>
          <p:nvPr/>
        </p:nvPicPr>
        <p:blipFill>
          <a:blip r:embed="rId2"/>
          <a:stretch/>
        </p:blipFill>
        <p:spPr>
          <a:xfrm>
            <a:off x="457200" y="6438960"/>
            <a:ext cx="540360" cy="190080"/>
          </a:xfrm>
          <a:prstGeom prst="rect">
            <a:avLst/>
          </a:prstGeom>
          <a:ln w="0">
            <a:noFill/>
          </a:ln>
        </p:spPr>
      </p:pic>
      <p:sp>
        <p:nvSpPr>
          <p:cNvPr id="97" name="TextBox 10"/>
          <p:cNvSpPr/>
          <p:nvPr/>
        </p:nvSpPr>
        <p:spPr>
          <a:xfrm>
            <a:off x="10049040" y="6406560"/>
            <a:ext cx="13964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en-US" sz="600" spc="-1" strike="noStrike">
                <a:solidFill>
                  <a:srgbClr val="000000"/>
                </a:solidFill>
                <a:latin typeface="Calibri"/>
                <a:ea typeface="Calibri"/>
              </a:rPr>
              <a:t>EPAM Proprietary &amp; Confidential.</a:t>
            </a:r>
            <a:endParaRPr b="0" lang="en-US" sz="600" spc="-1" strike="noStrike">
              <a:latin typeface="Arial"/>
            </a:endParaRPr>
          </a:p>
        </p:txBody>
      </p:sp>
      <p:sp>
        <p:nvSpPr>
          <p:cNvPr id="98" name="Text Placeholder 3"/>
          <p:cNvSpPr/>
          <p:nvPr/>
        </p:nvSpPr>
        <p:spPr>
          <a:xfrm>
            <a:off x="11498040" y="6406560"/>
            <a:ext cx="2426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fld id="{6100F8C5-62A7-4838-AD67-98D7E6943EBF}" type="slidenum">
              <a:rPr b="0" lang="en-US" sz="1000" spc="-1" strike="noStrike">
                <a:solidFill>
                  <a:srgbClr val="222222"/>
                </a:solidFill>
                <a:latin typeface="Calibri"/>
                <a:ea typeface="Calibri"/>
              </a:rPr>
              <a:t>&lt;number&gt;</a:t>
            </a:fld>
            <a:endParaRPr b="0" lang="en-US" sz="1000" spc="-1" strike="noStrike">
              <a:latin typeface="Arial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C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li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c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k 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t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o 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e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d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it 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M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s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t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e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r 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ti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tl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e 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s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t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y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l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e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457200" y="382320"/>
            <a:ext cx="361152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000" spc="299" strike="noStrike" cap="all">
                <a:solidFill>
                  <a:srgbClr val="000000"/>
                </a:solidFill>
                <a:latin typeface="Calibri"/>
                <a:ea typeface="Calibri"/>
              </a:rPr>
              <a:t>Click to add section title</a:t>
            </a:r>
            <a:endParaRPr b="0" lang="en-US" sz="1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raphic 6" descr=""/>
          <p:cNvPicPr/>
          <p:nvPr/>
        </p:nvPicPr>
        <p:blipFill>
          <a:blip r:embed="rId3"/>
          <a:stretch/>
        </p:blipFill>
        <p:spPr>
          <a:xfrm>
            <a:off x="457200" y="6438960"/>
            <a:ext cx="540360" cy="1900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10"/>
          <p:cNvSpPr/>
          <p:nvPr/>
        </p:nvSpPr>
        <p:spPr>
          <a:xfrm>
            <a:off x="10049040" y="6406560"/>
            <a:ext cx="13964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en-US" sz="600" spc="-1" strike="noStrike">
                <a:solidFill>
                  <a:srgbClr val="000000"/>
                </a:solidFill>
                <a:latin typeface="Calibri"/>
                <a:ea typeface="Calibri"/>
              </a:rPr>
              <a:t>EPAM Proprietary &amp; Confidential.</a:t>
            </a:r>
            <a:endParaRPr b="0" lang="en-US" sz="600" spc="-1" strike="noStrike">
              <a:latin typeface="Arial"/>
            </a:endParaRPr>
          </a:p>
        </p:txBody>
      </p:sp>
      <p:sp>
        <p:nvSpPr>
          <p:cNvPr id="139" name="Text Placeholder 3"/>
          <p:cNvSpPr/>
          <p:nvPr/>
        </p:nvSpPr>
        <p:spPr>
          <a:xfrm>
            <a:off x="11498040" y="6406560"/>
            <a:ext cx="2426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fld id="{6ECDFD36-85D2-49BD-9934-74FAB7BEA973}" type="slidenum">
              <a:rPr b="0" lang="en-US" sz="1000" spc="-1" strike="noStrike">
                <a:solidFill>
                  <a:srgbClr val="222222"/>
                </a:solidFill>
                <a:latin typeface="Calibri"/>
                <a:ea typeface="Calibri"/>
              </a:rPr>
              <a:t>&lt;number&gt;</a:t>
            </a:fld>
            <a:endParaRPr b="0" lang="en-US" sz="1000" spc="-1" strike="noStrike">
              <a:latin typeface="Arial"/>
            </a:endParaRPr>
          </a:p>
        </p:txBody>
      </p: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81320" y="1793160"/>
            <a:ext cx="5640480" cy="182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6000" spc="-1" strike="noStrike">
                <a:solidFill>
                  <a:srgbClr val="ffffff"/>
                </a:solidFill>
                <a:latin typeface="Calibri Bold"/>
                <a:ea typeface="Calibri"/>
              </a:rPr>
              <a:t>S</a:t>
            </a:r>
            <a:r>
              <a:rPr b="1" lang="en-US" sz="6000" spc="-1" strike="noStrike">
                <a:solidFill>
                  <a:srgbClr val="ffffff"/>
                </a:solidFill>
                <a:latin typeface="Calibri Bold"/>
                <a:ea typeface="Calibri"/>
              </a:rPr>
              <a:t>e</a:t>
            </a:r>
            <a:r>
              <a:rPr b="1" lang="en-US" sz="6000" spc="-1" strike="noStrike">
                <a:solidFill>
                  <a:srgbClr val="ffffff"/>
                </a:solidFill>
                <a:latin typeface="Calibri Bold"/>
                <a:ea typeface="Calibri"/>
              </a:rPr>
              <a:t>c</a:t>
            </a:r>
            <a:r>
              <a:rPr b="1" lang="en-US" sz="6000" spc="-1" strike="noStrike">
                <a:solidFill>
                  <a:srgbClr val="ffffff"/>
                </a:solidFill>
                <a:latin typeface="Calibri Bold"/>
                <a:ea typeface="Calibri"/>
              </a:rPr>
              <a:t>t</a:t>
            </a:r>
            <a:r>
              <a:rPr b="1" lang="en-US" sz="6000" spc="-1" strike="noStrike">
                <a:solidFill>
                  <a:srgbClr val="ffffff"/>
                </a:solidFill>
                <a:latin typeface="Calibri Bold"/>
                <a:ea typeface="Calibri"/>
              </a:rPr>
              <a:t>i</a:t>
            </a:r>
            <a:r>
              <a:rPr b="1" lang="en-US" sz="6000" spc="-1" strike="noStrike">
                <a:solidFill>
                  <a:srgbClr val="ffffff"/>
                </a:solidFill>
                <a:latin typeface="Calibri Bold"/>
                <a:ea typeface="Calibri"/>
              </a:rPr>
              <a:t>o</a:t>
            </a:r>
            <a:r>
              <a:rPr b="1" lang="en-US" sz="6000" spc="-1" strike="noStrike">
                <a:solidFill>
                  <a:srgbClr val="ffffff"/>
                </a:solidFill>
                <a:latin typeface="Calibri Bold"/>
                <a:ea typeface="Calibri"/>
              </a:rPr>
              <a:t>n</a:t>
            </a:r>
            <a:r>
              <a:rPr b="1" lang="en-US" sz="6000" spc="-1" strike="noStrike">
                <a:solidFill>
                  <a:srgbClr val="ffffff"/>
                </a:solidFill>
                <a:latin typeface="Calibri Bold"/>
                <a:ea typeface="Calibri"/>
              </a:rPr>
              <a:t> </a:t>
            </a:r>
            <a:r>
              <a:rPr b="1" lang="en-US" sz="6000" spc="-1" strike="noStrike">
                <a:solidFill>
                  <a:srgbClr val="ffffff"/>
                </a:solidFill>
                <a:latin typeface="Calibri Bold"/>
                <a:ea typeface="Calibri"/>
              </a:rPr>
              <a:t>H</a:t>
            </a:r>
            <a:r>
              <a:rPr b="1" lang="en-US" sz="6000" spc="-1" strike="noStrike">
                <a:solidFill>
                  <a:srgbClr val="ffffff"/>
                </a:solidFill>
                <a:latin typeface="Calibri Bold"/>
                <a:ea typeface="Calibri"/>
              </a:rPr>
              <a:t>e</a:t>
            </a:r>
            <a:r>
              <a:rPr b="1" lang="en-US" sz="6000" spc="-1" strike="noStrike">
                <a:solidFill>
                  <a:srgbClr val="ffffff"/>
                </a:solidFill>
                <a:latin typeface="Calibri Bold"/>
                <a:ea typeface="Calibri"/>
              </a:rPr>
              <a:t>a</a:t>
            </a:r>
            <a:r>
              <a:rPr b="1" lang="en-US" sz="6000" spc="-1" strike="noStrike">
                <a:solidFill>
                  <a:srgbClr val="ffffff"/>
                </a:solidFill>
                <a:latin typeface="Calibri Bold"/>
                <a:ea typeface="Calibri"/>
              </a:rPr>
              <a:t>d</a:t>
            </a:r>
            <a:r>
              <a:rPr b="1" lang="en-US" sz="6000" spc="-1" strike="noStrike">
                <a:solidFill>
                  <a:srgbClr val="ffffff"/>
                </a:solidFill>
                <a:latin typeface="Calibri Bold"/>
                <a:ea typeface="Calibri"/>
              </a:rPr>
              <a:t>e</a:t>
            </a:r>
            <a:r>
              <a:rPr b="1" lang="en-US" sz="6000" spc="-1" strike="noStrike">
                <a:solidFill>
                  <a:srgbClr val="ffffff"/>
                </a:solidFill>
                <a:latin typeface="Calibri Bold"/>
                <a:ea typeface="Calibri"/>
              </a:rPr>
              <a:t>r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481320" y="1335960"/>
            <a:ext cx="4986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3055da"/>
                </a:solidFill>
                <a:latin typeface="Calibri"/>
                <a:ea typeface="Calibri"/>
              </a:rPr>
              <a:t>01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481320" y="3126960"/>
            <a:ext cx="45540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 Light"/>
                <a:ea typeface="Calibri"/>
              </a:rPr>
              <a:t>Section description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43" name="Graphic 4" descr=""/>
          <p:cNvPicPr/>
          <p:nvPr/>
        </p:nvPicPr>
        <p:blipFill>
          <a:blip r:embed="rId4"/>
          <a:stretch/>
        </p:blipFill>
        <p:spPr>
          <a:xfrm>
            <a:off x="457200" y="6438960"/>
            <a:ext cx="540360" cy="190080"/>
          </a:xfrm>
          <a:prstGeom prst="rect">
            <a:avLst/>
          </a:prstGeom>
          <a:ln w="0">
            <a:noFill/>
          </a:ln>
        </p:spPr>
      </p:pic>
      <p:sp>
        <p:nvSpPr>
          <p:cNvPr id="144" name="TextBox 5"/>
          <p:cNvSpPr/>
          <p:nvPr/>
        </p:nvSpPr>
        <p:spPr>
          <a:xfrm>
            <a:off x="10049040" y="6406560"/>
            <a:ext cx="13964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en-US" sz="600" spc="-1" strike="noStrike">
                <a:solidFill>
                  <a:srgbClr val="ffffff"/>
                </a:solidFill>
                <a:latin typeface="Calibri"/>
                <a:ea typeface="Calibri"/>
              </a:rPr>
              <a:t>EPAM Proprietary &amp; Confidential.</a:t>
            </a:r>
            <a:endParaRPr b="0" lang="en-US" sz="600" spc="-1" strike="noStrike">
              <a:latin typeface="Arial"/>
            </a:endParaRPr>
          </a:p>
        </p:txBody>
      </p:sp>
      <p:sp>
        <p:nvSpPr>
          <p:cNvPr id="145" name="Text Placeholder 3"/>
          <p:cNvSpPr/>
          <p:nvPr/>
        </p:nvSpPr>
        <p:spPr>
          <a:xfrm>
            <a:off x="11498040" y="6406560"/>
            <a:ext cx="2426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fld id="{3BDA78B6-5A3E-4C40-8F50-EDB175E5B8B4}" type="slidenum"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&lt;number&gt;</a:t>
            </a:fld>
            <a:endParaRPr b="0" lang="en-US" sz="1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raphic 6" descr=""/>
          <p:cNvPicPr/>
          <p:nvPr/>
        </p:nvPicPr>
        <p:blipFill>
          <a:blip r:embed="rId2"/>
          <a:stretch/>
        </p:blipFill>
        <p:spPr>
          <a:xfrm>
            <a:off x="457200" y="6438960"/>
            <a:ext cx="540360" cy="190080"/>
          </a:xfrm>
          <a:prstGeom prst="rect">
            <a:avLst/>
          </a:prstGeom>
          <a:ln w="0">
            <a:noFill/>
          </a:ln>
        </p:spPr>
      </p:pic>
      <p:sp>
        <p:nvSpPr>
          <p:cNvPr id="183" name="TextBox 10"/>
          <p:cNvSpPr/>
          <p:nvPr/>
        </p:nvSpPr>
        <p:spPr>
          <a:xfrm>
            <a:off x="10049040" y="6406560"/>
            <a:ext cx="13964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en-US" sz="600" spc="-1" strike="noStrike">
                <a:solidFill>
                  <a:srgbClr val="000000"/>
                </a:solidFill>
                <a:latin typeface="Calibri"/>
                <a:ea typeface="Calibri"/>
              </a:rPr>
              <a:t>EPAM Proprietary &amp; Confidential.</a:t>
            </a:r>
            <a:endParaRPr b="0" lang="en-US" sz="600" spc="-1" strike="noStrike">
              <a:latin typeface="Arial"/>
            </a:endParaRPr>
          </a:p>
        </p:txBody>
      </p:sp>
      <p:sp>
        <p:nvSpPr>
          <p:cNvPr id="184" name="Text Placeholder 3"/>
          <p:cNvSpPr/>
          <p:nvPr/>
        </p:nvSpPr>
        <p:spPr>
          <a:xfrm>
            <a:off x="11498040" y="6406560"/>
            <a:ext cx="2426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fld id="{214D0168-EE29-4A66-8111-EADB761CD30B}" type="slidenum">
              <a:rPr b="0" lang="en-US" sz="1000" spc="-1" strike="noStrike">
                <a:solidFill>
                  <a:srgbClr val="222222"/>
                </a:solidFill>
                <a:latin typeface="Calibri"/>
                <a:ea typeface="Calibri"/>
              </a:rPr>
              <a:t>&lt;number&gt;</a:t>
            </a:fld>
            <a:endParaRPr b="0" lang="en-US" sz="1000" spc="-1" strike="noStrike">
              <a:latin typeface="Arial"/>
            </a:endParaRPr>
          </a:p>
        </p:txBody>
      </p:sp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457200" y="72180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Click to edit Master title style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1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11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11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raphic 6" descr=""/>
          <p:cNvPicPr/>
          <p:nvPr/>
        </p:nvPicPr>
        <p:blipFill>
          <a:blip r:embed="rId2"/>
          <a:stretch/>
        </p:blipFill>
        <p:spPr>
          <a:xfrm>
            <a:off x="457200" y="6438960"/>
            <a:ext cx="540360" cy="190080"/>
          </a:xfrm>
          <a:prstGeom prst="rect">
            <a:avLst/>
          </a:prstGeom>
          <a:ln w="0">
            <a:noFill/>
          </a:ln>
        </p:spPr>
      </p:pic>
      <p:sp>
        <p:nvSpPr>
          <p:cNvPr id="224" name="TextBox 10"/>
          <p:cNvSpPr/>
          <p:nvPr/>
        </p:nvSpPr>
        <p:spPr>
          <a:xfrm>
            <a:off x="10049040" y="6406560"/>
            <a:ext cx="13964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en-US" sz="600" spc="-1" strike="noStrike">
                <a:solidFill>
                  <a:srgbClr val="000000"/>
                </a:solidFill>
                <a:latin typeface="Calibri"/>
                <a:ea typeface="Calibri"/>
              </a:rPr>
              <a:t>EPAM Proprietary &amp; Confidential.</a:t>
            </a:r>
            <a:endParaRPr b="0" lang="en-US" sz="600" spc="-1" strike="noStrike">
              <a:latin typeface="Arial"/>
            </a:endParaRPr>
          </a:p>
        </p:txBody>
      </p:sp>
      <p:sp>
        <p:nvSpPr>
          <p:cNvPr id="225" name="Text Placeholder 3"/>
          <p:cNvSpPr/>
          <p:nvPr/>
        </p:nvSpPr>
        <p:spPr>
          <a:xfrm>
            <a:off x="11498040" y="6406560"/>
            <a:ext cx="2426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fld id="{9AB619FA-045C-43C5-8CB0-AF8334550093}" type="slidenum">
              <a:rPr b="0" lang="en-US" sz="1000" spc="-1" strike="noStrike">
                <a:solidFill>
                  <a:srgbClr val="222222"/>
                </a:solidFill>
                <a:latin typeface="Calibri"/>
                <a:ea typeface="Calibri"/>
              </a:rPr>
              <a:t>&lt;number&gt;</a:t>
            </a:fld>
            <a:endParaRPr b="0" lang="en-US" sz="1000" spc="-1" strike="noStrike">
              <a:latin typeface="Arial"/>
            </a:endParaRPr>
          </a:p>
        </p:txBody>
      </p:sp>
      <p:sp>
        <p:nvSpPr>
          <p:cNvPr id="226" name="Rectangle 5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Click to edit Master title style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457200" y="382320"/>
            <a:ext cx="361152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000" spc="299" strike="noStrike" cap="all">
                <a:solidFill>
                  <a:srgbClr val="ffffff"/>
                </a:solidFill>
                <a:latin typeface="Calibri"/>
                <a:ea typeface="Calibri"/>
              </a:rPr>
              <a:t>Click to add section title</a:t>
            </a:r>
            <a:endParaRPr b="0" lang="en-US" sz="10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29" name="Graphic 4" descr=""/>
          <p:cNvPicPr/>
          <p:nvPr/>
        </p:nvPicPr>
        <p:blipFill>
          <a:blip r:embed="rId3"/>
          <a:stretch/>
        </p:blipFill>
        <p:spPr>
          <a:xfrm>
            <a:off x="457200" y="6438960"/>
            <a:ext cx="540360" cy="190080"/>
          </a:xfrm>
          <a:prstGeom prst="rect">
            <a:avLst/>
          </a:prstGeom>
          <a:ln w="0">
            <a:noFill/>
          </a:ln>
        </p:spPr>
      </p:pic>
      <p:sp>
        <p:nvSpPr>
          <p:cNvPr id="230" name="TextBox 10"/>
          <p:cNvSpPr/>
          <p:nvPr/>
        </p:nvSpPr>
        <p:spPr>
          <a:xfrm>
            <a:off x="10049040" y="6406560"/>
            <a:ext cx="139644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en-US" sz="600" spc="-1" strike="noStrike">
                <a:solidFill>
                  <a:srgbClr val="ffffff"/>
                </a:solidFill>
                <a:latin typeface="Calibri"/>
                <a:ea typeface="Calibri"/>
              </a:rPr>
              <a:t>EPAM Proprietary &amp; Confidential.</a:t>
            </a:r>
            <a:endParaRPr b="0" lang="en-US" sz="600" spc="-1" strike="noStrike">
              <a:latin typeface="Arial"/>
            </a:endParaRPr>
          </a:p>
        </p:txBody>
      </p:sp>
      <p:sp>
        <p:nvSpPr>
          <p:cNvPr id="231" name="Text Placeholder 3"/>
          <p:cNvSpPr/>
          <p:nvPr/>
        </p:nvSpPr>
        <p:spPr>
          <a:xfrm>
            <a:off x="11498040" y="6406560"/>
            <a:ext cx="2426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fld id="{054B1E56-5851-4E42-8A9B-F230E57C1253}" type="slidenum"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&lt;number&gt;</a:t>
            </a:fld>
            <a:endParaRPr b="0" lang="en-US" sz="1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slideLayout" Target="../slideLayouts/slideLayout4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/>
          </p:nvPr>
        </p:nvSpPr>
        <p:spPr>
          <a:xfrm>
            <a:off x="468720" y="4663440"/>
            <a:ext cx="6489360" cy="27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 Light"/>
                <a:ea typeface="Calibri"/>
              </a:rPr>
              <a:t>Security, performance, Clean Core, maintainability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/>
          </p:nvPr>
        </p:nvSpPr>
        <p:spPr>
          <a:xfrm>
            <a:off x="468720" y="5245560"/>
            <a:ext cx="648936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1200" spc="398" strike="noStrike">
                <a:solidFill>
                  <a:srgbClr val="ffffff"/>
                </a:solidFill>
                <a:latin typeface="Calibri"/>
                <a:ea typeface="Calibri"/>
              </a:rPr>
              <a:t>M A Y  2 0 2 6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title"/>
          </p:nvPr>
        </p:nvSpPr>
        <p:spPr>
          <a:xfrm>
            <a:off x="466200" y="1696320"/>
            <a:ext cx="7843320" cy="2461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000" spc="-1" strike="noStrike">
                <a:solidFill>
                  <a:srgbClr val="ffffff"/>
                </a:solidFill>
                <a:latin typeface="Calibri Light"/>
                <a:ea typeface="Calibri"/>
              </a:rPr>
              <a:t>ZDMS_UPLOAD_FILES</a:t>
            </a:r>
            <a:endParaRPr b="0" lang="en-US" sz="8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467280" y="1190880"/>
            <a:ext cx="3024360" cy="92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6000" spc="-1" strike="noStrike">
                <a:solidFill>
                  <a:srgbClr val="3055da"/>
                </a:solidFill>
                <a:latin typeface="Calibri"/>
                <a:ea typeface="Calibri"/>
              </a:rPr>
              <a:t>Contents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/>
          </p:nvPr>
        </p:nvSpPr>
        <p:spPr>
          <a:xfrm>
            <a:off x="4324320" y="1521360"/>
            <a:ext cx="498600" cy="32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01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/>
          </p:nvPr>
        </p:nvSpPr>
        <p:spPr>
          <a:xfrm>
            <a:off x="4324320" y="2214360"/>
            <a:ext cx="498600" cy="32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02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4" name="PlaceHolder 4"/>
          <p:cNvSpPr>
            <a:spLocks noGrp="1"/>
          </p:cNvSpPr>
          <p:nvPr>
            <p:ph/>
          </p:nvPr>
        </p:nvSpPr>
        <p:spPr>
          <a:xfrm>
            <a:off x="4324320" y="2897280"/>
            <a:ext cx="498600" cy="32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03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5" name="PlaceHolder 5"/>
          <p:cNvSpPr>
            <a:spLocks noGrp="1"/>
          </p:cNvSpPr>
          <p:nvPr>
            <p:ph/>
          </p:nvPr>
        </p:nvSpPr>
        <p:spPr>
          <a:xfrm>
            <a:off x="4324320" y="3590280"/>
            <a:ext cx="498600" cy="32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04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6" name="PlaceHolder 6"/>
          <p:cNvSpPr>
            <a:spLocks noGrp="1"/>
          </p:cNvSpPr>
          <p:nvPr>
            <p:ph/>
          </p:nvPr>
        </p:nvSpPr>
        <p:spPr>
          <a:xfrm>
            <a:off x="4324320" y="4273200"/>
            <a:ext cx="498600" cy="32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05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7" name="PlaceHolder 7"/>
          <p:cNvSpPr>
            <a:spLocks noGrp="1"/>
          </p:cNvSpPr>
          <p:nvPr>
            <p:ph/>
          </p:nvPr>
        </p:nvSpPr>
        <p:spPr>
          <a:xfrm>
            <a:off x="5056560" y="1521360"/>
            <a:ext cx="4554000" cy="32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Methodology — how user + AI worked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8" name="PlaceHolder 8"/>
          <p:cNvSpPr>
            <a:spLocks noGrp="1"/>
          </p:cNvSpPr>
          <p:nvPr>
            <p:ph/>
          </p:nvPr>
        </p:nvSpPr>
        <p:spPr>
          <a:xfrm>
            <a:off x="5056560" y="2214360"/>
            <a:ext cx="4554000" cy="32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Target &amp; scope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9" name="PlaceHolder 9"/>
          <p:cNvSpPr>
            <a:spLocks noGrp="1"/>
          </p:cNvSpPr>
          <p:nvPr>
            <p:ph/>
          </p:nvPr>
        </p:nvSpPr>
        <p:spPr>
          <a:xfrm>
            <a:off x="5056560" y="2897280"/>
            <a:ext cx="4554000" cy="32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Security · Performance · Clean Core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0" name="PlaceHolder 10"/>
          <p:cNvSpPr>
            <a:spLocks noGrp="1"/>
          </p:cNvSpPr>
          <p:nvPr>
            <p:ph/>
          </p:nvPr>
        </p:nvSpPr>
        <p:spPr>
          <a:xfrm>
            <a:off x="5056560" y="3590280"/>
            <a:ext cx="4554000" cy="32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Maintainability findings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1" name="PlaceHolder 11"/>
          <p:cNvSpPr>
            <a:spLocks noGrp="1"/>
          </p:cNvSpPr>
          <p:nvPr>
            <p:ph/>
          </p:nvPr>
        </p:nvSpPr>
        <p:spPr>
          <a:xfrm>
            <a:off x="5056560" y="4273200"/>
            <a:ext cx="4554000" cy="32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Summary, priorities &amp; retro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30 findings across 4 axes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361152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000" spc="299" strike="noStrike" cap="all">
                <a:solidFill>
                  <a:srgbClr val="000000"/>
                </a:solidFill>
                <a:latin typeface="Calibri"/>
                <a:ea typeface="Calibri"/>
              </a:rPr>
              <a:t>ONE REPORT · ONE AI PASS</a:t>
            </a:r>
            <a:endParaRPr b="0" lang="en-US" sz="1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4" name="ContentArea"/>
          <p:cNvSpPr/>
          <p:nvPr/>
        </p:nvSpPr>
        <p:spPr>
          <a:xfrm>
            <a:off x="457200" y="1463040"/>
            <a:ext cx="11063880" cy="4663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5" name="c_1_BlockGrid:0:c_1_Block:container"/>
          <p:cNvSpPr/>
          <p:nvPr/>
        </p:nvSpPr>
        <p:spPr>
          <a:xfrm>
            <a:off x="457200" y="1463040"/>
            <a:ext cx="2066040" cy="2399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6" name="c_1_BlockGrid:0:c_1_Block:metric"/>
          <p:cNvSpPr/>
          <p:nvPr/>
        </p:nvSpPr>
        <p:spPr>
          <a:xfrm>
            <a:off x="1366200" y="1600200"/>
            <a:ext cx="2480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e80202"/>
                </a:solidFill>
                <a:latin typeface="Calibri"/>
              </a:rPr>
              <a:t>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87" name="c_1_BlockGrid:0:c_1_Block:content"/>
          <p:cNvSpPr/>
          <p:nvPr/>
        </p:nvSpPr>
        <p:spPr>
          <a:xfrm>
            <a:off x="640080" y="2077560"/>
            <a:ext cx="17002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CRITICAL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88" name="c_1_BlockGrid:1:c_2_Block:container"/>
          <p:cNvSpPr/>
          <p:nvPr/>
        </p:nvSpPr>
        <p:spPr>
          <a:xfrm>
            <a:off x="2706480" y="1463040"/>
            <a:ext cx="2066040" cy="2399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9" name="c_1_BlockGrid:1:c_2_Block:metric"/>
          <p:cNvSpPr/>
          <p:nvPr/>
        </p:nvSpPr>
        <p:spPr>
          <a:xfrm>
            <a:off x="3492000" y="1600200"/>
            <a:ext cx="49500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e06c00"/>
                </a:solidFill>
                <a:latin typeface="Calibri"/>
              </a:rPr>
              <a:t>10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90" name="c_1_BlockGrid:1:c_2_Block:content"/>
          <p:cNvSpPr/>
          <p:nvPr/>
        </p:nvSpPr>
        <p:spPr>
          <a:xfrm>
            <a:off x="2889360" y="2077560"/>
            <a:ext cx="17002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HIGH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91" name="c_1_BlockGrid:2:c_3_Block:container"/>
          <p:cNvSpPr/>
          <p:nvPr/>
        </p:nvSpPr>
        <p:spPr>
          <a:xfrm>
            <a:off x="4956120" y="1463040"/>
            <a:ext cx="2066040" cy="2399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2" name="c_1_BlockGrid:2:c_3_Block:metric"/>
          <p:cNvSpPr/>
          <p:nvPr/>
        </p:nvSpPr>
        <p:spPr>
          <a:xfrm>
            <a:off x="5865120" y="1600200"/>
            <a:ext cx="2480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107e8d"/>
                </a:solidFill>
                <a:latin typeface="Calibri"/>
              </a:rPr>
              <a:t>3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93" name="c_1_BlockGrid:2:c_3_Block:content"/>
          <p:cNvSpPr/>
          <p:nvPr/>
        </p:nvSpPr>
        <p:spPr>
          <a:xfrm>
            <a:off x="5139000" y="2077560"/>
            <a:ext cx="17002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MEDIUM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94" name="c_1_BlockGrid:3:c_4_Block:container"/>
          <p:cNvSpPr/>
          <p:nvPr/>
        </p:nvSpPr>
        <p:spPr>
          <a:xfrm>
            <a:off x="7205400" y="1463040"/>
            <a:ext cx="2066040" cy="2399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5" name="c_1_BlockGrid:3:c_4_Block:metric"/>
          <p:cNvSpPr/>
          <p:nvPr/>
        </p:nvSpPr>
        <p:spPr>
          <a:xfrm>
            <a:off x="7990920" y="1600200"/>
            <a:ext cx="49500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898989"/>
                </a:solidFill>
                <a:latin typeface="Calibri"/>
              </a:rPr>
              <a:t>17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96" name="c_1_BlockGrid:3:c_4_Block:content"/>
          <p:cNvSpPr/>
          <p:nvPr/>
        </p:nvSpPr>
        <p:spPr>
          <a:xfrm>
            <a:off x="7388280" y="2077560"/>
            <a:ext cx="17002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LOW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97" name="c_1_BlockGrid:4:c_5_Block:container"/>
          <p:cNvSpPr/>
          <p:nvPr/>
        </p:nvSpPr>
        <p:spPr>
          <a:xfrm>
            <a:off x="9455040" y="1463040"/>
            <a:ext cx="2066040" cy="2399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8" name="c_1_BlockGrid:4:c_5_Block:metric"/>
          <p:cNvSpPr/>
          <p:nvPr/>
        </p:nvSpPr>
        <p:spPr>
          <a:xfrm>
            <a:off x="9929520" y="1600200"/>
            <a:ext cx="111672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47ff"/>
                </a:solidFill>
                <a:latin typeface="Calibri"/>
              </a:rPr>
              <a:t>6 min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99" name="c_1_BlockGrid:4:c_5_Block:content"/>
          <p:cNvSpPr/>
          <p:nvPr/>
        </p:nvSpPr>
        <p:spPr>
          <a:xfrm>
            <a:off x="9637920" y="2077560"/>
            <a:ext cx="17002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Wall-clock for full 4-axis review</a:t>
            </a:r>
            <a:endParaRPr b="0" lang="en-US" sz="1400" spc="-1" strike="noStrike">
              <a:latin typeface="Arial"/>
            </a:endParaRPr>
          </a:p>
        </p:txBody>
      </p:sp>
      <p:graphicFrame>
        <p:nvGraphicFramePr>
          <p:cNvPr id="300" name="c_6_Block"/>
          <p:cNvGraphicFramePr/>
          <p:nvPr/>
        </p:nvGraphicFramePr>
        <p:xfrm>
          <a:off x="457200" y="4137480"/>
          <a:ext cx="11063880" cy="456840"/>
        </p:xfrm>
        <a:graphic>
          <a:graphicData uri="http://schemas.openxmlformats.org/drawingml/2006/table">
            <a:tbl>
              <a:tblPr/>
              <a:tblGrid>
                <a:gridCol w="11064240"/>
              </a:tblGrid>
              <a:tr h="457200">
                <a:tc>
                  <a:txBody>
                    <a:bodyPr lIns="179640" rIns="182880" tIns="73080" bIns="13716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Comparable senior-engineer manual review: 4–8 hours.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179640" marR="182880">
                    <a:lnL w="72720">
                      <a:solidFill>
                        <a:srgbClr val="0047ff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481320" y="1793160"/>
            <a:ext cx="5640480" cy="92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6000" spc="-1" strike="noStrike">
                <a:solidFill>
                  <a:srgbClr val="ffffff"/>
                </a:solidFill>
                <a:latin typeface="Calibri Bold"/>
                <a:ea typeface="Calibri"/>
              </a:rPr>
              <a:t>Methodology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481320" y="1335960"/>
            <a:ext cx="498600" cy="32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3055da"/>
                </a:solidFill>
                <a:latin typeface="Calibri"/>
                <a:ea typeface="Calibri"/>
              </a:rPr>
              <a:t>01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/>
          </p:nvPr>
        </p:nvSpPr>
        <p:spPr>
          <a:xfrm>
            <a:off x="481320" y="3126960"/>
            <a:ext cx="4554000" cy="28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 Light"/>
                <a:ea typeface="Calibri"/>
              </a:rPr>
              <a:t>How the user and the AI agreed on what to do, designed the process, executed it together, and verified the result.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The method — four stages, in order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361152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000" spc="299" strike="noStrike" cap="all">
                <a:solidFill>
                  <a:srgbClr val="000000"/>
                </a:solidFill>
                <a:latin typeface="Calibri"/>
                <a:ea typeface="Calibri"/>
              </a:rPr>
              <a:t>FOUR STAGES, IN ORDER</a:t>
            </a:r>
            <a:endParaRPr b="0" lang="en-US" sz="1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6" name="ContentArea"/>
          <p:cNvSpPr/>
          <p:nvPr/>
        </p:nvSpPr>
        <p:spPr>
          <a:xfrm>
            <a:off x="457200" y="1463040"/>
            <a:ext cx="11063880" cy="4663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7" name="c_1_BlockProcess:block0:c_1_Block:container"/>
          <p:cNvSpPr/>
          <p:nvPr/>
        </p:nvSpPr>
        <p:spPr>
          <a:xfrm>
            <a:off x="457200" y="1463040"/>
            <a:ext cx="2422800" cy="3199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08" name="c_1_BlockProcess:block0:c_1_Block:Target" descr="image.png"/>
          <p:cNvPicPr/>
          <p:nvPr/>
        </p:nvPicPr>
        <p:blipFill>
          <a:blip r:embed="rId1"/>
          <a:stretch/>
        </p:blipFill>
        <p:spPr>
          <a:xfrm>
            <a:off x="1348920" y="1600200"/>
            <a:ext cx="639720" cy="639720"/>
          </a:xfrm>
          <a:prstGeom prst="rect">
            <a:avLst/>
          </a:prstGeom>
          <a:ln w="0">
            <a:noFill/>
          </a:ln>
        </p:spPr>
      </p:pic>
      <p:sp>
        <p:nvSpPr>
          <p:cNvPr id="309" name="c_1_BlockProcess:block0:c_1_Block:content"/>
          <p:cNvSpPr/>
          <p:nvPr/>
        </p:nvSpPr>
        <p:spPr>
          <a:xfrm>
            <a:off x="640080" y="2354760"/>
            <a:ext cx="2057040" cy="7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spcAft>
                <a:spcPts val="700"/>
              </a:spcAft>
              <a:buNone/>
            </a:pPr>
            <a:r>
              <a:rPr b="1" lang="en-US" sz="1400" spc="-1" strike="noStrike">
                <a:solidFill>
                  <a:srgbClr val="0047ff"/>
                </a:solidFill>
                <a:latin typeface="Calibri"/>
              </a:rPr>
              <a:t>1. Formalize the task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Plain-language goal + how we'll measure it. Stops us from answering the wrong question.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10" name="c_1_BlockProcess:arrow0"/>
          <p:cNvSpPr/>
          <p:nvPr/>
        </p:nvSpPr>
        <p:spPr>
          <a:xfrm>
            <a:off x="2972160" y="2891880"/>
            <a:ext cx="273240" cy="341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9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1" name="c_1_BlockProcess:block1:c_2_Block:container"/>
          <p:cNvSpPr/>
          <p:nvPr/>
        </p:nvSpPr>
        <p:spPr>
          <a:xfrm>
            <a:off x="3337560" y="1463040"/>
            <a:ext cx="2422800" cy="3199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12" name="c_1_BlockProcess:block1:c_2_Block:Structure_1" descr="image.png"/>
          <p:cNvPicPr/>
          <p:nvPr/>
        </p:nvPicPr>
        <p:blipFill>
          <a:blip r:embed="rId2"/>
          <a:stretch/>
        </p:blipFill>
        <p:spPr>
          <a:xfrm>
            <a:off x="4229280" y="1600200"/>
            <a:ext cx="639720" cy="639720"/>
          </a:xfrm>
          <a:prstGeom prst="rect">
            <a:avLst/>
          </a:prstGeom>
          <a:ln w="0">
            <a:noFill/>
          </a:ln>
        </p:spPr>
      </p:pic>
      <p:sp>
        <p:nvSpPr>
          <p:cNvPr id="313" name="c_1_BlockProcess:block1:c_2_Block:content"/>
          <p:cNvSpPr/>
          <p:nvPr/>
        </p:nvSpPr>
        <p:spPr>
          <a:xfrm>
            <a:off x="3520440" y="2354760"/>
            <a:ext cx="2057040" cy="95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spcAft>
                <a:spcPts val="700"/>
              </a:spcAft>
              <a:buNone/>
            </a:pPr>
            <a:r>
              <a:rPr b="1" lang="en-US" sz="1400" spc="-1" strike="noStrike">
                <a:solidFill>
                  <a:srgbClr val="0047ff"/>
                </a:solidFill>
                <a:latin typeface="Calibri"/>
              </a:rPr>
              <a:t>2. Design the process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Stage list for THIS task — per-stage artifact, per-stage evaluation. Stages are not pre-baked.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14" name="c_1_BlockProcess:arrow1"/>
          <p:cNvSpPr/>
          <p:nvPr/>
        </p:nvSpPr>
        <p:spPr>
          <a:xfrm>
            <a:off x="5852520" y="2891880"/>
            <a:ext cx="273240" cy="341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9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5" name="c_1_BlockProcess:block2:c_3_Block:container"/>
          <p:cNvSpPr/>
          <p:nvPr/>
        </p:nvSpPr>
        <p:spPr>
          <a:xfrm>
            <a:off x="6217920" y="1463040"/>
            <a:ext cx="2422800" cy="3199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16" name="c_1_BlockProcess:block2:c_3_Block:Gear_Process_1" descr="image.png"/>
          <p:cNvPicPr/>
          <p:nvPr/>
        </p:nvPicPr>
        <p:blipFill>
          <a:blip r:embed="rId3"/>
          <a:stretch/>
        </p:blipFill>
        <p:spPr>
          <a:xfrm>
            <a:off x="7109640" y="1600200"/>
            <a:ext cx="639720" cy="639720"/>
          </a:xfrm>
          <a:prstGeom prst="rect">
            <a:avLst/>
          </a:prstGeom>
          <a:ln w="0">
            <a:noFill/>
          </a:ln>
        </p:spPr>
      </p:pic>
      <p:sp>
        <p:nvSpPr>
          <p:cNvPr id="317" name="c_1_BlockProcess:block2:c_3_Block:content"/>
          <p:cNvSpPr/>
          <p:nvPr/>
        </p:nvSpPr>
        <p:spPr>
          <a:xfrm>
            <a:off x="6400800" y="2354760"/>
            <a:ext cx="2057040" cy="95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spcAft>
                <a:spcPts val="700"/>
              </a:spcAft>
              <a:buNone/>
            </a:pPr>
            <a:r>
              <a:rPr b="1" lang="en-US" sz="1400" spc="-1" strike="noStrike">
                <a:solidFill>
                  <a:srgbClr val="0047ff"/>
                </a:solidFill>
                <a:latin typeface="Calibri"/>
              </a:rPr>
              <a:t>3. Execute stages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Each stage produces its artifact. Refine the skill or the process at every checkpoint, never as a separate pass.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18" name="c_1_BlockProcess:arrow2"/>
          <p:cNvSpPr/>
          <p:nvPr/>
        </p:nvSpPr>
        <p:spPr>
          <a:xfrm>
            <a:off x="8732880" y="2891880"/>
            <a:ext cx="273240" cy="341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9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9" name="c_1_BlockProcess:block3:c_4_Block:container"/>
          <p:cNvSpPr/>
          <p:nvPr/>
        </p:nvSpPr>
        <p:spPr>
          <a:xfrm>
            <a:off x="9098280" y="1463040"/>
            <a:ext cx="2422800" cy="3199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20" name="c_1_BlockProcess:block3:c_4_Block:Checkmark_Circle_1" descr="image.png"/>
          <p:cNvPicPr/>
          <p:nvPr/>
        </p:nvPicPr>
        <p:blipFill>
          <a:blip r:embed="rId4"/>
          <a:stretch/>
        </p:blipFill>
        <p:spPr>
          <a:xfrm>
            <a:off x="9990000" y="1600200"/>
            <a:ext cx="639720" cy="639720"/>
          </a:xfrm>
          <a:prstGeom prst="rect">
            <a:avLst/>
          </a:prstGeom>
          <a:ln w="0">
            <a:noFill/>
          </a:ln>
        </p:spPr>
      </p:pic>
      <p:sp>
        <p:nvSpPr>
          <p:cNvPr id="321" name="c_1_BlockProcess:block3:c_4_Block:content"/>
          <p:cNvSpPr/>
          <p:nvPr/>
        </p:nvSpPr>
        <p:spPr>
          <a:xfrm>
            <a:off x="9281160" y="2354760"/>
            <a:ext cx="2057040" cy="95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spcAft>
                <a:spcPts val="700"/>
              </a:spcAft>
              <a:buNone/>
            </a:pPr>
            <a:r>
              <a:rPr b="1" lang="en-US" sz="1400" spc="-1" strike="noStrike">
                <a:solidFill>
                  <a:srgbClr val="0047ff"/>
                </a:solidFill>
                <a:latin typeface="Calibri"/>
              </a:rPr>
              <a:t>4. Verify the goal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Yes → done. No → goal-check names the earlier stage to return to, based on what evidence was missing.</a:t>
            </a:r>
            <a:endParaRPr b="0" lang="en-US" sz="1100" spc="-1" strike="noStrike">
              <a:latin typeface="Arial"/>
            </a:endParaRPr>
          </a:p>
        </p:txBody>
      </p:sp>
      <p:graphicFrame>
        <p:nvGraphicFramePr>
          <p:cNvPr id="322" name="c_5_Block"/>
          <p:cNvGraphicFramePr/>
          <p:nvPr/>
        </p:nvGraphicFramePr>
        <p:xfrm>
          <a:off x="457200" y="4962960"/>
          <a:ext cx="11063880" cy="456840"/>
        </p:xfrm>
        <a:graphic>
          <a:graphicData uri="http://schemas.openxmlformats.org/drawingml/2006/table">
            <a:tbl>
              <a:tblPr/>
              <a:tblGrid>
                <a:gridCol w="11064240"/>
              </a:tblGrid>
              <a:tr h="457200">
                <a:tc>
                  <a:txBody>
                    <a:bodyPr lIns="179640" rIns="182880" tIns="73080" bIns="13716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Iteration is normal — which earlier stage to return to is decided by the failing goal-check, not by a pre-baked rule.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179640" marR="182880">
                    <a:lnL w="72720">
                      <a:solidFill>
                        <a:srgbClr val="0047ff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Pair-work as badminton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361152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000" spc="299" strike="noStrike" cap="all">
                <a:solidFill>
                  <a:srgbClr val="000000"/>
                </a:solidFill>
                <a:latin typeface="Calibri"/>
                <a:ea typeface="Calibri"/>
              </a:rPr>
              <a:t>USER SERVES, AI RETURNS</a:t>
            </a:r>
            <a:endParaRPr b="0" lang="en-US" sz="1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5" name="ContentArea"/>
          <p:cNvSpPr/>
          <p:nvPr/>
        </p:nvSpPr>
        <p:spPr>
          <a:xfrm>
            <a:off x="457200" y="1463040"/>
            <a:ext cx="11063880" cy="4663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6" name="c_1_BlockGrid:0:c_1_Block:container"/>
          <p:cNvSpPr/>
          <p:nvPr/>
        </p:nvSpPr>
        <p:spPr>
          <a:xfrm>
            <a:off x="457200" y="1463040"/>
            <a:ext cx="11063880" cy="1474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27" name="c_1_BlockGrid:0:c_1_Block:Person_Suit" descr="image.png"/>
          <p:cNvPicPr/>
          <p:nvPr/>
        </p:nvPicPr>
        <p:blipFill>
          <a:blip r:embed="rId1"/>
          <a:stretch/>
        </p:blipFill>
        <p:spPr>
          <a:xfrm>
            <a:off x="640080" y="1880640"/>
            <a:ext cx="639720" cy="639720"/>
          </a:xfrm>
          <a:prstGeom prst="rect">
            <a:avLst/>
          </a:prstGeom>
          <a:ln w="0">
            <a:noFill/>
          </a:ln>
        </p:spPr>
      </p:pic>
      <p:sp>
        <p:nvSpPr>
          <p:cNvPr id="328" name="c_1_BlockGrid:0:c_1_Block:content"/>
          <p:cNvSpPr/>
          <p:nvPr/>
        </p:nvSpPr>
        <p:spPr>
          <a:xfrm>
            <a:off x="1600200" y="1600200"/>
            <a:ext cx="9738000" cy="4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1" lang="en-US" sz="1400" spc="-1" strike="noStrike">
                <a:solidFill>
                  <a:srgbClr val="0047ff"/>
                </a:solidFill>
                <a:latin typeface="Calibri"/>
              </a:rPr>
              <a:t>User serves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Plain-language task description. The user names the stage; the AI never takes the lead role.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29" name="c_1_BlockGrid:1:c_2_Block:container"/>
          <p:cNvSpPr/>
          <p:nvPr/>
        </p:nvSpPr>
        <p:spPr>
          <a:xfrm>
            <a:off x="457200" y="3057120"/>
            <a:ext cx="11063880" cy="1474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30" name="c_1_BlockGrid:1:c_2_Block:Android" descr="image.png"/>
          <p:cNvPicPr/>
          <p:nvPr/>
        </p:nvPicPr>
        <p:blipFill>
          <a:blip r:embed="rId2"/>
          <a:stretch/>
        </p:blipFill>
        <p:spPr>
          <a:xfrm>
            <a:off x="640080" y="3474720"/>
            <a:ext cx="639720" cy="639720"/>
          </a:xfrm>
          <a:prstGeom prst="rect">
            <a:avLst/>
          </a:prstGeom>
          <a:ln w="0">
            <a:noFill/>
          </a:ln>
        </p:spPr>
      </p:pic>
      <p:sp>
        <p:nvSpPr>
          <p:cNvPr id="331" name="c_1_BlockGrid:1:c_2_Block:content"/>
          <p:cNvSpPr/>
          <p:nvPr/>
        </p:nvSpPr>
        <p:spPr>
          <a:xfrm>
            <a:off x="1600200" y="3194280"/>
            <a:ext cx="9738000" cy="4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1" lang="en-US" sz="1400" spc="-1" strike="noStrike">
                <a:solidFill>
                  <a:srgbClr val="107e8d"/>
                </a:solidFill>
                <a:latin typeface="Calibri"/>
              </a:rPr>
              <a:t>AI returns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Formalizes, drafts, calls tools, proposes. Each return is small enough to review before the next exchange.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32" name="c_1_BlockGrid:2:c_3_Block:container"/>
          <p:cNvSpPr/>
          <p:nvPr/>
        </p:nvSpPr>
        <p:spPr>
          <a:xfrm>
            <a:off x="457200" y="4651200"/>
            <a:ext cx="11063880" cy="1474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33" name="c_1_BlockGrid:2:c_3_Block:Checkmark_Circle_1" descr="image.png"/>
          <p:cNvPicPr/>
          <p:nvPr/>
        </p:nvPicPr>
        <p:blipFill>
          <a:blip r:embed="rId3"/>
          <a:stretch/>
        </p:blipFill>
        <p:spPr>
          <a:xfrm>
            <a:off x="640080" y="5068800"/>
            <a:ext cx="639720" cy="639720"/>
          </a:xfrm>
          <a:prstGeom prst="rect">
            <a:avLst/>
          </a:prstGeom>
          <a:ln w="0">
            <a:noFill/>
          </a:ln>
        </p:spPr>
      </p:pic>
      <p:sp>
        <p:nvSpPr>
          <p:cNvPr id="334" name="c_1_BlockGrid:2:c_3_Block:content"/>
          <p:cNvSpPr/>
          <p:nvPr/>
        </p:nvSpPr>
        <p:spPr>
          <a:xfrm>
            <a:off x="1600200" y="4788360"/>
            <a:ext cx="9738000" cy="4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1" lang="en-US" sz="1400" spc="-1" strike="noStrike">
                <a:solidFill>
                  <a:srgbClr val="8453d2"/>
                </a:solidFill>
                <a:latin typeface="Calibri"/>
              </a:rPr>
              <a:t>User reviews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Keeps what holds, rejects what does not, asks for a correction. Reader judges, AI drafts. Neither side defers.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How we ran this review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361152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000" spc="299" strike="noStrike" cap="all">
                <a:solidFill>
                  <a:srgbClr val="000000"/>
                </a:solidFill>
                <a:latin typeface="Calibri"/>
                <a:ea typeface="Calibri"/>
              </a:rPr>
              <a:t>THE FOUR STAGES, MAPPED</a:t>
            </a:r>
            <a:endParaRPr b="0" lang="en-US" sz="1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7" name="ContentArea"/>
          <p:cNvSpPr/>
          <p:nvPr/>
        </p:nvSpPr>
        <p:spPr>
          <a:xfrm>
            <a:off x="457200" y="1463040"/>
            <a:ext cx="11063880" cy="4663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8" name="c_1_BlockGrid:0:c_1_Block"/>
          <p:cNvSpPr/>
          <p:nvPr/>
        </p:nvSpPr>
        <p:spPr>
          <a:xfrm>
            <a:off x="457200" y="1463040"/>
            <a:ext cx="5440320" cy="2212560"/>
          </a:xfrm>
          <a:prstGeom prst="rect">
            <a:avLst/>
          </a:prstGeom>
          <a:gradFill rotWithShape="0">
            <a:gsLst>
              <a:gs pos="0">
                <a:srgbClr val="003fe5"/>
              </a:gs>
              <a:gs pos="100000">
                <a:srgbClr val="1959ff"/>
              </a:gs>
            </a:gsLst>
            <a:lin ang="16200000"/>
          </a:gradFill>
          <a:ln w="3175">
            <a:solidFill>
              <a:srgbClr val="4b5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37160" bIns="137160" anchor="t">
            <a:noAutofit/>
          </a:bodyPr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Formalize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User: 'Review ZDMS_UPLOAD_FILES.' Together: scope (the program + every include), severity scale, 4 review axes.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39" name="c_1_BlockGrid:1:c_2_Block"/>
          <p:cNvSpPr/>
          <p:nvPr/>
        </p:nvSpPr>
        <p:spPr>
          <a:xfrm>
            <a:off x="6080760" y="1463040"/>
            <a:ext cx="5440320" cy="2212560"/>
          </a:xfrm>
          <a:prstGeom prst="rect">
            <a:avLst/>
          </a:prstGeom>
          <a:gradFill rotWithShape="0">
            <a:gsLst>
              <a:gs pos="0">
                <a:srgbClr val="0d6976"/>
              </a:gs>
              <a:gs pos="100000">
                <a:srgbClr val="1292a3"/>
              </a:gs>
            </a:gsLst>
            <a:lin ang="16200000"/>
          </a:gradFill>
          <a:ln w="3175">
            <a:solidFill>
              <a:srgbClr val="303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37160" bIns="137160" anchor="t">
            <a:noAutofit/>
          </a:bodyPr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Design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Pipeline: ReadProgram + GetIncludesList + GetInclude → 4 parallel SmartAgent calls → aggregate per ### headings.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40" name="c_1_BlockGrid:2:c_3_Block"/>
          <p:cNvSpPr/>
          <p:nvPr/>
        </p:nvSpPr>
        <p:spPr>
          <a:xfrm>
            <a:off x="457200" y="3913560"/>
            <a:ext cx="5440320" cy="2212560"/>
          </a:xfrm>
          <a:prstGeom prst="rect">
            <a:avLst/>
          </a:prstGeom>
          <a:gradFill rotWithShape="0">
            <a:gsLst>
              <a:gs pos="0">
                <a:srgbClr val="753ecc"/>
              </a:gs>
              <a:gs pos="100000">
                <a:srgbClr val="9267d7"/>
              </a:gs>
            </a:gsLst>
            <a:lin ang="16200000"/>
          </a:gradFill>
          <a:ln w="3175">
            <a:solidFill>
              <a:srgbClr val="645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37160" bIns="137160" anchor="t">
            <a:noAutofit/>
          </a:bodyPr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Execute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Each stage handed off only after its artifact landed: 01-target.md → 02-security.md / 03-performance.md / 04-cleancore.md / 05-maintainability.md → 06-summary.md.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41" name="c_1_BlockGrid:3:c_4_Block"/>
          <p:cNvSpPr/>
          <p:nvPr/>
        </p:nvSpPr>
        <p:spPr>
          <a:xfrm>
            <a:off x="6080760" y="3913560"/>
            <a:ext cx="5440320" cy="2212560"/>
          </a:xfrm>
          <a:prstGeom prst="rect">
            <a:avLst/>
          </a:prstGeom>
          <a:gradFill rotWithShape="0">
            <a:gsLst>
              <a:gs pos="0">
                <a:srgbClr val="c65f00"/>
              </a:gs>
              <a:gs pos="100000">
                <a:srgbClr val="f97800"/>
              </a:gs>
            </a:gsLst>
            <a:lin ang="16200000"/>
          </a:gradFill>
          <a:ln w="3175">
            <a:solidFill>
              <a:srgbClr val="5a4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37160" bIns="137160" anchor="t">
            <a:noAutofit/>
          </a:bodyPr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Verify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30 findings · severity histogram · per-finding location cited · verdict. Goal-check passed; no return to earlier stage.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What kept the run honest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361152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000" spc="299" strike="noStrike" cap="all">
                <a:solidFill>
                  <a:srgbClr val="000000"/>
                </a:solidFill>
                <a:latin typeface="Calibri"/>
                <a:ea typeface="Calibri"/>
              </a:rPr>
              <a:t>THREE DISCIPLINES IN PROMPTS</a:t>
            </a:r>
            <a:endParaRPr b="0" lang="en-US" sz="1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4" name="ContentArea"/>
          <p:cNvSpPr/>
          <p:nvPr/>
        </p:nvSpPr>
        <p:spPr>
          <a:xfrm>
            <a:off x="457200" y="1463040"/>
            <a:ext cx="11063880" cy="4663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5" name="c_1_BlockGrid:0:c_1_Block:container"/>
          <p:cNvSpPr/>
          <p:nvPr/>
        </p:nvSpPr>
        <p:spPr>
          <a:xfrm>
            <a:off x="457200" y="1463040"/>
            <a:ext cx="11063880" cy="1474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46" name="c_1_BlockGrid:0:c_1_Block:Checkmark_Circle_1" descr="image.png"/>
          <p:cNvPicPr/>
          <p:nvPr/>
        </p:nvPicPr>
        <p:blipFill>
          <a:blip r:embed="rId1"/>
          <a:stretch/>
        </p:blipFill>
        <p:spPr>
          <a:xfrm>
            <a:off x="640080" y="1880640"/>
            <a:ext cx="639720" cy="639720"/>
          </a:xfrm>
          <a:prstGeom prst="rect">
            <a:avLst/>
          </a:prstGeom>
          <a:ln w="0">
            <a:noFill/>
          </a:ln>
        </p:spPr>
      </p:pic>
      <p:sp>
        <p:nvSpPr>
          <p:cNvPr id="347" name="c_1_BlockGrid:0:c_1_Block:content"/>
          <p:cNvSpPr/>
          <p:nvPr/>
        </p:nvSpPr>
        <p:spPr>
          <a:xfrm>
            <a:off x="1600200" y="1600200"/>
            <a:ext cx="9738000" cy="4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1" lang="en-US" sz="1400" spc="-1" strike="noStrike">
                <a:solidFill>
                  <a:srgbClr val="0047ff"/>
                </a:solidFill>
                <a:latin typeface="Calibri"/>
              </a:rPr>
              <a:t>Source citation rule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No source = no finding. Every finding carries Location + Snippet. Stops the agent from inventing issues.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48" name="c_1_BlockGrid:1:c_2_Block:container"/>
          <p:cNvSpPr/>
          <p:nvPr/>
        </p:nvSpPr>
        <p:spPr>
          <a:xfrm>
            <a:off x="457200" y="3057120"/>
            <a:ext cx="11063880" cy="1474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49" name="c_1_BlockGrid:1:c_2_Block:Diagram_1" descr="image.png"/>
          <p:cNvPicPr/>
          <p:nvPr/>
        </p:nvPicPr>
        <p:blipFill>
          <a:blip r:embed="rId2"/>
          <a:stretch/>
        </p:blipFill>
        <p:spPr>
          <a:xfrm>
            <a:off x="640080" y="3474720"/>
            <a:ext cx="639720" cy="639720"/>
          </a:xfrm>
          <a:prstGeom prst="rect">
            <a:avLst/>
          </a:prstGeom>
          <a:ln w="0">
            <a:noFill/>
          </a:ln>
        </p:spPr>
      </p:pic>
      <p:sp>
        <p:nvSpPr>
          <p:cNvPr id="350" name="c_1_BlockGrid:1:c_2_Block:content"/>
          <p:cNvSpPr/>
          <p:nvPr/>
        </p:nvSpPr>
        <p:spPr>
          <a:xfrm>
            <a:off x="1600200" y="3194280"/>
            <a:ext cx="9738000" cy="4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1" lang="en-US" sz="1400" spc="-1" strike="noStrike">
                <a:solidFill>
                  <a:srgbClr val="107e8d"/>
                </a:solidFill>
                <a:latin typeface="Calibri"/>
              </a:rPr>
              <a:t>Per-category isolation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Each check stays inside its own rule set. No security findings leaked into maintainability or vice versa.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51" name="c_1_BlockGrid:2:c_3_Block:container"/>
          <p:cNvSpPr/>
          <p:nvPr/>
        </p:nvSpPr>
        <p:spPr>
          <a:xfrm>
            <a:off x="457200" y="4651200"/>
            <a:ext cx="11063880" cy="1474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52" name="c_1_BlockGrid:2:c_3_Block:Gear_Process_2" descr="image.png"/>
          <p:cNvPicPr/>
          <p:nvPr/>
        </p:nvPicPr>
        <p:blipFill>
          <a:blip r:embed="rId3"/>
          <a:stretch/>
        </p:blipFill>
        <p:spPr>
          <a:xfrm>
            <a:off x="640080" y="5068800"/>
            <a:ext cx="639720" cy="639720"/>
          </a:xfrm>
          <a:prstGeom prst="rect">
            <a:avLst/>
          </a:prstGeom>
          <a:ln w="0">
            <a:noFill/>
          </a:ln>
        </p:spPr>
      </p:pic>
      <p:sp>
        <p:nvSpPr>
          <p:cNvPr id="353" name="c_1_BlockGrid:2:c_3_Block:content"/>
          <p:cNvSpPr/>
          <p:nvPr/>
        </p:nvSpPr>
        <p:spPr>
          <a:xfrm>
            <a:off x="1600200" y="4788360"/>
            <a:ext cx="9738000" cy="4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1" lang="en-US" sz="1400" spc="-1" strike="noStrike">
                <a:solidFill>
                  <a:srgbClr val="8453d2"/>
                </a:solidFill>
                <a:latin typeface="Calibri"/>
              </a:rPr>
              <a:t>Read-only parallelism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Four SmartAgent calls in parallel are safe ONLY because tools are read-only. SearchSource would force sequential.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481320" y="1793160"/>
            <a:ext cx="5640480" cy="92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6000" spc="-1" strike="noStrike">
                <a:solidFill>
                  <a:srgbClr val="ffffff"/>
                </a:solidFill>
                <a:latin typeface="Calibri Bold"/>
                <a:ea typeface="Calibri"/>
              </a:rPr>
              <a:t>Target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/>
          </p:nvPr>
        </p:nvSpPr>
        <p:spPr>
          <a:xfrm>
            <a:off x="481320" y="1335960"/>
            <a:ext cx="498600" cy="32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3055da"/>
                </a:solidFill>
                <a:latin typeface="Calibri"/>
                <a:ea typeface="Calibri"/>
              </a:rPr>
              <a:t>02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/>
          </p:nvPr>
        </p:nvSpPr>
        <p:spPr>
          <a:xfrm>
            <a:off x="481320" y="3126960"/>
            <a:ext cx="4554000" cy="28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 Light"/>
                <a:ea typeface="Calibri"/>
              </a:rPr>
              <a:t>Legacy ABAP report ZDMS_UPLOAD_FILES — SFTP file transfer via OS shell commands. One program, every include in scope.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ZDMS_UPLOAD_FILES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361152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000" spc="299" strike="noStrike" cap="all">
                <a:solidFill>
                  <a:srgbClr val="000000"/>
                </a:solidFill>
                <a:latin typeface="Calibri"/>
                <a:ea typeface="Calibri"/>
              </a:rPr>
              <a:t>REPORT · Z001 · DS4_CLH</a:t>
            </a:r>
            <a:endParaRPr b="0" lang="en-US" sz="1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9" name="ContentArea"/>
          <p:cNvSpPr/>
          <p:nvPr/>
        </p:nvSpPr>
        <p:spPr>
          <a:xfrm>
            <a:off x="457200" y="1463040"/>
            <a:ext cx="11063880" cy="4663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0" name="c_1_BlockGrid:0:c_1_Block:container"/>
          <p:cNvSpPr/>
          <p:nvPr/>
        </p:nvSpPr>
        <p:spPr>
          <a:xfrm>
            <a:off x="457200" y="1463040"/>
            <a:ext cx="5440320" cy="4663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61" name="c_1_BlockGrid:0:c_1_Block:Gear_Process_1" descr="image.png"/>
          <p:cNvPicPr/>
          <p:nvPr/>
        </p:nvPicPr>
        <p:blipFill>
          <a:blip r:embed="rId1"/>
          <a:stretch/>
        </p:blipFill>
        <p:spPr>
          <a:xfrm>
            <a:off x="640080" y="3474720"/>
            <a:ext cx="639720" cy="639720"/>
          </a:xfrm>
          <a:prstGeom prst="rect">
            <a:avLst/>
          </a:prstGeom>
          <a:ln w="0">
            <a:noFill/>
          </a:ln>
        </p:spPr>
      </p:pic>
      <p:sp>
        <p:nvSpPr>
          <p:cNvPr id="362" name="c_1_BlockGrid:0:c_1_Block:content"/>
          <p:cNvSpPr/>
          <p:nvPr/>
        </p:nvSpPr>
        <p:spPr>
          <a:xfrm>
            <a:off x="1600200" y="1600200"/>
            <a:ext cx="4114440" cy="12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1" lang="en-US" sz="1800" spc="-1" strike="noStrike">
                <a:solidFill>
                  <a:srgbClr val="0047ff"/>
                </a:solidFill>
                <a:latin typeface="Calibri"/>
              </a:rPr>
              <a:t>What it does</a:t>
            </a:r>
            <a:endParaRPr b="0" lang="en-US" sz="1800" spc="-1" strike="noStrike">
              <a:latin typeface="Arial"/>
            </a:endParaRPr>
          </a:p>
          <a:p>
            <a:pPr marL="228600" indent="-1828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Pulls files via SFTP GET → SAP DMS upload</a:t>
            </a:r>
            <a:endParaRPr b="0" lang="en-US" sz="1400" spc="-1" strike="noStrike">
              <a:latin typeface="Arial"/>
            </a:endParaRPr>
          </a:p>
          <a:p>
            <a:pPr marL="228600" indent="-1828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Pushes files via SFTP PUT</a:t>
            </a:r>
            <a:endParaRPr b="0" lang="en-US" sz="1400" spc="-1" strike="noStrike">
              <a:latin typeface="Arial"/>
            </a:endParaRPr>
          </a:p>
          <a:p>
            <a:pPr marL="228600" indent="-1828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Driven by SM69 entries </a:t>
            </a: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ZSFTP_DMS_GET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 / </a:t>
            </a: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ZSFTP_DMS_PUT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63" name="c_1_BlockGrid:1:c_2_Block:container"/>
          <p:cNvSpPr/>
          <p:nvPr/>
        </p:nvSpPr>
        <p:spPr>
          <a:xfrm>
            <a:off x="6080760" y="1463040"/>
            <a:ext cx="5440320" cy="4663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64" name="c_1_BlockGrid:1:c_2_Block:Hammer_Screwdriver" descr="image.png"/>
          <p:cNvPicPr/>
          <p:nvPr/>
        </p:nvPicPr>
        <p:blipFill>
          <a:blip r:embed="rId2"/>
          <a:stretch/>
        </p:blipFill>
        <p:spPr>
          <a:xfrm>
            <a:off x="6263640" y="3474720"/>
            <a:ext cx="639720" cy="639720"/>
          </a:xfrm>
          <a:prstGeom prst="rect">
            <a:avLst/>
          </a:prstGeom>
          <a:ln w="0">
            <a:noFill/>
          </a:ln>
        </p:spPr>
      </p:pic>
      <p:sp>
        <p:nvSpPr>
          <p:cNvPr id="365" name="c_1_BlockGrid:1:c_2_Block:content"/>
          <p:cNvSpPr/>
          <p:nvPr/>
        </p:nvSpPr>
        <p:spPr>
          <a:xfrm>
            <a:off x="7223760" y="1600200"/>
            <a:ext cx="4114440" cy="12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1" lang="en-US" sz="1800" spc="-1" strike="noStrike">
                <a:solidFill>
                  <a:srgbClr val="107e8d"/>
                </a:solidFill>
                <a:latin typeface="Calibri"/>
              </a:rPr>
              <a:t>How it does it</a:t>
            </a:r>
            <a:endParaRPr b="0" lang="en-US" sz="1800" spc="-1" strike="noStrike">
              <a:latin typeface="Arial"/>
            </a:endParaRPr>
          </a:p>
          <a:p>
            <a:pPr marL="228600" indent="-1828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SXPG_COMMAND_EXECUTE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 → OS shell</a:t>
            </a:r>
            <a:endParaRPr b="0" lang="en-US" sz="1400" spc="-1" strike="noStrike">
              <a:latin typeface="Arial"/>
            </a:endParaRPr>
          </a:p>
          <a:p>
            <a:pPr marL="228600" indent="-1828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OPEN / READ / TRANSFER / DELETE DATASET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 on app server</a:t>
            </a:r>
            <a:endParaRPr b="0" lang="en-US" sz="1400" spc="-1" strike="noStrike">
              <a:latin typeface="Arial"/>
            </a:endParaRPr>
          </a:p>
          <a:p>
            <a:pPr marL="228600" indent="-1828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Reads config from standard </a:t>
            </a: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TVARVC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481320" y="1793160"/>
            <a:ext cx="5640480" cy="92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6000" spc="-1" strike="noStrike">
                <a:solidFill>
                  <a:srgbClr val="ffffff"/>
                </a:solidFill>
                <a:latin typeface="Calibri Bold"/>
                <a:ea typeface="Calibri"/>
              </a:rPr>
              <a:t>Security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7" name="PlaceHolder 2"/>
          <p:cNvSpPr>
            <a:spLocks noGrp="1"/>
          </p:cNvSpPr>
          <p:nvPr>
            <p:ph/>
          </p:nvPr>
        </p:nvSpPr>
        <p:spPr>
          <a:xfrm>
            <a:off x="481320" y="1335960"/>
            <a:ext cx="498600" cy="32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3055da"/>
                </a:solidFill>
                <a:latin typeface="Calibri"/>
                <a:ea typeface="Calibri"/>
              </a:rPr>
              <a:t>03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/>
          </p:nvPr>
        </p:nvSpPr>
        <p:spPr>
          <a:xfrm>
            <a:off x="481320" y="3126960"/>
            <a:ext cx="4554000" cy="28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 Light"/>
                <a:ea typeface="Calibri"/>
              </a:rPr>
              <a:t>Authorization, OS-shell injection, information disclosure — 4 findings, 2 HIGH.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Security: 4 findings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0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361152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000" spc="299" strike="noStrike" cap="all">
                <a:solidFill>
                  <a:srgbClr val="000000"/>
                </a:solidFill>
                <a:latin typeface="Calibri"/>
                <a:ea typeface="Calibri"/>
              </a:rPr>
              <a:t>TWO HIGH AROUND OS SHELL</a:t>
            </a:r>
            <a:endParaRPr b="0" lang="en-US" sz="1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1" name="ContentArea"/>
          <p:cNvSpPr/>
          <p:nvPr/>
        </p:nvSpPr>
        <p:spPr>
          <a:xfrm>
            <a:off x="457200" y="1463040"/>
            <a:ext cx="11063880" cy="4663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2" name="c_1_BlockGrid:0:c_1_Block:container"/>
          <p:cNvSpPr/>
          <p:nvPr/>
        </p:nvSpPr>
        <p:spPr>
          <a:xfrm>
            <a:off x="457200" y="1463040"/>
            <a:ext cx="2628720" cy="2399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3" name="c_1_BlockGrid:0:c_1_Block:metric"/>
          <p:cNvSpPr/>
          <p:nvPr/>
        </p:nvSpPr>
        <p:spPr>
          <a:xfrm>
            <a:off x="1647360" y="1600200"/>
            <a:ext cx="2480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e80202"/>
                </a:solidFill>
                <a:latin typeface="Calibri"/>
              </a:rPr>
              <a:t>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74" name="c_1_BlockGrid:0:c_1_Block:content"/>
          <p:cNvSpPr/>
          <p:nvPr/>
        </p:nvSpPr>
        <p:spPr>
          <a:xfrm>
            <a:off x="640080" y="2077560"/>
            <a:ext cx="22629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CRITICAL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75" name="c_1_BlockGrid:1:c_2_Block:container"/>
          <p:cNvSpPr/>
          <p:nvPr/>
        </p:nvSpPr>
        <p:spPr>
          <a:xfrm>
            <a:off x="3269160" y="1463040"/>
            <a:ext cx="2628720" cy="2399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6" name="c_1_BlockGrid:1:c_2_Block:metric"/>
          <p:cNvSpPr/>
          <p:nvPr/>
        </p:nvSpPr>
        <p:spPr>
          <a:xfrm>
            <a:off x="4459320" y="1600200"/>
            <a:ext cx="2480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e06c00"/>
                </a:solidFill>
                <a:latin typeface="Calibri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77" name="c_1_BlockGrid:1:c_2_Block:content"/>
          <p:cNvSpPr/>
          <p:nvPr/>
        </p:nvSpPr>
        <p:spPr>
          <a:xfrm>
            <a:off x="3452040" y="2077560"/>
            <a:ext cx="22629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HIGH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78" name="c_1_BlockGrid:2:c_3_Block:container"/>
          <p:cNvSpPr/>
          <p:nvPr/>
        </p:nvSpPr>
        <p:spPr>
          <a:xfrm>
            <a:off x="6080760" y="1463040"/>
            <a:ext cx="2628720" cy="2399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9" name="c_1_BlockGrid:2:c_3_Block:metric"/>
          <p:cNvSpPr/>
          <p:nvPr/>
        </p:nvSpPr>
        <p:spPr>
          <a:xfrm>
            <a:off x="7270920" y="1600200"/>
            <a:ext cx="2480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107e8d"/>
                </a:solidFill>
                <a:latin typeface="Calibri"/>
              </a:rPr>
              <a:t>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80" name="c_1_BlockGrid:2:c_3_Block:content"/>
          <p:cNvSpPr/>
          <p:nvPr/>
        </p:nvSpPr>
        <p:spPr>
          <a:xfrm>
            <a:off x="6263640" y="2077560"/>
            <a:ext cx="22629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MEDIUM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81" name="c_1_BlockGrid:3:c_4_Block:container"/>
          <p:cNvSpPr/>
          <p:nvPr/>
        </p:nvSpPr>
        <p:spPr>
          <a:xfrm>
            <a:off x="8892720" y="1463040"/>
            <a:ext cx="2628720" cy="2399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2" name="c_1_BlockGrid:3:c_4_Block:metric"/>
          <p:cNvSpPr/>
          <p:nvPr/>
        </p:nvSpPr>
        <p:spPr>
          <a:xfrm>
            <a:off x="10082880" y="1600200"/>
            <a:ext cx="2480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898989"/>
                </a:solidFill>
                <a:latin typeface="Calibri"/>
              </a:rPr>
              <a:t>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83" name="c_1_BlockGrid:3:c_4_Block:content"/>
          <p:cNvSpPr/>
          <p:nvPr/>
        </p:nvSpPr>
        <p:spPr>
          <a:xfrm>
            <a:off x="9075600" y="2077560"/>
            <a:ext cx="22629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LOW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457200" y="72180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Security — all 4 findings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5" name="ContentArea"/>
          <p:cNvSpPr/>
          <p:nvPr/>
        </p:nvSpPr>
        <p:spPr>
          <a:xfrm>
            <a:off x="457200" y="1463040"/>
            <a:ext cx="11063880" cy="4663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6" name="c_1_BlockGrid:0:c_1_Block"/>
          <p:cNvSpPr/>
          <p:nvPr/>
        </p:nvSpPr>
        <p:spPr>
          <a:xfrm>
            <a:off x="457200" y="1463040"/>
            <a:ext cx="5440320" cy="2212560"/>
          </a:xfrm>
          <a:prstGeom prst="rect">
            <a:avLst/>
          </a:prstGeom>
          <a:gradFill rotWithShape="0">
            <a:gsLst>
              <a:gs pos="0">
                <a:srgbClr val="c65f00"/>
              </a:gs>
              <a:gs pos="100000">
                <a:srgbClr val="f97800"/>
              </a:gs>
            </a:gsLst>
            <a:lin ang="16200000"/>
          </a:gradFill>
          <a:ln w="3175">
            <a:solidFill>
              <a:srgbClr val="5a4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37160" bIns="137160" anchor="t">
            <a:noAutofit/>
          </a:bodyPr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HIGH — Missing AUTHORITY-CHECK before SFTP GET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No explicit auth check before SXPG_COMMAND_EXECUTE (SFTP pull path).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87" name="c_1_BlockGrid:1:c_2_Block"/>
          <p:cNvSpPr/>
          <p:nvPr/>
        </p:nvSpPr>
        <p:spPr>
          <a:xfrm>
            <a:off x="6080760" y="1463040"/>
            <a:ext cx="5440320" cy="2212560"/>
          </a:xfrm>
          <a:prstGeom prst="rect">
            <a:avLst/>
          </a:prstGeom>
          <a:gradFill rotWithShape="0">
            <a:gsLst>
              <a:gs pos="0">
                <a:srgbClr val="c65f00"/>
              </a:gs>
              <a:gs pos="100000">
                <a:srgbClr val="f97800"/>
              </a:gs>
            </a:gsLst>
            <a:lin ang="16200000"/>
          </a:gradFill>
          <a:ln w="3175">
            <a:solidFill>
              <a:srgbClr val="5a4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37160" bIns="137160" anchor="t">
            <a:noAutofit/>
          </a:bodyPr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HIGH — Missing AUTHORITY-CHECK before SFTP PUT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Same gap on the push path; relies only on FM no_permission exception.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88" name="c_1_BlockGrid:2:c_3_Block"/>
          <p:cNvSpPr/>
          <p:nvPr/>
        </p:nvSpPr>
        <p:spPr>
          <a:xfrm>
            <a:off x="457200" y="3913560"/>
            <a:ext cx="5440320" cy="2212560"/>
          </a:xfrm>
          <a:prstGeom prst="rect">
            <a:avLst/>
          </a:prstGeom>
          <a:gradFill rotWithShape="0">
            <a:gsLst>
              <a:gs pos="0">
                <a:srgbClr val="0d6976"/>
              </a:gs>
              <a:gs pos="100000">
                <a:srgbClr val="1292a3"/>
              </a:gs>
            </a:gsLst>
            <a:lin ang="16200000"/>
          </a:gradFill>
          <a:ln w="3175">
            <a:solidFill>
              <a:srgbClr val="303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37160" bIns="137160" anchor="t">
            <a:noAutofit/>
          </a:bodyPr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MEDIUM — Shell-injection risk in parameters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gv_param built by unescaped CONCATENATE from zfi_constants-fval.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89" name="c_1_BlockGrid:3:c_4_Block"/>
          <p:cNvSpPr/>
          <p:nvPr/>
        </p:nvSpPr>
        <p:spPr>
          <a:xfrm>
            <a:off x="6080760" y="3913560"/>
            <a:ext cx="5440320" cy="2212560"/>
          </a:xfrm>
          <a:prstGeom prst="rect">
            <a:avLst/>
          </a:prstGeom>
          <a:gradFill rotWithShape="0">
            <a:gsLst>
              <a:gs pos="0">
                <a:srgbClr val="7c7c7c"/>
              </a:gs>
              <a:gs pos="100000">
                <a:srgbClr val="959595"/>
              </a:gs>
            </a:gsLst>
            <a:lin ang="16200000"/>
          </a:gradFill>
          <a:ln w="317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37160" bIns="137160" anchor="t">
            <a:noAutofit/>
          </a:bodyPr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LOW — Sensitive details leaked via WRITE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OPEN DATASET error messages reveal filesystem paths to the user.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title"/>
          </p:nvPr>
        </p:nvSpPr>
        <p:spPr>
          <a:xfrm>
            <a:off x="481320" y="1793160"/>
            <a:ext cx="5640480" cy="92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6000" spc="-1" strike="noStrike">
                <a:solidFill>
                  <a:srgbClr val="ffffff"/>
                </a:solidFill>
                <a:latin typeface="Calibri Bold"/>
                <a:ea typeface="Calibri"/>
              </a:rPr>
              <a:t>Performance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1" name="PlaceHolder 2"/>
          <p:cNvSpPr>
            <a:spLocks noGrp="1"/>
          </p:cNvSpPr>
          <p:nvPr>
            <p:ph/>
          </p:nvPr>
        </p:nvSpPr>
        <p:spPr>
          <a:xfrm>
            <a:off x="481320" y="1335960"/>
            <a:ext cx="498600" cy="32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3055da"/>
                </a:solidFill>
                <a:latin typeface="Calibri"/>
                <a:ea typeface="Calibri"/>
              </a:rPr>
              <a:t>04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/>
          </p:nvPr>
        </p:nvSpPr>
        <p:spPr>
          <a:xfrm>
            <a:off x="481320" y="3126960"/>
            <a:ext cx="4554000" cy="28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 Light"/>
                <a:ea typeface="Calibri"/>
              </a:rPr>
              <a:t>Wide SELECTs and per-row function calls inside loops — 4 findings, 2 HIGH.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Performance: 4 findings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4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361152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000" spc="299" strike="noStrike" cap="all">
                <a:solidFill>
                  <a:srgbClr val="000000"/>
                </a:solidFill>
                <a:latin typeface="Calibri"/>
                <a:ea typeface="Calibri"/>
              </a:rPr>
              <a:t>LOOP-BOUND FM CALLS</a:t>
            </a:r>
            <a:endParaRPr b="0" lang="en-US" sz="1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5" name="ContentArea"/>
          <p:cNvSpPr/>
          <p:nvPr/>
        </p:nvSpPr>
        <p:spPr>
          <a:xfrm>
            <a:off x="457200" y="1463040"/>
            <a:ext cx="11063880" cy="4663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6" name="c_1_BlockGrid:0:c_1_Block:container"/>
          <p:cNvSpPr/>
          <p:nvPr/>
        </p:nvSpPr>
        <p:spPr>
          <a:xfrm>
            <a:off x="457200" y="1463040"/>
            <a:ext cx="2628720" cy="2399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7" name="c_1_BlockGrid:0:c_1_Block:metric"/>
          <p:cNvSpPr/>
          <p:nvPr/>
        </p:nvSpPr>
        <p:spPr>
          <a:xfrm>
            <a:off x="1647360" y="1600200"/>
            <a:ext cx="2480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e80202"/>
                </a:solidFill>
                <a:latin typeface="Calibri"/>
              </a:rPr>
              <a:t>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98" name="c_1_BlockGrid:0:c_1_Block:content"/>
          <p:cNvSpPr/>
          <p:nvPr/>
        </p:nvSpPr>
        <p:spPr>
          <a:xfrm>
            <a:off x="640080" y="2077560"/>
            <a:ext cx="22629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CRITICAL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99" name="c_1_BlockGrid:1:c_2_Block:container"/>
          <p:cNvSpPr/>
          <p:nvPr/>
        </p:nvSpPr>
        <p:spPr>
          <a:xfrm>
            <a:off x="3269160" y="1463040"/>
            <a:ext cx="2628720" cy="2399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0" name="c_1_BlockGrid:1:c_2_Block:metric"/>
          <p:cNvSpPr/>
          <p:nvPr/>
        </p:nvSpPr>
        <p:spPr>
          <a:xfrm>
            <a:off x="4459320" y="1600200"/>
            <a:ext cx="2480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e06c00"/>
                </a:solidFill>
                <a:latin typeface="Calibri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01" name="c_1_BlockGrid:1:c_2_Block:content"/>
          <p:cNvSpPr/>
          <p:nvPr/>
        </p:nvSpPr>
        <p:spPr>
          <a:xfrm>
            <a:off x="3452040" y="2077560"/>
            <a:ext cx="22629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HIGH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02" name="c_1_BlockGrid:2:c_3_Block:container"/>
          <p:cNvSpPr/>
          <p:nvPr/>
        </p:nvSpPr>
        <p:spPr>
          <a:xfrm>
            <a:off x="6080760" y="1463040"/>
            <a:ext cx="2628720" cy="2399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3" name="c_1_BlockGrid:2:c_3_Block:metric"/>
          <p:cNvSpPr/>
          <p:nvPr/>
        </p:nvSpPr>
        <p:spPr>
          <a:xfrm>
            <a:off x="7270920" y="1600200"/>
            <a:ext cx="2480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107e8d"/>
                </a:solidFill>
                <a:latin typeface="Calibri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04" name="c_1_BlockGrid:2:c_3_Block:content"/>
          <p:cNvSpPr/>
          <p:nvPr/>
        </p:nvSpPr>
        <p:spPr>
          <a:xfrm>
            <a:off x="6263640" y="2077560"/>
            <a:ext cx="22629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MEDIUM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05" name="c_1_BlockGrid:3:c_4_Block:container"/>
          <p:cNvSpPr/>
          <p:nvPr/>
        </p:nvSpPr>
        <p:spPr>
          <a:xfrm>
            <a:off x="8892720" y="1463040"/>
            <a:ext cx="2628720" cy="2399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6" name="c_1_BlockGrid:3:c_4_Block:metric"/>
          <p:cNvSpPr/>
          <p:nvPr/>
        </p:nvSpPr>
        <p:spPr>
          <a:xfrm>
            <a:off x="10082880" y="1600200"/>
            <a:ext cx="2480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898989"/>
                </a:solidFill>
                <a:latin typeface="Calibri"/>
              </a:rPr>
              <a:t>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07" name="c_1_BlockGrid:3:c_4_Block:content"/>
          <p:cNvSpPr/>
          <p:nvPr/>
        </p:nvSpPr>
        <p:spPr>
          <a:xfrm>
            <a:off x="9075600" y="2077560"/>
            <a:ext cx="22629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LOW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xfrm>
            <a:off x="457200" y="72180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Performance — all 4 findings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9" name="ContentArea"/>
          <p:cNvSpPr/>
          <p:nvPr/>
        </p:nvSpPr>
        <p:spPr>
          <a:xfrm>
            <a:off x="457200" y="1463040"/>
            <a:ext cx="11063880" cy="4663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0" name="c_1_BlockGrid:0:c_1_Block"/>
          <p:cNvSpPr/>
          <p:nvPr/>
        </p:nvSpPr>
        <p:spPr>
          <a:xfrm>
            <a:off x="457200" y="1463040"/>
            <a:ext cx="5440320" cy="2212560"/>
          </a:xfrm>
          <a:prstGeom prst="rect">
            <a:avLst/>
          </a:prstGeom>
          <a:gradFill rotWithShape="0">
            <a:gsLst>
              <a:gs pos="0">
                <a:srgbClr val="c65f00"/>
              </a:gs>
              <a:gs pos="100000">
                <a:srgbClr val="f97800"/>
              </a:gs>
            </a:gsLst>
            <a:lin ang="16200000"/>
          </a:gradFill>
          <a:ln w="3175">
            <a:solidFill>
              <a:srgbClr val="5a4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37160" bIns="137160" anchor="t">
            <a:noAutofit/>
          </a:bodyPr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HIGH — FORMAT_MESSAGE called per row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Inside LOOP AT pt_data; same message formatter invoked for every entry.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11" name="c_1_BlockGrid:1:c_2_Block"/>
          <p:cNvSpPr/>
          <p:nvPr/>
        </p:nvSpPr>
        <p:spPr>
          <a:xfrm>
            <a:off x="6080760" y="1463040"/>
            <a:ext cx="5440320" cy="2212560"/>
          </a:xfrm>
          <a:prstGeom prst="rect">
            <a:avLst/>
          </a:prstGeom>
          <a:gradFill rotWithShape="0">
            <a:gsLst>
              <a:gs pos="0">
                <a:srgbClr val="c65f00"/>
              </a:gs>
              <a:gs pos="100000">
                <a:srgbClr val="f97800"/>
              </a:gs>
            </a:gsLst>
            <a:lin ang="16200000"/>
          </a:gradFill>
          <a:ln w="3175">
            <a:solidFill>
              <a:srgbClr val="5a4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37160" bIns="137160" anchor="t">
            <a:noAutofit/>
          </a:bodyPr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HIGH — ZDMS_UPLOAD_DOCUMENTS called per row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Upload FM invoked per row — should use a mass / table-parameter API.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12" name="c_1_BlockGrid:2:c_3_Block"/>
          <p:cNvSpPr/>
          <p:nvPr/>
        </p:nvSpPr>
        <p:spPr>
          <a:xfrm>
            <a:off x="457200" y="3913560"/>
            <a:ext cx="5440320" cy="2212560"/>
          </a:xfrm>
          <a:prstGeom prst="rect">
            <a:avLst/>
          </a:prstGeom>
          <a:gradFill rotWithShape="0">
            <a:gsLst>
              <a:gs pos="0">
                <a:srgbClr val="0d6976"/>
              </a:gs>
              <a:gs pos="100000">
                <a:srgbClr val="1292a3"/>
              </a:gs>
            </a:gsLst>
            <a:lin ang="16200000"/>
          </a:gradFill>
          <a:ln w="3175">
            <a:solidFill>
              <a:srgbClr val="303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37160" bIns="137160" anchor="t">
            <a:noAutofit/>
          </a:bodyPr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MEDIUM — SELECT * on TVARVC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Wide fetch where only sign / opti / low / high are needed.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13" name="c_1_BlockGrid:3:c_4_Block"/>
          <p:cNvSpPr/>
          <p:nvPr/>
        </p:nvSpPr>
        <p:spPr>
          <a:xfrm>
            <a:off x="6080760" y="3913560"/>
            <a:ext cx="5440320" cy="2212560"/>
          </a:xfrm>
          <a:prstGeom prst="rect">
            <a:avLst/>
          </a:prstGeom>
          <a:gradFill rotWithShape="0">
            <a:gsLst>
              <a:gs pos="0">
                <a:srgbClr val="0d6976"/>
              </a:gs>
              <a:gs pos="100000">
                <a:srgbClr val="1292a3"/>
              </a:gs>
            </a:gsLst>
            <a:lin ang="16200000"/>
          </a:gradFill>
          <a:ln w="3175">
            <a:solidFill>
              <a:srgbClr val="303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37160" bIns="137160" anchor="t">
            <a:noAutofit/>
          </a:bodyPr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MEDIUM — SELECT * on DMS_DOC_FILES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Wide fetch with FOR ALL ENTRIES; only filename is used downstream.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481320" y="1793160"/>
            <a:ext cx="5640480" cy="92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6000" spc="-1" strike="noStrike">
                <a:solidFill>
                  <a:srgbClr val="ffffff"/>
                </a:solidFill>
                <a:latin typeface="Calibri Bold"/>
                <a:ea typeface="Calibri"/>
              </a:rPr>
              <a:t>Clean Core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5" name="PlaceHolder 2"/>
          <p:cNvSpPr>
            <a:spLocks noGrp="1"/>
          </p:cNvSpPr>
          <p:nvPr>
            <p:ph/>
          </p:nvPr>
        </p:nvSpPr>
        <p:spPr>
          <a:xfrm>
            <a:off x="481320" y="1335960"/>
            <a:ext cx="498600" cy="32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3055da"/>
                </a:solidFill>
                <a:latin typeface="Calibri"/>
                <a:ea typeface="Calibri"/>
              </a:rPr>
              <a:t>05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/>
          </p:nvPr>
        </p:nvSpPr>
        <p:spPr>
          <a:xfrm>
            <a:off x="481320" y="3126960"/>
            <a:ext cx="4554000" cy="28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 Light"/>
                <a:ea typeface="Calibri"/>
              </a:rPr>
              <a:t>S/4HANA Cloud readiness — 6 HIGH findings. This object will not run on Cloud as-is.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Clean Core: 6 findings, all HIGH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8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361152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000" spc="299" strike="noStrike" cap="all">
                <a:solidFill>
                  <a:srgbClr val="000000"/>
                </a:solidFill>
                <a:latin typeface="Calibri"/>
                <a:ea typeface="Calibri"/>
              </a:rPr>
              <a:t>EVERY FINDING BLOCKS CLOUD</a:t>
            </a:r>
            <a:endParaRPr b="0" lang="en-US" sz="1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9" name="ContentArea"/>
          <p:cNvSpPr/>
          <p:nvPr/>
        </p:nvSpPr>
        <p:spPr>
          <a:xfrm>
            <a:off x="457200" y="1463040"/>
            <a:ext cx="11063880" cy="4663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0" name="c_1_BlockGrid:0:c_1_Block:container"/>
          <p:cNvSpPr/>
          <p:nvPr/>
        </p:nvSpPr>
        <p:spPr>
          <a:xfrm>
            <a:off x="457200" y="1463040"/>
            <a:ext cx="2628720" cy="2399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1" name="c_1_BlockGrid:0:c_1_Block:metric"/>
          <p:cNvSpPr/>
          <p:nvPr/>
        </p:nvSpPr>
        <p:spPr>
          <a:xfrm>
            <a:off x="1647360" y="1600200"/>
            <a:ext cx="2480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e80202"/>
                </a:solidFill>
                <a:latin typeface="Calibri"/>
              </a:rPr>
              <a:t>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22" name="c_1_BlockGrid:0:c_1_Block:content"/>
          <p:cNvSpPr/>
          <p:nvPr/>
        </p:nvSpPr>
        <p:spPr>
          <a:xfrm>
            <a:off x="640080" y="2077560"/>
            <a:ext cx="22629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CRITICAL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23" name="c_1_BlockGrid:1:c_2_Block:container"/>
          <p:cNvSpPr/>
          <p:nvPr/>
        </p:nvSpPr>
        <p:spPr>
          <a:xfrm>
            <a:off x="3269160" y="1463040"/>
            <a:ext cx="2628720" cy="2399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4" name="c_1_BlockGrid:1:c_2_Block:metric"/>
          <p:cNvSpPr/>
          <p:nvPr/>
        </p:nvSpPr>
        <p:spPr>
          <a:xfrm>
            <a:off x="4459320" y="1600200"/>
            <a:ext cx="2480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e06c00"/>
                </a:solidFill>
                <a:latin typeface="Calibri"/>
              </a:rPr>
              <a:t>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25" name="c_1_BlockGrid:1:c_2_Block:content"/>
          <p:cNvSpPr/>
          <p:nvPr/>
        </p:nvSpPr>
        <p:spPr>
          <a:xfrm>
            <a:off x="3452040" y="2077560"/>
            <a:ext cx="22629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HIGH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26" name="c_1_BlockGrid:2:c_3_Block:container"/>
          <p:cNvSpPr/>
          <p:nvPr/>
        </p:nvSpPr>
        <p:spPr>
          <a:xfrm>
            <a:off x="6080760" y="1463040"/>
            <a:ext cx="2628720" cy="2399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7" name="c_1_BlockGrid:2:c_3_Block:metric"/>
          <p:cNvSpPr/>
          <p:nvPr/>
        </p:nvSpPr>
        <p:spPr>
          <a:xfrm>
            <a:off x="7270920" y="1600200"/>
            <a:ext cx="2480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107e8d"/>
                </a:solidFill>
                <a:latin typeface="Calibri"/>
              </a:rPr>
              <a:t>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28" name="c_1_BlockGrid:2:c_3_Block:content"/>
          <p:cNvSpPr/>
          <p:nvPr/>
        </p:nvSpPr>
        <p:spPr>
          <a:xfrm>
            <a:off x="6263640" y="2077560"/>
            <a:ext cx="22629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MEDIUM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29" name="c_1_BlockGrid:3:c_4_Block:container"/>
          <p:cNvSpPr/>
          <p:nvPr/>
        </p:nvSpPr>
        <p:spPr>
          <a:xfrm>
            <a:off x="8892720" y="1463040"/>
            <a:ext cx="2628720" cy="2399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0" name="c_1_BlockGrid:3:c_4_Block:metric"/>
          <p:cNvSpPr/>
          <p:nvPr/>
        </p:nvSpPr>
        <p:spPr>
          <a:xfrm>
            <a:off x="10082880" y="1600200"/>
            <a:ext cx="2480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898989"/>
                </a:solidFill>
                <a:latin typeface="Calibri"/>
              </a:rPr>
              <a:t>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31" name="c_1_BlockGrid:3:c_4_Block:content"/>
          <p:cNvSpPr/>
          <p:nvPr/>
        </p:nvSpPr>
        <p:spPr>
          <a:xfrm>
            <a:off x="9075600" y="2077560"/>
            <a:ext cx="22629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LOW</a:t>
            </a:r>
            <a:endParaRPr b="0" lang="en-US" sz="1400" spc="-1" strike="noStrike">
              <a:latin typeface="Arial"/>
            </a:endParaRPr>
          </a:p>
        </p:txBody>
      </p:sp>
      <p:graphicFrame>
        <p:nvGraphicFramePr>
          <p:cNvPr id="432" name="c_5_Block"/>
          <p:cNvGraphicFramePr/>
          <p:nvPr/>
        </p:nvGraphicFramePr>
        <p:xfrm>
          <a:off x="457200" y="4137480"/>
          <a:ext cx="11063880" cy="472680"/>
        </p:xfrm>
        <a:graphic>
          <a:graphicData uri="http://schemas.openxmlformats.org/drawingml/2006/table">
            <a:tbl>
              <a:tblPr/>
              <a:tblGrid>
                <a:gridCol w="11064240"/>
              </a:tblGrid>
              <a:tr h="473040">
                <a:tc>
                  <a:txBody>
                    <a:bodyPr lIns="179640" rIns="182880" tIns="73080" bIns="13716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Verdict: rewrite, not patch — if S/4HANA Cloud is on the roadmap.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179640" marR="182880">
                    <a:lnL w="72720">
                      <a:solidFill>
                        <a:srgbClr val="e06c00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title"/>
          </p:nvPr>
        </p:nvSpPr>
        <p:spPr>
          <a:xfrm>
            <a:off x="457200" y="72180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Clean Core — all 6 findings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4" name="ContentArea"/>
          <p:cNvSpPr/>
          <p:nvPr/>
        </p:nvSpPr>
        <p:spPr>
          <a:xfrm>
            <a:off x="457200" y="1463040"/>
            <a:ext cx="11063880" cy="4663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5" name="c_1_BlockGrid:0:c_1_Block"/>
          <p:cNvSpPr/>
          <p:nvPr/>
        </p:nvSpPr>
        <p:spPr>
          <a:xfrm>
            <a:off x="457200" y="1463040"/>
            <a:ext cx="5440320" cy="1395720"/>
          </a:xfrm>
          <a:prstGeom prst="rect">
            <a:avLst/>
          </a:prstGeom>
          <a:gradFill rotWithShape="0">
            <a:gsLst>
              <a:gs pos="0">
                <a:srgbClr val="c65f00"/>
              </a:gs>
              <a:gs pos="100000">
                <a:srgbClr val="f97800"/>
              </a:gs>
            </a:gsLst>
            <a:lin ang="16200000"/>
          </a:gradFill>
          <a:ln w="3175">
            <a:solidFill>
              <a:srgbClr val="5a4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HIGH — SXPG_COMMAND_EXECUTE (SFTP GET)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OS-shell access via SM69 — not allowed in Cloud.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36" name="c_1_BlockGrid:1:c_2_Block"/>
          <p:cNvSpPr/>
          <p:nvPr/>
        </p:nvSpPr>
        <p:spPr>
          <a:xfrm>
            <a:off x="6080760" y="1463040"/>
            <a:ext cx="5440320" cy="1395720"/>
          </a:xfrm>
          <a:prstGeom prst="rect">
            <a:avLst/>
          </a:prstGeom>
          <a:gradFill rotWithShape="0">
            <a:gsLst>
              <a:gs pos="0">
                <a:srgbClr val="c65f00"/>
              </a:gs>
              <a:gs pos="100000">
                <a:srgbClr val="f97800"/>
              </a:gs>
            </a:gsLst>
            <a:lin ang="16200000"/>
          </a:gradFill>
          <a:ln w="3175">
            <a:solidFill>
              <a:srgbClr val="5a4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HIGH — SXPG_COMMAND_EXECUTE (SFTP PUT)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Same shell-access blocker on the push path.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37" name="c_1_BlockGrid:2:c_3_Block"/>
          <p:cNvSpPr/>
          <p:nvPr/>
        </p:nvSpPr>
        <p:spPr>
          <a:xfrm>
            <a:off x="457200" y="3096720"/>
            <a:ext cx="5440320" cy="1395720"/>
          </a:xfrm>
          <a:prstGeom prst="rect">
            <a:avLst/>
          </a:prstGeom>
          <a:gradFill rotWithShape="0">
            <a:gsLst>
              <a:gs pos="0">
                <a:srgbClr val="c65f00"/>
              </a:gs>
              <a:gs pos="100000">
                <a:srgbClr val="f97800"/>
              </a:gs>
            </a:gsLst>
            <a:lin ang="16200000"/>
          </a:gradFill>
          <a:ln w="3175">
            <a:solidFill>
              <a:srgbClr val="5a4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HIGH — OPEN/READ/TRANSFER DATASET (app-server FS)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Direct AL11-style file I/O — disallowed in Cloud.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38" name="c_1_BlockGrid:3:c_4_Block"/>
          <p:cNvSpPr/>
          <p:nvPr/>
        </p:nvSpPr>
        <p:spPr>
          <a:xfrm>
            <a:off x="6080760" y="3096720"/>
            <a:ext cx="5440320" cy="1395720"/>
          </a:xfrm>
          <a:prstGeom prst="rect">
            <a:avLst/>
          </a:prstGeom>
          <a:gradFill rotWithShape="0">
            <a:gsLst>
              <a:gs pos="0">
                <a:srgbClr val="c65f00"/>
              </a:gs>
              <a:gs pos="100000">
                <a:srgbClr val="f97800"/>
              </a:gs>
            </a:gsLst>
            <a:lin ang="16200000"/>
          </a:gradFill>
          <a:ln w="3175">
            <a:solidFill>
              <a:srgbClr val="5a4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HIGH — DELETE DATASET (post-process cleanup)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App-server file deletion — disallowed in Cloud.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39" name="c_1_BlockGrid:4:c_5_Block"/>
          <p:cNvSpPr/>
          <p:nvPr/>
        </p:nvSpPr>
        <p:spPr>
          <a:xfrm>
            <a:off x="457200" y="4730400"/>
            <a:ext cx="5440320" cy="1395720"/>
          </a:xfrm>
          <a:prstGeom prst="rect">
            <a:avLst/>
          </a:prstGeom>
          <a:gradFill rotWithShape="0">
            <a:gsLst>
              <a:gs pos="0">
                <a:srgbClr val="c65f00"/>
              </a:gs>
              <a:gs pos="100000">
                <a:srgbClr val="f97800"/>
              </a:gs>
            </a:gsLst>
            <a:lin ang="16200000"/>
          </a:gradFill>
          <a:ln w="3175">
            <a:solidFill>
              <a:srgbClr val="5a4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HIGH — DELETE DATASET (error path)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Second AL11 deletion site, same blocker.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40" name="c_1_BlockGrid:5:c_6_Block"/>
          <p:cNvSpPr/>
          <p:nvPr/>
        </p:nvSpPr>
        <p:spPr>
          <a:xfrm>
            <a:off x="6080760" y="4730400"/>
            <a:ext cx="5440320" cy="1395720"/>
          </a:xfrm>
          <a:prstGeom prst="rect">
            <a:avLst/>
          </a:prstGeom>
          <a:gradFill rotWithShape="0">
            <a:gsLst>
              <a:gs pos="0">
                <a:srgbClr val="c65f00"/>
              </a:gs>
              <a:gs pos="100000">
                <a:srgbClr val="f97800"/>
              </a:gs>
            </a:gsLst>
            <a:lin ang="16200000"/>
          </a:gradFill>
          <a:ln w="3175">
            <a:solidFill>
              <a:srgbClr val="5a4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HIGH — Direct SELECT on TVARVC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Standard config table read without released API.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title"/>
          </p:nvPr>
        </p:nvSpPr>
        <p:spPr>
          <a:xfrm>
            <a:off x="481320" y="1793160"/>
            <a:ext cx="6833880" cy="92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6000" spc="-1" strike="noStrike">
                <a:solidFill>
                  <a:srgbClr val="ffffff"/>
                </a:solidFill>
                <a:latin typeface="Calibri Bold"/>
                <a:ea typeface="Calibri"/>
              </a:rPr>
              <a:t>Maintainability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2" name="PlaceHolder 2"/>
          <p:cNvSpPr>
            <a:spLocks noGrp="1"/>
          </p:cNvSpPr>
          <p:nvPr>
            <p:ph/>
          </p:nvPr>
        </p:nvSpPr>
        <p:spPr>
          <a:xfrm>
            <a:off x="481320" y="1335960"/>
            <a:ext cx="498600" cy="32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3055da"/>
                </a:solidFill>
                <a:latin typeface="Calibri"/>
                <a:ea typeface="Calibri"/>
              </a:rPr>
              <a:t>06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/>
          </p:nvPr>
        </p:nvSpPr>
        <p:spPr>
          <a:xfrm>
            <a:off x="481320" y="3126960"/>
            <a:ext cx="4554000" cy="28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 Light"/>
                <a:ea typeface="Calibri"/>
              </a:rPr>
              <a:t>Style, modern-ABAP and dead-code findings — 16 LOW. No blockers, steady tech-debt.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Maintainability: 16 findings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5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361152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000" spc="299" strike="noStrike" cap="all">
                <a:solidFill>
                  <a:srgbClr val="000000"/>
                </a:solidFill>
                <a:latin typeface="Calibri"/>
                <a:ea typeface="Calibri"/>
              </a:rPr>
              <a:t>ALL LOW · CLEANUP, NO URGENCY</a:t>
            </a:r>
            <a:endParaRPr b="0" lang="en-US" sz="1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6" name="ContentArea"/>
          <p:cNvSpPr/>
          <p:nvPr/>
        </p:nvSpPr>
        <p:spPr>
          <a:xfrm>
            <a:off x="457200" y="1463040"/>
            <a:ext cx="11063880" cy="4663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7" name="c_1_BlockGrid:0:c_1_Block:container"/>
          <p:cNvSpPr/>
          <p:nvPr/>
        </p:nvSpPr>
        <p:spPr>
          <a:xfrm>
            <a:off x="457200" y="1463040"/>
            <a:ext cx="2628720" cy="2399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8" name="c_1_BlockGrid:0:c_1_Block:metric"/>
          <p:cNvSpPr/>
          <p:nvPr/>
        </p:nvSpPr>
        <p:spPr>
          <a:xfrm>
            <a:off x="1647360" y="1600200"/>
            <a:ext cx="2480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e80202"/>
                </a:solidFill>
                <a:latin typeface="Calibri"/>
              </a:rPr>
              <a:t>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49" name="c_1_BlockGrid:0:c_1_Block:content"/>
          <p:cNvSpPr/>
          <p:nvPr/>
        </p:nvSpPr>
        <p:spPr>
          <a:xfrm>
            <a:off x="640080" y="2077560"/>
            <a:ext cx="22629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CRITICAL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50" name="c_1_BlockGrid:1:c_2_Block:container"/>
          <p:cNvSpPr/>
          <p:nvPr/>
        </p:nvSpPr>
        <p:spPr>
          <a:xfrm>
            <a:off x="3269160" y="1463040"/>
            <a:ext cx="2628720" cy="2399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1" name="c_1_BlockGrid:1:c_2_Block:metric"/>
          <p:cNvSpPr/>
          <p:nvPr/>
        </p:nvSpPr>
        <p:spPr>
          <a:xfrm>
            <a:off x="4459320" y="1600200"/>
            <a:ext cx="2480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e06c00"/>
                </a:solidFill>
                <a:latin typeface="Calibri"/>
              </a:rPr>
              <a:t>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52" name="c_1_BlockGrid:1:c_2_Block:content"/>
          <p:cNvSpPr/>
          <p:nvPr/>
        </p:nvSpPr>
        <p:spPr>
          <a:xfrm>
            <a:off x="3452040" y="2077560"/>
            <a:ext cx="22629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HIGH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53" name="c_1_BlockGrid:2:c_3_Block:container"/>
          <p:cNvSpPr/>
          <p:nvPr/>
        </p:nvSpPr>
        <p:spPr>
          <a:xfrm>
            <a:off x="6080760" y="1463040"/>
            <a:ext cx="2628720" cy="2399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4" name="c_1_BlockGrid:2:c_3_Block:metric"/>
          <p:cNvSpPr/>
          <p:nvPr/>
        </p:nvSpPr>
        <p:spPr>
          <a:xfrm>
            <a:off x="7270920" y="1600200"/>
            <a:ext cx="2480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107e8d"/>
                </a:solidFill>
                <a:latin typeface="Calibri"/>
              </a:rPr>
              <a:t>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55" name="c_1_BlockGrid:2:c_3_Block:content"/>
          <p:cNvSpPr/>
          <p:nvPr/>
        </p:nvSpPr>
        <p:spPr>
          <a:xfrm>
            <a:off x="6263640" y="2077560"/>
            <a:ext cx="22629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MEDIUM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56" name="c_1_BlockGrid:3:c_4_Block:container"/>
          <p:cNvSpPr/>
          <p:nvPr/>
        </p:nvSpPr>
        <p:spPr>
          <a:xfrm>
            <a:off x="8892720" y="1463040"/>
            <a:ext cx="2628720" cy="2399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7" name="c_1_BlockGrid:3:c_4_Block:metric"/>
          <p:cNvSpPr/>
          <p:nvPr/>
        </p:nvSpPr>
        <p:spPr>
          <a:xfrm>
            <a:off x="9959400" y="1600200"/>
            <a:ext cx="49500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898989"/>
                </a:solidFill>
                <a:latin typeface="Calibri"/>
              </a:rPr>
              <a:t>16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58" name="c_1_BlockGrid:3:c_4_Block:content"/>
          <p:cNvSpPr/>
          <p:nvPr/>
        </p:nvSpPr>
        <p:spPr>
          <a:xfrm>
            <a:off x="9075600" y="2077560"/>
            <a:ext cx="22629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LOW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title"/>
          </p:nvPr>
        </p:nvSpPr>
        <p:spPr>
          <a:xfrm>
            <a:off x="457200" y="72180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Maintainability — findings 1–8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0" name="ContentArea"/>
          <p:cNvSpPr/>
          <p:nvPr/>
        </p:nvSpPr>
        <p:spPr>
          <a:xfrm>
            <a:off x="457200" y="1463040"/>
            <a:ext cx="11063880" cy="4663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1" name="c_1_BlockGrid:0:c_1_Block"/>
          <p:cNvSpPr/>
          <p:nvPr/>
        </p:nvSpPr>
        <p:spPr>
          <a:xfrm>
            <a:off x="457200" y="1463040"/>
            <a:ext cx="2697120" cy="2271960"/>
          </a:xfrm>
          <a:prstGeom prst="rect">
            <a:avLst/>
          </a:prstGeom>
          <a:gradFill rotWithShape="0">
            <a:gsLst>
              <a:gs pos="0">
                <a:srgbClr val="7c7c7c"/>
              </a:gs>
              <a:gs pos="100000">
                <a:srgbClr val="959595"/>
              </a:gs>
            </a:gsLst>
            <a:lin ang="16200000"/>
          </a:gradFill>
          <a:ln w="317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LOW — Obsolete CONCATENATE for path build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Calibri"/>
              </a:rPr>
              <a:t>Use string templates instead of CONCATENATE.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62" name="c_1_BlockGrid:1:c_2_Block"/>
          <p:cNvSpPr/>
          <p:nvPr/>
        </p:nvSpPr>
        <p:spPr>
          <a:xfrm>
            <a:off x="3246120" y="1463040"/>
            <a:ext cx="2697120" cy="2271960"/>
          </a:xfrm>
          <a:prstGeom prst="rect">
            <a:avLst/>
          </a:prstGeom>
          <a:gradFill rotWithShape="0">
            <a:gsLst>
              <a:gs pos="0">
                <a:srgbClr val="7c7c7c"/>
              </a:gs>
              <a:gs pos="100000">
                <a:srgbClr val="959595"/>
              </a:gs>
            </a:gsLst>
            <a:lin ang="16200000"/>
          </a:gradFill>
          <a:ln w="317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LOW — Magic value for log-color param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Calibri"/>
              </a:rPr>
              <a:t>Raw '6'/'4'/'3' literals passed around.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63" name="c_1_BlockGrid:2:c_3_Block"/>
          <p:cNvSpPr/>
          <p:nvPr/>
        </p:nvSpPr>
        <p:spPr>
          <a:xfrm>
            <a:off x="6035040" y="1463040"/>
            <a:ext cx="2697120" cy="2271960"/>
          </a:xfrm>
          <a:prstGeom prst="rect">
            <a:avLst/>
          </a:prstGeom>
          <a:gradFill rotWithShape="0">
            <a:gsLst>
              <a:gs pos="0">
                <a:srgbClr val="7c7c7c"/>
              </a:gs>
              <a:gs pos="100000">
                <a:srgbClr val="959595"/>
              </a:gs>
            </a:gsLst>
            <a:lin ang="16200000"/>
          </a:gradFill>
          <a:ln w="317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LOW — Magic literals in FORMAT COLOR CASE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Calibri"/>
              </a:rPr>
              <a:t>Same color codes hard-coded again.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64" name="c_1_BlockGrid:3:c_4_Block"/>
          <p:cNvSpPr/>
          <p:nvPr/>
        </p:nvSpPr>
        <p:spPr>
          <a:xfrm>
            <a:off x="8823960" y="1463040"/>
            <a:ext cx="2697120" cy="2271960"/>
          </a:xfrm>
          <a:prstGeom prst="rect">
            <a:avLst/>
          </a:prstGeom>
          <a:gradFill rotWithShape="0">
            <a:gsLst>
              <a:gs pos="0">
                <a:srgbClr val="7c7c7c"/>
              </a:gs>
              <a:gs pos="100000">
                <a:srgbClr val="959595"/>
              </a:gs>
            </a:gsLst>
            <a:lin ang="16200000"/>
          </a:gradFill>
          <a:ln w="317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LOW — WITH HEADER LINE (lt_return #1)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Calibri"/>
              </a:rPr>
              <a:t>Obsolete table-with-header declaration.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65" name="c_1_BlockGrid:4:c_5_Block"/>
          <p:cNvSpPr/>
          <p:nvPr/>
        </p:nvSpPr>
        <p:spPr>
          <a:xfrm>
            <a:off x="457200" y="3854160"/>
            <a:ext cx="2697120" cy="2271960"/>
          </a:xfrm>
          <a:prstGeom prst="rect">
            <a:avLst/>
          </a:prstGeom>
          <a:gradFill rotWithShape="0">
            <a:gsLst>
              <a:gs pos="0">
                <a:srgbClr val="7c7c7c"/>
              </a:gs>
              <a:gs pos="100000">
                <a:srgbClr val="959595"/>
              </a:gs>
            </a:gsLst>
            <a:lin ang="16200000"/>
          </a:gradFill>
          <a:ln w="317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LOW — WITH HEADER LINE (lt_return #2)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Calibri"/>
              </a:rPr>
              <a:t>Second instance of the same pattern.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66" name="c_1_BlockGrid:5:c_6_Block"/>
          <p:cNvSpPr/>
          <p:nvPr/>
        </p:nvSpPr>
        <p:spPr>
          <a:xfrm>
            <a:off x="3246120" y="3854160"/>
            <a:ext cx="2697120" cy="2271960"/>
          </a:xfrm>
          <a:prstGeom prst="rect">
            <a:avLst/>
          </a:prstGeom>
          <a:gradFill rotWithShape="0">
            <a:gsLst>
              <a:gs pos="0">
                <a:srgbClr val="7c7c7c"/>
              </a:gs>
              <a:gs pos="100000">
                <a:srgbClr val="959595"/>
              </a:gs>
            </a:gsLst>
            <a:lin ang="16200000"/>
          </a:gradFill>
          <a:ln w="317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LOW — Commented-out code left in place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Calibri"/>
              </a:rPr>
              <a:t>Stray *lv_doc declaration above active one.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67" name="c_1_BlockGrid:6:c_7_Block"/>
          <p:cNvSpPr/>
          <p:nvPr/>
        </p:nvSpPr>
        <p:spPr>
          <a:xfrm>
            <a:off x="6035040" y="3854160"/>
            <a:ext cx="2697120" cy="2271960"/>
          </a:xfrm>
          <a:prstGeom prst="rect">
            <a:avLst/>
          </a:prstGeom>
          <a:gradFill rotWithShape="0">
            <a:gsLst>
              <a:gs pos="0">
                <a:srgbClr val="7c7c7c"/>
              </a:gs>
              <a:gs pos="100000">
                <a:srgbClr val="959595"/>
              </a:gs>
            </a:gsLst>
            <a:lin ang="16200000"/>
          </a:gradFill>
          <a:ln w="317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LOW — SPLIT for filename parsing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Calibri"/>
              </a:rPr>
              <a:t>Older style; consider FIND REGEX.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68" name="c_1_BlockGrid:7:c_8_Block"/>
          <p:cNvSpPr/>
          <p:nvPr/>
        </p:nvSpPr>
        <p:spPr>
          <a:xfrm>
            <a:off x="8823960" y="3854160"/>
            <a:ext cx="2697120" cy="2271960"/>
          </a:xfrm>
          <a:prstGeom prst="rect">
            <a:avLst/>
          </a:prstGeom>
          <a:gradFill rotWithShape="0">
            <a:gsLst>
              <a:gs pos="0">
                <a:srgbClr val="7c7c7c"/>
              </a:gs>
              <a:gs pos="100000">
                <a:srgbClr val="959595"/>
              </a:gs>
            </a:gsLst>
            <a:lin ang="16200000"/>
          </a:gradFill>
          <a:ln w="317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LOW — Dead variable lv_userid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Calibri"/>
              </a:rPr>
              <a:t>Declared, cleared, never sourced.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title"/>
          </p:nvPr>
        </p:nvSpPr>
        <p:spPr>
          <a:xfrm>
            <a:off x="457200" y="72180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Maintainability — findings 9–16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0" name="ContentArea"/>
          <p:cNvSpPr/>
          <p:nvPr/>
        </p:nvSpPr>
        <p:spPr>
          <a:xfrm>
            <a:off x="457200" y="1463040"/>
            <a:ext cx="11063880" cy="4663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1" name="c_1_BlockGrid:0:c_1_Block"/>
          <p:cNvSpPr/>
          <p:nvPr/>
        </p:nvSpPr>
        <p:spPr>
          <a:xfrm>
            <a:off x="457200" y="1463040"/>
            <a:ext cx="2697120" cy="2271960"/>
          </a:xfrm>
          <a:prstGeom prst="rect">
            <a:avLst/>
          </a:prstGeom>
          <a:gradFill rotWithShape="0">
            <a:gsLst>
              <a:gs pos="0">
                <a:srgbClr val="7c7c7c"/>
              </a:gs>
              <a:gs pos="100000">
                <a:srgbClr val="959595"/>
              </a:gs>
            </a:gsLst>
            <a:lin ang="16200000"/>
          </a:gradFill>
          <a:ln w="317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LOW — Mixed inline vs top DATA in same FORM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Calibri"/>
              </a:rPr>
              <a:t>Inconsistent declaration style.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72" name="c_1_BlockGrid:1:c_2_Block"/>
          <p:cNvSpPr/>
          <p:nvPr/>
        </p:nvSpPr>
        <p:spPr>
          <a:xfrm>
            <a:off x="3246120" y="1463040"/>
            <a:ext cx="2697120" cy="2271960"/>
          </a:xfrm>
          <a:prstGeom prst="rect">
            <a:avLst/>
          </a:prstGeom>
          <a:gradFill rotWithShape="0">
            <a:gsLst>
              <a:gs pos="0">
                <a:srgbClr val="7c7c7c"/>
              </a:gs>
              <a:gs pos="100000">
                <a:srgbClr val="959595"/>
              </a:gs>
            </a:gsLst>
            <a:lin ang="16200000"/>
          </a:gradFill>
          <a:ln w="317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LOW — Hard-coded 'INVALID PATIENT ID'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Calibri"/>
              </a:rPr>
              <a:t>Should use message class.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73" name="c_1_BlockGrid:2:c_3_Block"/>
          <p:cNvSpPr/>
          <p:nvPr/>
        </p:nvSpPr>
        <p:spPr>
          <a:xfrm>
            <a:off x="6035040" y="1463040"/>
            <a:ext cx="2697120" cy="2271960"/>
          </a:xfrm>
          <a:prstGeom prst="rect">
            <a:avLst/>
          </a:prstGeom>
          <a:gradFill rotWithShape="0">
            <a:gsLst>
              <a:gs pos="0">
                <a:srgbClr val="7c7c7c"/>
              </a:gs>
              <a:gs pos="100000">
                <a:srgbClr val="959595"/>
              </a:gs>
            </a:gsLst>
            <a:lin ang="16200000"/>
          </a:gradFill>
          <a:ln w="317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LOW — CONCATENATE for message build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Calibri"/>
              </a:rPr>
              <a:t>Replace with string template.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74" name="c_1_BlockGrid:3:c_4_Block"/>
          <p:cNvSpPr/>
          <p:nvPr/>
        </p:nvSpPr>
        <p:spPr>
          <a:xfrm>
            <a:off x="8823960" y="1463040"/>
            <a:ext cx="2697120" cy="2271960"/>
          </a:xfrm>
          <a:prstGeom prst="rect">
            <a:avLst/>
          </a:prstGeom>
          <a:gradFill rotWithShape="0">
            <a:gsLst>
              <a:gs pos="0">
                <a:srgbClr val="7c7c7c"/>
              </a:gs>
              <a:gs pos="100000">
                <a:srgbClr val="959595"/>
              </a:gs>
            </a:gsLst>
            <a:lin ang="16200000"/>
          </a:gradFill>
          <a:ln w="317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LOW — Magic constant 'AU1' (document type)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Calibri"/>
              </a:rPr>
              <a:t>Extract to named constant.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75" name="c_1_BlockGrid:4:c_5_Block"/>
          <p:cNvSpPr/>
          <p:nvPr/>
        </p:nvSpPr>
        <p:spPr>
          <a:xfrm>
            <a:off x="457200" y="3854160"/>
            <a:ext cx="2697120" cy="2271960"/>
          </a:xfrm>
          <a:prstGeom prst="rect">
            <a:avLst/>
          </a:prstGeom>
          <a:gradFill rotWithShape="0">
            <a:gsLst>
              <a:gs pos="0">
                <a:srgbClr val="7c7c7c"/>
              </a:gs>
              <a:gs pos="100000">
                <a:srgbClr val="959595"/>
              </a:gs>
            </a:gsLst>
            <a:lin ang="16200000"/>
          </a:gradFill>
          <a:ln w="317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LOW — Commented-out ENDIF left behind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Calibri"/>
              </a:rPr>
              <a:t>Control-flow noise.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76" name="c_1_BlockGrid:5:c_6_Block"/>
          <p:cNvSpPr/>
          <p:nvPr/>
        </p:nvSpPr>
        <p:spPr>
          <a:xfrm>
            <a:off x="3246120" y="3854160"/>
            <a:ext cx="2697120" cy="2271960"/>
          </a:xfrm>
          <a:prstGeom prst="rect">
            <a:avLst/>
          </a:prstGeom>
          <a:gradFill rotWithShape="0">
            <a:gsLst>
              <a:gs pos="0">
                <a:srgbClr val="7c7c7c"/>
              </a:gs>
              <a:gs pos="100000">
                <a:srgbClr val="959595"/>
              </a:gs>
            </a:gsLst>
            <a:lin ang="16200000"/>
          </a:gradFill>
          <a:ln w="317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LOW — Hard-coded allowed-characters string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Calibri"/>
              </a:rPr>
              <a:t>Opaque validation set.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77" name="c_1_BlockGrid:6:c_7_Block"/>
          <p:cNvSpPr/>
          <p:nvPr/>
        </p:nvSpPr>
        <p:spPr>
          <a:xfrm>
            <a:off x="6035040" y="3854160"/>
            <a:ext cx="2697120" cy="2271960"/>
          </a:xfrm>
          <a:prstGeom prst="rect">
            <a:avLst/>
          </a:prstGeom>
          <a:gradFill rotWithShape="0">
            <a:gsLst>
              <a:gs pos="0">
                <a:srgbClr val="7c7c7c"/>
              </a:gs>
              <a:gs pos="100000">
                <a:srgbClr val="959595"/>
              </a:gs>
            </a:gsLst>
            <a:lin ang="16200000"/>
          </a:gradFill>
          <a:ln w="317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LOW — CONCATENATE for path with '\' separator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Calibri"/>
              </a:rPr>
              <a:t>Magic separator + obsolete style.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78" name="c_1_BlockGrid:7:c_8_Block"/>
          <p:cNvSpPr/>
          <p:nvPr/>
        </p:nvSpPr>
        <p:spPr>
          <a:xfrm>
            <a:off x="8823960" y="3854160"/>
            <a:ext cx="2697120" cy="2271960"/>
          </a:xfrm>
          <a:prstGeom prst="rect">
            <a:avLst/>
          </a:prstGeom>
          <a:gradFill rotWithShape="0">
            <a:gsLst>
              <a:gs pos="0">
                <a:srgbClr val="7c7c7c"/>
              </a:gs>
              <a:gs pos="100000">
                <a:srgbClr val="959595"/>
              </a:gs>
            </a:gsLst>
            <a:lin ang="16200000"/>
          </a:gradFill>
          <a:ln w="317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LOW — Untyped FORM parameters in f_fill_log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Calibri"/>
              </a:rPr>
              <a:t>Implicit ANY typing.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title"/>
          </p:nvPr>
        </p:nvSpPr>
        <p:spPr>
          <a:xfrm>
            <a:off x="481320" y="1793160"/>
            <a:ext cx="5640480" cy="92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6000" spc="-1" strike="noStrike">
                <a:solidFill>
                  <a:srgbClr val="ffffff"/>
                </a:solidFill>
                <a:latin typeface="Calibri Bold"/>
                <a:ea typeface="Calibri"/>
              </a:rPr>
              <a:t>Summary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0" name="PlaceHolder 2"/>
          <p:cNvSpPr>
            <a:spLocks noGrp="1"/>
          </p:cNvSpPr>
          <p:nvPr>
            <p:ph/>
          </p:nvPr>
        </p:nvSpPr>
        <p:spPr>
          <a:xfrm>
            <a:off x="481320" y="1335960"/>
            <a:ext cx="498600" cy="32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3055da"/>
                </a:solidFill>
                <a:latin typeface="Calibri"/>
                <a:ea typeface="Calibri"/>
              </a:rPr>
              <a:t>07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/>
          </p:nvPr>
        </p:nvSpPr>
        <p:spPr>
          <a:xfrm>
            <a:off x="481320" y="3126960"/>
            <a:ext cx="4554000" cy="28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 Light"/>
                <a:ea typeface="Calibri"/>
              </a:rPr>
              <a:t>Cross-cutting picture, prioritized actions, and what the run itself cost.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Findings by category × severity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3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361152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000" spc="299" strike="noStrike" cap="all">
                <a:solidFill>
                  <a:srgbClr val="000000"/>
                </a:solidFill>
                <a:latin typeface="Calibri"/>
                <a:ea typeface="Calibri"/>
              </a:rPr>
              <a:t>WHERE THE WEIGHT SITS</a:t>
            </a:r>
            <a:endParaRPr b="0" lang="en-US" sz="1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4" name="ContentArea"/>
          <p:cNvSpPr/>
          <p:nvPr/>
        </p:nvSpPr>
        <p:spPr>
          <a:xfrm>
            <a:off x="457200" y="1463040"/>
            <a:ext cx="11063880" cy="4663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5" name="c_1_BlockGrid:0:c_1_Block"/>
          <p:cNvSpPr/>
          <p:nvPr/>
        </p:nvSpPr>
        <p:spPr>
          <a:xfrm>
            <a:off x="457200" y="1463040"/>
            <a:ext cx="2139480" cy="624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6" name="c_1_BlockGrid:1:c_2_Block"/>
          <p:cNvSpPr/>
          <p:nvPr/>
        </p:nvSpPr>
        <p:spPr>
          <a:xfrm>
            <a:off x="2688480" y="1463040"/>
            <a:ext cx="2139480" cy="624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36720" bIns="3672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e80202"/>
                </a:solidFill>
                <a:latin typeface="Calibri"/>
              </a:rPr>
              <a:t>CRITICAL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87" name="c_1_BlockGrid:2:c_3_Block"/>
          <p:cNvSpPr/>
          <p:nvPr/>
        </p:nvSpPr>
        <p:spPr>
          <a:xfrm>
            <a:off x="4919400" y="1463040"/>
            <a:ext cx="2139480" cy="624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36720" bIns="3672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e06c00"/>
                </a:solidFill>
                <a:latin typeface="Calibri"/>
              </a:rPr>
              <a:t>HIGH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88" name="c_1_BlockGrid:3:c_4_Block"/>
          <p:cNvSpPr/>
          <p:nvPr/>
        </p:nvSpPr>
        <p:spPr>
          <a:xfrm>
            <a:off x="7150680" y="1463040"/>
            <a:ext cx="2139480" cy="624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36720" bIns="3672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07e8d"/>
                </a:solidFill>
                <a:latin typeface="Calibri"/>
              </a:rPr>
              <a:t>MEDIUM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89" name="c_1_BlockGrid:4:c_5_Block"/>
          <p:cNvSpPr/>
          <p:nvPr/>
        </p:nvSpPr>
        <p:spPr>
          <a:xfrm>
            <a:off x="9381600" y="1463040"/>
            <a:ext cx="2139480" cy="624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36720" bIns="3672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898989"/>
                </a:solidFill>
                <a:latin typeface="Calibri"/>
              </a:rPr>
              <a:t>LOW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90" name="c_1_BlockGrid:5:c_6_Block"/>
          <p:cNvSpPr/>
          <p:nvPr/>
        </p:nvSpPr>
        <p:spPr>
          <a:xfrm>
            <a:off x="457200" y="2206800"/>
            <a:ext cx="2139480" cy="624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36720" bIns="3672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47ff"/>
                </a:solidFill>
                <a:latin typeface="Calibri"/>
              </a:rPr>
              <a:t>Security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91" name="c_1_BlockGrid:6:c_7_Block"/>
          <p:cNvSpPr/>
          <p:nvPr/>
        </p:nvSpPr>
        <p:spPr>
          <a:xfrm>
            <a:off x="2688480" y="2206800"/>
            <a:ext cx="2139480" cy="624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36720" bIns="3672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4d4d4d"/>
                </a:solidFill>
                <a:latin typeface="Calibri"/>
              </a:rPr>
              <a:t>0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92" name="c_1_BlockGrid:7:c_8_Block"/>
          <p:cNvSpPr/>
          <p:nvPr/>
        </p:nvSpPr>
        <p:spPr>
          <a:xfrm>
            <a:off x="4919400" y="2206800"/>
            <a:ext cx="2139480" cy="624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36720" bIns="3672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e06c00"/>
                </a:solidFill>
                <a:latin typeface="Calibri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93" name="c_1_BlockGrid:8:c_9_Block"/>
          <p:cNvSpPr/>
          <p:nvPr/>
        </p:nvSpPr>
        <p:spPr>
          <a:xfrm>
            <a:off x="7150680" y="2206800"/>
            <a:ext cx="2139480" cy="624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36720" bIns="3672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4d4d4d"/>
                </a:solidFill>
                <a:latin typeface="Calibri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94" name="c_1_BlockGrid:9:c_10_Block"/>
          <p:cNvSpPr/>
          <p:nvPr/>
        </p:nvSpPr>
        <p:spPr>
          <a:xfrm>
            <a:off x="9381600" y="2206800"/>
            <a:ext cx="2139480" cy="624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36720" bIns="3672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4d4d4d"/>
                </a:solidFill>
                <a:latin typeface="Calibri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95" name="c_1_BlockGrid:10:c_11_Block"/>
          <p:cNvSpPr/>
          <p:nvPr/>
        </p:nvSpPr>
        <p:spPr>
          <a:xfrm>
            <a:off x="457200" y="2950560"/>
            <a:ext cx="2139480" cy="624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36720" bIns="3672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47ff"/>
                </a:solidFill>
                <a:latin typeface="Calibri"/>
              </a:rPr>
              <a:t>Performance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96" name="c_1_BlockGrid:11:c_12_Block"/>
          <p:cNvSpPr/>
          <p:nvPr/>
        </p:nvSpPr>
        <p:spPr>
          <a:xfrm>
            <a:off x="2688480" y="2950560"/>
            <a:ext cx="2139480" cy="624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36720" bIns="3672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4d4d4d"/>
                </a:solidFill>
                <a:latin typeface="Calibri"/>
              </a:rPr>
              <a:t>0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97" name="c_1_BlockGrid:12:c_13_Block"/>
          <p:cNvSpPr/>
          <p:nvPr/>
        </p:nvSpPr>
        <p:spPr>
          <a:xfrm>
            <a:off x="4919400" y="2950560"/>
            <a:ext cx="2139480" cy="624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36720" bIns="3672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e06c00"/>
                </a:solidFill>
                <a:latin typeface="Calibri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98" name="c_1_BlockGrid:13:c_14_Block"/>
          <p:cNvSpPr/>
          <p:nvPr/>
        </p:nvSpPr>
        <p:spPr>
          <a:xfrm>
            <a:off x="7150680" y="2950560"/>
            <a:ext cx="2139480" cy="624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36720" bIns="3672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4d4d4d"/>
                </a:solidFill>
                <a:latin typeface="Calibri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99" name="c_1_BlockGrid:14:c_15_Block"/>
          <p:cNvSpPr/>
          <p:nvPr/>
        </p:nvSpPr>
        <p:spPr>
          <a:xfrm>
            <a:off x="9381600" y="2950560"/>
            <a:ext cx="2139480" cy="624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36720" bIns="3672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4d4d4d"/>
                </a:solidFill>
                <a:latin typeface="Calibri"/>
              </a:rPr>
              <a:t>0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00" name="c_1_BlockGrid:15:c_16_Block"/>
          <p:cNvSpPr/>
          <p:nvPr/>
        </p:nvSpPr>
        <p:spPr>
          <a:xfrm>
            <a:off x="457200" y="3694320"/>
            <a:ext cx="2139480" cy="624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36720" bIns="3672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47ff"/>
                </a:solidFill>
                <a:latin typeface="Calibri"/>
              </a:rPr>
              <a:t>Clean Core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01" name="c_1_BlockGrid:16:c_17_Block"/>
          <p:cNvSpPr/>
          <p:nvPr/>
        </p:nvSpPr>
        <p:spPr>
          <a:xfrm>
            <a:off x="2688480" y="3694320"/>
            <a:ext cx="2139480" cy="624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36720" bIns="3672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4d4d4d"/>
                </a:solidFill>
                <a:latin typeface="Calibri"/>
              </a:rPr>
              <a:t>0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02" name="c_1_BlockGrid:17:c_18_Block"/>
          <p:cNvSpPr/>
          <p:nvPr/>
        </p:nvSpPr>
        <p:spPr>
          <a:xfrm>
            <a:off x="4919400" y="3694320"/>
            <a:ext cx="2139480" cy="624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36720" bIns="3672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e06c00"/>
                </a:solidFill>
                <a:latin typeface="Calibri"/>
              </a:rPr>
              <a:t>6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03" name="c_1_BlockGrid:18:c_19_Block"/>
          <p:cNvSpPr/>
          <p:nvPr/>
        </p:nvSpPr>
        <p:spPr>
          <a:xfrm>
            <a:off x="7150680" y="3694320"/>
            <a:ext cx="2139480" cy="624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36720" bIns="3672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4d4d4d"/>
                </a:solidFill>
                <a:latin typeface="Calibri"/>
              </a:rPr>
              <a:t>0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04" name="c_1_BlockGrid:19:c_20_Block"/>
          <p:cNvSpPr/>
          <p:nvPr/>
        </p:nvSpPr>
        <p:spPr>
          <a:xfrm>
            <a:off x="9381600" y="3694320"/>
            <a:ext cx="2139480" cy="624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36720" bIns="3672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4d4d4d"/>
                </a:solidFill>
                <a:latin typeface="Calibri"/>
              </a:rPr>
              <a:t>0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05" name="c_1_BlockGrid:20:c_21_Block"/>
          <p:cNvSpPr/>
          <p:nvPr/>
        </p:nvSpPr>
        <p:spPr>
          <a:xfrm>
            <a:off x="457200" y="4438080"/>
            <a:ext cx="2139480" cy="624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36720" bIns="3672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47ff"/>
                </a:solidFill>
                <a:latin typeface="Calibri"/>
              </a:rPr>
              <a:t>Maintainability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06" name="c_1_BlockGrid:21:c_22_Block"/>
          <p:cNvSpPr/>
          <p:nvPr/>
        </p:nvSpPr>
        <p:spPr>
          <a:xfrm>
            <a:off x="2688480" y="4438080"/>
            <a:ext cx="2139480" cy="624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36720" bIns="3672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4d4d4d"/>
                </a:solidFill>
                <a:latin typeface="Calibri"/>
              </a:rPr>
              <a:t>0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07" name="c_1_BlockGrid:22:c_23_Block"/>
          <p:cNvSpPr/>
          <p:nvPr/>
        </p:nvSpPr>
        <p:spPr>
          <a:xfrm>
            <a:off x="4919400" y="4438080"/>
            <a:ext cx="2139480" cy="624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36720" bIns="3672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e06c00"/>
                </a:solidFill>
                <a:latin typeface="Calibri"/>
              </a:rPr>
              <a:t>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08" name="c_1_BlockGrid:23:c_24_Block"/>
          <p:cNvSpPr/>
          <p:nvPr/>
        </p:nvSpPr>
        <p:spPr>
          <a:xfrm>
            <a:off x="7150680" y="4438080"/>
            <a:ext cx="2139480" cy="624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36720" bIns="3672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4d4d4d"/>
                </a:solidFill>
                <a:latin typeface="Calibri"/>
              </a:rPr>
              <a:t>0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09" name="c_1_BlockGrid:24:c_25_Block"/>
          <p:cNvSpPr/>
          <p:nvPr/>
        </p:nvSpPr>
        <p:spPr>
          <a:xfrm>
            <a:off x="9381600" y="4438080"/>
            <a:ext cx="2139480" cy="624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36720" bIns="3672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4d4d4d"/>
                </a:solidFill>
                <a:latin typeface="Calibri"/>
              </a:rPr>
              <a:t>16</a:t>
            </a:r>
            <a:endParaRPr b="0" lang="en-US" sz="1400" spc="-1" strike="noStrike">
              <a:latin typeface="Arial"/>
            </a:endParaRPr>
          </a:p>
        </p:txBody>
      </p:sp>
      <p:graphicFrame>
        <p:nvGraphicFramePr>
          <p:cNvPr id="510" name="c_26_Block"/>
          <p:cNvGraphicFramePr/>
          <p:nvPr/>
        </p:nvGraphicFramePr>
        <p:xfrm>
          <a:off x="457200" y="5337360"/>
          <a:ext cx="11063880" cy="456840"/>
        </p:xfrm>
        <a:graphic>
          <a:graphicData uri="http://schemas.openxmlformats.org/drawingml/2006/table">
            <a:tbl>
              <a:tblPr/>
              <a:tblGrid>
                <a:gridCol w="11064240"/>
              </a:tblGrid>
              <a:tr h="457200">
                <a:tc>
                  <a:txBody>
                    <a:bodyPr lIns="179640" rIns="182880" tIns="73080" bIns="13716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TOTAL: 30 findings — 10 HIGH, 3 MEDIUM, 17 LOW, 0 CRITICAL.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179640" marR="182880">
                    <a:lnL w="72720">
                      <a:solidFill>
                        <a:srgbClr val="0047ff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Significant rework needed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2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361152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000" spc="299" strike="noStrike" cap="all">
                <a:solidFill>
                  <a:srgbClr val="ffffff"/>
                </a:solidFill>
                <a:latin typeface="Calibri"/>
                <a:ea typeface="Calibri"/>
              </a:rPr>
              <a:t>ON-PREM OK · CLOUD BLOCKED</a:t>
            </a:r>
            <a:endParaRPr b="0" lang="en-US" sz="1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3" name="ContentArea"/>
          <p:cNvSpPr/>
          <p:nvPr/>
        </p:nvSpPr>
        <p:spPr>
          <a:xfrm>
            <a:off x="457200" y="1463040"/>
            <a:ext cx="11063880" cy="4663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4" name="c_1_BlockGrid:0:c_1_Block"/>
          <p:cNvSpPr/>
          <p:nvPr/>
        </p:nvSpPr>
        <p:spPr>
          <a:xfrm>
            <a:off x="457200" y="1463040"/>
            <a:ext cx="5257440" cy="1081080"/>
          </a:xfrm>
          <a:prstGeom prst="rect">
            <a:avLst/>
          </a:prstGeom>
          <a:gradFill rotWithShape="0">
            <a:gsLst>
              <a:gs pos="0">
                <a:srgbClr val="e66b00"/>
              </a:gs>
              <a:gs pos="100000">
                <a:srgbClr val="ff841a"/>
              </a:gs>
            </a:gsLst>
            <a:lin ang="16200000"/>
          </a:gradFill>
          <a:ln w="3175">
            <a:solidFill>
              <a:srgbClr val="675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37160" bIns="137160" anchor="t">
            <a:noAutofit/>
          </a:bodyPr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Schedule a focused fix sprint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Address all 10 HIGH issues before next release — security and performance carry the urgency.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15" name="c_1_BlockGrid:1:c_2_Block"/>
          <p:cNvSpPr/>
          <p:nvPr/>
        </p:nvSpPr>
        <p:spPr>
          <a:xfrm>
            <a:off x="6263640" y="1463040"/>
            <a:ext cx="5257440" cy="1081080"/>
          </a:xfrm>
          <a:prstGeom prst="rect">
            <a:avLst/>
          </a:prstGeom>
          <a:gradFill rotWithShape="0">
            <a:gsLst>
              <a:gs pos="0">
                <a:srgbClr val="00dde5"/>
              </a:gs>
              <a:gs pos="100000">
                <a:srgbClr val="19f6ff"/>
              </a:gs>
            </a:gsLst>
            <a:lin ang="16200000"/>
          </a:gradFill>
          <a:ln w="3175">
            <a:solidFill>
              <a:srgbClr val="4b6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37160" bIns="137160" anchor="t">
            <a:noAutofit/>
          </a:bodyPr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Migration call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6 HIGH Clean Core findings = rewrite the SFTP path before any S/4HANA Cloud move.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title"/>
          </p:nvPr>
        </p:nvSpPr>
        <p:spPr>
          <a:xfrm>
            <a:off x="457200" y="72180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Recommended action order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7" name="ContentArea"/>
          <p:cNvSpPr/>
          <p:nvPr/>
        </p:nvSpPr>
        <p:spPr>
          <a:xfrm>
            <a:off x="457200" y="1463040"/>
            <a:ext cx="11063880" cy="4663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8" name="c_1_ChevronProcess:chevron0"/>
          <p:cNvSpPr/>
          <p:nvPr/>
        </p:nvSpPr>
        <p:spPr>
          <a:xfrm>
            <a:off x="457200" y="1463040"/>
            <a:ext cx="2422800" cy="548280"/>
          </a:xfrm>
          <a:prstGeom prst="chevron">
            <a:avLst>
              <a:gd name="adj" fmla="val 45000"/>
            </a:avLst>
          </a:prstGeom>
          <a:solidFill>
            <a:srgbClr val="e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Now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19" name="c_1_ChevronProcess:chevron1"/>
          <p:cNvSpPr/>
          <p:nvPr/>
        </p:nvSpPr>
        <p:spPr>
          <a:xfrm>
            <a:off x="3337560" y="1463040"/>
            <a:ext cx="2422800" cy="548280"/>
          </a:xfrm>
          <a:prstGeom prst="chevron">
            <a:avLst>
              <a:gd name="adj" fmla="val 45000"/>
            </a:avLst>
          </a:prstGeom>
          <a:solidFill>
            <a:srgbClr val="e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Next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20" name="c_1_ChevronProcess:chevron2"/>
          <p:cNvSpPr/>
          <p:nvPr/>
        </p:nvSpPr>
        <p:spPr>
          <a:xfrm>
            <a:off x="6217920" y="1463040"/>
            <a:ext cx="2422800" cy="548280"/>
          </a:xfrm>
          <a:prstGeom prst="chevron">
            <a:avLst>
              <a:gd name="adj" fmla="val 45000"/>
            </a:avLst>
          </a:prstGeom>
          <a:solidFill>
            <a:srgbClr val="e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Plan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21" name="c_1_ChevronProcess:chevron3"/>
          <p:cNvSpPr/>
          <p:nvPr/>
        </p:nvSpPr>
        <p:spPr>
          <a:xfrm>
            <a:off x="9098280" y="1463040"/>
            <a:ext cx="2422800" cy="548280"/>
          </a:xfrm>
          <a:prstGeom prst="chevron">
            <a:avLst>
              <a:gd name="adj" fmla="val 45000"/>
            </a:avLst>
          </a:prstGeom>
          <a:solidFill>
            <a:srgbClr val="e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Ongoing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22" name="c_1_ChevronProcess:content0"/>
          <p:cNvSpPr/>
          <p:nvPr/>
        </p:nvSpPr>
        <p:spPr>
          <a:xfrm>
            <a:off x="457200" y="2103120"/>
            <a:ext cx="2422800" cy="914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Security — add AUTHORITY-CHECK before SXPG; validate and escape parameters.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23" name="c_1_ChevronProcess:content1"/>
          <p:cNvSpPr/>
          <p:nvPr/>
        </p:nvSpPr>
        <p:spPr>
          <a:xfrm>
            <a:off x="3337560" y="2103120"/>
            <a:ext cx="2422800" cy="914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Performance — pull FM calls out of LOOP; narrow SELECT lists.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24" name="c_1_ChevronProcess:content2"/>
          <p:cNvSpPr/>
          <p:nvPr/>
        </p:nvSpPr>
        <p:spPr>
          <a:xfrm>
            <a:off x="6217920" y="2103120"/>
            <a:ext cx="2422800" cy="914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Clean Core — replace SXPG + AL11 with Integration Suite / released APIs.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25" name="c_1_ChevronProcess:content3"/>
          <p:cNvSpPr/>
          <p:nvPr/>
        </p:nvSpPr>
        <p:spPr>
          <a:xfrm>
            <a:off x="9098280" y="2103120"/>
            <a:ext cx="2422800" cy="914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Maintainability — fix during normal evolution; no dedicated sprint.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Run economics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7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361152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000" spc="299" strike="noStrike" cap="all">
                <a:solidFill>
                  <a:srgbClr val="000000"/>
                </a:solidFill>
                <a:latin typeface="Calibri"/>
                <a:ea typeface="Calibri"/>
              </a:rPr>
              <a:t>AI VS MANUAL REVIEW</a:t>
            </a:r>
            <a:endParaRPr b="0" lang="en-US" sz="1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8" name="ContentArea"/>
          <p:cNvSpPr/>
          <p:nvPr/>
        </p:nvSpPr>
        <p:spPr>
          <a:xfrm>
            <a:off x="457200" y="1463040"/>
            <a:ext cx="11063880" cy="4663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9" name="c_1_BlockGrid:0:c_1_Block:container"/>
          <p:cNvSpPr/>
          <p:nvPr/>
        </p:nvSpPr>
        <p:spPr>
          <a:xfrm>
            <a:off x="457200" y="1463040"/>
            <a:ext cx="2628720" cy="2399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0" name="c_1_BlockGrid:0:c_1_Block:metric"/>
          <p:cNvSpPr/>
          <p:nvPr/>
        </p:nvSpPr>
        <p:spPr>
          <a:xfrm>
            <a:off x="1064520" y="1600200"/>
            <a:ext cx="141372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47ff"/>
                </a:solidFill>
                <a:latin typeface="Calibri"/>
              </a:rPr>
              <a:t>~6 min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531" name="c_1_BlockGrid:0:c_1_Block:content"/>
          <p:cNvSpPr/>
          <p:nvPr/>
        </p:nvSpPr>
        <p:spPr>
          <a:xfrm>
            <a:off x="640080" y="2077560"/>
            <a:ext cx="226296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Total wall-clock (vs 4–8 hours manual)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32" name="c_1_BlockGrid:1:c_2_Block:container"/>
          <p:cNvSpPr/>
          <p:nvPr/>
        </p:nvSpPr>
        <p:spPr>
          <a:xfrm>
            <a:off x="3269160" y="1463040"/>
            <a:ext cx="2628720" cy="2399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3" name="c_1_BlockGrid:1:c_2_Block:metric"/>
          <p:cNvSpPr/>
          <p:nvPr/>
        </p:nvSpPr>
        <p:spPr>
          <a:xfrm>
            <a:off x="4019760" y="1600200"/>
            <a:ext cx="112716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107e8d"/>
                </a:solidFill>
                <a:latin typeface="Calibri"/>
              </a:rPr>
              <a:t>~45 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534" name="c_1_BlockGrid:1:c_2_Block:content"/>
          <p:cNvSpPr/>
          <p:nvPr/>
        </p:nvSpPr>
        <p:spPr>
          <a:xfrm>
            <a:off x="3452040" y="2077560"/>
            <a:ext cx="226296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Slowest of 4 parallel category checks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35" name="c_1_BlockGrid:2:c_3_Block:container"/>
          <p:cNvSpPr/>
          <p:nvPr/>
        </p:nvSpPr>
        <p:spPr>
          <a:xfrm>
            <a:off x="6080760" y="1463040"/>
            <a:ext cx="2628720" cy="2399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6" name="c_1_BlockGrid:2:c_3_Block:metric"/>
          <p:cNvSpPr/>
          <p:nvPr/>
        </p:nvSpPr>
        <p:spPr>
          <a:xfrm>
            <a:off x="6905880" y="1600200"/>
            <a:ext cx="97812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a080db"/>
                </a:solidFill>
                <a:latin typeface="Calibri"/>
              </a:rPr>
              <a:t>381k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537" name="c_1_BlockGrid:2:c_3_Block:content"/>
          <p:cNvSpPr/>
          <p:nvPr/>
        </p:nvSpPr>
        <p:spPr>
          <a:xfrm>
            <a:off x="6263640" y="2077560"/>
            <a:ext cx="226296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Executor-side LLM tokens (gpt-5.2)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38" name="c_1_BlockGrid:3:c_4_Block:container"/>
          <p:cNvSpPr/>
          <p:nvPr/>
        </p:nvSpPr>
        <p:spPr>
          <a:xfrm>
            <a:off x="8892720" y="1463040"/>
            <a:ext cx="2628720" cy="2399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9" name="c_1_BlockGrid:3:c_4_Block:metric"/>
          <p:cNvSpPr/>
          <p:nvPr/>
        </p:nvSpPr>
        <p:spPr>
          <a:xfrm>
            <a:off x="9687600" y="1600200"/>
            <a:ext cx="103896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e06c00"/>
                </a:solidFill>
                <a:latin typeface="Calibri"/>
              </a:rPr>
              <a:t>~$28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540" name="c_1_BlockGrid:3:c_4_Block:content"/>
          <p:cNvSpPr/>
          <p:nvPr/>
        </p:nvSpPr>
        <p:spPr>
          <a:xfrm>
            <a:off x="9075600" y="2077560"/>
            <a:ext cx="226296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Controller-side share of session cost</a:t>
            </a:r>
            <a:endParaRPr b="0" lang="en-US" sz="1400" spc="-1" strike="noStrike">
              <a:latin typeface="Arial"/>
            </a:endParaRPr>
          </a:p>
        </p:txBody>
      </p:sp>
      <p:graphicFrame>
        <p:nvGraphicFramePr>
          <p:cNvPr id="541" name="c_5_Block"/>
          <p:cNvGraphicFramePr/>
          <p:nvPr/>
        </p:nvGraphicFramePr>
        <p:xfrm>
          <a:off x="457200" y="4137480"/>
          <a:ext cx="11063880" cy="456840"/>
        </p:xfrm>
        <a:graphic>
          <a:graphicData uri="http://schemas.openxmlformats.org/drawingml/2006/table">
            <a:tbl>
              <a:tblPr/>
              <a:tblGrid>
                <a:gridCol w="11064240"/>
              </a:tblGrid>
              <a:tr h="457200">
                <a:tc>
                  <a:txBody>
                    <a:bodyPr lIns="179640" rIns="182880" tIns="73080" bIns="13716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30 findings, 4 categories, one parallel run.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179640" marR="182880">
                    <a:lnL w="72720">
                      <a:solidFill>
                        <a:srgbClr val="0047ff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title"/>
          </p:nvPr>
        </p:nvSpPr>
        <p:spPr>
          <a:xfrm>
            <a:off x="457200" y="72180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What we learned for the next run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3" name="ContentArea"/>
          <p:cNvSpPr/>
          <p:nvPr/>
        </p:nvSpPr>
        <p:spPr>
          <a:xfrm>
            <a:off x="457200" y="1463040"/>
            <a:ext cx="11063880" cy="4663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4" name="c_1_BlockGrid:0:c_1_Block:container"/>
          <p:cNvSpPr/>
          <p:nvPr/>
        </p:nvSpPr>
        <p:spPr>
          <a:xfrm>
            <a:off x="457200" y="1463040"/>
            <a:ext cx="5440320" cy="2212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545" name="c_1_BlockGrid:0:c_1_Block:Checkmark_Circle_1" descr="image.png"/>
          <p:cNvPicPr/>
          <p:nvPr/>
        </p:nvPicPr>
        <p:blipFill>
          <a:blip r:embed="rId1"/>
          <a:stretch/>
        </p:blipFill>
        <p:spPr>
          <a:xfrm>
            <a:off x="640080" y="2249280"/>
            <a:ext cx="639720" cy="639720"/>
          </a:xfrm>
          <a:prstGeom prst="rect">
            <a:avLst/>
          </a:prstGeom>
          <a:ln w="0">
            <a:noFill/>
          </a:ln>
        </p:spPr>
      </p:pic>
      <p:sp>
        <p:nvSpPr>
          <p:cNvPr id="546" name="c_1_BlockGrid:0:c_1_Block:content"/>
          <p:cNvSpPr/>
          <p:nvPr/>
        </p:nvSpPr>
        <p:spPr>
          <a:xfrm>
            <a:off x="1600200" y="1600200"/>
            <a:ext cx="4114440" cy="96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1" lang="en-US" sz="1400" spc="-1" strike="noStrike">
                <a:solidFill>
                  <a:srgbClr val="00a705"/>
                </a:solidFill>
                <a:latin typeface="Calibri"/>
              </a:rPr>
              <a:t>Worked well</a:t>
            </a:r>
            <a:endParaRPr b="0" lang="en-US" sz="1400" spc="-1" strike="noStrike">
              <a:latin typeface="Arial"/>
            </a:endParaRPr>
          </a:p>
          <a:p>
            <a:pPr marL="228600" indent="-1828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Parallel category checks safe with read-only tools</a:t>
            </a:r>
            <a:endParaRPr b="0" lang="en-US" sz="1400" spc="-1" strike="noStrike">
              <a:latin typeface="Arial"/>
            </a:endParaRPr>
          </a:p>
          <a:p>
            <a:pPr marL="228600" indent="-1828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Per-category isolation — no rule leakage</a:t>
            </a:r>
            <a:endParaRPr b="0" lang="en-US" sz="1400" spc="-1" strike="noStrike">
              <a:latin typeface="Arial"/>
            </a:endParaRPr>
          </a:p>
          <a:p>
            <a:pPr marL="228600" indent="-1828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Strict source citation eliminated speculation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47" name="c_1_BlockGrid:1:c_2_Block:container"/>
          <p:cNvSpPr/>
          <p:nvPr/>
        </p:nvSpPr>
        <p:spPr>
          <a:xfrm>
            <a:off x="6080760" y="1463040"/>
            <a:ext cx="5440320" cy="2212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548" name="c_1_BlockGrid:1:c_2_Block:X_Mark_Circle_1" descr="image.png"/>
          <p:cNvPicPr/>
          <p:nvPr/>
        </p:nvPicPr>
        <p:blipFill>
          <a:blip r:embed="rId2"/>
          <a:stretch/>
        </p:blipFill>
        <p:spPr>
          <a:xfrm>
            <a:off x="6263640" y="2249280"/>
            <a:ext cx="639720" cy="639720"/>
          </a:xfrm>
          <a:prstGeom prst="rect">
            <a:avLst/>
          </a:prstGeom>
          <a:ln w="0">
            <a:noFill/>
          </a:ln>
        </p:spPr>
      </p:pic>
      <p:sp>
        <p:nvSpPr>
          <p:cNvPr id="549" name="c_1_BlockGrid:1:c_2_Block:content"/>
          <p:cNvSpPr/>
          <p:nvPr/>
        </p:nvSpPr>
        <p:spPr>
          <a:xfrm>
            <a:off x="7223760" y="1600200"/>
            <a:ext cx="4114440" cy="11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1" lang="en-US" sz="1400" spc="-1" strike="noStrike">
                <a:solidFill>
                  <a:srgbClr val="e80202"/>
                </a:solidFill>
                <a:latin typeface="Calibri"/>
              </a:rPr>
              <a:t>Went off</a:t>
            </a:r>
            <a:endParaRPr b="0" lang="en-US" sz="1400" spc="-1" strike="noStrike">
              <a:latin typeface="Arial"/>
            </a:endParaRPr>
          </a:p>
          <a:p>
            <a:pPr marL="228600" indent="-1828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Bash backtick expansion mangled rule text in prompts</a:t>
            </a:r>
            <a:endParaRPr b="0" lang="en-US" sz="1400" spc="-1" strike="noStrike">
              <a:latin typeface="Arial"/>
            </a:endParaRPr>
          </a:p>
          <a:p>
            <a:pPr marL="228600" indent="-1828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Severity-summary regex missed maintainability block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0" name="c_1_BlockGrid:2:c_3_Block:container"/>
          <p:cNvSpPr/>
          <p:nvPr/>
        </p:nvSpPr>
        <p:spPr>
          <a:xfrm>
            <a:off x="457200" y="3913560"/>
            <a:ext cx="5440320" cy="2212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551" name="c_1_BlockGrid:2:c_3_Block:Gear_Process_2" descr="image.png"/>
          <p:cNvPicPr/>
          <p:nvPr/>
        </p:nvPicPr>
        <p:blipFill>
          <a:blip r:embed="rId3"/>
          <a:stretch/>
        </p:blipFill>
        <p:spPr>
          <a:xfrm>
            <a:off x="640080" y="4700160"/>
            <a:ext cx="639720" cy="639720"/>
          </a:xfrm>
          <a:prstGeom prst="rect">
            <a:avLst/>
          </a:prstGeom>
          <a:ln w="0">
            <a:noFill/>
          </a:ln>
        </p:spPr>
      </p:pic>
      <p:sp>
        <p:nvSpPr>
          <p:cNvPr id="552" name="c_1_BlockGrid:2:c_3_Block:content"/>
          <p:cNvSpPr/>
          <p:nvPr/>
        </p:nvSpPr>
        <p:spPr>
          <a:xfrm>
            <a:off x="1600200" y="4050720"/>
            <a:ext cx="4114440" cy="96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1" lang="en-US" sz="1400" spc="-1" strike="noStrike">
                <a:solidFill>
                  <a:srgbClr val="e06c00"/>
                </a:solidFill>
                <a:latin typeface="Calibri"/>
              </a:rPr>
              <a:t>Fix next time</a:t>
            </a:r>
            <a:endParaRPr b="0" lang="en-US" sz="1400" spc="-1" strike="noStrike">
              <a:latin typeface="Arial"/>
            </a:endParaRPr>
          </a:p>
          <a:p>
            <a:pPr marL="228600" indent="-1828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Build prompts in Python end-to-end, no bash variables</a:t>
            </a:r>
            <a:endParaRPr b="0" lang="en-US" sz="1400" spc="-1" strike="noStrike">
              <a:latin typeface="Arial"/>
            </a:endParaRPr>
          </a:p>
          <a:p>
            <a:pPr marL="228600" indent="-1828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Parse severity from per-finding headings only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3" name="c_1_BlockGrid:3:c_4_Block:container"/>
          <p:cNvSpPr/>
          <p:nvPr/>
        </p:nvSpPr>
        <p:spPr>
          <a:xfrm>
            <a:off x="6080760" y="3913560"/>
            <a:ext cx="5440320" cy="2212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554" name="c_1_BlockGrid:3:c_4_Block:Thumbs_Up" descr="image.png"/>
          <p:cNvPicPr/>
          <p:nvPr/>
        </p:nvPicPr>
        <p:blipFill>
          <a:blip r:embed="rId4"/>
          <a:stretch/>
        </p:blipFill>
        <p:spPr>
          <a:xfrm>
            <a:off x="6263640" y="4700160"/>
            <a:ext cx="639720" cy="639720"/>
          </a:xfrm>
          <a:prstGeom prst="rect">
            <a:avLst/>
          </a:prstGeom>
          <a:ln w="0">
            <a:noFill/>
          </a:ln>
        </p:spPr>
      </p:pic>
      <p:sp>
        <p:nvSpPr>
          <p:cNvPr id="555" name="c_1_BlockGrid:3:c_4_Block:content"/>
          <p:cNvSpPr/>
          <p:nvPr/>
        </p:nvSpPr>
        <p:spPr>
          <a:xfrm>
            <a:off x="7223760" y="4050720"/>
            <a:ext cx="4114440" cy="74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1" lang="en-US" sz="1400" spc="-1" strike="noStrike">
                <a:solidFill>
                  <a:srgbClr val="0047ff"/>
                </a:solidFill>
                <a:latin typeface="Calibri"/>
              </a:rPr>
              <a:t>Don't change</a:t>
            </a:r>
            <a:endParaRPr b="0" lang="en-US" sz="1400" spc="-1" strike="noStrike">
              <a:latin typeface="Arial"/>
            </a:endParaRPr>
          </a:p>
          <a:p>
            <a:pPr marL="228600" indent="-1828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One worked example per pipeline is enough</a:t>
            </a:r>
            <a:endParaRPr b="0" lang="en-US" sz="1400" spc="-1" strike="noStrike">
              <a:latin typeface="Arial"/>
            </a:endParaRPr>
          </a:p>
          <a:p>
            <a:pPr marL="228600" indent="-1828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Keep parallelism only for read-only tool sets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/>
          </p:cNvSpPr>
          <p:nvPr>
            <p:ph type="title"/>
          </p:nvPr>
        </p:nvSpPr>
        <p:spPr>
          <a:xfrm>
            <a:off x="457200" y="723960"/>
            <a:ext cx="112741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Questions?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7" name="PlaceHolder 2"/>
          <p:cNvSpPr>
            <a:spLocks noGrp="1"/>
          </p:cNvSpPr>
          <p:nvPr>
            <p:ph/>
          </p:nvPr>
        </p:nvSpPr>
        <p:spPr>
          <a:xfrm>
            <a:off x="457200" y="382320"/>
            <a:ext cx="3611520" cy="2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1000" spc="299" strike="noStrike" cap="all">
                <a:solidFill>
                  <a:srgbClr val="ffffff"/>
                </a:solidFill>
                <a:latin typeface="Calibri"/>
                <a:ea typeface="Calibri"/>
              </a:rPr>
              <a:t>FULL ARTIFACTS IN TUTORIAL</a:t>
            </a:r>
            <a:endParaRPr b="0" lang="en-US" sz="1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8" name="ContentArea"/>
          <p:cNvSpPr/>
          <p:nvPr/>
        </p:nvSpPr>
        <p:spPr>
          <a:xfrm>
            <a:off x="457200" y="1463040"/>
            <a:ext cx="11063880" cy="4663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0a0a0"/>
      </a:dk2>
      <a:lt2>
        <a:srgbClr val="fbfafa"/>
      </a:lt2>
      <a:accent1>
        <a:srgbClr val="060606"/>
      </a:accent1>
      <a:accent2>
        <a:srgbClr val="418dff"/>
      </a:accent2>
      <a:accent3>
        <a:srgbClr val="107e8d"/>
      </a:accent3>
      <a:accent4>
        <a:srgbClr val="8353d2"/>
      </a:accent4>
      <a:accent5>
        <a:srgbClr val="3055da"/>
      </a:accent5>
      <a:accent6>
        <a:srgbClr val="009cbe"/>
      </a:accent6>
      <a:hlink>
        <a:srgbClr val="61e2bb"/>
      </a:hlink>
      <a:folHlink>
        <a:srgbClr val="03815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0a0a0"/>
      </a:dk2>
      <a:lt2>
        <a:srgbClr val="fbfafa"/>
      </a:lt2>
      <a:accent1>
        <a:srgbClr val="060606"/>
      </a:accent1>
      <a:accent2>
        <a:srgbClr val="418dff"/>
      </a:accent2>
      <a:accent3>
        <a:srgbClr val="107e8d"/>
      </a:accent3>
      <a:accent4>
        <a:srgbClr val="8353d2"/>
      </a:accent4>
      <a:accent5>
        <a:srgbClr val="3055da"/>
      </a:accent5>
      <a:accent6>
        <a:srgbClr val="009cbe"/>
      </a:accent6>
      <a:hlink>
        <a:srgbClr val="61e2bb"/>
      </a:hlink>
      <a:folHlink>
        <a:srgbClr val="03815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0a0a0"/>
      </a:dk2>
      <a:lt2>
        <a:srgbClr val="fbfafa"/>
      </a:lt2>
      <a:accent1>
        <a:srgbClr val="060606"/>
      </a:accent1>
      <a:accent2>
        <a:srgbClr val="418dff"/>
      </a:accent2>
      <a:accent3>
        <a:srgbClr val="107e8d"/>
      </a:accent3>
      <a:accent4>
        <a:srgbClr val="8353d2"/>
      </a:accent4>
      <a:accent5>
        <a:srgbClr val="3055da"/>
      </a:accent5>
      <a:accent6>
        <a:srgbClr val="009cbe"/>
      </a:accent6>
      <a:hlink>
        <a:srgbClr val="61e2bb"/>
      </a:hlink>
      <a:folHlink>
        <a:srgbClr val="03815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0a0a0"/>
      </a:dk2>
      <a:lt2>
        <a:srgbClr val="fbfafa"/>
      </a:lt2>
      <a:accent1>
        <a:srgbClr val="060606"/>
      </a:accent1>
      <a:accent2>
        <a:srgbClr val="418dff"/>
      </a:accent2>
      <a:accent3>
        <a:srgbClr val="107e8d"/>
      </a:accent3>
      <a:accent4>
        <a:srgbClr val="8353d2"/>
      </a:accent4>
      <a:accent5>
        <a:srgbClr val="3055da"/>
      </a:accent5>
      <a:accent6>
        <a:srgbClr val="009cbe"/>
      </a:accent6>
      <a:hlink>
        <a:srgbClr val="61e2bb"/>
      </a:hlink>
      <a:folHlink>
        <a:srgbClr val="03815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0a0a0"/>
      </a:dk2>
      <a:lt2>
        <a:srgbClr val="fbfafa"/>
      </a:lt2>
      <a:accent1>
        <a:srgbClr val="060606"/>
      </a:accent1>
      <a:accent2>
        <a:srgbClr val="418dff"/>
      </a:accent2>
      <a:accent3>
        <a:srgbClr val="107e8d"/>
      </a:accent3>
      <a:accent4>
        <a:srgbClr val="8353d2"/>
      </a:accent4>
      <a:accent5>
        <a:srgbClr val="3055da"/>
      </a:accent5>
      <a:accent6>
        <a:srgbClr val="009cbe"/>
      </a:accent6>
      <a:hlink>
        <a:srgbClr val="61e2bb"/>
      </a:hlink>
      <a:folHlink>
        <a:srgbClr val="03815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0a0a0"/>
      </a:dk2>
      <a:lt2>
        <a:srgbClr val="fbfafa"/>
      </a:lt2>
      <a:accent1>
        <a:srgbClr val="060606"/>
      </a:accent1>
      <a:accent2>
        <a:srgbClr val="418dff"/>
      </a:accent2>
      <a:accent3>
        <a:srgbClr val="107e8d"/>
      </a:accent3>
      <a:accent4>
        <a:srgbClr val="8353d2"/>
      </a:accent4>
      <a:accent5>
        <a:srgbClr val="3055da"/>
      </a:accent5>
      <a:accent6>
        <a:srgbClr val="009cbe"/>
      </a:accent6>
      <a:hlink>
        <a:srgbClr val="61e2bb"/>
      </a:hlink>
      <a:folHlink>
        <a:srgbClr val="03815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_rels/item4.xml.rels><?xml version="1.0" encoding="UTF-8"?>
<Relationships xmlns="http://schemas.openxmlformats.org/package/2006/relationships"><Relationship Id="rId1" Type="http://schemas.openxmlformats.org/officeDocument/2006/relationships/customXmlProps" Target="itemProps4.xml"/>
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45da436-b9c0-45a6-9ecc-c0655a249673">
      <Value>1635</Value>
      <Value>116</Value>
      <Value>72</Value>
      <Value>1</Value>
      <Value>3444</Value>
    </TaxCatchAll>
    <LikesCount xmlns="http://schemas.microsoft.com/sharepoint/v3">37</LikesCount>
    <ica38aae1f42489fb9720caef7617fcd xmlns="f45da436-b9c0-45a6-9ecc-c0655a249673">
      <Terms xmlns="http://schemas.microsoft.com/office/infopath/2007/PartnerControls">
        <TermInfo>
          <TermName>General Decks:About EPAM</TermName>
          <TermId>1bb3a607-45a4-4116-99d9-b95075743ae1</TermId>
        </TermInfo>
      </Terms>
    </ica38aae1f42489fb9720caef7617fcd>
    <StoryOwner xmlns="f45da436-b9c0-45a6-9ecc-c0655a249673">
      <UserInfo>
        <DisplayName>c:0t.c|tenant|5250c590-249d-4ccd-91b6-76bf54384662</DisplayName>
        <AccountId>15</AccountId>
        <AccountType/>
      </UserInfo>
      <UserInfo>
        <DisplayName>i:0#.f|membership|viktar_dvorkin@epam.com,#i:0#.f|membership|viktar_dvorkin@epam.com,#Viktar_Dvorkin@epam.com,#Viktar_Dvorkin@epam.com,#Viktar Dvorkin,#,#GDO Office,#SVP, Global Head of Advanced Engineering, Cloud and Enterprise Platforms</DisplayName>
        <AccountId>1450</AccountId>
        <AccountType/>
      </UserInfo>
    </StoryOwner>
    <StoryVideoLink xmlns="f45da436-b9c0-45a6-9ecc-c0655a249673">
      <Url>https://videoportal.epam.com/video/2JwbXbYM</Url>
      <Description>https://videoportal.epam.com/video/2JwbXbYM</Description>
    </StoryVideoLink>
    <a6a6423fd38e469e9a7567459672989e xmlns="f45da436-b9c0-45a6-9ecc-c0655a249673">
      <Terms xmlns="http://schemas.microsoft.com/office/infopath/2007/PartnerControls">
        <TermInfo>
          <TermName>Continuum</TermName>
          <TermId>036b37b0-418a-48a3-ad40-f27762061154</TermId>
        </TermInfo>
        <TermInfo>
          <TermName>About EPAM</TermName>
          <TermId>e35b7162-8377-4ac0-bb47-f30ed6f0902e</TermId>
        </TermInfo>
      </Terms>
    </a6a6423fd38e469e9a7567459672989e>
    <ExpirationDate xmlns="f45da436-b9c0-45a6-9ecc-c0655a249673">2025-11-20T00:00:00+00:00</ExpirationDate>
    <_dlc_DocId xmlns="f45da436-b9c0-45a6-9ecc-c0655a249673">EPAMSTORY-1389392072-5</_dlc_DocId>
    <_dlc_DocIdUrl xmlns="f45da436-b9c0-45a6-9ecc-c0655a249673">
      <Url>https://epam.sharepoint.com/sites/EPAMPresalesStories/_layouts/15/DocIdRedir.aspx?ID=EPAMSTORY-1389392072-5</Url>
      <Description>EPAMSTORY-1389392072-5</Description>
    </_dlc_DocIdUrl>
    <ExpirationStatus xmlns="cce964ea-0c98-4d20-81b3-11b96e0098eb">ok</ExpirationStatus>
    <ConfigNotes xmlns="http://schemas.microsoft.com/sharepoint/v3" xsi:nil="true"/>
    <o10324d9d8f24f3d87174cfdfd74b2e5 xmlns="f45da436-b9c0-45a6-9ecc-c0655a249673">
      <Terms xmlns="http://schemas.microsoft.com/office/infopath/2007/PartnerControls">
        <TermInfo>
          <TermName>About EPAM</TermName>
          <TermId>5e1ed0a0-89ac-446a-837d-6ea8b9460059</TermId>
        </TermInfo>
      </Terms>
    </o10324d9d8f24f3d87174cfdfd74b2e5>
    <Contributors xmlns="cce964ea-0c98-4d20-81b3-11b96e0098eb">
      <UserInfo>
        <DisplayName/>
        <AccountId xsi:nil="true"/>
        <AccountType/>
      </UserInfo>
    </Contributors>
    <Part_x0020_of_x0020_Story xmlns="f45da436-b9c0-45a6-9ecc-c0655a249673" xsi:nil="true"/>
    <SharedWithUsers xmlns="f45da436-b9c0-45a6-9ecc-c0655a249673">
      <UserInfo>
        <DisplayName/>
        <AccountId xsi:nil="true"/>
        <AccountType/>
      </UserInfo>
    </SharedWithUsers>
    <TaxCatchAllLabel xmlns="f45da436-b9c0-45a6-9ecc-c0655a249673" xsi:nil="true"/>
    <_dlc_DocIdPersistId xmlns="f45da436-b9c0-45a6-9ecc-c0655a249673" xsi:nil="true"/>
    <h557d92785684d7cbabbc42229493ceb xmlns="f45da436-b9c0-45a6-9ecc-c0655a249673">
      <Terms xmlns="http://schemas.microsoft.com/office/infopath/2007/PartnerControls">
        <TermInfo>
          <TermName>Confidential: NDA Required</TermName>
          <TermId>1078c1ca-8558-4f4e-bb3a-506201fcb43c</TermId>
        </TermInfo>
      </Terms>
    </h557d92785684d7cbabbc42229493ceb>
    <d0b4fb09d84842999ca30d5dd3a1ca39 xmlns="f45da436-b9c0-45a6-9ecc-c0655a249673">
      <Terms xmlns="http://schemas.microsoft.com/office/infopath/2007/PartnerControls"/>
    </d0b4fb09d84842999ca30d5dd3a1ca39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EPAM Story" ma:contentTypeID="0x0101009D00C2DDB7BE0A4F95197A46FA9E762A002B352ACE8C7DF74FABD5BBBE23F6FD6F" ma:contentTypeVersion="24" ma:contentTypeDescription="Create a new EPAM Story" ma:contentTypeScope="" ma:versionID="6c7ad0fab38022b33ef4691436c7fb7a">
  <xsd:schema xmlns:xsd="http://www.w3.org/2001/XMLSchema" xmlns:xs="http://www.w3.org/2001/XMLSchema" xmlns:p="http://schemas.microsoft.com/office/2006/metadata/properties" xmlns:ns1="http://schemas.microsoft.com/sharepoint/v3" xmlns:ns2="f45da436-b9c0-45a6-9ecc-c0655a249673" xmlns:ns3="cce964ea-0c98-4d20-81b3-11b96e0098eb" targetNamespace="http://schemas.microsoft.com/office/2006/metadata/properties" ma:root="true" ma:fieldsID="aef5d73f16a20ab942390f9d63fc4095" ns1:_="" ns2:_="" ns3:_="">
    <xsd:import namespace="http://schemas.microsoft.com/sharepoint/v3"/>
    <xsd:import namespace="f45da436-b9c0-45a6-9ecc-c0655a249673"/>
    <xsd:import namespace="cce964ea-0c98-4d20-81b3-11b96e0098eb"/>
    <xsd:element name="properties">
      <xsd:complexType>
        <xsd:sequence>
          <xsd:element name="documentManagement">
            <xsd:complexType>
              <xsd:all>
                <xsd:element ref="ns2:ExpirationDate"/>
                <xsd:element ref="ns2:StoryOwner"/>
                <xsd:element ref="ns3:Contributors" minOccurs="0"/>
                <xsd:element ref="ns3:ExpirationStatus" minOccurs="0"/>
                <xsd:element ref="ns2:Part_x0020_of_x0020_Story" minOccurs="0"/>
                <xsd:element ref="ns2:StoryVideoLink" minOccurs="0"/>
                <xsd:element ref="ns1:ConfigNotes" minOccurs="0"/>
                <xsd:element ref="ns2:_dlc_DocIdUrl" minOccurs="0"/>
                <xsd:element ref="ns2:a6a6423fd38e469e9a7567459672989e" minOccurs="0"/>
                <xsd:element ref="ns1:LikesCount" minOccurs="0"/>
                <xsd:element ref="ns2:SharedWithUsers" minOccurs="0"/>
                <xsd:element ref="ns2:SharedWithDetails" minOccurs="0"/>
                <xsd:element ref="ns2:ica38aae1f42489fb9720caef7617fcd" minOccurs="0"/>
                <xsd:element ref="ns2:_dlc_DocId" minOccurs="0"/>
                <xsd:element ref="ns2:o10324d9d8f24f3d87174cfdfd74b2e5" minOccurs="0"/>
                <xsd:element ref="ns2:_dlc_DocIdPersistId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2:h557d92785684d7cbabbc42229493ceb" minOccurs="0"/>
                <xsd:element ref="ns3:MediaServiceBillingMetadata" minOccurs="0"/>
                <xsd:element ref="ns2:d0b4fb09d84842999ca30d5dd3a1ca39" minOccurs="0"/>
                <xsd:element ref="ns2:TaxCatchAllLabel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ConfigNotes" ma:index="11" nillable="true" ma:displayName="Notes" ma:internalName="ConfigNotes" ma:readOnly="false">
      <xsd:simpleType>
        <xsd:restriction base="dms:Note">
          <xsd:maxLength value="255"/>
        </xsd:restriction>
      </xsd:simpleType>
    </xsd:element>
    <xsd:element name="LikesCount" ma:index="19" nillable="true" ma:displayName="Number of Likes" ma:hidden="true" ma:internalName="Likes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5da436-b9c0-45a6-9ecc-c0655a249673" elementFormDefault="qualified">
    <xsd:import namespace="http://schemas.microsoft.com/office/2006/documentManagement/types"/>
    <xsd:import namespace="http://schemas.microsoft.com/office/infopath/2007/PartnerControls"/>
    <xsd:element name="ExpirationDate" ma:index="4" ma:displayName="Review Date" ma:default="[today]" ma:format="DateOnly" ma:internalName="ExpirationDate" ma:readOnly="false">
      <xsd:simpleType>
        <xsd:restriction base="dms:DateTime"/>
      </xsd:simpleType>
    </xsd:element>
    <xsd:element name="StoryOwner" ma:index="5" ma:displayName="StoryOwner" ma:list="UserInfo" ma:SearchPeopleOnly="false" ma:SharePointGroup="0" ma:internalName="StoryOwner" ma:readOnly="fals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Part_x0020_of_x0020_Story" ma:index="9" nillable="true" ma:displayName="Part of Collection" ma:list="{caf6492b-c3a1-41e6-9ddd-75f5bc3198ae}" ma:internalName="Part_x0020_of_x0020_Story" ma:readOnly="false" ma:showField="Title" ma:web="f45da436-b9c0-45a6-9ecc-c0655a2496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toryVideoLink" ma:index="10" nillable="true" ma:displayName="StoryVideoLink" ma:description="Link to video on EPAM VideoPortal about this story" ma:format="Hyperlink" ma:internalName="StoryVideoLink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Url" ma:index="14" nillable="true" ma:displayName="Document ID" ma:description="Permanent link to this document." ma:hidden="true" ma:internalName="_dlc_DocIdUr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a6a6423fd38e469e9a7567459672989e" ma:index="17" nillable="true" ma:taxonomy="true" ma:internalName="a6a6423fd38e469e9a7567459672989e" ma:taxonomyFieldName="StoryTags" ma:displayName="StoryTags" ma:readOnly="false" ma:default="" ma:fieldId="{a6a6423f-d38e-469e-9a75-67459672989e}" ma:taxonomyMulti="true" ma:sspId="debda6a7-6b37-4000-ac6c-4fd0a963898e" ma:termSetId="f1da140d-ef9e-4ced-9281-d8ea40222c81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SharedWithUsers" ma:index="21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hidden="true" ma:internalName="SharedWithDetails" ma:readOnly="true">
      <xsd:simpleType>
        <xsd:restriction base="dms:Note"/>
      </xsd:simpleType>
    </xsd:element>
    <xsd:element name="ica38aae1f42489fb9720caef7617fcd" ma:index="23" ma:taxonomy="true" ma:internalName="ica38aae1f42489fb9720caef7617fcd" ma:taxonomyFieldName="Story" ma:displayName="Taxonomy" ma:readOnly="false" ma:default="" ma:fieldId="{2ca38aae-1f42-489f-b972-0caef7617fcd}" ma:taxonomyMulti="true" ma:sspId="debda6a7-6b37-4000-ac6c-4fd0a963898e" ma:termSetId="d72849a2-9b0d-48bf-bf08-492c9dccb842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DocId" ma:index="24" nillable="true" ma:displayName="Document ID Value" ma:description="The value of the document ID assigned to this item." ma:hidden="true" ma:indexed="true" ma:internalName="_dlc_DocId" ma:readOnly="true">
      <xsd:simpleType>
        <xsd:restriction base="dms:Text"/>
      </xsd:simpleType>
    </xsd:element>
    <xsd:element name="o10324d9d8f24f3d87174cfdfd74b2e5" ma:index="25" ma:taxonomy="true" ma:internalName="o10324d9d8f24f3d87174cfdfd74b2e5" ma:taxonomyFieldName="StoryCategories" ma:displayName="StoryCategories" ma:readOnly="false" ma:default="1628;#Capability|437677bb-e3a5-4872-945b-ba4270c6cbb4" ma:fieldId="{810324d9-d8f2-4f3d-8717-4cfdfd74b2e5}" ma:taxonomyMulti="true" ma:sspId="debda6a7-6b37-4000-ac6c-4fd0a963898e" ma:termSetId="ddcebb0a-3fca-4e23-b6a5-f1f8550db23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DocIdPersistId" ma:index="27" nillable="true" ma:displayName="Persist ID" ma:description="Keep ID on add." ma:hidden="true" ma:internalName="_dlc_DocIdPersistId" ma:readOnly="false">
      <xsd:simpleType>
        <xsd:restriction base="dms:Boolean"/>
      </xsd:simpleType>
    </xsd:element>
    <xsd:element name="TaxCatchAll" ma:index="28" nillable="true" ma:displayName="Taxonomy Catch All Column" ma:hidden="true" ma:list="{f4ef9fac-c5ce-424a-9df9-4a92c932d921}" ma:internalName="TaxCatchAll" ma:readOnly="false" ma:showField="CatchAllData" ma:web="f45da436-b9c0-45a6-9ecc-c0655a2496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h557d92785684d7cbabbc42229493ceb" ma:index="31" ma:taxonomy="true" ma:internalName="h557d92785684d7cbabbc42229493ceb" ma:taxonomyFieldName="UsagePermission" ma:displayName="UsagePermission" ma:readOnly="false" ma:default="3444;#Confidential: NDA Required|1078c1ca-8558-4f4e-bb3a-506201fcb43c" ma:fieldId="{1557d927-8568-4d7c-babb-c42229493ceb}" ma:sspId="debda6a7-6b37-4000-ac6c-4fd0a963898e" ma:termSetId="8fdd4e80-0ab9-4356-9b99-f53e66d463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0b4fb09d84842999ca30d5dd3a1ca39" ma:index="34" nillable="true" ma:taxonomy="true" ma:internalName="d0b4fb09d84842999ca30d5dd3a1ca39" ma:taxonomyFieldName="VCN" ma:displayName="VCN" ma:readOnly="false" ma:default="" ma:fieldId="{d0b4fb09-d848-4299-9ca3-0d5dd3a1ca39}" ma:taxonomyMulti="true" ma:sspId="debda6a7-6b37-4000-ac6c-4fd0a963898e" ma:termSetId="983cafd6-05e4-4154-90f9-0772cf21af6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Label" ma:index="35" nillable="true" ma:displayName="Taxonomy Catch All Column1" ma:hidden="true" ma:list="{f4ef9fac-c5ce-424a-9df9-4a92c932d921}" ma:internalName="TaxCatchAllLabel" ma:readOnly="false" ma:showField="CatchAllDataLabel" ma:web="f45da436-b9c0-45a6-9ecc-c0655a2496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e964ea-0c98-4d20-81b3-11b96e0098eb" elementFormDefault="qualified">
    <xsd:import namespace="http://schemas.microsoft.com/office/2006/documentManagement/types"/>
    <xsd:import namespace="http://schemas.microsoft.com/office/infopath/2007/PartnerControls"/>
    <xsd:element name="Contributors" ma:index="6" nillable="true" ma:displayName="Contributors" ma:format="Dropdown" ma:list="UserInfo" ma:SharePointGroup="0" ma:internalName="Contributors" ma:readOnly="fals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xpirationStatus" ma:index="7" nillable="true" ma:displayName="ExpirationStatus" ma:internalName="ExpirationStatus" ma:readOnly="false">
      <xsd:simpleType>
        <xsd:restriction base="dms:Text">
          <xsd:maxLength value="255"/>
        </xsd:restriction>
      </xsd:simpleType>
    </xsd:element>
    <xsd:element name="MediaServiceObjectDetectorVersions" ma:index="2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GenerationTime" ma:index="3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CB216C-B8AE-4FE7-A9EB-F5691280A8C7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D5483322-9D94-4891-9E64-C985B1D86A41}">
  <ds:schemaRefs>
    <ds:schemaRef ds:uri="f45da436-b9c0-45a6-9ecc-c0655a249673"/>
    <ds:schemaRef ds:uri="http://purl.org/dc/dcmitype/"/>
    <ds:schemaRef ds:uri="http://purl.org/dc/terms/"/>
    <ds:schemaRef ds:uri="http://purl.org/dc/elements/1.1/"/>
    <ds:schemaRef ds:uri="http://schemas.microsoft.com/sharepoint/v3"/>
    <ds:schemaRef ds:uri="http://schemas.microsoft.com/office/2006/documentManagement/types"/>
    <ds:schemaRef ds:uri="http://www.w3.org/XML/1998/namespace"/>
    <ds:schemaRef ds:uri="cce964ea-0c98-4d20-81b3-11b96e0098eb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9BE67F4B-6A2F-473F-80F8-05CE7721E7A5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223FEB0C-CC02-4177-8430-04E42C5C0C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45da436-b9c0-45a6-9ecc-c0655a249673"/>
    <ds:schemaRef ds:uri="cce964ea-0c98-4d20-81b3-11b96e0098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Covers</Template>
  <TotalTime>1266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2018-01-26T19:23:30Z</dcterms:created>
  <dc:creator>Jennifer Markowitz</dc:creator>
  <dc:description/>
  <dc:language>en-US</dc:language>
  <cp:lastModifiedBy/>
  <dcterms:modified xsi:type="dcterms:W3CDTF">2026-05-20T14:36:42Z</dcterms:modified>
  <cp:revision>5</cp:revision>
  <dc:subject/>
  <dc:title>EPAM Overview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0x0101009D00C2DDB7BE0A4F95197A46FA9E762A002B352ACE8C7DF74FABD5BBBE23F6FD6F</vt:lpwstr>
  </property>
  <property fmtid="{D5CDD505-2E9C-101B-9397-08002B2CF9AE}" pid="3" name="ImportRevision">
    <vt:lpwstr>636751944040000000</vt:lpwstr>
  </property>
  <property fmtid="{D5CDD505-2E9C-101B-9397-08002B2CF9AE}" pid="4" name="LikedBy">
    <vt:lpwstr>17;#Palina Vilava;#78;#Martin Asencio;#39;#Sergey Levchenko;#970;#Jesal Panchal;#5014;#Yury Slobodski;#243;#Esmy Jensen;#2461;#David Aldrich;#36;#Yuliya Ziaziulina;#899;#Markus Eriksson;#1694;#David Guerri;#7200;#Anand Topu;#219;#Sofia Odintseva;#22949;#Andrew Macey;#9941;#Ilya Kuntsevich;#22597;#Claudia Gorham1;#23522;#Volodymyr Stepanets (Contractor);#24069;#Deborah Regal;#24283;#Vladimir Grevtsev;#27435;#Ryan Ahmed;#20380;#Karan Bhardwaj;#27681;#Caroline Prenn;#24469;#Maneesh Khare;#30037;#CLAUDIA GIANFELICE;#418;#Gary Thomson;#863;#Ghislain Siewe;#7315;#Vivek Agarwal;#31715;#Mahesh Aluvala;#32105;#Alexa Robinson;#32214;#Ted Slater;#22485;#Giuseppe Riefoli;#33929;#Trinh Nguyen;#3914;#Bogdan Jurjevich;#2215;#Taryn Hess;#35911;#Kiryl Domnitch;#16039;#Quentin Odier;#15333;#Jack Maher;#29060;#i:0#.f|membership|marius_constantinescu@epam.com</vt:lpwstr>
  </property>
  <property fmtid="{D5CDD505-2E9C-101B-9397-08002B2CF9AE}" pid="5" name="MSIP_Label_2a535040-0af2-483f-adc3-a132c21e3e2b_ActionId">
    <vt:lpwstr>6de4626a-a598-4337-88df-2d099c6d2fce</vt:lpwstr>
  </property>
  <property fmtid="{D5CDD505-2E9C-101B-9397-08002B2CF9AE}" pid="6" name="MSIP_Label_2a535040-0af2-483f-adc3-a132c21e3e2b_ContentBits">
    <vt:lpwstr>0</vt:lpwstr>
  </property>
  <property fmtid="{D5CDD505-2E9C-101B-9397-08002B2CF9AE}" pid="7" name="MSIP_Label_2a535040-0af2-483f-adc3-a132c21e3e2b_Enabled">
    <vt:lpwstr>true</vt:lpwstr>
  </property>
  <property fmtid="{D5CDD505-2E9C-101B-9397-08002B2CF9AE}" pid="8" name="MSIP_Label_2a535040-0af2-483f-adc3-a132c21e3e2b_Method">
    <vt:lpwstr>Standard</vt:lpwstr>
  </property>
  <property fmtid="{D5CDD505-2E9C-101B-9397-08002B2CF9AE}" pid="9" name="MSIP_Label_2a535040-0af2-483f-adc3-a132c21e3e2b_Name">
    <vt:lpwstr>EPAM_Confidential</vt:lpwstr>
  </property>
  <property fmtid="{D5CDD505-2E9C-101B-9397-08002B2CF9AE}" pid="10" name="MSIP_Label_2a535040-0af2-483f-adc3-a132c21e3e2b_SetDate">
    <vt:lpwstr>2026-01-27T08:34:32Z</vt:lpwstr>
  </property>
  <property fmtid="{D5CDD505-2E9C-101B-9397-08002B2CF9AE}" pid="11" name="MSIP_Label_2a535040-0af2-483f-adc3-a132c21e3e2b_SiteId">
    <vt:lpwstr>b41b72d0-4e9f-4c26-8a69-f949f367c91d</vt:lpwstr>
  </property>
  <property fmtid="{D5CDD505-2E9C-101B-9397-08002B2CF9AE}" pid="12" name="MSIP_Label_2a535040-0af2-483f-adc3-a132c21e3e2b_Tag">
    <vt:lpwstr>10, 3, 0, 1</vt:lpwstr>
  </property>
  <property fmtid="{D5CDD505-2E9C-101B-9397-08002B2CF9AE}" pid="13" name="PresentationFormat">
    <vt:lpwstr>Widescreen</vt:lpwstr>
  </property>
  <property fmtid="{D5CDD505-2E9C-101B-9397-08002B2CF9AE}" pid="14" name="Story">
    <vt:lpwstr>1;#General Decks:About EPAM|1bb3a607-45a4-4116-99d9-b95075743ae1</vt:lpwstr>
  </property>
  <property fmtid="{D5CDD505-2E9C-101B-9397-08002B2CF9AE}" pid="15" name="StoryCategories">
    <vt:lpwstr>1635;#About EPAM|5e1ed0a0-89ac-446a-837d-6ea8b9460059</vt:lpwstr>
  </property>
  <property fmtid="{D5CDD505-2E9C-101B-9397-08002B2CF9AE}" pid="16" name="StoryTags">
    <vt:lpwstr>72;#Continuum|036b37b0-418a-48a3-ad40-f27762061154;#116;#About EPAM|e35b7162-8377-4ac0-bb47-f30ed6f0902e</vt:lpwstr>
  </property>
  <property fmtid="{D5CDD505-2E9C-101B-9397-08002B2CF9AE}" pid="17" name="StoryTaxonomy">
    <vt:lpwstr>204;#EPAM Overview|107422c5-c5be-4599-981e-e0bc82e53d69</vt:lpwstr>
  </property>
  <property fmtid="{D5CDD505-2E9C-101B-9397-08002B2CF9AE}" pid="18" name="UsagePermission">
    <vt:lpwstr>3444;#Confidential: NDA Required|1078c1ca-8558-4f4e-bb3a-506201fcb43c</vt:lpwstr>
  </property>
  <property fmtid="{D5CDD505-2E9C-101B-9397-08002B2CF9AE}" pid="19" name="VCN">
    <vt:lpwstr/>
  </property>
  <property fmtid="{D5CDD505-2E9C-101B-9397-08002B2CF9AE}" pid="20" name="_dlc_DocIdItemGuid">
    <vt:lpwstr>041f0451-e7b6-47dd-8915-ddc72a6e399d</vt:lpwstr>
  </property>
  <property fmtid="{D5CDD505-2E9C-101B-9397-08002B2CF9AE}" pid="21" name="h098c32ae4474a2397bbdf9bd347fc14">
    <vt:lpwstr>EPAM Overview|107422c5-c5be-4599-981e-e0bc82e53d69</vt:lpwstr>
  </property>
</Properties>
</file>