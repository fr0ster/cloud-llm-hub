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8.svg" ContentType="image/svg+xml"/>
  <Override PartName="/ppt/media/image19.svg" ContentType="image/svg+xml"/>
  <Override PartName="/ppt/media/image2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350" r:id="rId5"/>
  </p:sldMasterIdLst>
  <p:notesMasterIdLst>
    <p:notesMasterId r:id="rId6"/>
  </p:notesMasterIdLst>
  <p:handoutMasterIdLst>
    <p:handoutMasterId r:id="rId7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55DA"/>
    <a:srgbClr val="D9D9D9"/>
    <a:srgbClr val="FED143"/>
    <a:srgbClr val="77CED7"/>
    <a:srgbClr val="484749"/>
    <a:srgbClr val="7F993A"/>
    <a:srgbClr val="39C2D7"/>
    <a:srgbClr val="1887BB"/>
    <a:srgbClr val="62A230"/>
    <a:srgbClr val="675C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610" autoAdjust="0"/>
  </p:normalViewPr>
  <p:slideViewPr>
    <p:cSldViewPr snapToGrid="0" showGuides="1">
      <p:cViewPr varScale="1">
        <p:scale>
          <a:sx n="83" d="100"/>
          <a:sy n="83" d="100"/>
        </p:scale>
        <p:origin x="1084" y="5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6" d="100"/>
          <a:sy n="66" d="100"/>
        </p:scale>
        <p:origin x="0" y="0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emf"/><Relationship Id="rId4" Type="http://schemas.openxmlformats.org/officeDocument/2006/relationships/image" Target="../media/image6.png"/><Relationship Id="rId5" Type="http://schemas.openxmlformats.org/officeDocument/2006/relationships/image" Target="../media/image8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ight light in the dark&#10;&#10;Description automatically generated with medium confidence">
            <a:extLst>
              <a:ext uri="{FF2B5EF4-FFF2-40B4-BE49-F238E27FC236}">
                <a16:creationId xmlns:a16="http://schemas.microsoft.com/office/drawing/2014/main" id="{292D94B7-0233-C940-0B7E-BB187340B7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AC7376-20F0-E0B1-E7D5-414FC5DC35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55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-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DE3A7CEE-E1C9-5E29-7BD1-4DC1A1B47F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tx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46FBA0-34E7-8BA0-8C70-B6AFD4D64D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414" y="748727"/>
            <a:ext cx="1226857" cy="43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06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BD2E969-F100-6B32-8DFD-11A45E5E43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67B491-F517-CB8D-96B1-B02A50D723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430FF820-B532-1296-E817-DF961B67D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54D4BD-6E7A-841D-F70C-31FAEF56CD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821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 userDrawn="1"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0094E5E-6EFF-CE7E-D775-2FA95EEE2F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5309027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E632B84-D810-D682-26F1-538579099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5309027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7E6BD730-15BB-8DAE-B807-85A733E0F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5311637" cy="184665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229A6F-36FA-05D5-E223-1581D31CE2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78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35001996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F2C7208-C4AB-4962-96F0-F897DFFC37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37B4F039-C58D-468E-394C-C92CD517A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Contents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BDF361-F375-D313-8D06-BDA2782784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BC6E842-5D88-CC5C-F1DA-808D61BEE7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D37A923-9C8E-6CA3-1F51-1680DBD253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3DB5EB1A-8556-A82E-AC69-301BA431D9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1E3B50A-6363-7824-DFC1-3035609DF6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13E6F179-1003-654A-7321-F8FE6D12AC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A7166E3-13D7-44C2-45BA-F8800FCD1D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42EBD53-BF92-55A6-E85A-50AD5A80A5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41709A76-8AD3-E8A8-447B-E2C8D00A4A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A4DA4A4-AEAC-105E-34C0-12EBA35F10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6DD83F2-9BFD-E0B8-4706-D7200B45DE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0D94FEEB-2EA8-081B-0B69-F0ED7A8348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0CA163-9EEA-54E4-57D2-BFE989F6F9C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A0B6ADF-5C55-9945-3F05-7FFC190F1FD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706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49D503E-C57A-9E5B-19CF-94AF46BB63B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2BD3FFC-05D4-6AF7-0434-C1AC0298E5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0952C60-604F-9F1A-9D20-17D094CE48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D164F81-CDD1-C1B4-ED55-A3321E1032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F71D53-1D3F-D8F8-96D5-6DE13F1A9C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42F11AF-BF37-8BBB-B5E7-A8655CF947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</p:spTree>
    <p:extLst>
      <p:ext uri="{BB962C8B-B14F-4D97-AF65-F5344CB8AC3E}">
        <p14:creationId xmlns:p14="http://schemas.microsoft.com/office/powerpoint/2010/main" val="22129012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Agenda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404C027E-E5F6-C4D1-7BE4-B87D52F48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72B4D0-A39C-FAF6-B1FC-E813800600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00A134C-93F9-0B06-D8F4-9B3C7532A4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37B92C4-122A-5377-7B74-D58A2319E9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28A167B-CD8D-159B-58DB-AD9C0600F6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3238DD8-4A7D-554B-8216-37EA1F0231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1D58AB5-54CF-F584-79F8-821E69DF60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367AC01-84C2-7E8C-3BF8-201856803E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0B1A9C8-7F43-7DB1-4F91-53075745C4B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6C8629B-DFA8-41AA-9C67-96D3D02BED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11CC2B96-A6B1-5232-3AEE-F9B7FDBBC1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00:00 – 00:00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A18B250-73F5-69E3-5878-B1D8C984F42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62FE180-ECE1-55D7-0248-053AC1E99B1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634F95-D03F-BB17-0BA8-0AB623989FD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0C2139A-0FDA-8116-257B-67457AE6A971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819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om_1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919866F5-F57A-6C40-4D30-D67CB6A3D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0EC5345-D2D0-6B03-7DDB-B62AB64329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B32F50E-D900-4FFA-87A8-502151FBE2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BA73176-A11D-D62A-EC12-39C3DF983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ED43E1-5036-AF03-3AFC-AC404D716E4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4AFFE7B-BAB3-2BE6-68C7-82413494811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703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2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5BDBBF2-452B-8A53-D3BC-946EEC4030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CA620CE-1B8B-D388-B43E-902BAFDB8F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21D373-42F2-86AB-3F79-81C1BE3482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8720EBE-A59D-52D5-044F-DF5C07F83D7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1129-9154-6101-E99F-40D9C428A70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BD8E2-6131-A98D-36C8-080B716E4D6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212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3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8BEA6F8A-F8D2-0E03-127C-C4C39351EE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F86F72EA-0ABE-9A8E-4E77-930AA5496A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5E6E347-3D84-596D-2504-6BB7F34831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5684E56-61FE-0760-81FB-D738FF31CE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FDEA9-4B5D-18D7-3B7C-ADC156E9EFC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18241-0582-A630-8CB0-7598682D85E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292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4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8956E04-CBD7-E482-8975-949516BE3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DF04DE8-18FA-CC1C-A2E5-416F24CA0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BD1EAAB-FF14-59B6-EB7C-E327DBE476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3ED1D57-42C1-01EC-FDEC-8930A13F02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158379-42B6-CCBC-ACEF-3055CDBB2D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C1715E-3786-F104-88AB-8B85E2F6D91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488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BC286D-0325-2652-6DE3-BC17B7921CDE}"/>
              </a:ext>
            </a:extLst>
          </p:cNvPr>
          <p:cNvSpPr txBox="1">
            <a:spLocks/>
          </p:cNvSpPr>
          <p:nvPr userDrawn="1"/>
        </p:nvSpPr>
        <p:spPr>
          <a:xfrm>
            <a:off x="481264" y="1667844"/>
            <a:ext cx="4403565" cy="101566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lang="en-US" sz="6000" b="1" i="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Disclaimer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5C60129C-ED73-46C0-0FB7-BB32CA2BD978}"/>
              </a:ext>
            </a:extLst>
          </p:cNvPr>
          <p:cNvSpPr txBox="1">
            <a:spLocks/>
          </p:cNvSpPr>
          <p:nvPr userDrawn="1"/>
        </p:nvSpPr>
        <p:spPr>
          <a:xfrm>
            <a:off x="481263" y="2919114"/>
            <a:ext cx="6664971" cy="1050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Do not share this presentation without a signed NDA.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Convert to PDF to protect sensitive slide notes.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3464A0-B9BD-B9A5-38BA-45F5800B2DA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264" y="872962"/>
            <a:ext cx="668294" cy="622205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9E71BD3-C16B-E833-87BA-15C30377643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42082F-236C-033C-4BB1-ED91055E10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DDC278-1F97-461F-020F-97C4F17BCD4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494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93E89BDD-DFE0-2F52-8234-B4BA719C24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4529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AB1331E-AD8D-C6DD-2EB9-162F1E8744C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73F41-F196-FE58-99BD-8AFA2B909861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CA775BE-E377-94D3-AEB3-0F6AC5EABBE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1296AC5-6772-5447-9F7F-930222E7D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522FF93D-C8A6-33EF-5BC7-877E52BEE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A81627C-09AF-5EC8-CA35-DF312ECADD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322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8E60C0F2-79B7-EE1B-6041-90317B3CB1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5199D6FE-5F94-4710-8291-B343815879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F08F0-0194-EA75-42BA-A0773D6D3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BCD999-82B2-EE7A-6B7F-62E9DF0FC3B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F60BC1F9-F5BB-BACB-98D9-6B1EA76689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21A2213A-A5D0-F62A-BDB3-8BB538A65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00BD8D1-BEE3-CC7B-18BC-B2C6739412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113714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47254E77-EA64-0D5B-1B56-09AF228EFA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41AD50E6-D58E-3D8C-41A0-48F21CC758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EC493A-D2B3-E243-2D3B-B6C3183A317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48D13-7FE0-0CB2-89F9-E7AA85593DB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D221B2F-F01A-3D8B-58F3-2E0CD57769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5E154CAE-C4D8-C2A0-6BE8-461C3B8FA5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02DE92A-A744-9D66-5950-661ECF019C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5017214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5381F3-7ADD-A798-2917-70C400E5FC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04668" y="2820541"/>
            <a:ext cx="4487332" cy="4037459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47460E-84D6-E4C7-66CE-0A88D0D3B7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4C926E2E-67D5-D03F-CAF1-D936DD3C01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70B9D3F-8FFD-EE49-3B30-05286E2EBB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07165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35273E55-8F47-AC18-08B7-C31C53E2A2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CBBCDB36-A5F4-DF81-FE84-1CBB05508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36520FD8-AF16-A7D1-FBFD-C07B1B5276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EA145C4-F1AE-010B-FC94-C27466A66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104833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1896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6033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79939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B4284D-C7B7-AF33-505C-3BCE70543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CBF3641-43B5-6FAC-E7AA-3C2E1B6868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6271990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5121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1403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AA4049EA-1C80-CEF2-C39E-9249C1D29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84776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D2FFF58-70EB-C86F-9E59-1581F18B8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1242001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9CE1444-B151-5430-2753-A94BFE598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51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891C23-3EE8-0CED-28FE-170D18A2D615}"/>
              </a:ext>
            </a:extLst>
          </p:cNvPr>
          <p:cNvGrpSpPr/>
          <p:nvPr userDrawn="1"/>
        </p:nvGrpSpPr>
        <p:grpSpPr>
          <a:xfrm>
            <a:off x="3909694" y="-2"/>
            <a:ext cx="4653972" cy="6858002"/>
            <a:chOff x="3300840" y="-2"/>
            <a:chExt cx="4653972" cy="6858002"/>
          </a:xfrm>
          <a:solidFill>
            <a:schemeClr val="bg1">
              <a:lumMod val="95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4E5E53-9F1A-D61C-9EEB-E1510482E5BF}"/>
                </a:ext>
              </a:extLst>
            </p:cNvPr>
            <p:cNvSpPr/>
            <p:nvPr userDrawn="1"/>
          </p:nvSpPr>
          <p:spPr bwMode="auto">
            <a:xfrm>
              <a:off x="3300840" y="0"/>
              <a:ext cx="4110732" cy="6858000"/>
            </a:xfrm>
            <a:prstGeom prst="rect">
              <a:avLst/>
            </a:prstGeom>
            <a:grpFill/>
            <a:ln>
              <a:noFill/>
            </a:ln>
            <a:effectLst/>
          </p:spPr>
          <p:txBody>
            <a:bodyPr wrap="none" rtlCol="0" anchor="ctr"/>
            <a:lstStyle/>
            <a:p>
              <a:pPr algn="ctr"/>
              <a:endPara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sp>
          <p:nvSpPr>
            <p:cNvPr id="13" name="Isosceles Triangle 13">
              <a:extLst>
                <a:ext uri="{FF2B5EF4-FFF2-40B4-BE49-F238E27FC236}">
                  <a16:creationId xmlns:a16="http://schemas.microsoft.com/office/drawing/2014/main" id="{DF41968F-990C-67B1-0475-04E0249E281A}"/>
                </a:ext>
              </a:extLst>
            </p:cNvPr>
            <p:cNvSpPr/>
            <p:nvPr userDrawn="1"/>
          </p:nvSpPr>
          <p:spPr>
            <a:xfrm rot="5400000" flipH="1">
              <a:off x="4249415" y="3152602"/>
              <a:ext cx="6858002" cy="5527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1" y="0"/>
            <a:ext cx="4076701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936060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80E4AD9-5B60-F04F-FEE1-80647A0EA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189EAA6-8653-D9C5-4653-C4B7BB2BB3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949190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91D4E-6AE3-3F04-D0A0-8C96044CC29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78EB0A-0FF2-079E-6368-97511A388F2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0077284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5" y="0"/>
            <a:ext cx="2371722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6AE37-FC1E-5269-1E83-C3E9928ED25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7A8488-5F43-686E-E10B-16D16E352EE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7DE099-ACDF-D41B-FBC3-5EE9A76F4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7450138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F7055BE-CD0F-6E9E-5992-4C7B9EF5FA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3600000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02645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0FD50C-06F7-21CC-1F6A-D75586A5063A}"/>
              </a:ext>
            </a:extLst>
          </p:cNvPr>
          <p:cNvSpPr/>
          <p:nvPr userDrawn="1"/>
        </p:nvSpPr>
        <p:spPr bwMode="auto">
          <a:xfrm>
            <a:off x="5166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6866651-9DE6-3C00-E38E-CCE80D6049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367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BD1CA3-DE0B-7A9B-CE98-826ACE3DFEB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5F033AD-4765-5FA3-B45B-9232B4A16A8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0826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F6CAB9-3229-A377-2782-A27CB6B30495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B5412B9-D91D-8002-0693-897E81DD8C8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658784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441E88-7FE8-D22E-100F-B090659320A1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FA5AB7F-48A8-2636-3278-4702BB8C57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ACC802-5D81-6EBD-4496-14A01AE49DB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233E5D9-D527-CAC4-3B1E-44AA802D724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3843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DF51-3B9F-C5D8-7A84-09B7B6CB9E8B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3A15A-582D-3DDB-CC40-43726E84CA43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D8F2DF5-DE6F-E2FC-0057-63CC04174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4897430-924B-CB14-9A94-8DB20A76C7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10531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19051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C5343-68AD-9879-2727-7ECBCB6A1B23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EF0FAA-381C-3A89-42AF-830EF59119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56236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24921F-F7DB-7A40-465F-85F610FC20C6}"/>
              </a:ext>
            </a:extLst>
          </p:cNvPr>
          <p:cNvSpPr txBox="1"/>
          <p:nvPr userDrawn="1"/>
        </p:nvSpPr>
        <p:spPr>
          <a:xfrm>
            <a:off x="10048875" y="6423925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4F018D9-6B5F-8BCB-BD75-7816BF58C56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2392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586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40C5E2-D359-5FED-B284-19CF47A41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A60CDFE-3A94-5F3A-0523-ABA5607800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052EF-2C83-09DE-9638-F3492217FF7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997612B5-8615-3AC0-8239-012312B6FD9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4374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2960BA-AA0C-9715-43A2-22B9050A478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1783F67-AD13-06FC-C79E-DE6FBF4D05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414E4-F961-7DD4-8CFB-7B93DD10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2BE525B-A1C0-1DD5-E075-79F96E71ED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67A229-8E7F-A1E8-7492-218AEFB06B0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71751A4-BF09-09F2-77C6-42F2F2AEB24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184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7486B-35A7-A3FF-6F44-2159B1E9FAD3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82A7F25-3763-4002-A844-19432F96312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EBC1AB0-2CF4-70A1-0BD7-A9A57D9F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342021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299D4E-38EF-AC64-7836-1AD1E87996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342021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987761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4D51ED0-4D08-4641-87AC-8F2B5E2A3B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6BA4E-CBCB-554D-CA98-146A521CFDF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BB62B8-4926-8E23-51B4-D8AC31708BB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A808058-9E6F-F0D8-A385-7B4C54766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00513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3D95AB9-CE03-7AFD-DBBE-C67756B352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005137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401070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168045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1463925-928E-4FE1-B9E5-B83141A2C221}"/>
              </a:ext>
            </a:extLst>
          </p:cNvPr>
          <p:cNvSpPr/>
          <p:nvPr userDrawn="1"/>
        </p:nvSpPr>
        <p:spPr bwMode="auto">
          <a:xfrm>
            <a:off x="-1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169AD5E-5F94-E6C0-0DB3-77E8A5A0D3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438901"/>
            <a:ext cx="540540" cy="1904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3DBF0C-CA25-003D-B5D8-6EE24C1F808C}"/>
              </a:ext>
            </a:extLst>
          </p:cNvPr>
          <p:cNvSpPr txBox="1"/>
          <p:nvPr userDrawn="1"/>
        </p:nvSpPr>
        <p:spPr>
          <a:xfrm>
            <a:off x="10048874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97B36E0-E687-34C7-ACB3-F681FF77C582}"/>
              </a:ext>
            </a:extLst>
          </p:cNvPr>
          <p:cNvSpPr txBox="1">
            <a:spLocks/>
          </p:cNvSpPr>
          <p:nvPr userDrawn="1"/>
        </p:nvSpPr>
        <p:spPr>
          <a:xfrm>
            <a:off x="11498093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1739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5EB0785-A8B2-B844-97DC-362F6DEDBA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8022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D6310AE-15DA-337B-9B5E-33A904BF35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 dirty="0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dirty="0" err="1"/>
              <a:t>popularised</a:t>
            </a:r>
            <a:r>
              <a:rPr lang="en-US" dirty="0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F314DE-C7E3-7237-4318-0407E44F57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5B1A98-E850-C3DE-38BF-EFAE0A2DC98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6FC5F8-7CE5-D29D-2CCA-C5715CDD43B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655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D48285-8885-4D22-8AE4-172AF61141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738485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69C4A8F-5B1E-7B0E-CAF7-B9F33D92C84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D6F42AB-F517-759C-A3C4-63443ED771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E9D77-5CF8-5131-6018-48DF58117EC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4280A7-4796-759A-6B00-0444E865A6A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289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F61EEF5-D25E-43F9-9DE7-B0D48CE58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700771F-7FE8-2510-0C0E-734572A38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1513A24-C9FD-06A1-1015-D9656D68B8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543363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5D96D1E-C1BD-6F40-A978-D03F53CD4A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7837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543917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104305F-427E-7B08-9801-43AF5256FF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2890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 userDrawn="1"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C45522-9A1C-E9EB-4D96-B0CFFD2F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250256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E6E8F6-4D6C-2884-0A7D-72BB39B21D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2502567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07FC1-18DF-2355-0123-10BF2390C02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024407-B901-7B1F-04F9-932983C670E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550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A9547FE-7857-4A70-ACDF-06ACC0CC38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255158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5DC425F-9CC1-9DF3-3F54-17DAA0EB5E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275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E44CDB4-CF54-423C-9681-C9AAACA56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2F6686-8C0A-120D-0C06-1F8DA97E3C4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465D26-CB94-F414-6836-638151C91C4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205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953817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Pictures-Leil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2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2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07656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07656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7867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7867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23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307338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40700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7107384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3350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-Lei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3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87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4C3044EB-579C-1960-F9EB-F116665A72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32000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6271A-50EF-A83C-8073-0A6628457E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3A26170-4FED-69CC-E7CF-6F163320DA0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20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FF5574A-DA2F-79E2-5257-E464C4DCBED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70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E50C4C1-6951-43AE-9158-49572E0C92C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70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000C3D5-7B7C-EDA2-9F53-869EC3327CC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4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9AE19AD-1845-6345-DD33-3FC9CF1784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4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FF38F98-219B-60E4-DEE4-A49FED7181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6073D28-63C4-4EAB-D10E-E4C9A179B8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</p:spTree>
    <p:extLst>
      <p:ext uri="{BB962C8B-B14F-4D97-AF65-F5344CB8AC3E}">
        <p14:creationId xmlns:p14="http://schemas.microsoft.com/office/powerpoint/2010/main" val="2697825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F219C23-5248-6A23-1656-7F24D37DB2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0F7879-EF16-5C25-BC5F-DF85AD10BA3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7931746-EE72-E501-E583-1218E82991F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437038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216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32DEA7B-FE87-E4A3-0E28-5A6940077AAF}"/>
              </a:ext>
            </a:extLst>
          </p:cNvPr>
          <p:cNvSpPr/>
          <p:nvPr userDrawn="1"/>
        </p:nvSpPr>
        <p:spPr bwMode="auto">
          <a:xfrm>
            <a:off x="1020000" y="999000"/>
            <a:ext cx="10152000" cy="4860000"/>
          </a:xfrm>
          <a:prstGeom prst="rect">
            <a:avLst/>
          </a:prstGeom>
          <a:gradFill>
            <a:gsLst>
              <a:gs pos="66000">
                <a:schemeClr val="accent5"/>
              </a:gs>
              <a:gs pos="0">
                <a:schemeClr val="accent2"/>
              </a:gs>
              <a:gs pos="100000">
                <a:schemeClr val="accent4"/>
              </a:gs>
            </a:gsLst>
            <a:lin ang="1800000" scaled="0"/>
          </a:gra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lvl="0"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88A2ACC-EFED-3CEF-B58F-EA44CFA34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49475" y="2464175"/>
            <a:ext cx="7899400" cy="61555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4000" b="0" i="0" spc="0" dirty="0">
                <a:solidFill>
                  <a:schemeClr val="bg1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Insert your quote here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A967559A-5EC8-8B92-65E3-76928C972876}"/>
              </a:ext>
            </a:extLst>
          </p:cNvPr>
          <p:cNvSpPr txBox="1">
            <a:spLocks/>
          </p:cNvSpPr>
          <p:nvPr userDrawn="1"/>
        </p:nvSpPr>
        <p:spPr>
          <a:xfrm>
            <a:off x="2062976" y="1531155"/>
            <a:ext cx="1248633" cy="147732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sz="9600" dirty="0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401183820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84736574-B51A-9653-821A-E3F5C3FCD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91EA3E-7B20-955D-0C59-DF85A915365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BB0EE7-0219-6A5E-BA7F-872F2C48D7E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50476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-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tx2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62515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_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4526B2C-80FA-F150-338B-DB03C5073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663" y="1035424"/>
            <a:ext cx="4648200" cy="11079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7200" b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AF9CC8A-BAB0-4529-6083-A3D7F01CE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4663" y="2540616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5054708-622B-37B7-6E33-486A71C952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4663" y="3313799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56D2A3F-CCA1-F399-D035-1BB32FED6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4663" y="3672220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50C7B71-5C80-8C3A-B66C-42F7296EB9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4663" y="420130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0BFDDCB6-69BB-2359-40AB-46BA1DA744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4663" y="448823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D16F9E7-5E17-1B62-F499-C761278885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4663" y="4897078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FF80AE-E38B-EC18-E1B5-2B5AAE36C2F4}"/>
              </a:ext>
            </a:extLst>
          </p:cNvPr>
          <p:cNvCxnSpPr>
            <a:cxnSpLocks/>
          </p:cNvCxnSpPr>
          <p:nvPr userDrawn="1"/>
        </p:nvCxnSpPr>
        <p:spPr>
          <a:xfrm>
            <a:off x="474663" y="2935941"/>
            <a:ext cx="3534335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B5E39841-8080-2E83-D8BB-7AD807F024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8728A8-4504-9979-0928-94780E8A451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625CBB-5BC8-9235-54D3-C8F265017D7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11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_Photo_+_Caption_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50EF9F7-1BDD-C412-DA7B-D3D0D1ABA0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700" y="670773"/>
            <a:ext cx="10896600" cy="553952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C1B8CB-9FFB-8D0A-F788-18710501B096}"/>
              </a:ext>
            </a:extLst>
          </p:cNvPr>
          <p:cNvSpPr/>
          <p:nvPr userDrawn="1"/>
        </p:nvSpPr>
        <p:spPr bwMode="auto">
          <a:xfrm>
            <a:off x="0" y="2679405"/>
            <a:ext cx="4924396" cy="4178595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E94620-1500-8D43-BD64-006D83AE4B8E}"/>
              </a:ext>
            </a:extLst>
          </p:cNvPr>
          <p:cNvSpPr/>
          <p:nvPr userDrawn="1"/>
        </p:nvSpPr>
        <p:spPr bwMode="auto">
          <a:xfrm>
            <a:off x="-2151983" y="5103629"/>
            <a:ext cx="3848986" cy="3848986"/>
          </a:xfrm>
          <a:prstGeom prst="ellipse">
            <a:avLst/>
          </a:prstGeom>
          <a:solidFill>
            <a:srgbClr val="8B97FF">
              <a:alpha val="65000"/>
            </a:srgbClr>
          </a:solidFill>
          <a:ln>
            <a:noFill/>
          </a:ln>
          <a:effectLst>
            <a:softEdge rad="805949"/>
          </a:effectLst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Calibri" panose="020F05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59C2A-0FC8-422F-92E4-B92935AAE5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699" y="3809007"/>
            <a:ext cx="3722281" cy="58477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3428999"/>
            <a:ext cx="373291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200" b="1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EPAM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84CEF6B-33E9-BCE0-3818-CFEBB6352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" y="5438001"/>
            <a:ext cx="3690384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FADFE-CDC9-BCE0-575D-8C2B21EF5ECA}"/>
              </a:ext>
            </a:extLst>
          </p:cNvPr>
          <p:cNvSpPr txBox="1"/>
          <p:nvPr userDrawn="1"/>
        </p:nvSpPr>
        <p:spPr>
          <a:xfrm>
            <a:off x="2271713" y="-85725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dirty="0">
              <a:ea typeface="Human Sans" charset="0"/>
              <a:cs typeface="Human Sans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FE3F6A-717B-D671-C21C-B99B4FB231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237004"/>
            <a:ext cx="495300" cy="1820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A398A-2E47-0C00-F4A0-87498FC7BBC1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8E7F306-CD25-215E-BBB0-42720869F90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9418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theme" Target="../theme/theme1.xml"/><Relationship Id="rId66" Type="http://schemas.openxmlformats.org/officeDocument/2006/relationships/image" Target="../media/image1.png"/><Relationship Id="rId6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723899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B532318-7ECA-4FB6-ADB1-48895B543C86}"/>
              </a:ext>
            </a:extLst>
          </p:cNvPr>
          <p:cNvPicPr>
            <a:picLocks noChangeAspect="1"/>
          </p:cNvPicPr>
          <p:nvPr userDrawn="1"/>
        </p:nvPicPr>
        <p:blipFill>
          <a:blip r:embed="rId6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641FF6-5DCC-D34B-9DD7-29931472CBC7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1DA6592-6579-C548-911C-85A5195E10B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A0289-E5C4-74D3-46E5-CB49BE90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139" y="1680713"/>
            <a:ext cx="11267660" cy="44914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5885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1" r:id="rId1"/>
    <p:sldLayoutId id="2147484352" r:id="rId2"/>
    <p:sldLayoutId id="2147484353" r:id="rId3"/>
    <p:sldLayoutId id="2147484354" r:id="rId4"/>
    <p:sldLayoutId id="2147484355" r:id="rId5"/>
    <p:sldLayoutId id="2147484356" r:id="rId6"/>
    <p:sldLayoutId id="2147484357" r:id="rId7"/>
    <p:sldLayoutId id="2147484358" r:id="rId8"/>
    <p:sldLayoutId id="2147484359" r:id="rId9"/>
    <p:sldLayoutId id="2147484360" r:id="rId10"/>
    <p:sldLayoutId id="2147484361" r:id="rId11"/>
    <p:sldLayoutId id="2147484362" r:id="rId12"/>
    <p:sldLayoutId id="2147484363" r:id="rId13"/>
    <p:sldLayoutId id="2147484364" r:id="rId14"/>
    <p:sldLayoutId id="2147484365" r:id="rId15"/>
    <p:sldLayoutId id="2147484366" r:id="rId16"/>
    <p:sldLayoutId id="2147484367" r:id="rId17"/>
    <p:sldLayoutId id="2147484368" r:id="rId18"/>
    <p:sldLayoutId id="2147484369" r:id="rId19"/>
    <p:sldLayoutId id="2147484370" r:id="rId20"/>
    <p:sldLayoutId id="2147484371" r:id="rId21"/>
    <p:sldLayoutId id="2147484372" r:id="rId22"/>
    <p:sldLayoutId id="2147484373" r:id="rId23"/>
    <p:sldLayoutId id="2147484374" r:id="rId24"/>
    <p:sldLayoutId id="2147484375" r:id="rId25"/>
    <p:sldLayoutId id="2147484376" r:id="rId26"/>
    <p:sldLayoutId id="2147484377" r:id="rId27"/>
    <p:sldLayoutId id="2147484378" r:id="rId28"/>
    <p:sldLayoutId id="2147484379" r:id="rId29"/>
    <p:sldLayoutId id="2147484380" r:id="rId30"/>
    <p:sldLayoutId id="2147484381" r:id="rId31"/>
    <p:sldLayoutId id="2147484382" r:id="rId32"/>
    <p:sldLayoutId id="2147484383" r:id="rId33"/>
    <p:sldLayoutId id="2147484384" r:id="rId34"/>
    <p:sldLayoutId id="2147484385" r:id="rId35"/>
    <p:sldLayoutId id="2147484386" r:id="rId36"/>
    <p:sldLayoutId id="2147484387" r:id="rId37"/>
    <p:sldLayoutId id="2147484388" r:id="rId38"/>
    <p:sldLayoutId id="2147484389" r:id="rId39"/>
    <p:sldLayoutId id="2147484390" r:id="rId40"/>
    <p:sldLayoutId id="2147484391" r:id="rId41"/>
    <p:sldLayoutId id="2147484392" r:id="rId42"/>
    <p:sldLayoutId id="2147484393" r:id="rId43"/>
    <p:sldLayoutId id="2147484394" r:id="rId44"/>
    <p:sldLayoutId id="2147484395" r:id="rId45"/>
    <p:sldLayoutId id="2147484396" r:id="rId46"/>
    <p:sldLayoutId id="2147484397" r:id="rId47"/>
    <p:sldLayoutId id="2147484398" r:id="rId48"/>
    <p:sldLayoutId id="2147484399" r:id="rId49"/>
    <p:sldLayoutId id="2147484400" r:id="rId50"/>
    <p:sldLayoutId id="2147484401" r:id="rId51"/>
    <p:sldLayoutId id="2147484402" r:id="rId52"/>
    <p:sldLayoutId id="2147484403" r:id="rId53"/>
    <p:sldLayoutId id="2147484404" r:id="rId54"/>
    <p:sldLayoutId id="2147484405" r:id="rId55"/>
    <p:sldLayoutId id="2147484406" r:id="rId56"/>
    <p:sldLayoutId id="2147484407" r:id="rId57"/>
    <p:sldLayoutId id="2147484408" r:id="rId58"/>
    <p:sldLayoutId id="2147484409" r:id="rId59"/>
    <p:sldLayoutId id="2147484410" r:id="rId60"/>
    <p:sldLayoutId id="2147484411" r:id="rId61"/>
    <p:sldLayoutId id="2147484412" r:id="rId62"/>
    <p:sldLayoutId id="2147484413" r:id="rId63"/>
    <p:sldLayoutId id="2147484414" r:id="rId6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dirty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2538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5040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Courier New" panose="02070309020205020404" pitchFamily="49" charset="0"/>
        <a:buChar char="o"/>
        <a:defRPr sz="14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56">
          <p15:clr>
            <a:srgbClr val="F26B43"/>
          </p15:clr>
        </p15:guide>
        <p15:guide id="16" orient="horz" pos="239">
          <p15:clr>
            <a:srgbClr val="F26B43"/>
          </p15:clr>
        </p15:guide>
        <p15:guide id="17" orient="horz" pos="454">
          <p15:clr>
            <a:srgbClr val="F26B43"/>
          </p15:clr>
        </p15:guide>
        <p15:guide id="20" orient="horz" pos="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5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6.png"/><Relationship Id="rId3" Type="http://schemas.openxmlformats.org/officeDocument/2006/relationships/image" Target="../media/image30.png"/><Relationship Id="rId4" Type="http://schemas.openxmlformats.org/officeDocument/2006/relationships/image" Target="../media/image2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4.png"/><Relationship Id="rId3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5.png"/><Relationship Id="rId3" Type="http://schemas.openxmlformats.org/officeDocument/2006/relationships/image" Target="../media/image35.png"/><Relationship Id="rId4" Type="http://schemas.openxmlformats.org/officeDocument/2006/relationships/image" Target="../media/image29.png"/><Relationship Id="rId5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Security, performance, Clean Core, maintainability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 A Y  2 0 2 6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ZDMS_UPLOAD_FILES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Methodology — how user + AI worked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Target &amp; scope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Security · Performance · Clean Core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Maintainability findings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Summary, priorities &amp; retro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30 findings across 4 axes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ONE REPORT · ONE AI PASS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2706624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2889504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10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2889504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956048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5138928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3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5138928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7205472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7388352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17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7388352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  <p:sp>
        <p:nvSpPr>
          <p:cNvPr id="17" name="c_1_BlockGrid:4:c_5_Block:container"/>
          <p:cNvSpPr/>
          <p:nvPr/>
        </p:nvSpPr>
        <p:spPr>
          <a:xfrm>
            <a:off x="9454896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_1_BlockGrid:4:c_5_Block:metric"/>
          <p:cNvSpPr txBox="1"/>
          <p:nvPr/>
        </p:nvSpPr>
        <p:spPr>
          <a:xfrm>
            <a:off x="9637776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6 min</a:t>
            </a:r>
          </a:p>
        </p:txBody>
      </p:sp>
      <p:sp>
        <p:nvSpPr>
          <p:cNvPr id="19" name="c_1_BlockGrid:4:c_5_Block:content"/>
          <p:cNvSpPr txBox="1"/>
          <p:nvPr/>
        </p:nvSpPr>
        <p:spPr>
          <a:xfrm>
            <a:off x="9637776" y="2077719"/>
            <a:ext cx="1700784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Wall-clock for full 4-axis review</a:t>
            </a:r>
          </a:p>
        </p:txBody>
      </p:sp>
      <p:graphicFrame>
        <p:nvGraphicFramePr>
          <p:cNvPr id="20" name="c_6_Block"/>
          <p:cNvGraphicFramePr>
            <a:graphicFrameLocks noGrp="1"/>
          </p:cNvGraphicFramePr>
          <p:nvPr/>
        </p:nvGraphicFramePr>
        <p:xfrm>
          <a:off x="457200" y="41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Comparable senior-engineer manual review: 4–8 hours.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How the user and the AI agreed on what to do, designed the process, executed it together, and verified the result.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method — four stages, in order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FOUR STAGES, IN ORDER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:container"/>
          <p:cNvSpPr/>
          <p:nvPr/>
        </p:nvSpPr>
        <p:spPr>
          <a:xfrm>
            <a:off x="45720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Process:block0:c_1_Block:Targe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0" y="1600200"/>
            <a:ext cx="640080" cy="640080"/>
          </a:xfrm>
          <a:prstGeom prst="rect">
            <a:avLst/>
          </a:prstGeom>
        </p:spPr>
      </p:pic>
      <p:sp>
        <p:nvSpPr>
          <p:cNvPr id="7" name="c_1_BlockProcess:block0:c_1_Block:content"/>
          <p:cNvSpPr txBox="1"/>
          <p:nvPr/>
        </p:nvSpPr>
        <p:spPr>
          <a:xfrm>
            <a:off x="640080" y="2354580"/>
            <a:ext cx="2057400" cy="7905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1. Formalize the task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Plain-language goal + how we'll measure it. Stops us from answering the wrong question.</a:t>
            </a:r>
          </a:p>
        </p:txBody>
      </p:sp>
      <p:sp>
        <p:nvSpPr>
          <p:cNvPr id="8" name="c_1_BlockProcess:arrow0"/>
          <p:cNvSpPr/>
          <p:nvPr/>
        </p:nvSpPr>
        <p:spPr>
          <a:xfrm>
            <a:off x="297216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1:c_2_Block:container"/>
          <p:cNvSpPr/>
          <p:nvPr/>
        </p:nvSpPr>
        <p:spPr>
          <a:xfrm>
            <a:off x="333756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_1_BlockProcess:block1:c_2_Block:Structure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1600200"/>
            <a:ext cx="640080" cy="640080"/>
          </a:xfrm>
          <a:prstGeom prst="rect">
            <a:avLst/>
          </a:prstGeom>
        </p:spPr>
      </p:pic>
      <p:sp>
        <p:nvSpPr>
          <p:cNvPr id="11" name="c_1_BlockProcess:block1:c_2_Block:content"/>
          <p:cNvSpPr txBox="1"/>
          <p:nvPr/>
        </p:nvSpPr>
        <p:spPr>
          <a:xfrm>
            <a:off x="352044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2. Design the process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Stage list for THIS task — per-stage artifact, per-stage evaluation. Stages are not pre-baked.</a:t>
            </a:r>
          </a:p>
        </p:txBody>
      </p:sp>
      <p:sp>
        <p:nvSpPr>
          <p:cNvPr id="12" name="c_1_BlockProcess:arrow1"/>
          <p:cNvSpPr/>
          <p:nvPr/>
        </p:nvSpPr>
        <p:spPr>
          <a:xfrm>
            <a:off x="585252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_1_BlockProcess:block2:c_3_Block:container"/>
          <p:cNvSpPr/>
          <p:nvPr/>
        </p:nvSpPr>
        <p:spPr>
          <a:xfrm>
            <a:off x="621792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Process:block2:c_3_Block:Gear_Process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460" y="1600200"/>
            <a:ext cx="640080" cy="640080"/>
          </a:xfrm>
          <a:prstGeom prst="rect">
            <a:avLst/>
          </a:prstGeom>
        </p:spPr>
      </p:pic>
      <p:sp>
        <p:nvSpPr>
          <p:cNvPr id="15" name="c_1_BlockProcess:block2:c_3_Block:content"/>
          <p:cNvSpPr txBox="1"/>
          <p:nvPr/>
        </p:nvSpPr>
        <p:spPr>
          <a:xfrm>
            <a:off x="640080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3. Execute stages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Each stage produces its artifact. Refine the skill or the process at every checkpoint, never as a separate pass.</a:t>
            </a:r>
          </a:p>
        </p:txBody>
      </p:sp>
      <p:sp>
        <p:nvSpPr>
          <p:cNvPr id="16" name="c_1_BlockProcess:arrow2"/>
          <p:cNvSpPr/>
          <p:nvPr/>
        </p:nvSpPr>
        <p:spPr>
          <a:xfrm>
            <a:off x="873288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Process:block3:c_4_Block:container"/>
          <p:cNvSpPr/>
          <p:nvPr/>
        </p:nvSpPr>
        <p:spPr>
          <a:xfrm>
            <a:off x="909828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c_1_BlockProcess:block3:c_4_Block:Checkmark_Circle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9820" y="1600200"/>
            <a:ext cx="640080" cy="640080"/>
          </a:xfrm>
          <a:prstGeom prst="rect">
            <a:avLst/>
          </a:prstGeom>
        </p:spPr>
      </p:pic>
      <p:sp>
        <p:nvSpPr>
          <p:cNvPr id="19" name="c_1_BlockProcess:block3:c_4_Block:content"/>
          <p:cNvSpPr txBox="1"/>
          <p:nvPr/>
        </p:nvSpPr>
        <p:spPr>
          <a:xfrm>
            <a:off x="9281160" y="2354580"/>
            <a:ext cx="2057400" cy="9505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4. Verify the goal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Yes → done. No → goal-check names the earlier stage to return to, based on what evidence was missing.</a:t>
            </a:r>
          </a:p>
        </p:txBody>
      </p:sp>
      <p:graphicFrame>
        <p:nvGraphicFramePr>
          <p:cNvPr id="20" name="c_5_Block"/>
          <p:cNvGraphicFramePr>
            <a:graphicFrameLocks noGrp="1"/>
          </p:cNvGraphicFramePr>
          <p:nvPr/>
        </p:nvGraphicFramePr>
        <p:xfrm>
          <a:off x="457200" y="496304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Iteration is normal — which earlier stage to return to is decided by the failing goal-check, not by a pre-baked rule.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Pair-work as badminton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USER SERVES, AI RETURNS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Person_Sui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User serves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Plain-language task description. The user names the stage; the AI never takes the lead role.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Android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AI returns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Formalizes, drafts, calls tools, proposes. Each return is small enough to review before the next exchange.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Checkmark_Circle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User reviews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Keeps what holds, rejects what does not, asks for a correction. Reader judges, AI drafts. Neither side defers.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ran this 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THE FOUR STAGES, MAPPED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Formalize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User: 'Review ZDMS_UPLOAD_FILES.' Together: scope (the program + every include), severity scale, 4 review axes.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Design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Pipeline: ReadProgram + GetIncludesList + GetInclude → 4 parallel SmartAgent calls → aggregate per ### headings.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53ECC"/>
              </a:gs>
              <a:gs pos="100000">
                <a:srgbClr val="9267D7"/>
              </a:gs>
            </a:gsLst>
            <a:lin ang="16200000" scaled="0"/>
          </a:gradFill>
          <a:ln w="3175">
            <a:solidFill>
              <a:srgbClr val="645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Execute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Each stage handed off only after its artifact landed: 01-target.md → 02-security.md / 03-performance.md / 04-cleancore.md / 05-maintainability.md → 06-summary.md.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Verify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30 findings · severity histogram · per-finding location cited · verdict. Goal-check passed; no return to earlier stage.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kept the run honest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THREE DISCIPLINES IN PROMPTS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Checkmark_Circle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Source citation rule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No source = no finding. Every finding carries Location + Snippet. Stops the agent from inventing issues.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Diagram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Per-category isolation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Each check stays inside its own rule set. No security findings leaked into maintainability or vice versa.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Gear_Process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Read-only parallelism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Four SmartAgent calls in parallel are safe ONLY because tools are read-only. SearchSource would force sequential.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AI agents, two roles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CONTROLLER + EXECUTOR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Person_Sui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User — judge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Names the goal, names the stage, reviews each artifact. Decides when to stop or go back.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Brain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Controller — Claude (this session)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Drives the conversation, formalizes the task, designs the pipeline with the user, parses outputs. Cannot touch SAP directly.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Android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Executor — SmartAgent on cloud-llm-hub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gpt-5.2 with MCP tools (ReadProgram, GetIncludesList, GetInclude). Per-category rule sets. Cannot decide scope. Returns evidence, not decisions.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designed THIS process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DIALOGUE → STAGE LIST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03FE5"/>
              </a:gs>
              <a:gs pos="100000">
                <a:srgbClr val="1959FF"/>
              </a:gs>
            </a:gsLst>
            <a:lin ang="16200000" scaled="0"/>
          </a:gradFill>
          <a:ln w="3175">
            <a:solidFill>
              <a:srgbClr val="4B5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User serves</a:t>
            </a:r>
          </a:p>
          <a:p>
            <a:pPr algn="l">
              <a:spcAft>
                <a:spcPts val="0"/>
              </a:spcAft>
            </a:pPr>
            <a:r>
              <a:rPr sz="1400">
                <a:solidFill>
                  <a:srgbClr val="FFFFFF"/>
                </a:solidFill>
              </a:rPr>
              <a:t>“Review ZDMS_UPLOAD_FILES across security, performance, Clean Core, maintainability.”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AI returns clarifications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What's in scope — main program only or every include?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What severity scale? What counts as evidence?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Parallel or sequential? Read-only tools only?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53ECC"/>
              </a:gs>
              <a:gs pos="100000">
                <a:srgbClr val="9267D7"/>
              </a:gs>
            </a:gsLst>
            <a:lin ang="16200000" scaled="0"/>
          </a:gradFill>
          <a:ln w="3175">
            <a:solidFill>
              <a:srgbClr val="645D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User decides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Whole program + every include in scope.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CRITICAL/HIGH/MEDIUM/LOW/INFO. Every finding cited with Location + Snippet.</a:t>
            </a:r>
          </a:p>
          <a:p>
            <a:pPr algn="l" marL="228600" indent="-182880">
              <a:spcAft>
                <a:spcPts val="0"/>
              </a:spcAft>
              <a:buClr>
                <a:srgbClr val="FFFFFF"/>
              </a:buClr>
              <a:buChar char="•"/>
            </a:pPr>
            <a:r>
              <a:rPr sz="1100">
                <a:solidFill>
                  <a:srgbClr val="FFFFFF"/>
                </a:solidFill>
              </a:rPr>
              <a:t>4 parallel SmartAgent calls, read-only ADT tools only.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Stage list emerges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01-target (define scope + severity scale) → 02..05 (four parallel reviews) → 06-summary (aggregate) → RETRO (lessons). Per-stage artifact on disk.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Catching errors during the run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FIVE STEPS, EVERY ERROR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_1_BlockGrid:0:c_1_Block"/>
          <p:cNvGraphicFramePr>
            <a:graphicFrameLocks noGrp="1"/>
          </p:cNvGraphicFramePr>
          <p:nvPr/>
        </p:nvGraphicFramePr>
        <p:xfrm>
          <a:off x="457200" y="1463040"/>
          <a:ext cx="11064240" cy="227228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2272284">
                <a:tc>
                  <a:txBody>
                    <a:bodyPr wrap="square"/>
                    <a:lstStyle/>
                    <a:p>
                      <a:pPr algn="l">
                        <a:spcAft>
                          <a:spcPts val="50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Bash backtick expansion mangled rule text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Symptom: shell warnings during run-checks.sh. Repro: rule text contained markdown backticks. Root cause: bash command substitution evaluated them. Fix: build prompts in Python end-to-end. Skill written: feedback_no_bash_var_for_prompts.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_1_BlockGrid:1:c_2_Block"/>
          <p:cNvGraphicFramePr>
            <a:graphicFrameLocks noGrp="1"/>
          </p:cNvGraphicFramePr>
          <p:nvPr/>
        </p:nvGraphicFramePr>
        <p:xfrm>
          <a:off x="457200" y="3854196"/>
          <a:ext cx="11064240" cy="2272284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2272284">
                <a:tc>
                  <a:txBody>
                    <a:bodyPr wrap="square"/>
                    <a:lstStyle/>
                    <a:p>
                      <a:pPr algn="l">
                        <a:spcAft>
                          <a:spcPts val="50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Severity-summary regex missed maintainability</a:t>
                      </a:r>
                    </a:p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Symptom: aggregation under-counted LOW findings. Repro: re-run regex on raw SSE. Root cause: maintainability check didn't emit the expected summary block. Fix: count by parsing per-finding ### headings only. Skill: source-of-truth rule.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Skills are an output of the run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AT EVERY CHECKPOINT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Knowledge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0616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Why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 run that leaves no refined process or skill behind has burned experience that walks out the door.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457200" y="3057144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Clock_24h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1600200" y="3194304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7E8D"/>
                </a:solidFill>
              </a:rPr>
              <a:t>When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At every stage checkpoint, ask: “what did I change in the process or in a skill?” If nothing — re-read the run.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57200" y="4651248"/>
            <a:ext cx="11064240" cy="1475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c_1_BlockGrid:2:c_3_Block:Document_Layout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68824"/>
            <a:ext cx="640080" cy="640080"/>
          </a:xfrm>
          <a:prstGeom prst="rect">
            <a:avLst/>
          </a:prstGeom>
        </p:spPr>
      </p:pic>
      <p:sp>
        <p:nvSpPr>
          <p:cNvPr id="13" name="c_1_BlockGrid:2:c_3_Block:content"/>
          <p:cNvSpPr txBox="1"/>
          <p:nvPr/>
        </p:nvSpPr>
        <p:spPr>
          <a:xfrm>
            <a:off x="1600200" y="4788408"/>
            <a:ext cx="973836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8453D2"/>
                </a:solidFill>
              </a:rPr>
              <a:t>What this run produced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Two feedback memos: prompts in Python (no bash vars), severity from headings only. Tutorial pipeline validated as the standard for future ABAP code reviews.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Legacy ABAP report ZDMS_UPLOAD_FILES — SFTP file transfer via OS shell commands. One program, every include in scope.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ZDMS_UPLOAD_FILES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REPORT · Z001 · DS4_CLH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544068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Gear_Process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4114800" cy="12452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47FF"/>
                </a:solidFill>
              </a:rPr>
              <a:t>What it does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Pulls files via SFTP GET → SAP DMS upload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Pushes files via SFTP PUT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Driven by SM69 entries </a:t>
            </a:r>
            <a:r>
              <a:rPr sz="1400" b="1">
                <a:solidFill>
                  <a:srgbClr val="000000"/>
                </a:solidFill>
              </a:rPr>
              <a:t>ZSFTP_DMS_GET</a:t>
            </a:r>
            <a:r>
              <a:rPr sz="1400">
                <a:solidFill>
                  <a:srgbClr val="000000"/>
                </a:solidFill>
              </a:rPr>
              <a:t> / </a:t>
            </a:r>
            <a:r>
              <a:rPr sz="1400" b="1">
                <a:solidFill>
                  <a:srgbClr val="000000"/>
                </a:solidFill>
              </a:rPr>
              <a:t>ZSFTP_DMS_PUT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6080760" y="1463040"/>
            <a:ext cx="544068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Hammer_Screwdriv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7223760" y="1600200"/>
            <a:ext cx="4114800" cy="12452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107E8D"/>
                </a:solidFill>
              </a:rPr>
              <a:t>How it does it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 b="1">
                <a:solidFill>
                  <a:srgbClr val="000000"/>
                </a:solidFill>
              </a:rPr>
              <a:t>SXPG_COMMAND_EXECUTE</a:t>
            </a:r>
            <a:r>
              <a:rPr sz="1400">
                <a:solidFill>
                  <a:srgbClr val="000000"/>
                </a:solidFill>
              </a:rPr>
              <a:t> → OS shell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 b="1">
                <a:solidFill>
                  <a:srgbClr val="000000"/>
                </a:solidFill>
              </a:rPr>
              <a:t>OPEN / READ / TRANSFER / DELETE DATASET</a:t>
            </a:r>
            <a:r>
              <a:rPr sz="1400">
                <a:solidFill>
                  <a:srgbClr val="000000"/>
                </a:solidFill>
              </a:rPr>
              <a:t> on app server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Reads config from standard </a:t>
            </a:r>
            <a:r>
              <a:rPr sz="1400" b="1">
                <a:solidFill>
                  <a:srgbClr val="000000"/>
                </a:solidFill>
              </a:rPr>
              <a:t>TVARVC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Authorization, OS-shell injection, information disclosure — 4 findings, 2 HIGH.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Security: 4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TWO HIGH AROUND OS SHELL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1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1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— all 4 findings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Missing AUTHORITY-CHECK before SFTP GET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No explicit auth check before SXPG_COMMAND_EXECUTE (SFTP pull path).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Missing AUTHORITY-CHECK before SFTP PUT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Same gap on the push path; relies only on FM no_permission exception.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MEDIUM — Shell-injection risk in parameters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gv_param built by unescaped CONCATENATE from zfi_constants-fval.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LOW — Sensitive details leaked via WRITE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OPEN DATASET error messages reveal filesystem paths to the user.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Wide SELECTs and per-row function calls inside loops — 4 findings, 2 HIGH.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Performance: 4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LOOP-BOUND FM CALLS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2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0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— all 4 findings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FORMAT_MESSAGE called per row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Inside LOOP AT pt_data; same message formatter invoked for every entry.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ZDMS_UPLOAD_DOCUMENTS called per row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Upload FM invoked per row — should use a mass / table-parameter API.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MEDIUM — SELECT * on TVARVC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Wide fetch where only sign / opti / low / high are needed.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MEDIUM — SELECT * on DMS_DOC_FILES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Wide fetch with FOR ALL ENTRIES; only filename is used downstream.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S/4HANA Cloud readiness — 6 HIGH findings. This object will not run on Cloud as-is.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Core: 6 findings, all HIGH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EVERY FINDING BLOCKS CLOUD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6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0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0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  <p:graphicFrame>
        <p:nvGraphicFramePr>
          <p:cNvPr id="17" name="c_5_Block"/>
          <p:cNvGraphicFramePr>
            <a:graphicFrameLocks noGrp="1"/>
          </p:cNvGraphicFramePr>
          <p:nvPr/>
        </p:nvGraphicFramePr>
        <p:xfrm>
          <a:off x="457200" y="4137360"/>
          <a:ext cx="11064240" cy="47320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73202">
                <a:tc>
                  <a:txBody>
                    <a:bodyPr wrap="square"/>
                    <a:lstStyle/>
                    <a:p>
                      <a:pPr algn="l"/>
                      <a:r>
                        <a:rPr sz="1800">
                          <a:solidFill>
                            <a:srgbClr val="000000"/>
                          </a:solidFill>
                        </a:rPr>
                        <a:t>Verdict: rewrite, not patch — if S/4HANA Cloud is on the roadmap.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Core — all 6 findings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SXPG_COMMAND_EXECUTE (SFTP GET)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OS-shell access via SM69 — not allowed in Cloud.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6080760" y="1463040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SXPG_COMMAND_EXECUTE (SFTP PUT)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Same shell-access blocker on the push path.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457200" y="3096768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OPEN/READ/TRANSFER DATASET (app-server FS)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Direct AL11-style file I/O — disallowed in Cloud.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6080760" y="3096768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DELETE DATASET (post-process cleanup)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App-server file deletion — disallowed in Cloud.</a:t>
            </a:r>
          </a:p>
        </p:txBody>
      </p:sp>
      <p:sp>
        <p:nvSpPr>
          <p:cNvPr id="8" name="c_1_BlockGrid:4:c_5_Block"/>
          <p:cNvSpPr/>
          <p:nvPr/>
        </p:nvSpPr>
        <p:spPr>
          <a:xfrm>
            <a:off x="457200" y="4730496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DELETE DATASET (error path)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Second AL11 deletion site, same blocker.</a:t>
            </a:r>
          </a:p>
        </p:txBody>
      </p:sp>
      <p:sp>
        <p:nvSpPr>
          <p:cNvPr id="9" name="c_1_BlockGrid:5:c_6_Block"/>
          <p:cNvSpPr/>
          <p:nvPr/>
        </p:nvSpPr>
        <p:spPr>
          <a:xfrm>
            <a:off x="6080760" y="4730496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Direct SELECT on TVARVC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Standard config table read without released API.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Style, modern-ABAP and dead-code findings — 16 LOW. No blockers, steady tech-debt.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Maintainability: 16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ALL LOW · CLEANUP, NO URGENCY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0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0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16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 — findings 1–8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Obsolete CONCATENATE for path build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Use string templates instead of CONCATENATE.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324612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Magic value for log-color param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Raw '6'/'4'/'3' literals passed around.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603504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Magic literals in FORMAT COLOR CASE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Same color codes hard-coded again.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882396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WITH HEADER LINE (lt_return #1)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Obsolete table-with-header declaration.</a:t>
            </a:r>
          </a:p>
        </p:txBody>
      </p:sp>
      <p:sp>
        <p:nvSpPr>
          <p:cNvPr id="8" name="c_1_BlockGrid:4:c_5_Block"/>
          <p:cNvSpPr/>
          <p:nvPr/>
        </p:nvSpPr>
        <p:spPr>
          <a:xfrm>
            <a:off x="45720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WITH HEADER LINE (lt_return #2)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Second instance of the same pattern.</a:t>
            </a:r>
          </a:p>
        </p:txBody>
      </p:sp>
      <p:sp>
        <p:nvSpPr>
          <p:cNvPr id="9" name="c_1_BlockGrid:5:c_6_Block"/>
          <p:cNvSpPr/>
          <p:nvPr/>
        </p:nvSpPr>
        <p:spPr>
          <a:xfrm>
            <a:off x="324612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Commented-out code left in place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Stray *lv_doc declaration above active one.</a:t>
            </a:r>
          </a:p>
        </p:txBody>
      </p:sp>
      <p:sp>
        <p:nvSpPr>
          <p:cNvPr id="10" name="c_1_BlockGrid:6:c_7_Block"/>
          <p:cNvSpPr/>
          <p:nvPr/>
        </p:nvSpPr>
        <p:spPr>
          <a:xfrm>
            <a:off x="603504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SPLIT for filename parsing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Older style; consider FIND REGEX.</a:t>
            </a:r>
          </a:p>
        </p:txBody>
      </p:sp>
      <p:sp>
        <p:nvSpPr>
          <p:cNvPr id="11" name="c_1_BlockGrid:7:c_8_Block"/>
          <p:cNvSpPr/>
          <p:nvPr/>
        </p:nvSpPr>
        <p:spPr>
          <a:xfrm>
            <a:off x="882396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Dead variable lv_userid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Declared, cleared, never sourced.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 — findings 9–16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Mixed inline vs top DATA in same FORM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Inconsistent declaration style.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324612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Hard-coded 'INVALID PATIENT ID'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Should use message class.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603504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CONCATENATE for message build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Replace with string template.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882396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Magic constant 'AU1' (document type)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Extract to named constant.</a:t>
            </a:r>
          </a:p>
        </p:txBody>
      </p:sp>
      <p:sp>
        <p:nvSpPr>
          <p:cNvPr id="8" name="c_1_BlockGrid:4:c_5_Block"/>
          <p:cNvSpPr/>
          <p:nvPr/>
        </p:nvSpPr>
        <p:spPr>
          <a:xfrm>
            <a:off x="45720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Commented-out ENDIF left behind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Control-flow noise.</a:t>
            </a:r>
          </a:p>
        </p:txBody>
      </p:sp>
      <p:sp>
        <p:nvSpPr>
          <p:cNvPr id="9" name="c_1_BlockGrid:5:c_6_Block"/>
          <p:cNvSpPr/>
          <p:nvPr/>
        </p:nvSpPr>
        <p:spPr>
          <a:xfrm>
            <a:off x="324612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Hard-coded allowed-characters string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Opaque validation set.</a:t>
            </a:r>
          </a:p>
        </p:txBody>
      </p:sp>
      <p:sp>
        <p:nvSpPr>
          <p:cNvPr id="10" name="c_1_BlockGrid:6:c_7_Block"/>
          <p:cNvSpPr/>
          <p:nvPr/>
        </p:nvSpPr>
        <p:spPr>
          <a:xfrm>
            <a:off x="603504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CONCATENATE for path with '\' separator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Magic separator + obsolete style.</a:t>
            </a:r>
          </a:p>
        </p:txBody>
      </p:sp>
      <p:sp>
        <p:nvSpPr>
          <p:cNvPr id="11" name="c_1_BlockGrid:7:c_8_Block"/>
          <p:cNvSpPr/>
          <p:nvPr/>
        </p:nvSpPr>
        <p:spPr>
          <a:xfrm>
            <a:off x="882396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Untyped FORM parameters in f_fill_log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Implicit ANY typing.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Cross-cutting picture, prioritized actions, and what the run itself cost.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Findings by category × severity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WHERE THE WEIGHT SITS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/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2688336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E80202"/>
                </a:solidFill>
              </a:rPr>
              <a:t>CRITICAL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919472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E06C00"/>
                </a:solidFill>
              </a:rPr>
              <a:t>HIGH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7150608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07E8D"/>
                </a:solidFill>
              </a:rPr>
              <a:t>MEDIUM</a:t>
            </a:r>
          </a:p>
        </p:txBody>
      </p:sp>
      <p:sp>
        <p:nvSpPr>
          <p:cNvPr id="9" name="c_1_BlockGrid:4:c_5_Block"/>
          <p:cNvSpPr/>
          <p:nvPr/>
        </p:nvSpPr>
        <p:spPr>
          <a:xfrm>
            <a:off x="9381744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98989"/>
                </a:solidFill>
              </a:rPr>
              <a:t>LOW</a:t>
            </a:r>
          </a:p>
        </p:txBody>
      </p:sp>
      <p:sp>
        <p:nvSpPr>
          <p:cNvPr id="10" name="c_1_BlockGrid:5:c_6_Block"/>
          <p:cNvSpPr/>
          <p:nvPr/>
        </p:nvSpPr>
        <p:spPr>
          <a:xfrm>
            <a:off x="457200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Security</a:t>
            </a:r>
          </a:p>
        </p:txBody>
      </p:sp>
      <p:sp>
        <p:nvSpPr>
          <p:cNvPr id="11" name="c_1_BlockGrid:6:c_7_Block"/>
          <p:cNvSpPr/>
          <p:nvPr/>
        </p:nvSpPr>
        <p:spPr>
          <a:xfrm>
            <a:off x="2688336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12" name="c_1_BlockGrid:7:c_8_Block"/>
          <p:cNvSpPr/>
          <p:nvPr/>
        </p:nvSpPr>
        <p:spPr>
          <a:xfrm>
            <a:off x="4919472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3" name="c_1_BlockGrid:8:c_9_Block"/>
          <p:cNvSpPr/>
          <p:nvPr/>
        </p:nvSpPr>
        <p:spPr>
          <a:xfrm>
            <a:off x="7150608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1</a:t>
            </a:r>
          </a:p>
        </p:txBody>
      </p:sp>
      <p:sp>
        <p:nvSpPr>
          <p:cNvPr id="14" name="c_1_BlockGrid:9:c_10_Block"/>
          <p:cNvSpPr/>
          <p:nvPr/>
        </p:nvSpPr>
        <p:spPr>
          <a:xfrm>
            <a:off x="9381744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1</a:t>
            </a:r>
          </a:p>
        </p:txBody>
      </p:sp>
      <p:sp>
        <p:nvSpPr>
          <p:cNvPr id="15" name="c_1_BlockGrid:10:c_11_Block"/>
          <p:cNvSpPr/>
          <p:nvPr/>
        </p:nvSpPr>
        <p:spPr>
          <a:xfrm>
            <a:off x="457200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Performance</a:t>
            </a:r>
          </a:p>
        </p:txBody>
      </p:sp>
      <p:sp>
        <p:nvSpPr>
          <p:cNvPr id="16" name="c_1_BlockGrid:11:c_12_Block"/>
          <p:cNvSpPr/>
          <p:nvPr/>
        </p:nvSpPr>
        <p:spPr>
          <a:xfrm>
            <a:off x="2688336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17" name="c_1_BlockGrid:12:c_13_Block"/>
          <p:cNvSpPr/>
          <p:nvPr/>
        </p:nvSpPr>
        <p:spPr>
          <a:xfrm>
            <a:off x="4919472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8" name="c_1_BlockGrid:13:c_14_Block"/>
          <p:cNvSpPr/>
          <p:nvPr/>
        </p:nvSpPr>
        <p:spPr>
          <a:xfrm>
            <a:off x="7150608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2</a:t>
            </a:r>
          </a:p>
        </p:txBody>
      </p:sp>
      <p:sp>
        <p:nvSpPr>
          <p:cNvPr id="19" name="c_1_BlockGrid:14:c_15_Block"/>
          <p:cNvSpPr/>
          <p:nvPr/>
        </p:nvSpPr>
        <p:spPr>
          <a:xfrm>
            <a:off x="9381744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0" name="c_1_BlockGrid:15:c_16_Block"/>
          <p:cNvSpPr/>
          <p:nvPr/>
        </p:nvSpPr>
        <p:spPr>
          <a:xfrm>
            <a:off x="457200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Clean Core</a:t>
            </a:r>
          </a:p>
        </p:txBody>
      </p:sp>
      <p:sp>
        <p:nvSpPr>
          <p:cNvPr id="21" name="c_1_BlockGrid:16:c_17_Block"/>
          <p:cNvSpPr/>
          <p:nvPr/>
        </p:nvSpPr>
        <p:spPr>
          <a:xfrm>
            <a:off x="2688336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2" name="c_1_BlockGrid:17:c_18_Block"/>
          <p:cNvSpPr/>
          <p:nvPr/>
        </p:nvSpPr>
        <p:spPr>
          <a:xfrm>
            <a:off x="4919472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6</a:t>
            </a:r>
          </a:p>
        </p:txBody>
      </p:sp>
      <p:sp>
        <p:nvSpPr>
          <p:cNvPr id="23" name="c_1_BlockGrid:18:c_19_Block"/>
          <p:cNvSpPr/>
          <p:nvPr/>
        </p:nvSpPr>
        <p:spPr>
          <a:xfrm>
            <a:off x="7150608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4" name="c_1_BlockGrid:19:c_20_Block"/>
          <p:cNvSpPr/>
          <p:nvPr/>
        </p:nvSpPr>
        <p:spPr>
          <a:xfrm>
            <a:off x="9381744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5" name="c_1_BlockGrid:20:c_21_Block"/>
          <p:cNvSpPr/>
          <p:nvPr/>
        </p:nvSpPr>
        <p:spPr>
          <a:xfrm>
            <a:off x="457200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Maintainability</a:t>
            </a:r>
          </a:p>
        </p:txBody>
      </p:sp>
      <p:sp>
        <p:nvSpPr>
          <p:cNvPr id="26" name="c_1_BlockGrid:21:c_22_Block"/>
          <p:cNvSpPr/>
          <p:nvPr/>
        </p:nvSpPr>
        <p:spPr>
          <a:xfrm>
            <a:off x="2688336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7" name="c_1_BlockGrid:22:c_23_Block"/>
          <p:cNvSpPr/>
          <p:nvPr/>
        </p:nvSpPr>
        <p:spPr>
          <a:xfrm>
            <a:off x="4919472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0</a:t>
            </a:r>
          </a:p>
        </p:txBody>
      </p:sp>
      <p:sp>
        <p:nvSpPr>
          <p:cNvPr id="28" name="c_1_BlockGrid:23:c_24_Block"/>
          <p:cNvSpPr/>
          <p:nvPr/>
        </p:nvSpPr>
        <p:spPr>
          <a:xfrm>
            <a:off x="7150608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9" name="c_1_BlockGrid:24:c_25_Block"/>
          <p:cNvSpPr/>
          <p:nvPr/>
        </p:nvSpPr>
        <p:spPr>
          <a:xfrm>
            <a:off x="9381744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16</a:t>
            </a:r>
          </a:p>
        </p:txBody>
      </p:sp>
      <p:graphicFrame>
        <p:nvGraphicFramePr>
          <p:cNvPr id="30" name="c_26_Block"/>
          <p:cNvGraphicFramePr>
            <a:graphicFrameLocks noGrp="1"/>
          </p:cNvGraphicFramePr>
          <p:nvPr/>
        </p:nvGraphicFramePr>
        <p:xfrm>
          <a:off x="457200" y="53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TOTAL: 30 findings — 10 HIGH, 3 MEDIUM, 17 LOW, 0 CRITICAL.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Significant rework needed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ON-PREM OK · CLOUD BLOCKED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257800" cy="1081402"/>
          </a:xfrm>
          <a:prstGeom prst="rect">
            <a:avLst/>
          </a:prstGeom>
          <a:gradFill rotWithShape="1">
            <a:gsLst>
              <a:gs pos="0">
                <a:srgbClr val="E66B00"/>
              </a:gs>
              <a:gs pos="100000">
                <a:srgbClr val="FF841A"/>
              </a:gs>
            </a:gsLst>
            <a:lin ang="16200000" scaled="0"/>
          </a:gradFill>
          <a:ln w="3175">
            <a:solidFill>
              <a:srgbClr val="675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Schedule a focused fix sprint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Address all 10 HIGH issues before next release — security and performance carry the urgency.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263640" y="1463040"/>
            <a:ext cx="5257800" cy="1081402"/>
          </a:xfrm>
          <a:prstGeom prst="rect">
            <a:avLst/>
          </a:prstGeom>
          <a:gradFill rotWithShape="1">
            <a:gsLst>
              <a:gs pos="0">
                <a:srgbClr val="00DDE5"/>
              </a:gs>
              <a:gs pos="100000">
                <a:srgbClr val="19F6FF"/>
              </a:gs>
            </a:gsLst>
            <a:lin ang="16200000" scaled="0"/>
          </a:gradFill>
          <a:ln w="3175">
            <a:solidFill>
              <a:srgbClr val="4B6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Migration call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6 HIGH Clean Core findings = rewrite the SFTP path before any S/4HANA Cloud move.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Recommended action order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ChevronProcess:chevron0"/>
          <p:cNvSpPr/>
          <p:nvPr/>
        </p:nvSpPr>
        <p:spPr>
          <a:xfrm>
            <a:off x="45720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5" name="c_1_ChevronProcess:chevron1"/>
          <p:cNvSpPr/>
          <p:nvPr/>
        </p:nvSpPr>
        <p:spPr>
          <a:xfrm>
            <a:off x="333756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Next</a:t>
            </a:r>
          </a:p>
        </p:txBody>
      </p:sp>
      <p:sp>
        <p:nvSpPr>
          <p:cNvPr id="6" name="c_1_ChevronProcess:chevron2"/>
          <p:cNvSpPr/>
          <p:nvPr/>
        </p:nvSpPr>
        <p:spPr>
          <a:xfrm>
            <a:off x="621792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Plan</a:t>
            </a:r>
          </a:p>
        </p:txBody>
      </p:sp>
      <p:sp>
        <p:nvSpPr>
          <p:cNvPr id="7" name="c_1_ChevronProcess:chevron3"/>
          <p:cNvSpPr/>
          <p:nvPr/>
        </p:nvSpPr>
        <p:spPr>
          <a:xfrm>
            <a:off x="909828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Ongoing</a:t>
            </a:r>
          </a:p>
        </p:txBody>
      </p:sp>
      <p:sp>
        <p:nvSpPr>
          <p:cNvPr id="8" name="c_1_ChevronProcess:content0"/>
          <p:cNvSpPr/>
          <p:nvPr/>
        </p:nvSpPr>
        <p:spPr>
          <a:xfrm>
            <a:off x="45720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Security — add AUTHORITY-CHECK before SXPG; validate and escape parameters.</a:t>
            </a:r>
          </a:p>
        </p:txBody>
      </p:sp>
      <p:sp>
        <p:nvSpPr>
          <p:cNvPr id="9" name="c_1_ChevronProcess:content1"/>
          <p:cNvSpPr/>
          <p:nvPr/>
        </p:nvSpPr>
        <p:spPr>
          <a:xfrm>
            <a:off x="333756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Performance — pull FM calls out of LOOP; narrow SELECT lists.</a:t>
            </a:r>
          </a:p>
        </p:txBody>
      </p:sp>
      <p:sp>
        <p:nvSpPr>
          <p:cNvPr id="10" name="c_1_ChevronProcess:content2"/>
          <p:cNvSpPr/>
          <p:nvPr/>
        </p:nvSpPr>
        <p:spPr>
          <a:xfrm>
            <a:off x="621792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Clean Core — replace SXPG + AL11 with Integration Suite / released APIs.</a:t>
            </a:r>
          </a:p>
        </p:txBody>
      </p:sp>
      <p:sp>
        <p:nvSpPr>
          <p:cNvPr id="11" name="c_1_ChevronProcess:content3"/>
          <p:cNvSpPr/>
          <p:nvPr/>
        </p:nvSpPr>
        <p:spPr>
          <a:xfrm>
            <a:off x="909828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Maintainability — fix during normal evolution; no dedicated sprint.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 economics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AI VS MANUAL REVIEW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~6 min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Total wall-clock (vs 4–8 hours manual)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~45 s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Slowest of 4 parallel category checks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A080DB"/>
                </a:solidFill>
              </a:rPr>
              <a:t>381k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Executor-side LLM tokens (gpt-5.2)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~$28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Controller-side share of session cost</a:t>
            </a:r>
          </a:p>
        </p:txBody>
      </p:sp>
      <p:graphicFrame>
        <p:nvGraphicFramePr>
          <p:cNvPr id="17" name="c_5_Block"/>
          <p:cNvGraphicFramePr>
            <a:graphicFrameLocks noGrp="1"/>
          </p:cNvGraphicFramePr>
          <p:nvPr/>
        </p:nvGraphicFramePr>
        <p:xfrm>
          <a:off x="457200" y="41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30 findings, 4 categories, one parallel run.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learned for the next run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Checkmark_Circle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9424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4114800" cy="967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A705"/>
                </a:solidFill>
              </a:rPr>
              <a:t>Worked well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Parallel category checks safe with read-only tools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Per-category isolation — no rule leakage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Strict source citation eliminated speculation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X_Mark_Circle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49424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7223760" y="1600200"/>
            <a:ext cx="4114800" cy="11868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80202"/>
                </a:solidFill>
              </a:rPr>
              <a:t>Went off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Bash backtick expansion mangled rule text in prompts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Severity-summary regex missed maintainability block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Gear_Process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700016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600200" y="4050792"/>
            <a:ext cx="4114800" cy="967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06C00"/>
                </a:solidFill>
              </a:rPr>
              <a:t>Fix next time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Build prompts in Python end-to-end, no bash variables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Parse severity from per-finding headings only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Thumbs_U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700016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7223760" y="4050792"/>
            <a:ext cx="4114800" cy="7486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Don't change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One worked example per pipeline is enough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Keep parallelism only for read-only tool sets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FULL ARTIFACTS IN TUTORIAL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MIO_UPDATE" val="True"/>
  <p:tag name="MIO_OBJECTNAME" val="EPAM Overview"/>
  <p:tag name="MIO_LASTEDITORNAME" val="Peter Rutsch"/>
  <p:tag name="MIO_DBID" val="D7ED4A1B-644D-42C8-B85A-3AF7EB19A1AD"/>
  <p:tag name="MIO_LASTDOWNLOADED" val="25.09.2019 20:19:12"/>
  <p:tag name="MIO_VERSION" val="25.09.2019 19:19:12"/>
  <p:tag name="MIO_EKGUID" val="d7e3e5f7-9b32-4300-a908-3232d6ed981a"/>
  <p:tag name="MIO_NATIVESECTIONS" val="﻿&lt;?xml version=&quot;1.0&quot; encoding=&quot;utf-8&quot;?&gt;&lt;ArrayOfNativeSection xmlns:xsd=&quot;http://www.w3.org/2001/XMLSchema&quot; xmlns:xsi=&quot;http://www.w3.org/2001/XMLSchema-instance&quot;&gt;&lt;NativeSection&gt;&lt;Name&gt;About EPAM&lt;/Name&gt;&lt;FirstSlideIndex&gt;3&lt;/FirstSlideIndex&gt;&lt;SlidesCount&gt;15&lt;/SlidesCount&gt;&lt;SlideIDs /&gt;&lt;SlideGuids&gt;&lt;guid&gt;41917f75-77c0-48c8-a973-0468f4fe6223&lt;/guid&gt;&lt;guid&gt;4c4084ce-9dc3-4a2a-bd15-284b0659bb1d&lt;/guid&gt;&lt;guid&gt;c25f9840-0bea-411d-962d-9f3050c735d6&lt;/guid&gt;&lt;guid&gt;7d12a499-7701-4a6e-8610-d9d576cb0dec&lt;/guid&gt;&lt;guid&gt;61ee236e-49d2-4ed5-a476-38e350e3bfd2&lt;/guid&gt;&lt;guid&gt;ef65a5ca-8d54-4147-8afa-2ebb941538e3&lt;/guid&gt;&lt;guid&gt;c94ecc82-7873-4e32-885c-f35e7d8f652f&lt;/guid&gt;&lt;guid&gt;c3fea710-23c7-43d8-8d5d-f36b24c7383e&lt;/guid&gt;&lt;guid&gt;2bba986c-ee29-49a3-8223-b3a7867a5f4b&lt;/guid&gt;&lt;guid&gt;00e49fa1-ccf7-49ac-b1ea-429440dc91c2&lt;/guid&gt;&lt;guid&gt;cd433048-84df-4410-81de-4a8b6f9b00db&lt;/guid&gt;&lt;guid&gt;3c65c556-57fe-432d-8e6c-e872ce9c17e6&lt;/guid&gt;&lt;guid&gt;cfbce635-1caa-40a0-8168-f7cd9a71855f&lt;/guid&gt;&lt;guid&gt;0dd5438a-71f4-45bd-aeb7-e9afb36545e3&lt;/guid&gt;&lt;guid&gt;025c768f-d8c8-481b-827c-fb70a3dea855&lt;/guid&gt;&lt;/SlideGuids&gt;&lt;/NativeSection&gt;&lt;NativeSection&gt;&lt;Name&gt;EPAM Advantage&lt;/Name&gt;&lt;FirstSlideIndex&gt;18&lt;/FirstSlideIndex&gt;&lt;SlidesCount&gt;7&lt;/SlidesCount&gt;&lt;SlideIDs /&gt;&lt;SlideGuids&gt;&lt;guid&gt;1d3f40df-0be8-4722-86b4-ba408afacf35&lt;/guid&gt;&lt;guid&gt;1e4e570a-a814-43ca-b0e7-827ba1e99159&lt;/guid&gt;&lt;guid&gt;10e9fa43-a251-4d26-a911-d8ed059b1b96&lt;/guid&gt;&lt;guid&gt;c7beb776-8ff1-4acc-8007-da30e0319d43&lt;/guid&gt;&lt;guid&gt;34f142e0-cb5b-44f7-b22f-231c1a8fc0f9&lt;/guid&gt;&lt;guid&gt;26526e34-7c79-495c-b434-1b8afad190de&lt;/guid&gt;&lt;guid&gt;877dc4cd-9bef-4f8a-8bbc-52177ac46c56&lt;/guid&gt;&lt;/SlideGuids&gt;&lt;/NativeSection&gt;&lt;/ArrayOfNativeSection&gt;"/>
</p:tagLst>
</file>

<file path=ppt/theme/theme1.xml><?xml version="1.0" encoding="utf-8"?>
<a:theme xmlns:a="http://schemas.openxmlformats.org/drawingml/2006/main" name="EPAM Master 2024.1">
  <a:themeElements>
    <a:clrScheme name="EPAM 2023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square" lIns="0" tIns="0" rIns="0" bIns="0" rtlCol="0" anchor="ctr"/>
      <a:lstStyle>
        <a:defPPr algn="ctr">
          <a:defRPr sz="2400" dirty="0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0" tIns="0" rIns="0" bIns="0">
        <a:spAutoFit/>
      </a:bodyPr>
      <a:lstStyle>
        <a:defPPr algn="l">
          <a:defRPr dirty="0" smtClean="0"/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EPAM_PresalesTemplate" id="{BA2CABEF-164A-0B40-9E1D-A9B96AE60B87}" vid="{65C357FB-1C5F-AA46-A42C-758D0D8059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B325E2B-52F7-4394-BC3E-1C5545ED6C41}">
  <we:reference id="0712333e-3078-4353-bc6c-307328446e34" version="1.0.1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General Decks:About EPAM</TermName>
          <TermId xmlns="http://schemas.microsoft.com/office/infopath/2007/PartnerControls"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Continuum</TermName>
          <TermId xmlns="http://schemas.microsoft.com/office/infopath/2007/PartnerControls">036b37b0-418a-48a3-ad40-f27762061154</TermId>
        </TermInfo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Confidential: NDA Required</TermName>
          <TermId xmlns="http://schemas.microsoft.com/office/infopath/2007/PartnerControls"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1266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Human Sans</vt:lpstr>
      <vt:lpstr>EPAM Master 2024.1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EPAM Overview</dc:title>
  <dc:creator>Jennifer Markowitz</dc:creator>
  <cp:lastModifiedBy>Dmitry Zdanovich</cp:lastModifiedBy>
  <cp:revision>4</cp:revision>
  <dcterms:created xsi:type="dcterms:W3CDTF">2018-01-26T19:23:30Z</dcterms:created>
  <dcterms:modified xsi:type="dcterms:W3CDTF">2026-04-24T13:17:55Z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StoryTags">
    <vt:lpwstr>72;#Continuum|036b37b0-418a-48a3-ad40-f27762061154;#116;#About EPAM|e35b7162-8377-4ac0-bb47-f30ed6f0902e</vt:lpwstr>
  </property>
  <property fmtid="{D5CDD505-2E9C-101B-9397-08002B2CF9AE}" pid="5" name="_dlc_DocIdItemGuid">
    <vt:lpwstr>041f0451-e7b6-47dd-8915-ddc72a6e399d</vt:lpwstr>
  </property>
  <property fmtid="{D5CDD505-2E9C-101B-9397-08002B2CF9AE}" pid="6" name="StoryTaxonomy">
    <vt:lpwstr>204;#EPAM Overview|107422c5-c5be-4599-981e-e0bc82e53d69</vt:lpwstr>
  </property>
  <property fmtid="{D5CDD505-2E9C-101B-9397-08002B2CF9AE}" pid="7" name="h098c32ae4474a2397bbdf9bd347fc14">
    <vt:lpwstr>EPAM Overview|107422c5-c5be-4599-981e-e0bc82e53d69</vt:lpwstr>
  </property>
  <property fmtid="{D5CDD505-2E9C-101B-9397-08002B2CF9AE}" pid="8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9" name="StoryCategories">
    <vt:lpwstr>1635;#About EPAM|5e1ed0a0-89ac-446a-837d-6ea8b9460059</vt:lpwstr>
  </property>
  <property fmtid="{D5CDD505-2E9C-101B-9397-08002B2CF9AE}" pid="10" name="UsagePermission">
    <vt:lpwstr>3444;#Confidential: NDA Required|1078c1ca-8558-4f4e-bb3a-506201fcb43c</vt:lpwstr>
  </property>
  <property fmtid="{D5CDD505-2E9C-101B-9397-08002B2CF9AE}" pid="11" name="VCN">
    <vt:lpwstr/>
  </property>
  <property fmtid="{D5CDD505-2E9C-101B-9397-08002B2CF9AE}" pid="12" name="Story">
    <vt:lpwstr>1;#General Decks:About EPAM|1bb3a607-45a4-4116-99d9-b95075743ae1</vt:lpwstr>
  </property>
  <property fmtid="{D5CDD505-2E9C-101B-9397-08002B2CF9AE}" pid="13" name="MSIP_Label_2a535040-0af2-483f-adc3-a132c21e3e2b_Enabled">
    <vt:lpwstr>true</vt:lpwstr>
  </property>
  <property fmtid="{D5CDD505-2E9C-101B-9397-08002B2CF9AE}" pid="14" name="MSIP_Label_2a535040-0af2-483f-adc3-a132c21e3e2b_SetDate">
    <vt:lpwstr>2026-01-27T08:34:32Z</vt:lpwstr>
  </property>
  <property fmtid="{D5CDD505-2E9C-101B-9397-08002B2CF9AE}" pid="15" name="MSIP_Label_2a535040-0af2-483f-adc3-a132c21e3e2b_Method">
    <vt:lpwstr>Standard</vt:lpwstr>
  </property>
  <property fmtid="{D5CDD505-2E9C-101B-9397-08002B2CF9AE}" pid="16" name="MSIP_Label_2a535040-0af2-483f-adc3-a132c21e3e2b_Name">
    <vt:lpwstr>EPAM_Confidential</vt:lpwstr>
  </property>
  <property fmtid="{D5CDD505-2E9C-101B-9397-08002B2CF9AE}" pid="17" name="MSIP_Label_2a535040-0af2-483f-adc3-a132c21e3e2b_SiteId">
    <vt:lpwstr>b41b72d0-4e9f-4c26-8a69-f949f367c91d</vt:lpwstr>
  </property>
  <property fmtid="{D5CDD505-2E9C-101B-9397-08002B2CF9AE}" pid="18" name="MSIP_Label_2a535040-0af2-483f-adc3-a132c21e3e2b_ActionId">
    <vt:lpwstr>6de4626a-a598-4337-88df-2d099c6d2fce</vt:lpwstr>
  </property>
  <property fmtid="{D5CDD505-2E9C-101B-9397-08002B2CF9AE}" pid="19" name="MSIP_Label_2a535040-0af2-483f-adc3-a132c21e3e2b_ContentBits">
    <vt:lpwstr>0</vt:lpwstr>
  </property>
  <property fmtid="{D5CDD505-2E9C-101B-9397-08002B2CF9AE}" pid="20" name="MSIP_Label_2a535040-0af2-483f-adc3-a132c21e3e2b_Tag">
    <vt:lpwstr>10, 3, 0, 1</vt:lpwstr>
  </property>
</Properties>
</file>