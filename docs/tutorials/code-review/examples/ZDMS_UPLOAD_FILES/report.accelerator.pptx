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8.svg" ContentType="image/svg+xml"/>
  <Override PartName="/ppt/media/image19.svg" ContentType="image/svg+xml"/>
  <Override PartName="/ppt/media/image2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50" r:id="rId5"/>
  </p:sldMasterIdLst>
  <p:notesMasterIdLst>
    <p:notesMasterId r:id="rId6"/>
  </p:notesMasterIdLst>
  <p:handoutMasterIdLst>
    <p:handoutMasterId r:id="rId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5DA"/>
    <a:srgbClr val="D9D9D9"/>
    <a:srgbClr val="FED143"/>
    <a:srgbClr val="77CED7"/>
    <a:srgbClr val="484749"/>
    <a:srgbClr val="7F993A"/>
    <a:srgbClr val="39C2D7"/>
    <a:srgbClr val="1887BB"/>
    <a:srgbClr val="62A230"/>
    <a:srgbClr val="675C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10" autoAdjust="0"/>
  </p:normalViewPr>
  <p:slideViewPr>
    <p:cSldViewPr snapToGrid="0" showGuides="1">
      <p:cViewPr varScale="1">
        <p:scale>
          <a:sx n="83" d="100"/>
          <a:sy n="83" d="100"/>
        </p:scale>
        <p:origin x="1084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Relationship Id="rId4" Type="http://schemas.openxmlformats.org/officeDocument/2006/relationships/image" Target="../media/image6.png"/><Relationship Id="rId5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DE3A7CEE-E1C9-5E29-7BD1-4DC1A1B47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tx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46FBA0-34E7-8BA0-8C70-B6AFD4D64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4" y="748727"/>
            <a:ext cx="1226857" cy="4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0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Sub-description text goes here over one or two lines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</a:rPr>
              <a:t>JANUARY 2023</a:t>
            </a:r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7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35001996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CA163-9EEA-54E4-57D2-BFE989F6F9C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0B6ADF-5C55-9945-3F05-7FFC190F1FD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06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2212901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34F95-D03F-BB17-0BA8-0AB623989FD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0C2139A-0FDA-8116-257B-67457AE6A97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81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3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21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92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 dirty="0">
                <a:gradFill>
                  <a:gsLst>
                    <a:gs pos="76000">
                      <a:schemeClr val="accent5"/>
                    </a:gs>
                    <a:gs pos="0">
                      <a:schemeClr val="accent2"/>
                    </a:gs>
                    <a:gs pos="100000">
                      <a:schemeClr val="accent4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8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 dirty="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94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3220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1371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01721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165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>
                <a:effectLst/>
              </a:rPr>
              <a:t>Section description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0483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03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79939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71990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121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14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477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24200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59880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CE1444-B151-5430-2753-A94BFE598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5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49190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7728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2645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D1CA3-DE0B-7A9B-CE98-826ACE3DFEB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F033AD-4765-5FA3-B45B-9232B4A16A8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082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65878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CC802-5D81-6EBD-4496-14A01AE49DB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233E5D9-D527-CAC4-3B1E-44AA802D724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84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53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9051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86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43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18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98776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4010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804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73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0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365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73848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289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54336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7837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391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104305F-427E-7B08-9801-43AF5256F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8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550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5515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DC425F-9CC1-9DF3-3F54-17DAA0EB5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75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205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817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Pictures-Leil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2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2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7656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7656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67" y="2921251"/>
            <a:ext cx="3600000" cy="46211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7867" y="3543216"/>
            <a:ext cx="3600000" cy="263059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23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307338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40700" y="1389801"/>
            <a:ext cx="3600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10738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35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-Le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3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87999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C3044EB-579C-1960-F9EB-F116665A729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32000" y="0"/>
            <a:ext cx="3060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6271A-50EF-A83C-8073-0A6628457E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A26170-4FED-69CC-E7CF-6F163320DA0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F5574A-DA2F-79E2-5257-E464C4DCBE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70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50C4C1-6951-43AE-9158-49572E0C9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70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00C3D5-7B7C-EDA2-9F53-869EC3327C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4039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9AE19AD-1845-6345-DD33-3FC9CF1784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039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F38F98-219B-60E4-DEE4-A49FED7181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3731479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6073D28-63C4-4EAB-D10E-E4C9A179B8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4353444"/>
            <a:ext cx="2407920" cy="12086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</a:t>
            </a:r>
          </a:p>
        </p:txBody>
      </p:sp>
    </p:spTree>
    <p:extLst>
      <p:ext uri="{BB962C8B-B14F-4D97-AF65-F5344CB8AC3E}">
        <p14:creationId xmlns:p14="http://schemas.microsoft.com/office/powerpoint/2010/main" val="269782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4370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21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2DEA7B-FE87-E4A3-0E28-5A6940077AAF}"/>
              </a:ext>
            </a:extLst>
          </p:cNvPr>
          <p:cNvSpPr/>
          <p:nvPr userDrawn="1"/>
        </p:nvSpPr>
        <p:spPr bwMode="auto">
          <a:xfrm>
            <a:off x="1020000" y="999000"/>
            <a:ext cx="10152000" cy="4860000"/>
          </a:xfrm>
          <a:prstGeom prst="rect">
            <a:avLst/>
          </a:prstGeom>
          <a:gradFill>
            <a:gsLst>
              <a:gs pos="66000">
                <a:schemeClr val="accent5"/>
              </a:gs>
              <a:gs pos="0">
                <a:schemeClr val="accent2"/>
              </a:gs>
              <a:gs pos="100000">
                <a:schemeClr val="accent4"/>
              </a:gs>
            </a:gsLst>
            <a:lin ang="1800000" scaled="0"/>
          </a:gra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lvl="0"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88A2ACC-EFED-3CEF-B58F-EA44CFA3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9475" y="2464175"/>
            <a:ext cx="7899400" cy="61555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4000" b="0" i="0" spc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Insert your quote here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A967559A-5EC8-8B92-65E3-76928C972876}"/>
              </a:ext>
            </a:extLst>
          </p:cNvPr>
          <p:cNvSpPr txBox="1">
            <a:spLocks/>
          </p:cNvSpPr>
          <p:nvPr userDrawn="1"/>
        </p:nvSpPr>
        <p:spPr>
          <a:xfrm>
            <a:off x="2062976" y="1531155"/>
            <a:ext cx="1248633" cy="14773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sz="9600" dirty="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118382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84736574-B51A-9653-821A-E3F5C3FCD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91EA3E-7B20-955D-0C59-DF85A915365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B0EE7-0219-6A5E-BA7F-872F2C48D7E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476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-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tx2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625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5E39841-8080-2E83-D8BB-7AD807F024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728A8-4504-9979-0928-94780E8A451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8625CBB-5BC8-9235-54D3-C8F265017D7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11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EPAM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dirty="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18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theme" Target="../theme/theme1.xml"/><Relationship Id="rId66" Type="http://schemas.openxmlformats.org/officeDocument/2006/relationships/image" Target="../media/image1.png"/><Relationship Id="rId6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6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58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  <p:sldLayoutId id="2147484362" r:id="rId12"/>
    <p:sldLayoutId id="2147484363" r:id="rId13"/>
    <p:sldLayoutId id="2147484364" r:id="rId14"/>
    <p:sldLayoutId id="2147484365" r:id="rId15"/>
    <p:sldLayoutId id="2147484366" r:id="rId16"/>
    <p:sldLayoutId id="2147484367" r:id="rId17"/>
    <p:sldLayoutId id="2147484368" r:id="rId18"/>
    <p:sldLayoutId id="2147484369" r:id="rId19"/>
    <p:sldLayoutId id="2147484370" r:id="rId20"/>
    <p:sldLayoutId id="2147484371" r:id="rId21"/>
    <p:sldLayoutId id="2147484372" r:id="rId22"/>
    <p:sldLayoutId id="2147484373" r:id="rId23"/>
    <p:sldLayoutId id="2147484374" r:id="rId24"/>
    <p:sldLayoutId id="2147484375" r:id="rId25"/>
    <p:sldLayoutId id="2147484376" r:id="rId26"/>
    <p:sldLayoutId id="2147484377" r:id="rId27"/>
    <p:sldLayoutId id="2147484378" r:id="rId28"/>
    <p:sldLayoutId id="2147484379" r:id="rId29"/>
    <p:sldLayoutId id="2147484380" r:id="rId30"/>
    <p:sldLayoutId id="2147484381" r:id="rId31"/>
    <p:sldLayoutId id="2147484382" r:id="rId32"/>
    <p:sldLayoutId id="2147484383" r:id="rId33"/>
    <p:sldLayoutId id="2147484384" r:id="rId34"/>
    <p:sldLayoutId id="2147484385" r:id="rId35"/>
    <p:sldLayoutId id="2147484386" r:id="rId36"/>
    <p:sldLayoutId id="2147484387" r:id="rId37"/>
    <p:sldLayoutId id="2147484388" r:id="rId38"/>
    <p:sldLayoutId id="2147484389" r:id="rId39"/>
    <p:sldLayoutId id="2147484390" r:id="rId40"/>
    <p:sldLayoutId id="2147484391" r:id="rId41"/>
    <p:sldLayoutId id="2147484392" r:id="rId42"/>
    <p:sldLayoutId id="2147484393" r:id="rId43"/>
    <p:sldLayoutId id="2147484394" r:id="rId44"/>
    <p:sldLayoutId id="2147484395" r:id="rId45"/>
    <p:sldLayoutId id="2147484396" r:id="rId46"/>
    <p:sldLayoutId id="2147484397" r:id="rId47"/>
    <p:sldLayoutId id="2147484398" r:id="rId48"/>
    <p:sldLayoutId id="2147484399" r:id="rId49"/>
    <p:sldLayoutId id="2147484400" r:id="rId50"/>
    <p:sldLayoutId id="2147484401" r:id="rId51"/>
    <p:sldLayoutId id="2147484402" r:id="rId52"/>
    <p:sldLayoutId id="2147484403" r:id="rId53"/>
    <p:sldLayoutId id="2147484404" r:id="rId54"/>
    <p:sldLayoutId id="2147484405" r:id="rId55"/>
    <p:sldLayoutId id="2147484406" r:id="rId56"/>
    <p:sldLayoutId id="2147484407" r:id="rId57"/>
    <p:sldLayoutId id="2147484408" r:id="rId58"/>
    <p:sldLayoutId id="2147484409" r:id="rId59"/>
    <p:sldLayoutId id="2147484410" r:id="rId60"/>
    <p:sldLayoutId id="2147484411" r:id="rId61"/>
    <p:sldLayoutId id="2147484412" r:id="rId62"/>
    <p:sldLayoutId id="2147484413" r:id="rId63"/>
    <p:sldLayoutId id="2147484414" r:id="rId6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ABAP Code Review · EPAM SDLC Accelerator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 A Y  2 0 2 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ZDMS_UPLOAD_FILES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Review overview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Clean Core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Summary &amp; retro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One ABAP report, four parallel review axes. 30 findings, ~6 min wall-clock.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 findings across 4 axes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ONE REPORT · ONE AI PASS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2066544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1700784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0202"/>
                </a:solidFill>
              </a:rPr>
              <a:t>0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1700784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CRITICAL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2706624" y="1463040"/>
            <a:ext cx="2066544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2889504" y="1600200"/>
            <a:ext cx="1700784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10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2889504" y="2077719"/>
            <a:ext cx="1700784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4956048" y="1463040"/>
            <a:ext cx="2066544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5138928" y="1600200"/>
            <a:ext cx="1700784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3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5138928" y="2077719"/>
            <a:ext cx="1700784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7205472" y="1463040"/>
            <a:ext cx="2066544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7388352" y="1600200"/>
            <a:ext cx="1700784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98989"/>
                </a:solidFill>
              </a:rPr>
              <a:t>17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7388352" y="2077719"/>
            <a:ext cx="1700784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LOW</a:t>
            </a:r>
          </a:p>
        </p:txBody>
      </p:sp>
      <p:sp>
        <p:nvSpPr>
          <p:cNvPr id="17" name="c_1_BlockGrid:4:c_5_Block:container"/>
          <p:cNvSpPr/>
          <p:nvPr/>
        </p:nvSpPr>
        <p:spPr>
          <a:xfrm>
            <a:off x="9454896" y="1463040"/>
            <a:ext cx="2066544" cy="2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4:c_5_Block:metric"/>
          <p:cNvSpPr txBox="1"/>
          <p:nvPr/>
        </p:nvSpPr>
        <p:spPr>
          <a:xfrm>
            <a:off x="9637776" y="1600200"/>
            <a:ext cx="1700784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6 min</a:t>
            </a:r>
          </a:p>
        </p:txBody>
      </p:sp>
      <p:sp>
        <p:nvSpPr>
          <p:cNvPr id="19" name="c_1_BlockGrid:4:c_5_Block:content"/>
          <p:cNvSpPr txBox="1"/>
          <p:nvPr/>
        </p:nvSpPr>
        <p:spPr>
          <a:xfrm>
            <a:off x="9637776" y="2077719"/>
            <a:ext cx="1700784" cy="438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wall-clock for full 4-axis review</a:t>
            </a:r>
          </a:p>
        </p:txBody>
      </p:sp>
      <p:graphicFrame>
        <p:nvGraphicFramePr>
          <p:cNvPr id="20" name="c_6_Block"/>
          <p:cNvGraphicFramePr>
            <a:graphicFrameLocks noGrp="1"/>
          </p:cNvGraphicFramePr>
          <p:nvPr/>
        </p:nvGraphicFramePr>
        <p:xfrm>
          <a:off x="457200" y="416304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Comparable senior-engineer manual review: 4–8 hours.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2142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ABAP dev · architect · EM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Parallel multi-axis review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Read-only ADT tooling — safe on prod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Evidence cited per finding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LLM-agnostic, runs in any subaccount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Legacy ABAP reports that drive SAP via SXPG_COMMAND_EXECUTE / OS shell expose auth gaps, shell-injection risk, and information disclosure that automated review must catch.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surfaces 4 findings in seconds: two missing AUTHORITY-CHECK calls before SXPG, one shell-injection in built parameters, and one info-disclosure leak via WRITE.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Two HIGH findings around OS command execution — fix before next release.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4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findings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2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~45s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review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2142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ABAP dev · architect · EM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Parallel multi-axis review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Read-only ADT tooling — safe on prod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Evidence cited per finding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LLM-agnostic, runs in any subaccount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Per-row function-module calls inside LOOP, plus wide SELECT * patterns, dominate ABAP runtime cost in custom reports — and are routinely missed by manual review.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flags 4 findings: FORMAT_MESSAGE per row, ZDMS_UPLOAD_DOCUMENTS per row, plus two wide SELECT * patterns ready to fix in the next sprint.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Two HIGH (loop-bound FM calls) + two MEDIUM (wide SELECTs) — backlog ready.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4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findings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2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~45s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review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Core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2142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ABAP dev · architect · EM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Parallel multi-axis review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Read-only ADT tooling — safe on prod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Evidence cited per finding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LLM-agnostic, runs in any subaccount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On-prem ABAP reports often rely on SXPG, AL11 file I/O, and direct SELECT on standard tables — all disallowed in S/4HANA Cloud and silent blockers for a Cloud move.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confirms 6 HIGH Clean Core blockers in this single report; all 6 must be replaced with released APIs / Integration Suite before any Cloud migration plan.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Verdict: rewrite, not patch — if S/4HANA Cloud is on the roadmap.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6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findings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100%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~45s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review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EPAM ACCELERATOR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348492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tentArea"/>
          <p:cNvSpPr/>
          <p:nvPr/>
        </p:nvSpPr>
        <p:spPr>
          <a:xfrm>
            <a:off x="4662125" y="1463040"/>
            <a:ext cx="7070275" cy="4710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"/>
          <p:cNvSpPr/>
          <p:nvPr/>
        </p:nvSpPr>
        <p:spPr>
          <a:xfrm>
            <a:off x="457200" y="1463040"/>
            <a:ext cx="3484925" cy="12142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TARGET SEGMENT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Geography</a:t>
            </a:r>
            <a:r>
              <a:rPr sz="1400">
                <a:solidFill>
                  <a:srgbClr val="000000"/>
                </a:solidFill>
              </a:rPr>
              <a:t>  Any region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Industry</a:t>
            </a:r>
            <a:r>
              <a:rPr sz="1400">
                <a:solidFill>
                  <a:srgbClr val="000000"/>
                </a:solidFill>
              </a:rPr>
              <a:t>  Any vertical with SAP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Company size</a:t>
            </a:r>
            <a:r>
              <a:rPr sz="1400">
                <a:solidFill>
                  <a:srgbClr val="000000"/>
                </a:solidFill>
              </a:rPr>
              <a:t>  Any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</a:rPr>
              <a:t>Persona</a:t>
            </a:r>
            <a:r>
              <a:rPr sz="1400">
                <a:solidFill>
                  <a:srgbClr val="000000"/>
                </a:solidFill>
              </a:rPr>
              <a:t>  ABAP dev · architect · EM</a:t>
            </a:r>
          </a:p>
        </p:txBody>
      </p:sp>
      <p:sp>
        <p:nvSpPr>
          <p:cNvPr id="7" name="c_2_Block"/>
          <p:cNvSpPr/>
          <p:nvPr/>
        </p:nvSpPr>
        <p:spPr>
          <a:xfrm>
            <a:off x="457200" y="3663040"/>
            <a:ext cx="3484925" cy="9780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</a:rPr>
              <a:t>Differentiators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Parallel multi-axis review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Read-only ADT tooling — safe on prod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Evidence cited per finding</a:t>
            </a:r>
          </a:p>
          <a:p>
            <a:pPr algn="l" marL="228600" indent="-182880">
              <a:spcAft>
                <a:spcPts val="0"/>
              </a:spcAft>
              <a:buClr>
                <a:srgbClr val="000000"/>
              </a:buClr>
              <a:buChar char="•"/>
            </a:pPr>
            <a:r>
              <a:rPr sz="1100">
                <a:solidFill>
                  <a:srgbClr val="000000"/>
                </a:solidFill>
              </a:rPr>
              <a:t>LLM-agnostic, runs in any subaccount</a:t>
            </a:r>
          </a:p>
        </p:txBody>
      </p:sp>
      <p:graphicFrame>
        <p:nvGraphicFramePr>
          <p:cNvPr id="8" name="c_3_Block"/>
          <p:cNvGraphicFramePr>
            <a:graphicFrameLocks noGrp="1"/>
          </p:cNvGraphicFramePr>
          <p:nvPr/>
        </p:nvGraphicFramePr>
        <p:xfrm>
          <a:off x="4662125" y="14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Problem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Style violations, obsolete constructs and dead code accumulate silently across legacy ABAP — slowing every later change without ever producing a hard failure.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E06C00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_4_Block"/>
          <p:cNvGraphicFramePr>
            <a:graphicFrameLocks noGrp="1"/>
          </p:cNvGraphicFramePr>
          <p:nvPr/>
        </p:nvGraphicFramePr>
        <p:xfrm>
          <a:off x="4662125" y="2663040"/>
          <a:ext cx="7070275" cy="666749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070275"/>
              </a:tblGrid>
              <a:tr h="666749"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Business Value</a:t>
                      </a:r>
                    </a:p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</a:rPr>
                        <a:t>AI lists 16 LOW findings (obsolete CONCATENATE, WITH HEADER LINE, magic literals, dead vars) with severity-tagged cards — clean up during normal evolution, not as a dedicated sprint.</a:t>
                      </a:r>
                    </a:p>
                  </a:txBody>
                  <a:tcPr marL="137160" marR="91440" marT="45720" marB="91440" anchor="t">
                    <a:lnL w="73152" cap="flat" cmpd="sng">
                      <a:solidFill>
                        <a:srgbClr val="107E8D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10" name="c_5_Block"/>
          <p:cNvSpPr/>
          <p:nvPr/>
        </p:nvSpPr>
        <p:spPr>
          <a:xfrm>
            <a:off x="4662125" y="3863040"/>
            <a:ext cx="7070275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/>
            <a:r>
              <a:rPr sz="1100">
                <a:solidFill>
                  <a:srgbClr val="000000"/>
                </a:solidFill>
              </a:rPr>
              <a:t>16 LOW · steady tech-debt · address during normal evolution.</a:t>
            </a:r>
          </a:p>
        </p:txBody>
      </p:sp>
      <p:sp>
        <p:nvSpPr>
          <p:cNvPr id="11" name="c_1_BlockGrid:0:c_6_Block:container"/>
          <p:cNvSpPr/>
          <p:nvPr/>
        </p:nvSpPr>
        <p:spPr>
          <a:xfrm>
            <a:off x="4662125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0:c_6_Block:metric"/>
          <p:cNvSpPr txBox="1"/>
          <p:nvPr/>
        </p:nvSpPr>
        <p:spPr>
          <a:xfrm>
            <a:off x="4662125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16</a:t>
            </a:r>
          </a:p>
        </p:txBody>
      </p:sp>
      <p:sp>
        <p:nvSpPr>
          <p:cNvPr id="13" name="c_1_BlockGrid:0:c_6_Block:content"/>
          <p:cNvSpPr txBox="1"/>
          <p:nvPr/>
        </p:nvSpPr>
        <p:spPr>
          <a:xfrm>
            <a:off x="5906220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findings</a:t>
            </a:r>
          </a:p>
        </p:txBody>
      </p:sp>
      <p:sp>
        <p:nvSpPr>
          <p:cNvPr id="14" name="c_1_BlockGrid:1:c_7_Block:container"/>
          <p:cNvSpPr/>
          <p:nvPr/>
        </p:nvSpPr>
        <p:spPr>
          <a:xfrm>
            <a:off x="7049363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1:c_7_Block:metric"/>
          <p:cNvSpPr txBox="1"/>
          <p:nvPr/>
        </p:nvSpPr>
        <p:spPr>
          <a:xfrm>
            <a:off x="7049363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0</a:t>
            </a:r>
          </a:p>
        </p:txBody>
      </p:sp>
      <p:sp>
        <p:nvSpPr>
          <p:cNvPr id="16" name="c_1_BlockGrid:1:c_7_Block:content"/>
          <p:cNvSpPr txBox="1"/>
          <p:nvPr/>
        </p:nvSpPr>
        <p:spPr>
          <a:xfrm>
            <a:off x="8293458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blockers</a:t>
            </a:r>
          </a:p>
        </p:txBody>
      </p:sp>
      <p:sp>
        <p:nvSpPr>
          <p:cNvPr id="17" name="c_1_BlockGrid:2:c_8_Block:container"/>
          <p:cNvSpPr/>
          <p:nvPr/>
        </p:nvSpPr>
        <p:spPr>
          <a:xfrm>
            <a:off x="9436601" y="4763040"/>
            <a:ext cx="2295798" cy="5187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_1_BlockGrid:2:c_8_Block:metric"/>
          <p:cNvSpPr txBox="1"/>
          <p:nvPr/>
        </p:nvSpPr>
        <p:spPr>
          <a:xfrm>
            <a:off x="9436601" y="4854480"/>
            <a:ext cx="1244095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200" b="1">
                <a:solidFill>
                  <a:srgbClr val="0047FF"/>
                </a:solidFill>
              </a:rPr>
              <a:t>~45s</a:t>
            </a:r>
          </a:p>
        </p:txBody>
      </p:sp>
      <p:sp>
        <p:nvSpPr>
          <p:cNvPr id="19" name="c_1_BlockGrid:2:c_8_Block:content"/>
          <p:cNvSpPr txBox="1"/>
          <p:nvPr/>
        </p:nvSpPr>
        <p:spPr>
          <a:xfrm>
            <a:off x="10680696" y="4854480"/>
            <a:ext cx="960263" cy="3359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>
                <a:solidFill>
                  <a:srgbClr val="000000"/>
                </a:solidFill>
              </a:rPr>
              <a:t>review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rework needed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ON-PREM OK · CLOUD BLOCKED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"/>
          <p:cNvSpPr/>
          <p:nvPr/>
        </p:nvSpPr>
        <p:spPr>
          <a:xfrm>
            <a:off x="457200" y="1463040"/>
            <a:ext cx="5440680" cy="1081402"/>
          </a:xfrm>
          <a:prstGeom prst="rect">
            <a:avLst/>
          </a:prstGeom>
          <a:gradFill rotWithShape="1">
            <a:gsLst>
              <a:gs pos="0">
                <a:srgbClr val="E66B00"/>
              </a:gs>
              <a:gs pos="100000">
                <a:srgbClr val="FF841A"/>
              </a:gs>
            </a:gsLst>
            <a:lin ang="16200000" scaled="0"/>
          </a:gradFill>
          <a:ln w="3175">
            <a:solidFill>
              <a:srgbClr val="675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</a:rPr>
              <a:t>Schedule a focused fix sprint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Address all 10 HIGH issues before the next release.</a:t>
            </a:r>
          </a:p>
        </p:txBody>
      </p:sp>
      <p:sp>
        <p:nvSpPr>
          <p:cNvPr id="6" name="c_1_BlockGrid:1:c_2_Block"/>
          <p:cNvSpPr/>
          <p:nvPr/>
        </p:nvSpPr>
        <p:spPr>
          <a:xfrm>
            <a:off x="6080760" y="1463040"/>
            <a:ext cx="5440680" cy="1081402"/>
          </a:xfrm>
          <a:prstGeom prst="rect">
            <a:avLst/>
          </a:prstGeom>
          <a:gradFill rotWithShape="1">
            <a:gsLst>
              <a:gs pos="0">
                <a:srgbClr val="00DDE5"/>
              </a:gs>
              <a:gs pos="100000">
                <a:srgbClr val="19F6FF"/>
              </a:gs>
            </a:gsLst>
            <a:lin ang="16200000" scaled="0"/>
          </a:gradFill>
          <a:ln w="3175">
            <a:solidFill>
              <a:srgbClr val="4B6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 bIns="137160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000000"/>
                </a:solidFill>
              </a:rPr>
              <a:t>Migration call</a:t>
            </a:r>
          </a:p>
          <a:p>
            <a:pPr algn="l"/>
            <a:r>
              <a:rPr sz="1400">
                <a:solidFill>
                  <a:srgbClr val="000000"/>
                </a:solidFill>
              </a:rPr>
              <a:t>6 HIGH Clean Core findings = rewrite the SFTP path before any S/4HANA Cloud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AI VS MANUAL REVIEW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_1_BlockGrid:0:c_1_Block:container"/>
          <p:cNvSpPr/>
          <p:nvPr/>
        </p:nvSpPr>
        <p:spPr>
          <a:xfrm>
            <a:off x="45720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_1_BlockGrid:0:c_1_Block:metric"/>
          <p:cNvSpPr txBox="1"/>
          <p:nvPr/>
        </p:nvSpPr>
        <p:spPr>
          <a:xfrm>
            <a:off x="64008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47FF"/>
                </a:solidFill>
              </a:rPr>
              <a:t>~6 min</a:t>
            </a:r>
          </a:p>
        </p:txBody>
      </p:sp>
      <p:sp>
        <p:nvSpPr>
          <p:cNvPr id="7" name="c_1_BlockGrid:0:c_1_Block:content"/>
          <p:cNvSpPr txBox="1"/>
          <p:nvPr/>
        </p:nvSpPr>
        <p:spPr>
          <a:xfrm>
            <a:off x="64008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Wall-clock</a:t>
            </a:r>
          </a:p>
        </p:txBody>
      </p:sp>
      <p:sp>
        <p:nvSpPr>
          <p:cNvPr id="8" name="c_1_BlockGrid:1:c_2_Block:container"/>
          <p:cNvSpPr/>
          <p:nvPr/>
        </p:nvSpPr>
        <p:spPr>
          <a:xfrm>
            <a:off x="324612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_1_BlockGrid:1:c_2_Block:metric"/>
          <p:cNvSpPr txBox="1"/>
          <p:nvPr/>
        </p:nvSpPr>
        <p:spPr>
          <a:xfrm>
            <a:off x="342900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07E8D"/>
                </a:solidFill>
              </a:rPr>
              <a:t>~45s</a:t>
            </a:r>
          </a:p>
        </p:txBody>
      </p:sp>
      <p:sp>
        <p:nvSpPr>
          <p:cNvPr id="10" name="c_1_BlockGrid:1:c_2_Block:content"/>
          <p:cNvSpPr txBox="1"/>
          <p:nvPr/>
        </p:nvSpPr>
        <p:spPr>
          <a:xfrm>
            <a:off x="342900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Slowest axis</a:t>
            </a:r>
          </a:p>
        </p:txBody>
      </p:sp>
      <p:sp>
        <p:nvSpPr>
          <p:cNvPr id="11" name="c_1_BlockGrid:2:c_3_Block:container"/>
          <p:cNvSpPr/>
          <p:nvPr/>
        </p:nvSpPr>
        <p:spPr>
          <a:xfrm>
            <a:off x="603504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_1_BlockGrid:2:c_3_Block:metric"/>
          <p:cNvSpPr txBox="1"/>
          <p:nvPr/>
        </p:nvSpPr>
        <p:spPr>
          <a:xfrm>
            <a:off x="621792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453D2"/>
                </a:solidFill>
              </a:rPr>
              <a:t>381k</a:t>
            </a:r>
          </a:p>
        </p:txBody>
      </p:sp>
      <p:sp>
        <p:nvSpPr>
          <p:cNvPr id="13" name="c_1_BlockGrid:2:c_3_Block:content"/>
          <p:cNvSpPr txBox="1"/>
          <p:nvPr/>
        </p:nvSpPr>
        <p:spPr>
          <a:xfrm>
            <a:off x="621792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executor tokens (gpt-5.2)</a:t>
            </a:r>
          </a:p>
        </p:txBody>
      </p:sp>
      <p:sp>
        <p:nvSpPr>
          <p:cNvPr id="14" name="c_1_BlockGrid:3:c_4_Block:container"/>
          <p:cNvSpPr/>
          <p:nvPr/>
        </p:nvSpPr>
        <p:spPr>
          <a:xfrm>
            <a:off x="8823960" y="1463040"/>
            <a:ext cx="2697480" cy="970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_1_BlockGrid:3:c_4_Block:metric"/>
          <p:cNvSpPr txBox="1"/>
          <p:nvPr/>
        </p:nvSpPr>
        <p:spPr>
          <a:xfrm>
            <a:off x="9006840" y="1600200"/>
            <a:ext cx="2331720" cy="4089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06C00"/>
                </a:solidFill>
              </a:rPr>
              <a:t>~$28</a:t>
            </a:r>
          </a:p>
        </p:txBody>
      </p:sp>
      <p:sp>
        <p:nvSpPr>
          <p:cNvPr id="16" name="c_1_BlockGrid:3:c_4_Block:content"/>
          <p:cNvSpPr txBox="1"/>
          <p:nvPr/>
        </p:nvSpPr>
        <p:spPr>
          <a:xfrm>
            <a:off x="9006840" y="2077719"/>
            <a:ext cx="2331720" cy="219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>
                <a:solidFill>
                  <a:srgbClr val="000000"/>
                </a:solidFill>
              </a:rPr>
              <a:t>controller-side share</a:t>
            </a:r>
          </a:p>
        </p:txBody>
      </p:sp>
      <p:graphicFrame>
        <p:nvGraphicFramePr>
          <p:cNvPr id="17" name="c_5_Block"/>
          <p:cNvGraphicFramePr>
            <a:graphicFrameLocks noGrp="1"/>
          </p:cNvGraphicFramePr>
          <p:nvPr/>
        </p:nvGraphicFramePr>
        <p:xfrm>
          <a:off x="457200" y="4163040"/>
          <a:ext cx="11064240" cy="45720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1064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</a:rPr>
                        <a:t>30 findings, 4 categories, one parallel run. Comparable manual review: 4–8 hours.</a:t>
                      </a:r>
                    </a:p>
                  </a:txBody>
                  <a:tcPr marL="179720" marR="182880" marT="73152" marB="137160" anchor="t">
                    <a:lnL w="73152" cap="flat" cmpd="sng">
                      <a:solidFill>
                        <a:srgbClr val="0047FF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FULL ARTIFACTS IN TUTORIAL</a:t>
            </a:r>
          </a:p>
        </p:txBody>
      </p:sp>
      <p:sp>
        <p:nvSpPr>
          <p:cNvPr id="4" name="ContentArea"/>
          <p:cNvSpPr/>
          <p:nvPr/>
        </p:nvSpPr>
        <p:spPr>
          <a:xfrm>
            <a:off x="457200" y="1463040"/>
            <a:ext cx="11064240" cy="4663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MIO_UPDATE" val="True"/>
  <p:tag name="MIO_OBJECTNAME" val="EPAM Overview"/>
  <p:tag name="MIO_LASTEDITORNAME" val="Peter Rutsch"/>
  <p:tag name="MIO_DBID" val="D7ED4A1B-644D-42C8-B85A-3AF7EB19A1AD"/>
  <p:tag name="MIO_LASTDOWNLOADED" val="25.09.2019 20:19:12"/>
  <p:tag name="MIO_VERSION" val="25.09.2019 19:19:12"/>
  <p:tag name="MIO_EKGUID" val="d7e3e5f7-9b32-4300-a908-3232d6ed981a"/>
  <p:tag name="MIO_NATIVESECTIONS" val="﻿&lt;?xml version=&quot;1.0&quot; encoding=&quot;utf-8&quot;?&gt;&lt;ArrayOfNativeSection xmlns:xsd=&quot;http://www.w3.org/2001/XMLSchema&quot; xmlns:xsi=&quot;http://www.w3.org/2001/XMLSchema-instance&quot;&gt;&lt;NativeSection&gt;&lt;Name&gt;About EPAM&lt;/Name&gt;&lt;FirstSlideIndex&gt;3&lt;/FirstSlideIndex&gt;&lt;SlidesCount&gt;15&lt;/SlidesCount&gt;&lt;SlideIDs /&gt;&lt;SlideGuids&gt;&lt;guid&gt;41917f75-77c0-48c8-a973-0468f4fe6223&lt;/guid&gt;&lt;guid&gt;4c4084ce-9dc3-4a2a-bd15-284b0659bb1d&lt;/guid&gt;&lt;guid&gt;c25f9840-0bea-411d-962d-9f3050c735d6&lt;/guid&gt;&lt;guid&gt;7d12a499-7701-4a6e-8610-d9d576cb0dec&lt;/guid&gt;&lt;guid&gt;61ee236e-49d2-4ed5-a476-38e350e3bfd2&lt;/guid&gt;&lt;guid&gt;ef65a5ca-8d54-4147-8afa-2ebb941538e3&lt;/guid&gt;&lt;guid&gt;c94ecc82-7873-4e32-885c-f35e7d8f652f&lt;/guid&gt;&lt;guid&gt;c3fea710-23c7-43d8-8d5d-f36b24c7383e&lt;/guid&gt;&lt;guid&gt;2bba986c-ee29-49a3-8223-b3a7867a5f4b&lt;/guid&gt;&lt;guid&gt;00e49fa1-ccf7-49ac-b1ea-429440dc91c2&lt;/guid&gt;&lt;guid&gt;cd433048-84df-4410-81de-4a8b6f9b00db&lt;/guid&gt;&lt;guid&gt;3c65c556-57fe-432d-8e6c-e872ce9c17e6&lt;/guid&gt;&lt;guid&gt;cfbce635-1caa-40a0-8168-f7cd9a71855f&lt;/guid&gt;&lt;guid&gt;0dd5438a-71f4-45bd-aeb7-e9afb36545e3&lt;/guid&gt;&lt;guid&gt;025c768f-d8c8-481b-827c-fb70a3dea855&lt;/guid&gt;&lt;/SlideGuids&gt;&lt;/NativeSection&gt;&lt;NativeSection&gt;&lt;Name&gt;EPAM Advantage&lt;/Name&gt;&lt;FirstSlideIndex&gt;18&lt;/FirstSlideIndex&gt;&lt;SlidesCount&gt;7&lt;/SlidesCount&gt;&lt;SlideIDs /&gt;&lt;SlideGuids&gt;&lt;guid&gt;1d3f40df-0be8-4722-86b4-ba408afacf35&lt;/guid&gt;&lt;guid&gt;1e4e570a-a814-43ca-b0e7-827ba1e99159&lt;/guid&gt;&lt;guid&gt;10e9fa43-a251-4d26-a911-d8ed059b1b96&lt;/guid&gt;&lt;guid&gt;c7beb776-8ff1-4acc-8007-da30e0319d43&lt;/guid&gt;&lt;guid&gt;34f142e0-cb5b-44f7-b22f-231c1a8fc0f9&lt;/guid&gt;&lt;guid&gt;26526e34-7c79-495c-b434-1b8afad190de&lt;/guid&gt;&lt;guid&gt;877dc4cd-9bef-4f8a-8bbc-52177ac46c56&lt;/guid&gt;&lt;/SlideGuids&gt;&lt;/NativeSection&gt;&lt;/ArrayOfNativeSection&gt;"/>
</p:tagLst>
</file>

<file path=ppt/theme/theme1.xml><?xml version="1.0" encoding="utf-8"?>
<a:theme xmlns:a="http://schemas.openxmlformats.org/drawingml/2006/main" name="EPAM Master 2024.1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EPAM_PresalesTemplate" id="{BA2CABEF-164A-0B40-9E1D-A9B96AE60B87}" vid="{65C357FB-1C5F-AA46-A42C-758D0D8059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25E2B-52F7-4394-BC3E-1C5545ED6C41}">
  <we:reference id="0712333e-3078-4353-bc6c-307328446e34" version="1.0.1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5da436-b9c0-45a6-9ecc-c0655a249673">
      <Value>1635</Value>
      <Value>116</Value>
      <Value>72</Value>
      <Value>1</Value>
      <Value>3444</Value>
    </TaxCatchAll>
    <LikesCount xmlns="http://schemas.microsoft.com/sharepoint/v3">37</LikesCount>
    <ica38aae1f42489fb9720caef7617fcd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Decks:About EPAM</TermName>
          <TermId xmlns="http://schemas.microsoft.com/office/infopath/2007/PartnerControls">1bb3a607-45a4-4116-99d9-b95075743ae1</TermId>
        </TermInfo>
      </Terms>
    </ica38aae1f42489fb9720caef7617fcd>
    <StoryOwner xmlns="f45da436-b9c0-45a6-9ecc-c0655a249673">
      <UserInfo>
        <DisplayName>c:0t.c|tenant|5250c590-249d-4ccd-91b6-76bf54384662</DisplayName>
        <AccountId>15</AccountId>
        <AccountType/>
      </UserInfo>
      <UserInfo>
        <DisplayName>i:0#.f|membership|viktar_dvorkin@epam.com,#i:0#.f|membership|viktar_dvorkin@epam.com,#Viktar_Dvorkin@epam.com,#Viktar_Dvorkin@epam.com,#Viktar Dvorkin,#,#GDO Office,#SVP, Global Head of Advanced Engineering, Cloud and Enterprise Platforms</DisplayName>
        <AccountId>1450</AccountId>
        <AccountType/>
      </UserInfo>
    </StoryOwner>
    <StoryVideoLink xmlns="f45da436-b9c0-45a6-9ecc-c0655a249673">
      <Url>https://videoportal.epam.com/video/2JwbXbYM</Url>
      <Description>https://videoportal.epam.com/video/2JwbXbYM</Description>
    </StoryVideoLink>
    <a6a6423fd38e469e9a7567459672989e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Continuum</TermName>
          <TermId xmlns="http://schemas.microsoft.com/office/infopath/2007/PartnerControls">036b37b0-418a-48a3-ad40-f27762061154</TermId>
        </TermInfo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e35b7162-8377-4ac0-bb47-f30ed6f0902e</TermId>
        </TermInfo>
      </Terms>
    </a6a6423fd38e469e9a7567459672989e>
    <ExpirationDate xmlns="f45da436-b9c0-45a6-9ecc-c0655a249673">2025-11-20T00:00:00+00:00</ExpirationDate>
    <_dlc_DocId xmlns="f45da436-b9c0-45a6-9ecc-c0655a249673">EPAMSTORY-1389392072-5</_dlc_DocId>
    <_dlc_DocIdUrl xmlns="f45da436-b9c0-45a6-9ecc-c0655a249673">
      <Url>https://epam.sharepoint.com/sites/EPAMPresalesStories/_layouts/15/DocIdRedir.aspx?ID=EPAMSTORY-1389392072-5</Url>
      <Description>EPAMSTORY-1389392072-5</Description>
    </_dlc_DocIdUrl>
    <ExpirationStatus xmlns="cce964ea-0c98-4d20-81b3-11b96e0098eb">ok</ExpirationStatus>
    <ConfigNotes xmlns="http://schemas.microsoft.com/sharepoint/v3" xsi:nil="true"/>
    <o10324d9d8f24f3d87174cfdfd74b2e5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About EPAM</TermName>
          <TermId xmlns="http://schemas.microsoft.com/office/infopath/2007/PartnerControls">5e1ed0a0-89ac-446a-837d-6ea8b9460059</TermId>
        </TermInfo>
      </Terms>
    </o10324d9d8f24f3d87174cfdfd74b2e5>
    <Contributors xmlns="cce964ea-0c98-4d20-81b3-11b96e0098eb">
      <UserInfo>
        <DisplayName/>
        <AccountId xsi:nil="true"/>
        <AccountType/>
      </UserInfo>
    </Contributors>
    <Part_x0020_of_x0020_Story xmlns="f45da436-b9c0-45a6-9ecc-c0655a249673" xsi:nil="true"/>
    <SharedWithUsers xmlns="f45da436-b9c0-45a6-9ecc-c0655a249673">
      <UserInfo>
        <DisplayName/>
        <AccountId xsi:nil="true"/>
        <AccountType/>
      </UserInfo>
    </SharedWithUsers>
    <TaxCatchAllLabel xmlns="f45da436-b9c0-45a6-9ecc-c0655a249673" xsi:nil="true"/>
    <_dlc_DocIdPersistId xmlns="f45da436-b9c0-45a6-9ecc-c0655a249673" xsi:nil="true"/>
    <h557d92785684d7cbabbc42229493ceb xmlns="f45da436-b9c0-45a6-9ecc-c0655a249673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Confidential: NDA Required</TermName>
          <TermId xmlns="http://schemas.microsoft.com/office/infopath/2007/PartnerControls">1078c1ca-8558-4f4e-bb3a-506201fcb43c</TermId>
        </TermInfo>
      </Terms>
    </h557d92785684d7cbabbc42229493ceb>
    <d0b4fb09d84842999ca30d5dd3a1ca39 xmlns="f45da436-b9c0-45a6-9ecc-c0655a249673">
      <Terms xmlns="http://schemas.microsoft.com/office/infopath/2007/PartnerControls"/>
    </d0b4fb09d84842999ca30d5dd3a1ca39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EPAM Story" ma:contentTypeID="0x0101009D00C2DDB7BE0A4F95197A46FA9E762A002B352ACE8C7DF74FABD5BBBE23F6FD6F" ma:contentTypeVersion="24" ma:contentTypeDescription="Create a new EPAM Story" ma:contentTypeScope="" ma:versionID="6c7ad0fab38022b33ef4691436c7fb7a">
  <xsd:schema xmlns:xsd="http://www.w3.org/2001/XMLSchema" xmlns:xs="http://www.w3.org/2001/XMLSchema" xmlns:p="http://schemas.microsoft.com/office/2006/metadata/properties" xmlns:ns1="http://schemas.microsoft.com/sharepoint/v3" xmlns:ns2="f45da436-b9c0-45a6-9ecc-c0655a249673" xmlns:ns3="cce964ea-0c98-4d20-81b3-11b96e0098eb" targetNamespace="http://schemas.microsoft.com/office/2006/metadata/properties" ma:root="true" ma:fieldsID="aef5d73f16a20ab942390f9d63fc4095" ns1:_="" ns2:_="" ns3:_="">
    <xsd:import namespace="http://schemas.microsoft.com/sharepoint/v3"/>
    <xsd:import namespace="f45da436-b9c0-45a6-9ecc-c0655a249673"/>
    <xsd:import namespace="cce964ea-0c98-4d20-81b3-11b96e0098eb"/>
    <xsd:element name="properties">
      <xsd:complexType>
        <xsd:sequence>
          <xsd:element name="documentManagement">
            <xsd:complexType>
              <xsd:all>
                <xsd:element ref="ns2:ExpirationDate"/>
                <xsd:element ref="ns2:StoryOwner"/>
                <xsd:element ref="ns3:Contributors" minOccurs="0"/>
                <xsd:element ref="ns3:ExpirationStatus" minOccurs="0"/>
                <xsd:element ref="ns2:Part_x0020_of_x0020_Story" minOccurs="0"/>
                <xsd:element ref="ns2:StoryVideoLink" minOccurs="0"/>
                <xsd:element ref="ns1:ConfigNotes" minOccurs="0"/>
                <xsd:element ref="ns2:_dlc_DocIdUrl" minOccurs="0"/>
                <xsd:element ref="ns2:a6a6423fd38e469e9a7567459672989e" minOccurs="0"/>
                <xsd:element ref="ns1:LikesCount" minOccurs="0"/>
                <xsd:element ref="ns2:SharedWithUsers" minOccurs="0"/>
                <xsd:element ref="ns2:SharedWithDetails" minOccurs="0"/>
                <xsd:element ref="ns2:ica38aae1f42489fb9720caef7617fcd" minOccurs="0"/>
                <xsd:element ref="ns2:_dlc_DocId" minOccurs="0"/>
                <xsd:element ref="ns2:o10324d9d8f24f3d87174cfdfd74b2e5" minOccurs="0"/>
                <xsd:element ref="ns2:_dlc_DocIdPersistId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2:h557d92785684d7cbabbc42229493ceb" minOccurs="0"/>
                <xsd:element ref="ns3:MediaServiceBillingMetadata" minOccurs="0"/>
                <xsd:element ref="ns2:d0b4fb09d84842999ca30d5dd3a1ca39" minOccurs="0"/>
                <xsd:element ref="ns2:TaxCatchAllLabel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onfigNotes" ma:index="11" nillable="true" ma:displayName="Notes" ma:internalName="ConfigNotes" ma:readOnly="false">
      <xsd:simpleType>
        <xsd:restriction base="dms:Note">
          <xsd:maxLength value="255"/>
        </xsd:restriction>
      </xsd:simpleType>
    </xsd:element>
    <xsd:element name="LikesCount" ma:index="19" nillable="true" ma:displayName="Number of Likes" ma:hidden="true" ma:internalName="Likes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da436-b9c0-45a6-9ecc-c0655a249673" elementFormDefault="qualified">
    <xsd:import namespace="http://schemas.microsoft.com/office/2006/documentManagement/types"/>
    <xsd:import namespace="http://schemas.microsoft.com/office/infopath/2007/PartnerControls"/>
    <xsd:element name="ExpirationDate" ma:index="4" ma:displayName="Review Date" ma:default="[today]" ma:format="DateOnly" ma:internalName="ExpirationDate" ma:readOnly="false">
      <xsd:simpleType>
        <xsd:restriction base="dms:DateTime"/>
      </xsd:simpleType>
    </xsd:element>
    <xsd:element name="StoryOwner" ma:index="5" ma:displayName="StoryOwner" ma:list="UserInfo" ma:SearchPeopleOnly="false" ma:SharePointGroup="0" ma:internalName="StoryOwner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art_x0020_of_x0020_Story" ma:index="9" nillable="true" ma:displayName="Part of Collection" ma:list="{caf6492b-c3a1-41e6-9ddd-75f5bc3198ae}" ma:internalName="Part_x0020_of_x0020_Story" ma:readOnly="false" ma:showField="Title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toryVideoLink" ma:index="10" nillable="true" ma:displayName="StoryVideoLink" ma:description="Link to video on EPAM VideoPortal about this story" ma:format="Hyperlink" ma:internalName="StoryVideo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Url" ma:index="14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6a6423fd38e469e9a7567459672989e" ma:index="17" nillable="true" ma:taxonomy="true" ma:internalName="a6a6423fd38e469e9a7567459672989e" ma:taxonomyFieldName="StoryTags" ma:displayName="StoryTags" ma:readOnly="false" ma:default="" ma:fieldId="{a6a6423f-d38e-469e-9a75-67459672989e}" ma:taxonomyMulti="true" ma:sspId="debda6a7-6b37-4000-ac6c-4fd0a963898e" ma:termSetId="f1da140d-ef9e-4ced-9281-d8ea40222c81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SharedWithUsers" ma:index="2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hidden="true" ma:internalName="SharedWithDetails" ma:readOnly="true">
      <xsd:simpleType>
        <xsd:restriction base="dms:Note"/>
      </xsd:simpleType>
    </xsd:element>
    <xsd:element name="ica38aae1f42489fb9720caef7617fcd" ma:index="23" ma:taxonomy="true" ma:internalName="ica38aae1f42489fb9720caef7617fcd" ma:taxonomyFieldName="Story" ma:displayName="Taxonomy" ma:readOnly="false" ma:default="" ma:fieldId="{2ca38aae-1f42-489f-b972-0caef7617fcd}" ma:taxonomyMulti="true" ma:sspId="debda6a7-6b37-4000-ac6c-4fd0a963898e" ma:termSetId="d72849a2-9b0d-48bf-bf08-492c9dccb84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4" nillable="true" ma:displayName="Document ID Value" ma:description="The value of the document ID assigned to this item." ma:hidden="true" ma:indexed="true" ma:internalName="_dlc_DocId" ma:readOnly="true">
      <xsd:simpleType>
        <xsd:restriction base="dms:Text"/>
      </xsd:simpleType>
    </xsd:element>
    <xsd:element name="o10324d9d8f24f3d87174cfdfd74b2e5" ma:index="25" ma:taxonomy="true" ma:internalName="o10324d9d8f24f3d87174cfdfd74b2e5" ma:taxonomyFieldName="StoryCategories" ma:displayName="StoryCategories" ma:readOnly="false" ma:default="1628;#Capability|437677bb-e3a5-4872-945b-ba4270c6cbb4" ma:fieldId="{810324d9-d8f2-4f3d-8717-4cfdfd74b2e5}" ma:taxonomyMulti="true" ma:sspId="debda6a7-6b37-4000-ac6c-4fd0a963898e" ma:termSetId="ddcebb0a-3fca-4e23-b6a5-f1f8550db2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PersistId" ma:index="27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TaxCatchAll" ma:index="28" nillable="true" ma:displayName="Taxonomy Catch All Column" ma:hidden="true" ma:list="{f4ef9fac-c5ce-424a-9df9-4a92c932d921}" ma:internalName="TaxCatchAll" ma:readOnly="false" ma:showField="CatchAllData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557d92785684d7cbabbc42229493ceb" ma:index="31" ma:taxonomy="true" ma:internalName="h557d92785684d7cbabbc42229493ceb" ma:taxonomyFieldName="UsagePermission" ma:displayName="UsagePermission" ma:readOnly="false" ma:default="3444;#Confidential: NDA Required|1078c1ca-8558-4f4e-bb3a-506201fcb43c" ma:fieldId="{1557d927-8568-4d7c-babb-c42229493ceb}" ma:sspId="debda6a7-6b37-4000-ac6c-4fd0a963898e" ma:termSetId="8fdd4e80-0ab9-4356-9b99-f53e66d463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0b4fb09d84842999ca30d5dd3a1ca39" ma:index="34" nillable="true" ma:taxonomy="true" ma:internalName="d0b4fb09d84842999ca30d5dd3a1ca39" ma:taxonomyFieldName="VCN" ma:displayName="VCN" ma:readOnly="false" ma:default="" ma:fieldId="{d0b4fb09-d848-4299-9ca3-0d5dd3a1ca39}" ma:taxonomyMulti="true" ma:sspId="debda6a7-6b37-4000-ac6c-4fd0a963898e" ma:termSetId="983cafd6-05e4-4154-90f9-0772cf21af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35" nillable="true" ma:displayName="Taxonomy Catch All Column1" ma:hidden="true" ma:list="{f4ef9fac-c5ce-424a-9df9-4a92c932d921}" ma:internalName="TaxCatchAllLabel" ma:readOnly="false" ma:showField="CatchAllDataLabel" ma:web="f45da436-b9c0-45a6-9ecc-c0655a249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964ea-0c98-4d20-81b3-11b96e0098eb" elementFormDefault="qualified">
    <xsd:import namespace="http://schemas.microsoft.com/office/2006/documentManagement/types"/>
    <xsd:import namespace="http://schemas.microsoft.com/office/infopath/2007/PartnerControls"/>
    <xsd:element name="Contributors" ma:index="6" nillable="true" ma:displayName="Contributors" ma:format="Dropdown" ma:list="UserInfo" ma:SharePointGroup="0" ma:internalName="Contributo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pirationStatus" ma:index="7" nillable="true" ma:displayName="ExpirationStatus" ma:internalName="ExpirationStatus" ma:readOnly="false">
      <xsd:simpleType>
        <xsd:restriction base="dms:Text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B216C-B8AE-4FE7-A9EB-F5691280A8C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483322-9D94-4891-9E64-C985B1D86A41}">
  <ds:schemaRefs>
    <ds:schemaRef ds:uri="f45da436-b9c0-45a6-9ecc-c0655a249673"/>
    <ds:schemaRef ds:uri="http://purl.org/dc/dcmitype/"/>
    <ds:schemaRef ds:uri="http://purl.org/dc/terms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cce964ea-0c98-4d20-81b3-11b96e0098eb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BE67F4B-6A2F-473F-80F8-05CE7721E7A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FEB0C-CC02-4177-8430-04E42C5C0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45da436-b9c0-45a6-9ecc-c0655a249673"/>
    <ds:schemaRef ds:uri="cce964ea-0c98-4d20-81b3-11b96e009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1266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Human Sans</vt:lpstr>
      <vt:lpstr>EPAM Master 2024.1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Overview</dc:title>
  <dc:creator>Jennifer Markowitz</dc:creator>
  <cp:lastModifiedBy>Dmitry Zdanovich</cp:lastModifiedBy>
  <cp:revision>4</cp:revision>
  <dcterms:created xsi:type="dcterms:W3CDTF">2018-01-26T19:23:30Z</dcterms:created>
  <dcterms:modified xsi:type="dcterms:W3CDTF">2026-04-24T13:17:55Z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0x0101009D00C2DDB7BE0A4F95197A46FA9E762A002B352ACE8C7DF74FABD5BBBE23F6FD6F</vt:lpwstr>
  </property>
  <property fmtid="{D5CDD505-2E9C-101B-9397-08002B2CF9AE}" pid="3" name="ImportRevision">
    <vt:lpwstr>636751944040000000</vt:lpwstr>
  </property>
  <property fmtid="{D5CDD505-2E9C-101B-9397-08002B2CF9AE}" pid="4" name="StoryTags">
    <vt:lpwstr>72;#Continuum|036b37b0-418a-48a3-ad40-f27762061154;#116;#About EPAM|e35b7162-8377-4ac0-bb47-f30ed6f0902e</vt:lpwstr>
  </property>
  <property fmtid="{D5CDD505-2E9C-101B-9397-08002B2CF9AE}" pid="5" name="_dlc_DocIdItemGuid">
    <vt:lpwstr>041f0451-e7b6-47dd-8915-ddc72a6e399d</vt:lpwstr>
  </property>
  <property fmtid="{D5CDD505-2E9C-101B-9397-08002B2CF9AE}" pid="6" name="StoryTaxonomy">
    <vt:lpwstr>204;#EPAM Overview|107422c5-c5be-4599-981e-e0bc82e53d69</vt:lpwstr>
  </property>
  <property fmtid="{D5CDD505-2E9C-101B-9397-08002B2CF9AE}" pid="7" name="h098c32ae4474a2397bbdf9bd347fc14">
    <vt:lpwstr>EPAM Overview|107422c5-c5be-4599-981e-e0bc82e53d69</vt:lpwstr>
  </property>
  <property fmtid="{D5CDD505-2E9C-101B-9397-08002B2CF9AE}" pid="8" name="LikedBy">
    <vt:lpwstr>17;#Palina Vilava;#78;#Martin Asencio;#39;#Sergey Levchenko;#970;#Jesal Panchal;#5014;#Yury Slobodski;#243;#Esmy Jensen;#2461;#David Aldrich;#36;#Yuliya Ziaziulina;#899;#Markus Eriksson;#1694;#David Guerri;#7200;#Anand Topu;#219;#Sofia Odintseva;#22949;#Andrew Macey;#9941;#Ilya Kuntsevich;#22597;#Claudia Gorham1;#23522;#Volodymyr Stepanets (Contractor);#24069;#Deborah Regal;#24283;#Vladimir Grevtsev;#27435;#Ryan Ahmed;#20380;#Karan Bhardwaj;#27681;#Caroline Prenn;#24469;#Maneesh Khare;#30037;#CLAUDIA GIANFELICE;#418;#Gary Thomson;#863;#Ghislain Siewe;#7315;#Vivek Agarwal;#31715;#Mahesh Aluvala;#32105;#Alexa Robinson;#32214;#Ted Slater;#22485;#Giuseppe Riefoli;#33929;#Trinh Nguyen;#3914;#Bogdan Jurjevich;#2215;#Taryn Hess;#35911;#Kiryl Domnitch;#16039;#Quentin Odier;#15333;#Jack Maher;#29060;#i:0#.f|membership|marius_constantinescu@epam.com</vt:lpwstr>
  </property>
  <property fmtid="{D5CDD505-2E9C-101B-9397-08002B2CF9AE}" pid="9" name="StoryCategories">
    <vt:lpwstr>1635;#About EPAM|5e1ed0a0-89ac-446a-837d-6ea8b9460059</vt:lpwstr>
  </property>
  <property fmtid="{D5CDD505-2E9C-101B-9397-08002B2CF9AE}" pid="10" name="UsagePermission">
    <vt:lpwstr>3444;#Confidential: NDA Required|1078c1ca-8558-4f4e-bb3a-506201fcb43c</vt:lpwstr>
  </property>
  <property fmtid="{D5CDD505-2E9C-101B-9397-08002B2CF9AE}" pid="11" name="VCN">
    <vt:lpwstr/>
  </property>
  <property fmtid="{D5CDD505-2E9C-101B-9397-08002B2CF9AE}" pid="12" name="Story">
    <vt:lpwstr>1;#General Decks:About EPAM|1bb3a607-45a4-4116-99d9-b95075743ae1</vt:lpwstr>
  </property>
  <property fmtid="{D5CDD505-2E9C-101B-9397-08002B2CF9AE}" pid="13" name="MSIP_Label_2a535040-0af2-483f-adc3-a132c21e3e2b_Enabled">
    <vt:lpwstr>true</vt:lpwstr>
  </property>
  <property fmtid="{D5CDD505-2E9C-101B-9397-08002B2CF9AE}" pid="14" name="MSIP_Label_2a535040-0af2-483f-adc3-a132c21e3e2b_SetDate">
    <vt:lpwstr>2026-01-27T08:34:32Z</vt:lpwstr>
  </property>
  <property fmtid="{D5CDD505-2E9C-101B-9397-08002B2CF9AE}" pid="15" name="MSIP_Label_2a535040-0af2-483f-adc3-a132c21e3e2b_Method">
    <vt:lpwstr>Standard</vt:lpwstr>
  </property>
  <property fmtid="{D5CDD505-2E9C-101B-9397-08002B2CF9AE}" pid="16" name="MSIP_Label_2a535040-0af2-483f-adc3-a132c21e3e2b_Name">
    <vt:lpwstr>EPAM_Confidential</vt:lpwstr>
  </property>
  <property fmtid="{D5CDD505-2E9C-101B-9397-08002B2CF9AE}" pid="17" name="MSIP_Label_2a535040-0af2-483f-adc3-a132c21e3e2b_SiteId">
    <vt:lpwstr>b41b72d0-4e9f-4c26-8a69-f949f367c91d</vt:lpwstr>
  </property>
  <property fmtid="{D5CDD505-2E9C-101B-9397-08002B2CF9AE}" pid="18" name="MSIP_Label_2a535040-0af2-483f-adc3-a132c21e3e2b_ActionId">
    <vt:lpwstr>6de4626a-a598-4337-88df-2d099c6d2fce</vt:lpwstr>
  </property>
  <property fmtid="{D5CDD505-2E9C-101B-9397-08002B2CF9AE}" pid="19" name="MSIP_Label_2a535040-0af2-483f-adc3-a132c21e3e2b_ContentBits">
    <vt:lpwstr>0</vt:lpwstr>
  </property>
  <property fmtid="{D5CDD505-2E9C-101B-9397-08002B2CF9AE}" pid="20" name="MSIP_Label_2a535040-0af2-483f-adc3-a132c21e3e2b_Tag">
    <vt:lpwstr>10, 3, 0, 1</vt:lpwstr>
  </property>
</Properties>
</file>