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0" r:id="rId5"/>
  </p:sldMasterIdLst>
  <p:notesMasterIdLst>
    <p:notesMasterId r:id="rId6"/>
  </p:notesMasterIdLst>
  <p:handoutMasterIdLst>
    <p:handoutMasterId r:id="rId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DA"/>
    <a:srgbClr val="D9D9D9"/>
    <a:srgbClr val="FED143"/>
    <a:srgbClr val="77CED7"/>
    <a:srgbClr val="484749"/>
    <a:srgbClr val="7F993A"/>
    <a:srgbClr val="39C2D7"/>
    <a:srgbClr val="1887BB"/>
    <a:srgbClr val="62A230"/>
    <a:srgbClr val="67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0" autoAdjust="0"/>
  </p:normalViewPr>
  <p:slideViewPr>
    <p:cSldViewPr snapToGrid="0" showGuides="1">
      <p:cViewPr varScale="1">
        <p:scale>
          <a:sx n="83" d="100"/>
          <a:sy n="83" d="100"/>
        </p:scale>
        <p:origin x="108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Relationship Id="rId4" Type="http://schemas.openxmlformats.org/officeDocument/2006/relationships/image" Target="../media/image6.png"/><Relationship Id="rId5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DE3A7CEE-E1C9-5E29-7BD1-4DC1A1B47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46FBA0-34E7-8BA0-8C70-B6AFD4D64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4" y="748727"/>
            <a:ext cx="1226857" cy="4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0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50019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CA163-9EEA-54E4-57D2-BFE989F6F9C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0B6ADF-5C55-9945-3F05-7FFC190F1FD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06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221290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34F95-D03F-BB17-0BA8-0AB623989FD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C2139A-0FDA-8116-257B-67457AE6A97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1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3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9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8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9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322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137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01721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165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483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0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993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71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21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4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477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2420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CE1444-B151-5430-2753-A94BFE598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49190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7728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2645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D1CA3-DE0B-7A9B-CE98-826ACE3DFEB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F033AD-4765-5FA3-B45B-9232B4A16A8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8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878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CC802-5D81-6EBD-4496-14A01AE49DB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233E5D9-D527-CAC4-3B1E-44AA802D724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84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53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9051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86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43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18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877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4010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80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73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65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7384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8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54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8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39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104305F-427E-7B08-9801-43AF5256F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50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551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DC425F-9CC1-9DF3-3F54-17DAA0EB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7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0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8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ictures-Lei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2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2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7656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7656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67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7867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23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07338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40700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0738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35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-Le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3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C3044EB-579C-1960-F9EB-F116665A72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32000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271A-50EF-A83C-8073-0A6628457E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A26170-4FED-69CC-E7CF-6F163320D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F5574A-DA2F-79E2-5257-E464C4DCBE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70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50C4C1-6951-43AE-9158-49572E0C9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70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00C3D5-7B7C-EDA2-9F53-869EC3327C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4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9AE19AD-1845-6345-DD33-3FC9CF178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F38F98-219B-60E4-DEE4-A49FED7181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6073D28-63C4-4EAB-D10E-E4C9A179B8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</p:spTree>
    <p:extLst>
      <p:ext uri="{BB962C8B-B14F-4D97-AF65-F5344CB8AC3E}">
        <p14:creationId xmlns:p14="http://schemas.microsoft.com/office/powerpoint/2010/main" val="269782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370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21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EA7B-FE87-E4A3-0E28-5A6940077AAF}"/>
              </a:ext>
            </a:extLst>
          </p:cNvPr>
          <p:cNvSpPr/>
          <p:nvPr userDrawn="1"/>
        </p:nvSpPr>
        <p:spPr bwMode="auto">
          <a:xfrm>
            <a:off x="1020000" y="999000"/>
            <a:ext cx="10152000" cy="4860000"/>
          </a:xfrm>
          <a:prstGeom prst="rect">
            <a:avLst/>
          </a:prstGeom>
          <a:gradFill>
            <a:gsLst>
              <a:gs pos="66000">
                <a:schemeClr val="accent5"/>
              </a:gs>
              <a:gs pos="0">
                <a:schemeClr val="accent2"/>
              </a:gs>
              <a:gs pos="100000">
                <a:schemeClr val="accent4"/>
              </a:gs>
            </a:gsLst>
            <a:lin ang="1800000" scaled="0"/>
          </a:gra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lvl="0"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8A2ACC-EFED-3CEF-B58F-EA44CFA3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9475" y="2464175"/>
            <a:ext cx="7899400" cy="6155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0" i="0" spc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your quote here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A967559A-5EC8-8B92-65E3-76928C972876}"/>
              </a:ext>
            </a:extLst>
          </p:cNvPr>
          <p:cNvSpPr txBox="1">
            <a:spLocks/>
          </p:cNvSpPr>
          <p:nvPr userDrawn="1"/>
        </p:nvSpPr>
        <p:spPr>
          <a:xfrm>
            <a:off x="2062976" y="1531155"/>
            <a:ext cx="1248633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sz="9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11838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4736574-B51A-9653-821A-E3F5C3FCD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1EA3E-7B20-955D-0C59-DF85A915365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B0EE7-0219-6A5E-BA7F-872F2C48D7E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476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-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2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25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5E39841-8080-2E83-D8BB-7AD807F024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728A8-4504-9979-0928-94780E8A451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625CBB-5BC8-9235-54D3-C8F265017D7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11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EPAM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1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66" Type="http://schemas.openxmlformats.org/officeDocument/2006/relationships/image" Target="../media/image1.png"/><Relationship Id="rId6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  <p:sldLayoutId id="2147484368" r:id="rId18"/>
    <p:sldLayoutId id="2147484369" r:id="rId19"/>
    <p:sldLayoutId id="2147484370" r:id="rId20"/>
    <p:sldLayoutId id="2147484371" r:id="rId21"/>
    <p:sldLayoutId id="2147484372" r:id="rId22"/>
    <p:sldLayoutId id="2147484373" r:id="rId23"/>
    <p:sldLayoutId id="2147484374" r:id="rId24"/>
    <p:sldLayoutId id="2147484375" r:id="rId25"/>
    <p:sldLayoutId id="2147484376" r:id="rId26"/>
    <p:sldLayoutId id="2147484377" r:id="rId27"/>
    <p:sldLayoutId id="2147484378" r:id="rId28"/>
    <p:sldLayoutId id="2147484379" r:id="rId29"/>
    <p:sldLayoutId id="2147484380" r:id="rId30"/>
    <p:sldLayoutId id="2147484381" r:id="rId31"/>
    <p:sldLayoutId id="2147484382" r:id="rId32"/>
    <p:sldLayoutId id="2147484383" r:id="rId33"/>
    <p:sldLayoutId id="2147484384" r:id="rId34"/>
    <p:sldLayoutId id="2147484385" r:id="rId35"/>
    <p:sldLayoutId id="2147484386" r:id="rId36"/>
    <p:sldLayoutId id="2147484387" r:id="rId37"/>
    <p:sldLayoutId id="2147484388" r:id="rId38"/>
    <p:sldLayoutId id="2147484389" r:id="rId39"/>
    <p:sldLayoutId id="2147484390" r:id="rId40"/>
    <p:sldLayoutId id="2147484391" r:id="rId41"/>
    <p:sldLayoutId id="2147484392" r:id="rId42"/>
    <p:sldLayoutId id="2147484393" r:id="rId43"/>
    <p:sldLayoutId id="2147484394" r:id="rId44"/>
    <p:sldLayoutId id="2147484395" r:id="rId45"/>
    <p:sldLayoutId id="2147484396" r:id="rId46"/>
    <p:sldLayoutId id="2147484397" r:id="rId47"/>
    <p:sldLayoutId id="2147484398" r:id="rId48"/>
    <p:sldLayoutId id="2147484399" r:id="rId49"/>
    <p:sldLayoutId id="2147484400" r:id="rId50"/>
    <p:sldLayoutId id="2147484401" r:id="rId51"/>
    <p:sldLayoutId id="2147484402" r:id="rId52"/>
    <p:sldLayoutId id="2147484403" r:id="rId53"/>
    <p:sldLayoutId id="2147484404" r:id="rId54"/>
    <p:sldLayoutId id="2147484405" r:id="rId55"/>
    <p:sldLayoutId id="2147484406" r:id="rId56"/>
    <p:sldLayoutId id="2147484407" r:id="rId57"/>
    <p:sldLayoutId id="2147484408" r:id="rId58"/>
    <p:sldLayoutId id="2147484409" r:id="rId59"/>
    <p:sldLayoutId id="2147484410" r:id="rId60"/>
    <p:sldLayoutId id="2147484411" r:id="rId61"/>
    <p:sldLayoutId id="2147484412" r:id="rId62"/>
    <p:sldLayoutId id="2147484413" r:id="rId63"/>
    <p:sldLayoutId id="2147484414" r:id="rId6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5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8.png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2.png"/><Relationship Id="rId3" Type="http://schemas.openxmlformats.org/officeDocument/2006/relationships/image" Target="../media/image23.png"/><Relationship Id="rId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Where the ABAP estate talks to SFTP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 A Y  2 0 2 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SFTP Usage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The task — 13 seeds, one migration question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Usage map — full inventory in Z001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Analysis — by business domain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Result — migration handoff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13 stakeholder-listed reports. One question: how does each one use SFTP? Output supports migration handoff — we do NOT design the replacement.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and scope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24345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Targ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00200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640080" y="2354580"/>
            <a:ext cx="3200400" cy="14058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0047FF"/>
                </a:solidFill>
              </a:rPr>
              <a:t>Goal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SFTP verdict per seed (yes/no/unclear/not-found)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For each yes: methods, direction, payload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Blind spots called out explicitly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24345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Document_Checklist_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00200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4389120" y="2354580"/>
            <a:ext cx="3200400" cy="11868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A080DB"/>
                </a:solidFill>
              </a:rPr>
              <a:t>In scope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Z* and /VERTEX/* in DS4_CLH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13 seed objects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Where-used traversal from confirmed SFTP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24345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X_Mark_Circle_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600200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8138160" y="2354580"/>
            <a:ext cx="3200400" cy="14058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0078C2"/>
                </a:solidFill>
              </a:rPr>
              <a:t>Out of scope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Replacement design / target API selection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IDoc, OData, EDI (unless they explain a usage site)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SAP standard namespace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seeds. One destination. SmartAgent over MCP.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HOW THE RUN WAS WIRED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:container"/>
          <p:cNvSpPr/>
          <p:nvPr/>
        </p:nvSpPr>
        <p:spPr>
          <a:xfrm>
            <a:off x="457200" y="1463040"/>
            <a:ext cx="539496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:metric"/>
          <p:cNvSpPr txBox="1"/>
          <p:nvPr/>
        </p:nvSpPr>
        <p:spPr>
          <a:xfrm>
            <a:off x="640080" y="1600200"/>
            <a:ext cx="50292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13</a:t>
            </a:r>
          </a:p>
        </p:txBody>
      </p:sp>
      <p:sp>
        <p:nvSpPr>
          <p:cNvPr id="7" name="c_1_Block:content"/>
          <p:cNvSpPr txBox="1"/>
          <p:nvPr/>
        </p:nvSpPr>
        <p:spPr>
          <a:xfrm>
            <a:off x="640080" y="2077719"/>
            <a:ext cx="50292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stakeholder-listed seeds (corrected mid-run)</a:t>
            </a:r>
          </a:p>
        </p:txBody>
      </p:sp>
      <p:sp>
        <p:nvSpPr>
          <p:cNvPr id="8" name="c_2_Block"/>
          <p:cNvSpPr/>
          <p:nvPr/>
        </p:nvSpPr>
        <p:spPr>
          <a:xfrm>
            <a:off x="6126480" y="1463040"/>
            <a:ext cx="5394960" cy="224028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Transport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/v1/chat/completions</a:t>
            </a:r>
            <a:r>
              <a:rPr sz="1400">
                <a:solidFill>
                  <a:srgbClr val="FFFFFF"/>
                </a:solidFill>
              </a:rPr>
              <a:t> via local MCP proxy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Header </a:t>
            </a:r>
            <a:r>
              <a:rPr sz="1400" b="1">
                <a:solidFill>
                  <a:srgbClr val="FFFFFF"/>
                </a:solidFill>
              </a:rPr>
              <a:t>x-sap-destination: DS4_CLH</a:t>
            </a:r>
          </a:p>
        </p:txBody>
      </p:sp>
      <p:sp>
        <p:nvSpPr>
          <p:cNvPr id="9" name="c_3_Block"/>
          <p:cNvSpPr/>
          <p:nvPr/>
        </p:nvSpPr>
        <p:spPr>
          <a:xfrm>
            <a:off x="6126480" y="3886200"/>
            <a:ext cx="5394960" cy="224028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Provider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OpenAI gpt-5.2 / gpt-5.5-pro on ai-applications subaccount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Anthropic not available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Stage 2 read every seed and its includes. Stage 2b enumerated methods openly. One mechanism kept showing up.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verdicts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By verdict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7090137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8267337" y="1463040"/>
            <a:ext cx="3465063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:container"/>
          <p:cNvSpPr/>
          <p:nvPr/>
        </p:nvSpPr>
        <p:spPr>
          <a:xfrm>
            <a:off x="457200" y="1463040"/>
            <a:ext cx="7090137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_1_Block:metric"/>
          <p:cNvSpPr txBox="1"/>
          <p:nvPr/>
        </p:nvSpPr>
        <p:spPr>
          <a:xfrm>
            <a:off x="640080" y="1600200"/>
            <a:ext cx="6724377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8 / 13</a:t>
            </a:r>
          </a:p>
        </p:txBody>
      </p:sp>
      <p:sp>
        <p:nvSpPr>
          <p:cNvPr id="8" name="c_1_Block:content"/>
          <p:cNvSpPr txBox="1"/>
          <p:nvPr/>
        </p:nvSpPr>
        <p:spPr>
          <a:xfrm>
            <a:off x="640080" y="2077719"/>
            <a:ext cx="6724377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seeds confirmed as SFTP callers</a:t>
            </a:r>
          </a:p>
        </p:txBody>
      </p:sp>
      <p:sp>
        <p:nvSpPr>
          <p:cNvPr id="9" name="c_1_BlockGrid:0:c_2_Block"/>
          <p:cNvSpPr/>
          <p:nvPr/>
        </p:nvSpPr>
        <p:spPr>
          <a:xfrm>
            <a:off x="8267337" y="1463040"/>
            <a:ext cx="3465063" cy="744854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</a:rPr>
              <a:t>yes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8 — confirmed SFTP callers</a:t>
            </a:r>
          </a:p>
        </p:txBody>
      </p:sp>
      <p:sp>
        <p:nvSpPr>
          <p:cNvPr id="10" name="c_1_BlockGrid:1:c_3_Block"/>
          <p:cNvSpPr/>
          <p:nvPr/>
        </p:nvSpPr>
        <p:spPr>
          <a:xfrm>
            <a:off x="8267337" y="2326766"/>
            <a:ext cx="3465063" cy="744854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</a:rPr>
              <a:t>no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5 — local file I/O only</a:t>
            </a:r>
          </a:p>
        </p:txBody>
      </p:sp>
      <p:graphicFrame>
        <p:nvGraphicFramePr>
          <p:cNvPr id="11" name="c_1_BlockGrid:2:c_4_Block"/>
          <p:cNvGraphicFramePr>
            <a:graphicFrameLocks noGrp="1"/>
          </p:cNvGraphicFramePr>
          <p:nvPr/>
        </p:nvGraphicFramePr>
        <p:xfrm>
          <a:off x="8267337" y="3190492"/>
          <a:ext cx="3465063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46506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All 13 verdicts source-cited in 02-methods.md.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898989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SXPG_COMMAND_EXECUTE → SM69 → OS sftp/scp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SAME SHAPE, EVERY TIME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Process:block0:c_1_Block"/>
          <p:cNvSpPr/>
          <p:nvPr/>
        </p:nvSpPr>
        <p:spPr>
          <a:xfrm>
            <a:off x="457200" y="1463040"/>
            <a:ext cx="2423160" cy="274320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1. ABAP report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Z* report initiates the call from the customer estate.</a:t>
            </a:r>
          </a:p>
        </p:txBody>
      </p:sp>
      <p:sp>
        <p:nvSpPr>
          <p:cNvPr id="6" name="c_1_BlockProcess:arrow0"/>
          <p:cNvSpPr/>
          <p:nvPr/>
        </p:nvSpPr>
        <p:spPr>
          <a:xfrm>
            <a:off x="2972160" y="2663640"/>
            <a:ext cx="273600" cy="342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_1_BlockProcess:block1:c_2_Block"/>
          <p:cNvSpPr/>
          <p:nvPr/>
        </p:nvSpPr>
        <p:spPr>
          <a:xfrm>
            <a:off x="3337560" y="1463040"/>
            <a:ext cx="2423160" cy="274320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2. Read zfi_constants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FTP_USER / HOST_KEY / PRIVATE_KEY_PATH / …</a:t>
            </a:r>
          </a:p>
        </p:txBody>
      </p:sp>
      <p:sp>
        <p:nvSpPr>
          <p:cNvPr id="8" name="c_1_BlockProcess:arrow1"/>
          <p:cNvSpPr/>
          <p:nvPr/>
        </p:nvSpPr>
        <p:spPr>
          <a:xfrm>
            <a:off x="5852520" y="2663640"/>
            <a:ext cx="273600" cy="342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Process:block2:c_3_Block"/>
          <p:cNvSpPr/>
          <p:nvPr/>
        </p:nvSpPr>
        <p:spPr>
          <a:xfrm>
            <a:off x="6217920" y="1463040"/>
            <a:ext cx="2423160" cy="274320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3. SXPG_COMMAND_EXECUTE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CALL FUNCTION with the prepared parameter set.</a:t>
            </a:r>
          </a:p>
        </p:txBody>
      </p:sp>
      <p:sp>
        <p:nvSpPr>
          <p:cNvPr id="10" name="c_1_BlockProcess:arrow2"/>
          <p:cNvSpPr/>
          <p:nvPr/>
        </p:nvSpPr>
        <p:spPr>
          <a:xfrm>
            <a:off x="8732880" y="2663640"/>
            <a:ext cx="273600" cy="342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_1_BlockProcess:block3:c_4_Block"/>
          <p:cNvSpPr/>
          <p:nvPr/>
        </p:nvSpPr>
        <p:spPr>
          <a:xfrm>
            <a:off x="9098280" y="1463040"/>
            <a:ext cx="2423160" cy="274320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4. SM69 → OS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SM69 entry runs sftp/scp binary to the remote endpoint.</a:t>
            </a:r>
          </a:p>
        </p:txBody>
      </p:sp>
      <p:graphicFrame>
        <p:nvGraphicFramePr>
          <p:cNvPr id="12" name="c_5_Block"/>
          <p:cNvGraphicFramePr>
            <a:graphicFrameLocks noGrp="1"/>
          </p:cNvGraphicFramePr>
          <p:nvPr/>
        </p:nvGraphicFramePr>
        <p:xfrm>
          <a:off x="457200" y="466344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Every confirmed SFTP report reduces to this pattern.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auth shapes the migration must support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5440680" cy="3657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Window_Lo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600200" y="1600200"/>
            <a:ext cx="4114800" cy="9505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47FF"/>
                </a:solidFill>
              </a:rPr>
              <a:t>Key-based (modern)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FTP_USER, FTP_DOMAIN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HOST_KEY, PRIVATE_KEY_PATH, PASSPHRASE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Optional: FTP_PORT, FOLDER_PATH, FILE_EXT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13 of 14 direct reports + both wrapper FUGRs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6080760" y="1463040"/>
            <a:ext cx="5440680" cy="3657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X_Mark_Box_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71800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7223760" y="1600200"/>
            <a:ext cx="4114800" cy="9505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A080DB"/>
                </a:solidFill>
              </a:rPr>
              <a:t>Password-based (legacy)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FTP_USER, FTP_PSWD, FTP_DOMAIN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FTP_PORT, HOST_KEY (still)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Only ZSFTP_BNP_PARIBAS is pure password-auth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Several others read FTP_PSWD defensively</a:t>
            </a:r>
          </a:p>
        </p:txBody>
      </p:sp>
      <p:graphicFrame>
        <p:nvGraphicFramePr>
          <p:cNvPr id="10" name="c_3_Block"/>
          <p:cNvGraphicFramePr>
            <a:graphicFrameLocks noGrp="1"/>
          </p:cNvGraphicFramePr>
          <p:nvPr/>
        </p:nvGraphicFramePr>
        <p:xfrm>
          <a:off x="457200" y="530352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Single-auth replacements would break the BNP password path.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Seven independent SearchSource scans. Three credential-bag markers. Wrapper FUGRs discovered along the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scope grew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Scope grew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6363063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7540263" y="1463040"/>
            <a:ext cx="4192137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:container"/>
          <p:cNvSpPr/>
          <p:nvPr/>
        </p:nvSpPr>
        <p:spPr>
          <a:xfrm>
            <a:off x="457200" y="1463040"/>
            <a:ext cx="6363063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_1_Block:metric"/>
          <p:cNvSpPr txBox="1"/>
          <p:nvPr/>
        </p:nvSpPr>
        <p:spPr>
          <a:xfrm>
            <a:off x="640080" y="1600200"/>
            <a:ext cx="5997303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+46%</a:t>
            </a:r>
          </a:p>
        </p:txBody>
      </p:sp>
      <p:sp>
        <p:nvSpPr>
          <p:cNvPr id="8" name="c_1_Block:content"/>
          <p:cNvSpPr txBox="1"/>
          <p:nvPr/>
        </p:nvSpPr>
        <p:spPr>
          <a:xfrm>
            <a:off x="640080" y="2077719"/>
            <a:ext cx="5997303" cy="21907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>
                <a:solidFill>
                  <a:srgbClr val="000000"/>
                </a:solidFill>
              </a:rPr>
              <a:t>vs the 13-seed stakeholder list (13 → 19 confirmed objects).</a:t>
            </a:r>
          </a:p>
        </p:txBody>
      </p:sp>
      <p:sp>
        <p:nvSpPr>
          <p:cNvPr id="9" name="c_1_BlockGrid:0:c_2_Block"/>
          <p:cNvSpPr/>
          <p:nvPr/>
        </p:nvSpPr>
        <p:spPr>
          <a:xfrm>
            <a:off x="7540263" y="1463040"/>
            <a:ext cx="4192137" cy="635126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Scan PRIVATE_KEY_PATH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+5 PROGs + 2 FUGRs</a:t>
            </a:r>
          </a:p>
        </p:txBody>
      </p:sp>
      <p:sp>
        <p:nvSpPr>
          <p:cNvPr id="10" name="c_1_BlockGrid:1:c_3_Block"/>
          <p:cNvSpPr/>
          <p:nvPr/>
        </p:nvSpPr>
        <p:spPr>
          <a:xfrm>
            <a:off x="7540263" y="2217038"/>
            <a:ext cx="4192137" cy="635126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Scan FTP_PSWD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+1 PROG (BNP password variant)</a:t>
            </a:r>
          </a:p>
        </p:txBody>
      </p:sp>
      <p:sp>
        <p:nvSpPr>
          <p:cNvPr id="11" name="c_1_BlockGrid:2:c_4_Block"/>
          <p:cNvSpPr/>
          <p:nvPr/>
        </p:nvSpPr>
        <p:spPr>
          <a:xfrm>
            <a:off x="7540263" y="2971036"/>
            <a:ext cx="4192137" cy="635126"/>
          </a:xfrm>
          <a:prstGeom prst="rect">
            <a:avLst/>
          </a:prstGeom>
          <a:gradFill rotWithShape="1">
            <a:gsLst>
              <a:gs pos="0">
                <a:srgbClr val="0068A8"/>
              </a:gs>
              <a:gs pos="100000">
                <a:srgbClr val="0087DB"/>
              </a:gs>
            </a:gsLst>
            <a:lin ang="16200000" scaled="0"/>
          </a:gradFill>
          <a:ln w="3175">
            <a:solidFill>
              <a:srgbClr val="39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Scan _FROM_SFTP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+2 PROGs (wrapper callers)</a:t>
            </a:r>
          </a:p>
        </p:txBody>
      </p:sp>
      <p:sp>
        <p:nvSpPr>
          <p:cNvPr id="12" name="c_1_BlockGrid:3:c_5_Block"/>
          <p:cNvSpPr/>
          <p:nvPr/>
        </p:nvSpPr>
        <p:spPr>
          <a:xfrm>
            <a:off x="7540263" y="3725034"/>
            <a:ext cx="4192137" cy="635126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Sanity ZSFTP_ prefix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+1 FUGR (ZDMS_SEND_FILE, _TO_SFTP naming)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SFTP inventory — Z001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151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Document_Checklist_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2775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600200" y="1600200"/>
            <a:ext cx="2240280" cy="807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47FF"/>
                </a:solidFill>
              </a:rPr>
              <a:t>16 PROG reports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Direct SXPG callers plus wrapper callers.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151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Gear_Process_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02775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5349240" y="1600200"/>
            <a:ext cx="2240280" cy="12452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A080DB"/>
                </a:solidFill>
              </a:rPr>
              <a:t>3 wrapper FUGRs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ZMEDICARE, ZERX, ZDMS_SEND_FILE — credential isolation for indirect callers.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151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API_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02775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9098280" y="1600200"/>
            <a:ext cx="2240280" cy="1084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78C2"/>
                </a:solidFill>
              </a:rPr>
              <a:t>11 SM69 + 5 wrapper FMs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The actual mechanism artifacts on the OS side.</a:t>
            </a:r>
          </a:p>
        </p:txBody>
      </p:sp>
      <p:graphicFrame>
        <p:nvGraphicFramePr>
          <p:cNvPr id="13" name="c_4_Block"/>
          <p:cNvGraphicFramePr>
            <a:graphicFrameLocks noGrp="1"/>
          </p:cNvGraphicFramePr>
          <p:nvPr/>
        </p:nvGraphicFramePr>
        <p:xfrm>
          <a:off x="457200" y="566928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3 SM69 entries are shared by ≥2 ABAP reports — coordinate cutover for each shared command.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made the scans complete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Process:block0:c_1_Block"/>
          <p:cNvSpPr/>
          <p:nvPr/>
        </p:nvSpPr>
        <p:spPr>
          <a:xfrm>
            <a:off x="45720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Step 1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One scan at a time per destination.</a:t>
            </a:r>
          </a:p>
        </p:txBody>
      </p:sp>
      <p:sp>
        <p:nvSpPr>
          <p:cNvPr id="5" name="c_1_BlockProcess:arrow0"/>
          <p:cNvSpPr/>
          <p:nvPr/>
        </p:nvSpPr>
        <p:spPr>
          <a:xfrm>
            <a:off x="304668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Process:block1:c_2_Block"/>
          <p:cNvSpPr/>
          <p:nvPr/>
        </p:nvSpPr>
        <p:spPr>
          <a:xfrm>
            <a:off x="329184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</a:rPr>
              <a:t>Step 2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Single-keyword over AND-query (timeout-safe).</a:t>
            </a:r>
          </a:p>
        </p:txBody>
      </p:sp>
      <p:sp>
        <p:nvSpPr>
          <p:cNvPr id="7" name="c_1_BlockProcess:arrow1"/>
          <p:cNvSpPr/>
          <p:nvPr/>
        </p:nvSpPr>
        <p:spPr>
          <a:xfrm>
            <a:off x="588132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_1_BlockProcess:block2:c_3_Block"/>
          <p:cNvSpPr/>
          <p:nvPr/>
        </p:nvSpPr>
        <p:spPr>
          <a:xfrm>
            <a:off x="612648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068A8"/>
              </a:gs>
              <a:gs pos="100000">
                <a:srgbClr val="0087DB"/>
              </a:gs>
            </a:gsLst>
            <a:lin ang="16200000" scaled="0"/>
          </a:gradFill>
          <a:ln w="3175">
            <a:solidFill>
              <a:srgbClr val="39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Step 3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Independent markers — don't rely on naming.</a:t>
            </a:r>
          </a:p>
        </p:txBody>
      </p:sp>
      <p:sp>
        <p:nvSpPr>
          <p:cNvPr id="9" name="c_1_BlockProcess:arrow2"/>
          <p:cNvSpPr/>
          <p:nvPr/>
        </p:nvSpPr>
        <p:spPr>
          <a:xfrm>
            <a:off x="871596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_1_BlockProcess:block3:c_4_Block"/>
          <p:cNvSpPr/>
          <p:nvPr/>
        </p:nvSpPr>
        <p:spPr>
          <a:xfrm>
            <a:off x="896112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Step 4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Sanity scan beyond credential literals.</a:t>
            </a:r>
          </a:p>
        </p:txBody>
      </p:sp>
      <p:graphicFrame>
        <p:nvGraphicFramePr>
          <p:cNvPr id="11" name="c_5_Block"/>
          <p:cNvGraphicFramePr>
            <a:graphicFrameLocks noGrp="1"/>
          </p:cNvGraphicFramePr>
          <p:nvPr/>
        </p:nvGraphicFramePr>
        <p:xfrm>
          <a:off x="457200" y="566928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All seven scans returned without truncation.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16 reports cluster into 5 business domains. The migration validation matrix has to verify each endpoint separately.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business domains, eight counter-parties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790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Ban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8287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348740" y="1554480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47FF"/>
                </a:solidFill>
              </a:rPr>
              <a:t>Banking — statement loaders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BNP, Citi, JPMorgan · 7 reports · both directions · MT940 + payments.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790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Clipboard_Healt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38287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5097780" y="1554480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A080DB"/>
                </a:solidFill>
              </a:rPr>
              <a:t>Healthcare claims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Caparío, Patientco · 4 reports · both directions · EDI 835 / 837.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790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Person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38287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8846820" y="1554480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8C2"/>
                </a:solidFill>
              </a:rPr>
              <a:t>Payroll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Ceridian · 2 reports · pull only · posting files into FI.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457200" y="2491358"/>
            <a:ext cx="3566160" cy="7975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_1_BlockGrid:3:c_4_Block:Folder_Connecte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70097"/>
            <a:ext cx="640080" cy="640080"/>
          </a:xfrm>
          <a:prstGeom prst="rect">
            <a:avLst/>
          </a:prstGeom>
        </p:spPr>
      </p:pic>
      <p:sp>
        <p:nvSpPr>
          <p:cNvPr id="15" name="c_1_BlockGrid:3:c_4_Block:content"/>
          <p:cNvSpPr txBox="1"/>
          <p:nvPr/>
        </p:nvSpPr>
        <p:spPr>
          <a:xfrm>
            <a:off x="1348740" y="2582798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07E8D"/>
                </a:solidFill>
              </a:rPr>
              <a:t>Document management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Internal DMS · 3 reports · both directions · PDF / CSV / attachments.</a:t>
            </a:r>
          </a:p>
        </p:txBody>
      </p:sp>
      <p:sp>
        <p:nvSpPr>
          <p:cNvPr id="16" name="c_1_BlockGrid:4:c_5_Block:container"/>
          <p:cNvSpPr/>
          <p:nvPr/>
        </p:nvSpPr>
        <p:spPr>
          <a:xfrm>
            <a:off x="4206240" y="2491358"/>
            <a:ext cx="3566160" cy="7975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c_1_BlockGrid:4:c_5_Block:Healthcare_Drug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570097"/>
            <a:ext cx="640080" cy="640080"/>
          </a:xfrm>
          <a:prstGeom prst="rect">
            <a:avLst/>
          </a:prstGeom>
        </p:spPr>
      </p:pic>
      <p:sp>
        <p:nvSpPr>
          <p:cNvPr id="18" name="c_1_BlockGrid:4:c_5_Block:content"/>
          <p:cNvSpPr txBox="1"/>
          <p:nvPr/>
        </p:nvSpPr>
        <p:spPr>
          <a:xfrm>
            <a:off x="5097780" y="2582798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06C00"/>
                </a:solidFill>
              </a:rPr>
              <a:t>Healthcare PDF (Medicare)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Internal · 2 via ZMEDI / ZERX wrappers · both directions · Medicare PDFs / CSVs.</a:t>
            </a:r>
          </a:p>
        </p:txBody>
      </p:sp>
      <p:sp>
        <p:nvSpPr>
          <p:cNvPr id="19" name="c_1_BlockGrid:5:c_6_Block:container"/>
          <p:cNvSpPr/>
          <p:nvPr/>
        </p:nvSpPr>
        <p:spPr>
          <a:xfrm>
            <a:off x="7955280" y="2491358"/>
            <a:ext cx="3566160" cy="7975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_1_BlockGrid:5:c_6_Block:metric"/>
          <p:cNvSpPr txBox="1"/>
          <p:nvPr/>
        </p:nvSpPr>
        <p:spPr>
          <a:xfrm>
            <a:off x="8046720" y="2582798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16</a:t>
            </a:r>
          </a:p>
        </p:txBody>
      </p:sp>
      <p:sp>
        <p:nvSpPr>
          <p:cNvPr id="21" name="c_1_BlockGrid:5:c_6_Block:content"/>
          <p:cNvSpPr txBox="1"/>
          <p:nvPr/>
        </p:nvSpPr>
        <p:spPr>
          <a:xfrm>
            <a:off x="8046720" y="3037457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reports total · plus 2 wrapper FUGRs.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seeds dropped from migration code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NOT SFTP CALLERS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"/>
          <p:cNvSpPr/>
          <p:nvPr/>
        </p:nvSpPr>
        <p:spPr>
          <a:xfrm>
            <a:off x="457200" y="1463040"/>
            <a:ext cx="11064240" cy="1738624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Dropped seeds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/VERTEX/SPOT_VAT_OUTPUT_COMPL</a:t>
            </a:r>
            <a:r>
              <a:rPr sz="1400">
                <a:solidFill>
                  <a:srgbClr val="FFFFFF"/>
                </a:solidFill>
              </a:rPr>
              <a:t> — Vertex tax, local I/O.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/VERTEX/SPOT_VAT_INPUT_COMPL</a:t>
            </a:r>
            <a:r>
              <a:rPr sz="1400">
                <a:solidFill>
                  <a:srgbClr val="FFFFFF"/>
                </a:solidFill>
              </a:rPr>
              <a:t> — Vertex tax, local I/O.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ZEDI_835</a:t>
            </a:r>
            <a:r>
              <a:rPr sz="1400">
                <a:solidFill>
                  <a:srgbClr val="FFFFFF"/>
                </a:solidFill>
              </a:rPr>
              <a:t> — OPEN DATASET / GUI_UPLOAD only.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ZEDI_835_JPM</a:t>
            </a:r>
            <a:r>
              <a:rPr sz="1400">
                <a:solidFill>
                  <a:srgbClr val="FFFFFF"/>
                </a:solidFill>
              </a:rPr>
              <a:t> — same shape, JPMorgan variant.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ZFI_BANK_STMT_LOAD</a:t>
            </a:r>
            <a:r>
              <a:rPr sz="1400">
                <a:solidFill>
                  <a:srgbClr val="FFFFFF"/>
                </a:solidFill>
              </a:rPr>
              <a:t> — local include processing.</a:t>
            </a:r>
          </a:p>
        </p:txBody>
      </p:sp>
      <p:graphicFrame>
        <p:nvGraphicFramePr>
          <p:cNvPr id="6" name="c_2_Block"/>
          <p:cNvGraphicFramePr>
            <a:graphicFrameLocks noGrp="1"/>
          </p:cNvGraphicFramePr>
          <p:nvPr/>
        </p:nvGraphicFramePr>
        <p:xfrm>
          <a:off x="457200" y="566928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Their file paths must still exist after the SFTP layer is replaced — they consume what SFTP callers land.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The answer to the original goal, plus what the next team needs before they start writing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scope, in numbers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metric"/>
          <p:cNvSpPr txBox="1"/>
          <p:nvPr/>
        </p:nvSpPr>
        <p:spPr>
          <a:xfrm>
            <a:off x="54864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18</a:t>
            </a:r>
          </a:p>
        </p:txBody>
      </p:sp>
      <p:sp>
        <p:nvSpPr>
          <p:cNvPr id="6" name="c_1_BlockGrid:0:c_1_Block:content"/>
          <p:cNvSpPr txBox="1"/>
          <p:nvPr/>
        </p:nvSpPr>
        <p:spPr>
          <a:xfrm>
            <a:off x="54864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ABAP objects in scope (16 PROG + 2 FUGR core).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_1_BlockGrid:1:c_2_Block:metric"/>
          <p:cNvSpPr txBox="1"/>
          <p:nvPr/>
        </p:nvSpPr>
        <p:spPr>
          <a:xfrm>
            <a:off x="429768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A080DB"/>
                </a:solidFill>
              </a:rPr>
              <a:t>16</a:t>
            </a:r>
          </a:p>
        </p:txBody>
      </p:sp>
      <p:sp>
        <p:nvSpPr>
          <p:cNvPr id="9" name="c_1_BlockGrid:1:c_2_Block:content"/>
          <p:cNvSpPr txBox="1"/>
          <p:nvPr/>
        </p:nvSpPr>
        <p:spPr>
          <a:xfrm>
            <a:off x="429768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business consumer reports.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_1_BlockGrid:2:c_3_Block:metric"/>
          <p:cNvSpPr txBox="1"/>
          <p:nvPr/>
        </p:nvSpPr>
        <p:spPr>
          <a:xfrm>
            <a:off x="804672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8C2"/>
                </a:solidFill>
              </a:rPr>
              <a:t>8</a:t>
            </a:r>
          </a:p>
        </p:txBody>
      </p:sp>
      <p:sp>
        <p:nvSpPr>
          <p:cNvPr id="12" name="c_1_BlockGrid:2:c_3_Block:content"/>
          <p:cNvSpPr txBox="1"/>
          <p:nvPr/>
        </p:nvSpPr>
        <p:spPr>
          <a:xfrm>
            <a:off x="804672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distinct counter-party endpoints.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45720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_1_BlockGrid:3:c_4_Block:metric"/>
          <p:cNvSpPr txBox="1"/>
          <p:nvPr/>
        </p:nvSpPr>
        <p:spPr>
          <a:xfrm>
            <a:off x="54864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11</a:t>
            </a:r>
          </a:p>
        </p:txBody>
      </p:sp>
      <p:sp>
        <p:nvSpPr>
          <p:cNvPr id="15" name="c_1_BlockGrid:3:c_4_Block:content"/>
          <p:cNvSpPr txBox="1"/>
          <p:nvPr/>
        </p:nvSpPr>
        <p:spPr>
          <a:xfrm>
            <a:off x="54864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SM69 commands.</a:t>
            </a:r>
          </a:p>
        </p:txBody>
      </p:sp>
      <p:sp>
        <p:nvSpPr>
          <p:cNvPr id="16" name="c_1_BlockGrid:4:c_5_Block:container"/>
          <p:cNvSpPr/>
          <p:nvPr/>
        </p:nvSpPr>
        <p:spPr>
          <a:xfrm>
            <a:off x="420624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_1_BlockGrid:4:c_5_Block:metric"/>
          <p:cNvSpPr txBox="1"/>
          <p:nvPr/>
        </p:nvSpPr>
        <p:spPr>
          <a:xfrm>
            <a:off x="429768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2</a:t>
            </a:r>
          </a:p>
        </p:txBody>
      </p:sp>
      <p:sp>
        <p:nvSpPr>
          <p:cNvPr id="18" name="c_1_BlockGrid:4:c_5_Block:content"/>
          <p:cNvSpPr txBox="1"/>
          <p:nvPr/>
        </p:nvSpPr>
        <p:spPr>
          <a:xfrm>
            <a:off x="429768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auth modes to support.</a:t>
            </a:r>
          </a:p>
        </p:txBody>
      </p:sp>
      <p:sp>
        <p:nvSpPr>
          <p:cNvPr id="19" name="c_1_BlockGrid:5:c_6_Block:container"/>
          <p:cNvSpPr/>
          <p:nvPr/>
        </p:nvSpPr>
        <p:spPr>
          <a:xfrm>
            <a:off x="795528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_1_BlockGrid:5:c_6_Block:metric"/>
          <p:cNvSpPr txBox="1"/>
          <p:nvPr/>
        </p:nvSpPr>
        <p:spPr>
          <a:xfrm>
            <a:off x="804672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A705"/>
                </a:solidFill>
              </a:rPr>
              <a:t>+46%</a:t>
            </a:r>
          </a:p>
        </p:txBody>
      </p:sp>
      <p:sp>
        <p:nvSpPr>
          <p:cNvPr id="21" name="c_1_BlockGrid:5:c_6_Block:content"/>
          <p:cNvSpPr txBox="1"/>
          <p:nvPr/>
        </p:nvSpPr>
        <p:spPr>
          <a:xfrm>
            <a:off x="804672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vs the original seed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Replacement must support…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Window_Lo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424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348740" y="1554480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47FF"/>
                </a:solidFill>
              </a:rPr>
              <a:t>Both auth modes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Key-based AND password-based (BNP requires both).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Arrows_Repeat_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49424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5097780" y="1554480"/>
            <a:ext cx="258318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A080DB"/>
                </a:solidFill>
              </a:rPr>
              <a:t>Both directions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8 pull · 6 push · 2 both.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Window_Lo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49424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8846820" y="1554480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8C2"/>
                </a:solidFill>
              </a:rPr>
              <a:t>PGP layer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ZSFTP_BNP_PARIBAS_WITH_PGP wraps the push.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45720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_1_BlockGrid:3:c_4_Block:Global_Clou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0016"/>
            <a:ext cx="640080" cy="640080"/>
          </a:xfrm>
          <a:prstGeom prst="rect">
            <a:avLst/>
          </a:prstGeom>
        </p:spPr>
      </p:pic>
      <p:sp>
        <p:nvSpPr>
          <p:cNvPr id="15" name="c_1_BlockGrid:3:c_4_Block:content"/>
          <p:cNvSpPr txBox="1"/>
          <p:nvPr/>
        </p:nvSpPr>
        <p:spPr>
          <a:xfrm>
            <a:off x="1348740" y="4005072"/>
            <a:ext cx="2583180" cy="6076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07E8D"/>
                </a:solidFill>
              </a:rPr>
              <a:t>11 endpoints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Each SM69 binds one bank or provider host.</a:t>
            </a:r>
          </a:p>
        </p:txBody>
      </p:sp>
      <p:sp>
        <p:nvSpPr>
          <p:cNvPr id="16" name="c_1_BlockGrid:4:c_5_Block:container"/>
          <p:cNvSpPr/>
          <p:nvPr/>
        </p:nvSpPr>
        <p:spPr>
          <a:xfrm>
            <a:off x="420624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c_1_BlockGrid:4:c_5_Block:Databas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700016"/>
            <a:ext cx="640080" cy="640080"/>
          </a:xfrm>
          <a:prstGeom prst="rect">
            <a:avLst/>
          </a:prstGeom>
        </p:spPr>
      </p:pic>
      <p:sp>
        <p:nvSpPr>
          <p:cNvPr id="18" name="c_1_BlockGrid:4:c_5_Block:content"/>
          <p:cNvSpPr txBox="1"/>
          <p:nvPr/>
        </p:nvSpPr>
        <p:spPr>
          <a:xfrm>
            <a:off x="5097780" y="4005072"/>
            <a:ext cx="258318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06C00"/>
                </a:solidFill>
              </a:rPr>
              <a:t>zfi_constants single source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All 16+3 read from it — keep or shim.</a:t>
            </a:r>
          </a:p>
        </p:txBody>
      </p:sp>
      <p:sp>
        <p:nvSpPr>
          <p:cNvPr id="19" name="c_1_BlockGrid:5:c_6_Block:container"/>
          <p:cNvSpPr/>
          <p:nvPr/>
        </p:nvSpPr>
        <p:spPr>
          <a:xfrm>
            <a:off x="795528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_1_BlockGrid:5:c_6_Block:API_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700016"/>
            <a:ext cx="640080" cy="640080"/>
          </a:xfrm>
          <a:prstGeom prst="rect">
            <a:avLst/>
          </a:prstGeom>
        </p:spPr>
      </p:pic>
      <p:sp>
        <p:nvSpPr>
          <p:cNvPr id="21" name="c_1_BlockGrid:5:c_6_Block:content"/>
          <p:cNvSpPr txBox="1"/>
          <p:nvPr/>
        </p:nvSpPr>
        <p:spPr>
          <a:xfrm>
            <a:off x="8846820" y="4005072"/>
            <a:ext cx="258318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A705"/>
                </a:solidFill>
              </a:rPr>
              <a:t>Non-default ports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FTP_PORT concatenated as ':port'.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natural cutover order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Process:block0:c_1_Block"/>
          <p:cNvSpPr/>
          <p:nvPr/>
        </p:nvSpPr>
        <p:spPr>
          <a:xfrm>
            <a:off x="45720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Banking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7 reports — MT940 + PGP for BNP.</a:t>
            </a:r>
          </a:p>
        </p:txBody>
      </p:sp>
      <p:sp>
        <p:nvSpPr>
          <p:cNvPr id="5" name="c_1_BlockProcess:arrow0"/>
          <p:cNvSpPr/>
          <p:nvPr/>
        </p:nvSpPr>
        <p:spPr>
          <a:xfrm>
            <a:off x="304668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Process:block1:c_2_Block"/>
          <p:cNvSpPr/>
          <p:nvPr/>
        </p:nvSpPr>
        <p:spPr>
          <a:xfrm>
            <a:off x="329184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</a:rPr>
              <a:t>Healthcare clearinghouses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4 reports — EDI 835/837 round-trip.</a:t>
            </a:r>
          </a:p>
        </p:txBody>
      </p:sp>
      <p:sp>
        <p:nvSpPr>
          <p:cNvPr id="7" name="c_1_BlockProcess:arrow1"/>
          <p:cNvSpPr/>
          <p:nvPr/>
        </p:nvSpPr>
        <p:spPr>
          <a:xfrm>
            <a:off x="588132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_1_BlockProcess:block2:c_3_Block"/>
          <p:cNvSpPr/>
          <p:nvPr/>
        </p:nvSpPr>
        <p:spPr>
          <a:xfrm>
            <a:off x="612648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068A8"/>
              </a:gs>
              <a:gs pos="100000">
                <a:srgbClr val="0087DB"/>
              </a:gs>
            </a:gsLst>
            <a:lin ang="16200000" scaled="0"/>
          </a:gradFill>
          <a:ln w="3175">
            <a:solidFill>
              <a:srgbClr val="39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Payroll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2 reports — Ceridian posting → FI.</a:t>
            </a:r>
          </a:p>
        </p:txBody>
      </p:sp>
      <p:sp>
        <p:nvSpPr>
          <p:cNvPr id="9" name="c_1_BlockProcess:arrow2"/>
          <p:cNvSpPr/>
          <p:nvPr/>
        </p:nvSpPr>
        <p:spPr>
          <a:xfrm>
            <a:off x="8715960" y="2764706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_1_BlockProcess:block3:c_4_Block"/>
          <p:cNvSpPr/>
          <p:nvPr/>
        </p:nvSpPr>
        <p:spPr>
          <a:xfrm>
            <a:off x="8961120" y="1463040"/>
            <a:ext cx="2560320" cy="2891332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Internal DMS / eRx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5 reports — wrapper-FM integrity.</a:t>
            </a:r>
          </a:p>
        </p:txBody>
      </p:sp>
      <p:graphicFrame>
        <p:nvGraphicFramePr>
          <p:cNvPr id="11" name="c_5_Block"/>
          <p:cNvGraphicFramePr>
            <a:graphicFrameLocks noGrp="1"/>
          </p:cNvGraphicFramePr>
          <p:nvPr/>
        </p:nvGraphicFramePr>
        <p:xfrm>
          <a:off x="457200" y="566928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Each step has its own validation matrix; wrappers migrate as one unit.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the migration team must close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11064240" cy="6305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Repai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8277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348740" y="1554480"/>
            <a:ext cx="1008126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47FF"/>
                </a:solidFill>
              </a:rPr>
              <a:t>OS-side SM69 script behavior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11 SM69 entries; behavior is in SAP GUI tx SM69, out of scope for ABAP-only analysis. Needs Basis access.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57200" y="2331338"/>
            <a:ext cx="11064240" cy="6305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2_Peop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26575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1348740" y="2422778"/>
            <a:ext cx="1008126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A080DB"/>
                </a:solidFill>
              </a:rPr>
              <a:t>Two reports share the Ceridian command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Operator preference or refactor leftover? Suggest consolidating after business-owner sign-off.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457200" y="3199636"/>
            <a:ext cx="11064240" cy="6305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Document_Magnify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94873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1348740" y="3291076"/>
            <a:ext cx="1008126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8C2"/>
                </a:solidFill>
              </a:rPr>
              <a:t>ZDMS_EXTRACT_DOCS_TO_SFTP has 0 literal callers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Dynamic call, cross-package caller, or dead code — must be resolved during cutover.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≈95% in scope · residual risk is hardcoded SFTP without zfi_constants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CONFIDENCE IN SCOPE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5440680" cy="1132328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Within Z001 (PROG / FUGR / CLAS)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3 independent credential-bag scans, all complete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1 sanity scan beyond credential literals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Wrapper FUGRs enumerated, callers identified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6080760" y="1463040"/>
            <a:ext cx="5440680" cy="1132328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Outside Z001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Other top-level Z* packages: un-scanned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Cross-package callers of wrapper FUGRs: open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400">
                <a:solidFill>
                  <a:srgbClr val="000000"/>
                </a:solidFill>
              </a:rPr>
              <a:t>Customer confirmation lifts confidence to ≈99%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What the run actually cost, what went wrong, and what the next analysis run inherits.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economics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metric"/>
          <p:cNvSpPr txBox="1"/>
          <p:nvPr/>
        </p:nvSpPr>
        <p:spPr>
          <a:xfrm>
            <a:off x="54864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~2 h</a:t>
            </a:r>
          </a:p>
        </p:txBody>
      </p:sp>
      <p:sp>
        <p:nvSpPr>
          <p:cNvPr id="6" name="c_1_BlockGrid:0:c_1_Block:content"/>
          <p:cNvSpPr txBox="1"/>
          <p:nvPr/>
        </p:nvSpPr>
        <p:spPr>
          <a:xfrm>
            <a:off x="54864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total wall-clock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420624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_1_BlockGrid:1:c_2_Block:metric"/>
          <p:cNvSpPr txBox="1"/>
          <p:nvPr/>
        </p:nvSpPr>
        <p:spPr>
          <a:xfrm>
            <a:off x="429768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A080DB"/>
                </a:solidFill>
              </a:rPr>
              <a:t>1.05 M</a:t>
            </a:r>
          </a:p>
        </p:txBody>
      </p:sp>
      <p:sp>
        <p:nvSpPr>
          <p:cNvPr id="9" name="c_1_BlockGrid:1:c_2_Block:content"/>
          <p:cNvSpPr txBox="1"/>
          <p:nvPr/>
        </p:nvSpPr>
        <p:spPr>
          <a:xfrm>
            <a:off x="429768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executor-side tokens (gpt-5.2 + embedder)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7955280" y="1463040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_1_BlockGrid:2:c_3_Block:metric"/>
          <p:cNvSpPr txBox="1"/>
          <p:nvPr/>
        </p:nvSpPr>
        <p:spPr>
          <a:xfrm>
            <a:off x="8046720" y="1554480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78C2"/>
                </a:solidFill>
              </a:rPr>
              <a:t>264</a:t>
            </a:r>
          </a:p>
        </p:txBody>
      </p:sp>
      <p:sp>
        <p:nvSpPr>
          <p:cNvPr id="12" name="c_1_BlockGrid:2:c_3_Block:content"/>
          <p:cNvSpPr txBox="1"/>
          <p:nvPr/>
        </p:nvSpPr>
        <p:spPr>
          <a:xfrm>
            <a:off x="8046720" y="2009139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model requests across the run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45720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_1_BlockGrid:3:c_4_Block:metric"/>
          <p:cNvSpPr txBox="1"/>
          <p:nvPr/>
        </p:nvSpPr>
        <p:spPr>
          <a:xfrm>
            <a:off x="54864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~$66</a:t>
            </a:r>
          </a:p>
        </p:txBody>
      </p:sp>
      <p:sp>
        <p:nvSpPr>
          <p:cNvPr id="15" name="c_1_BlockGrid:3:c_4_Block:content"/>
          <p:cNvSpPr txBox="1"/>
          <p:nvPr/>
        </p:nvSpPr>
        <p:spPr>
          <a:xfrm>
            <a:off x="54864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controller-side share (Claude Opus 4.7, sFTP portion)</a:t>
            </a:r>
          </a:p>
        </p:txBody>
      </p:sp>
      <p:sp>
        <p:nvSpPr>
          <p:cNvPr id="16" name="c_1_BlockGrid:4:c_5_Block:container"/>
          <p:cNvSpPr/>
          <p:nvPr/>
        </p:nvSpPr>
        <p:spPr>
          <a:xfrm>
            <a:off x="420624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_1_BlockGrid:4:c_5_Block:metric"/>
          <p:cNvSpPr txBox="1"/>
          <p:nvPr/>
        </p:nvSpPr>
        <p:spPr>
          <a:xfrm>
            <a:off x="429768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7</a:t>
            </a:r>
          </a:p>
        </p:txBody>
      </p:sp>
      <p:sp>
        <p:nvSpPr>
          <p:cNvPr id="18" name="c_1_BlockGrid:4:c_5_Block:content"/>
          <p:cNvSpPr txBox="1"/>
          <p:nvPr/>
        </p:nvSpPr>
        <p:spPr>
          <a:xfrm>
            <a:off x="429768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independent SearchSource scans</a:t>
            </a:r>
          </a:p>
        </p:txBody>
      </p:sp>
      <p:sp>
        <p:nvSpPr>
          <p:cNvPr id="19" name="c_1_BlockGrid:5:c_6_Block:container"/>
          <p:cNvSpPr/>
          <p:nvPr/>
        </p:nvSpPr>
        <p:spPr>
          <a:xfrm>
            <a:off x="7955280" y="3913632"/>
            <a:ext cx="356616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_1_BlockGrid:5:c_6_Block:metric"/>
          <p:cNvSpPr txBox="1"/>
          <p:nvPr/>
        </p:nvSpPr>
        <p:spPr>
          <a:xfrm>
            <a:off x="8046720" y="4005072"/>
            <a:ext cx="33832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A705"/>
                </a:solidFill>
              </a:rPr>
              <a:t>4-12 h</a:t>
            </a:r>
          </a:p>
        </p:txBody>
      </p:sp>
      <p:sp>
        <p:nvSpPr>
          <p:cNvPr id="21" name="c_1_BlockGrid:5:c_6_Block:content"/>
          <p:cNvSpPr txBox="1"/>
          <p:nvPr/>
        </p:nvSpPr>
        <p:spPr>
          <a:xfrm>
            <a:off x="8046720" y="4459731"/>
            <a:ext cx="338328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>
                <a:solidFill>
                  <a:srgbClr val="000000"/>
                </a:solidFill>
              </a:rPr>
              <a:t>manual UI estimate for comparable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held up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544068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Gear_Process_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9424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600200" y="1600200"/>
            <a:ext cx="4114800" cy="807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47FF"/>
                </a:solidFill>
              </a:rPr>
              <a:t>Per-stage isolation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One stage per session; artifact on disk before the next.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6080760" y="1463040"/>
            <a:ext cx="544068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Document_Checklist_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9424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7223760" y="1600200"/>
            <a:ext cx="4114800" cy="588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A080DB"/>
                </a:solidFill>
              </a:rPr>
              <a:t>Raw-SSE evidence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Every claim reproducible from curl/*.sse.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457200" y="3913632"/>
            <a:ext cx="544068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Book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00016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1600200" y="4050792"/>
            <a:ext cx="4114800" cy="807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78C2"/>
                </a:solidFill>
              </a:rPr>
              <a:t>Lessons captured in-flight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6 skills + 1 decision + 1 tool-usage skill written during the run.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6080760" y="3913632"/>
            <a:ext cx="5440680" cy="22128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_1_BlockGrid:3:c_4_Block:Arrows_Repeat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700016"/>
            <a:ext cx="640080" cy="640080"/>
          </a:xfrm>
          <a:prstGeom prst="rect">
            <a:avLst/>
          </a:prstGeom>
        </p:spPr>
      </p:pic>
      <p:sp>
        <p:nvSpPr>
          <p:cNvPr id="15" name="c_1_BlockGrid:3:c_4_Block:content"/>
          <p:cNvSpPr txBox="1"/>
          <p:nvPr/>
        </p:nvSpPr>
        <p:spPr>
          <a:xfrm>
            <a:off x="7223760" y="4050792"/>
            <a:ext cx="4114800" cy="807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07E8D"/>
                </a:solidFill>
              </a:rPr>
              <a:t>Iterative scope expansion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Three independent scans, each justified by the prior finding.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for the next run</a:t>
            </a:r>
          </a:p>
        </p:txBody>
      </p:sp>
      <p:sp>
        <p:nvSpPr>
          <p:cNvPr id="3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_1_BlockGrid:0:c_1_Block:container"/>
          <p:cNvSpPr/>
          <p:nvPr/>
        </p:nvSpPr>
        <p:spPr>
          <a:xfrm>
            <a:off x="457200" y="1463040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_1_BlockGrid:0:c_1_Block:Book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0616"/>
            <a:ext cx="640080" cy="640080"/>
          </a:xfrm>
          <a:prstGeom prst="rect">
            <a:avLst/>
          </a:prstGeom>
        </p:spPr>
      </p:pic>
      <p:sp>
        <p:nvSpPr>
          <p:cNvPr id="6" name="c_1_BlockGrid:0:c_1_Block:content"/>
          <p:cNvSpPr txBox="1"/>
          <p:nvPr/>
        </p:nvSpPr>
        <p:spPr>
          <a:xfrm>
            <a:off x="1348740" y="1554480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47FF"/>
                </a:solidFill>
              </a:rPr>
              <a:t>English prompts only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First UA batch wasted ~500k tokens.</a:t>
            </a:r>
          </a:p>
        </p:txBody>
      </p:sp>
      <p:sp>
        <p:nvSpPr>
          <p:cNvPr id="7" name="c_1_BlockGrid:1:c_2_Block:container"/>
          <p:cNvSpPr/>
          <p:nvPr/>
        </p:nvSpPr>
        <p:spPr>
          <a:xfrm>
            <a:off x="6035040" y="1463040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_1_BlockGrid:1:c_2_Block:Document_Checklist_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80616"/>
            <a:ext cx="640080" cy="640080"/>
          </a:xfrm>
          <a:prstGeom prst="rect">
            <a:avLst/>
          </a:prstGeom>
        </p:spPr>
      </p:pic>
      <p:sp>
        <p:nvSpPr>
          <p:cNvPr id="9" name="c_1_BlockGrid:1:c_2_Block:content"/>
          <p:cNvSpPr txBox="1"/>
          <p:nvPr/>
        </p:nvSpPr>
        <p:spPr>
          <a:xfrm>
            <a:off x="6926580" y="1554480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A080DB"/>
                </a:solidFill>
              </a:rPr>
              <a:t>Spell out every SearchSource param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Don't rely on planning-LLM defaults.</a:t>
            </a:r>
          </a:p>
        </p:txBody>
      </p:sp>
      <p:sp>
        <p:nvSpPr>
          <p:cNvPr id="10" name="c_1_BlockGrid:2:c_3_Block:container"/>
          <p:cNvSpPr/>
          <p:nvPr/>
        </p:nvSpPr>
        <p:spPr>
          <a:xfrm>
            <a:off x="457200" y="3057144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c_1_BlockGrid:2:c_3_Block:Clock_24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640080" cy="640080"/>
          </a:xfrm>
          <a:prstGeom prst="rect">
            <a:avLst/>
          </a:prstGeom>
        </p:spPr>
      </p:pic>
      <p:sp>
        <p:nvSpPr>
          <p:cNvPr id="12" name="c_1_BlockGrid:2:c_3_Block:content"/>
          <p:cNvSpPr txBox="1"/>
          <p:nvPr/>
        </p:nvSpPr>
        <p:spPr>
          <a:xfrm>
            <a:off x="1348740" y="3148584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78C2"/>
                </a:solidFill>
              </a:rPr>
              <a:t>One scan at a time per destination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Stability over wall-clock; 4 parallel scans crashed the backend.</a:t>
            </a:r>
          </a:p>
        </p:txBody>
      </p:sp>
      <p:sp>
        <p:nvSpPr>
          <p:cNvPr id="13" name="c_1_BlockGrid:3:c_4_Block:container"/>
          <p:cNvSpPr/>
          <p:nvPr/>
        </p:nvSpPr>
        <p:spPr>
          <a:xfrm>
            <a:off x="6035040" y="3057144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_1_BlockGrid:3:c_4_Block:X_Mark_Circle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74720"/>
            <a:ext cx="640080" cy="640080"/>
          </a:xfrm>
          <a:prstGeom prst="rect">
            <a:avLst/>
          </a:prstGeom>
        </p:spPr>
      </p:pic>
      <p:sp>
        <p:nvSpPr>
          <p:cNvPr id="15" name="c_1_BlockGrid:3:c_4_Block:content"/>
          <p:cNvSpPr txBox="1"/>
          <p:nvPr/>
        </p:nvSpPr>
        <p:spPr>
          <a:xfrm>
            <a:off x="6926580" y="3148584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07E8D"/>
                </a:solidFill>
              </a:rPr>
              <a:t>Never mix SearchObject + SearchSource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In one prompt the model picks the wrong one.</a:t>
            </a:r>
          </a:p>
        </p:txBody>
      </p:sp>
      <p:sp>
        <p:nvSpPr>
          <p:cNvPr id="16" name="c_1_BlockGrid:4:c_5_Block:container"/>
          <p:cNvSpPr/>
          <p:nvPr/>
        </p:nvSpPr>
        <p:spPr>
          <a:xfrm>
            <a:off x="457200" y="4651248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c_1_BlockGrid:4:c_5_Block:Checkmark_Circle_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68824"/>
            <a:ext cx="640080" cy="640080"/>
          </a:xfrm>
          <a:prstGeom prst="rect">
            <a:avLst/>
          </a:prstGeom>
        </p:spPr>
      </p:pic>
      <p:sp>
        <p:nvSpPr>
          <p:cNvPr id="18" name="c_1_BlockGrid:4:c_5_Block:content"/>
          <p:cNvSpPr txBox="1"/>
          <p:nvPr/>
        </p:nvSpPr>
        <p:spPr>
          <a:xfrm>
            <a:off x="1348740" y="4742688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06C00"/>
                </a:solidFill>
              </a:rPr>
              <a:t>Assert tool availability positively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Negative assertions leak tool names and trigger amnesia.</a:t>
            </a:r>
          </a:p>
        </p:txBody>
      </p:sp>
      <p:sp>
        <p:nvSpPr>
          <p:cNvPr id="19" name="c_1_BlockGrid:5:c_6_Block:container"/>
          <p:cNvSpPr/>
          <p:nvPr/>
        </p:nvSpPr>
        <p:spPr>
          <a:xfrm>
            <a:off x="6035040" y="4651248"/>
            <a:ext cx="5486400" cy="14752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_1_BlockGrid:5:c_6_Block:Clock_24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68824"/>
            <a:ext cx="640080" cy="640080"/>
          </a:xfrm>
          <a:prstGeom prst="rect">
            <a:avLst/>
          </a:prstGeom>
        </p:spPr>
      </p:pic>
      <p:sp>
        <p:nvSpPr>
          <p:cNvPr id="21" name="c_1_BlockGrid:5:c_6_Block:content"/>
          <p:cNvSpPr txBox="1"/>
          <p:nvPr/>
        </p:nvSpPr>
        <p:spPr>
          <a:xfrm>
            <a:off x="6926580" y="4742688"/>
            <a:ext cx="4503420" cy="4476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A705"/>
                </a:solidFill>
              </a:rPr>
              <a:t>Add 'exactly ONCE' guards</a:t>
            </a:r>
          </a:p>
          <a:p>
            <a:pPr algn="l"/>
            <a:r>
              <a:rPr sz="1100">
                <a:solidFill>
                  <a:srgbClr val="000000"/>
                </a:solidFill>
              </a:rPr>
              <a:t>Stops 50x GetIncludesList loops.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refinements to fold 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THE 5-STAGE TUTORIAL HELD UP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Process:block0:c_1_Block"/>
          <p:cNvSpPr/>
          <p:nvPr/>
        </p:nvSpPr>
        <p:spPr>
          <a:xfrm>
            <a:off x="457200" y="1463040"/>
            <a:ext cx="3505200" cy="3264408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Stage 2b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Open-ended enumeration is necessary — it catches wrapper FMs.</a:t>
            </a:r>
          </a:p>
        </p:txBody>
      </p:sp>
      <p:sp>
        <p:nvSpPr>
          <p:cNvPr id="6" name="c_1_BlockProcess:arrow0"/>
          <p:cNvSpPr/>
          <p:nvPr/>
        </p:nvSpPr>
        <p:spPr>
          <a:xfrm>
            <a:off x="3991560" y="2951244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_1_BlockProcess:block1:c_2_Block"/>
          <p:cNvSpPr/>
          <p:nvPr/>
        </p:nvSpPr>
        <p:spPr>
          <a:xfrm>
            <a:off x="4236720" y="1463040"/>
            <a:ext cx="3505200" cy="3264408"/>
          </a:xfrm>
          <a:prstGeom prst="rect">
            <a:avLst/>
          </a:prstGeom>
          <a:gradFill rotWithShape="1">
            <a:gsLst>
              <a:gs pos="0">
                <a:srgbClr val="916CD5"/>
              </a:gs>
              <a:gs pos="100000">
                <a:srgbClr val="AE93E0"/>
              </a:gs>
            </a:gsLst>
            <a:lin ang="16200000" scaled="0"/>
          </a:gradFill>
          <a:ln w="3175">
            <a:solidFill>
              <a:srgbClr val="766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</a:rPr>
              <a:t>Stage 3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Needs &gt;=2 independent markers — password-only would be missed.</a:t>
            </a:r>
          </a:p>
        </p:txBody>
      </p:sp>
      <p:sp>
        <p:nvSpPr>
          <p:cNvPr id="8" name="c_1_BlockProcess:arrow1"/>
          <p:cNvSpPr/>
          <p:nvPr/>
        </p:nvSpPr>
        <p:spPr>
          <a:xfrm>
            <a:off x="7771080" y="2951244"/>
            <a:ext cx="216000" cy="288000"/>
          </a:xfrm>
          <a:prstGeom prst="rightArrow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Process:block2:c_3_Block"/>
          <p:cNvSpPr/>
          <p:nvPr/>
        </p:nvSpPr>
        <p:spPr>
          <a:xfrm>
            <a:off x="8016240" y="1463040"/>
            <a:ext cx="3505200" cy="3264408"/>
          </a:xfrm>
          <a:prstGeom prst="rect">
            <a:avLst/>
          </a:prstGeom>
          <a:gradFill rotWithShape="1">
            <a:gsLst>
              <a:gs pos="0">
                <a:srgbClr val="0068A8"/>
              </a:gs>
              <a:gs pos="100000">
                <a:srgbClr val="0087DB"/>
              </a:gs>
            </a:gsLst>
            <a:lin ang="16200000" scaled="0"/>
          </a:gradFill>
          <a:ln w="3175">
            <a:solidFill>
              <a:srgbClr val="39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</a:rPr>
              <a:t>Late sanity scan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Beyond credential literals — caught the ZDMS_SEND_FILE wrapper.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"/>
          <p:cNvSpPr/>
          <p:nvPr/>
        </p:nvSpPr>
        <p:spPr>
          <a:xfrm>
            <a:off x="457200" y="1463040"/>
            <a:ext cx="11064240" cy="1059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Hand artifacts (02-05 + extracts) to migration team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Basis input on SM69 OS-side scripts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>
                <a:solidFill>
                  <a:srgbClr val="FFFFFF"/>
                </a:solidFill>
              </a:rPr>
              <a:t>Confirm Z001-only scope or run scans on other Z* roots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400" b="1">
                <a:solidFill>
                  <a:srgbClr val="FFFFFF"/>
                </a:solidFill>
              </a:rPr>
              <a:t>Contact: </a:t>
            </a:r>
            <a:r>
              <a:rPr sz="1400">
                <a:solidFill>
                  <a:srgbClr val="FFFFFF"/>
                </a:solidFill>
              </a:rPr>
              <a:t>codebase-analysis tutorial owner (cloud-llm-hub repo)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UPDATE" val="True"/>
  <p:tag name="MIO_OBJECTNAME" val="EPAM Overview"/>
  <p:tag name="MIO_LASTEDITORNAME" val="Peter Rutsch"/>
  <p:tag name="MIO_DBID" val="D7ED4A1B-644D-42C8-B85A-3AF7EB19A1AD"/>
  <p:tag name="MIO_LASTDOWNLOADED" val="25.09.2019 20:19:12"/>
  <p:tag name="MIO_VERSION" val="25.09.2019 19:19:12"/>
  <p:tag name="MIO_EKGUID" val="d7e3e5f7-9b32-4300-a908-3232d6ed981a"/>
  <p:tag name="MIO_NATIVESECTIONS" val="﻿&lt;?xml version=&quot;1.0&quot; encoding=&quot;utf-8&quot;?&gt;&lt;ArrayOfNativeSection xmlns:xsd=&quot;http://www.w3.org/2001/XMLSchema&quot; xmlns:xsi=&quot;http://www.w3.org/2001/XMLSchema-instance&quot;&gt;&lt;NativeSection&gt;&lt;Name&gt;About EPAM&lt;/Name&gt;&lt;FirstSlideIndex&gt;3&lt;/FirstSlideIndex&gt;&lt;SlidesCount&gt;15&lt;/SlidesCount&gt;&lt;SlideIDs /&gt;&lt;SlideGuids&gt;&lt;guid&gt;41917f75-77c0-48c8-a973-0468f4fe6223&lt;/guid&gt;&lt;guid&gt;4c4084ce-9dc3-4a2a-bd15-284b0659bb1d&lt;/guid&gt;&lt;guid&gt;c25f9840-0bea-411d-962d-9f3050c735d6&lt;/guid&gt;&lt;guid&gt;7d12a499-7701-4a6e-8610-d9d576cb0dec&lt;/guid&gt;&lt;guid&gt;61ee236e-49d2-4ed5-a476-38e350e3bfd2&lt;/guid&gt;&lt;guid&gt;ef65a5ca-8d54-4147-8afa-2ebb941538e3&lt;/guid&gt;&lt;guid&gt;c94ecc82-7873-4e32-885c-f35e7d8f652f&lt;/guid&gt;&lt;guid&gt;c3fea710-23c7-43d8-8d5d-f36b24c7383e&lt;/guid&gt;&lt;guid&gt;2bba986c-ee29-49a3-8223-b3a7867a5f4b&lt;/guid&gt;&lt;guid&gt;00e49fa1-ccf7-49ac-b1ea-429440dc91c2&lt;/guid&gt;&lt;guid&gt;cd433048-84df-4410-81de-4a8b6f9b00db&lt;/guid&gt;&lt;guid&gt;3c65c556-57fe-432d-8e6c-e872ce9c17e6&lt;/guid&gt;&lt;guid&gt;cfbce635-1caa-40a0-8168-f7cd9a71855f&lt;/guid&gt;&lt;guid&gt;0dd5438a-71f4-45bd-aeb7-e9afb36545e3&lt;/guid&gt;&lt;guid&gt;025c768f-d8c8-481b-827c-fb70a3dea855&lt;/guid&gt;&lt;/SlideGuids&gt;&lt;/NativeSection&gt;&lt;NativeSection&gt;&lt;Name&gt;EPAM Advantage&lt;/Name&gt;&lt;FirstSlideIndex&gt;18&lt;/FirstSlideIndex&gt;&lt;SlidesCount&gt;7&lt;/SlidesCount&gt;&lt;SlideIDs /&gt;&lt;SlideGuids&gt;&lt;guid&gt;1d3f40df-0be8-4722-86b4-ba408afacf35&lt;/guid&gt;&lt;guid&gt;1e4e570a-a814-43ca-b0e7-827ba1e99159&lt;/guid&gt;&lt;guid&gt;10e9fa43-a251-4d26-a911-d8ed059b1b96&lt;/guid&gt;&lt;guid&gt;c7beb776-8ff1-4acc-8007-da30e0319d43&lt;/guid&gt;&lt;guid&gt;34f142e0-cb5b-44f7-b22f-231c1a8fc0f9&lt;/guid&gt;&lt;guid&gt;26526e34-7c79-495c-b434-1b8afad190de&lt;/guid&gt;&lt;guid&gt;877dc4cd-9bef-4f8a-8bbc-52177ac46c56&lt;/guid&gt;&lt;/SlideGuids&gt;&lt;/NativeSection&gt;&lt;/ArrayOfNativeSection&gt;"/>
</p:tagLst>
</file>

<file path=ppt/theme/theme1.xml><?xml version="1.0" encoding="utf-8"?>
<a:theme xmlns:a="http://schemas.openxmlformats.org/drawingml/2006/main" name="EPAM Master 2024.1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EPAM_PresalesTemplate" id="{BA2CABEF-164A-0B40-9E1D-A9B96AE60B87}" vid="{65C357FB-1C5F-AA46-A42C-758D0D8059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25E2B-52F7-4394-BC3E-1C5545ED6C41}">
  <we:reference id="0712333e-3078-4353-bc6c-307328446e34" version="1.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Decks:About EPAM</TermName>
          <TermId xmlns="http://schemas.microsoft.com/office/infopath/2007/PartnerControls"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Continuum</TermName>
          <TermId xmlns="http://schemas.microsoft.com/office/infopath/2007/PartnerControls">036b37b0-418a-48a3-ad40-f27762061154</TermId>
        </TermInfo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Confidential: NDA Required</TermName>
          <TermId xmlns="http://schemas.microsoft.com/office/infopath/2007/PartnerControls"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Human Sans</vt:lpstr>
      <vt:lpstr>EPAM Master 2024.1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Overview</dc:title>
  <dc:creator>Jennifer Markowitz</dc:creator>
  <cp:lastModifiedBy>Dmitry Zdanovich</cp:lastModifiedBy>
  <cp:revision>4</cp:revision>
  <dcterms:created xsi:type="dcterms:W3CDTF">2018-01-26T19:23:30Z</dcterms:created>
  <dcterms:modified xsi:type="dcterms:W3CDTF">2026-04-24T13:17:55Z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StoryTags">
    <vt:lpwstr>72;#Continuum|036b37b0-418a-48a3-ad40-f27762061154;#116;#About EPAM|e35b7162-8377-4ac0-bb47-f30ed6f0902e</vt:lpwstr>
  </property>
  <property fmtid="{D5CDD505-2E9C-101B-9397-08002B2CF9AE}" pid="5" name="_dlc_DocIdItemGuid">
    <vt:lpwstr>041f0451-e7b6-47dd-8915-ddc72a6e399d</vt:lpwstr>
  </property>
  <property fmtid="{D5CDD505-2E9C-101B-9397-08002B2CF9AE}" pid="6" name="StoryTaxonomy">
    <vt:lpwstr>204;#EPAM Overview|107422c5-c5be-4599-981e-e0bc82e53d69</vt:lpwstr>
  </property>
  <property fmtid="{D5CDD505-2E9C-101B-9397-08002B2CF9AE}" pid="7" name="h098c32ae4474a2397bbdf9bd347fc14">
    <vt:lpwstr>EPAM Overview|107422c5-c5be-4599-981e-e0bc82e53d69</vt:lpwstr>
  </property>
  <property fmtid="{D5CDD505-2E9C-101B-9397-08002B2CF9AE}" pid="8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9" name="StoryCategories">
    <vt:lpwstr>1635;#About EPAM|5e1ed0a0-89ac-446a-837d-6ea8b9460059</vt:lpwstr>
  </property>
  <property fmtid="{D5CDD505-2E9C-101B-9397-08002B2CF9AE}" pid="10" name="UsagePermission">
    <vt:lpwstr>3444;#Confidential: NDA Required|1078c1ca-8558-4f4e-bb3a-506201fcb43c</vt:lpwstr>
  </property>
  <property fmtid="{D5CDD505-2E9C-101B-9397-08002B2CF9AE}" pid="11" name="VCN">
    <vt:lpwstr/>
  </property>
  <property fmtid="{D5CDD505-2E9C-101B-9397-08002B2CF9AE}" pid="12" name="Story">
    <vt:lpwstr>1;#General Decks:About EPAM|1bb3a607-45a4-4116-99d9-b95075743ae1</vt:lpwstr>
  </property>
  <property fmtid="{D5CDD505-2E9C-101B-9397-08002B2CF9AE}" pid="13" name="MSIP_Label_2a535040-0af2-483f-adc3-a132c21e3e2b_Enabled">
    <vt:lpwstr>true</vt:lpwstr>
  </property>
  <property fmtid="{D5CDD505-2E9C-101B-9397-08002B2CF9AE}" pid="14" name="MSIP_Label_2a535040-0af2-483f-adc3-a132c21e3e2b_SetDate">
    <vt:lpwstr>2026-01-27T08:34:32Z</vt:lpwstr>
  </property>
  <property fmtid="{D5CDD505-2E9C-101B-9397-08002B2CF9AE}" pid="15" name="MSIP_Label_2a535040-0af2-483f-adc3-a132c21e3e2b_Method">
    <vt:lpwstr>Standard</vt:lpwstr>
  </property>
  <property fmtid="{D5CDD505-2E9C-101B-9397-08002B2CF9AE}" pid="16" name="MSIP_Label_2a535040-0af2-483f-adc3-a132c21e3e2b_Name">
    <vt:lpwstr>EPAM_Confidential</vt:lpwstr>
  </property>
  <property fmtid="{D5CDD505-2E9C-101B-9397-08002B2CF9AE}" pid="17" name="MSIP_Label_2a535040-0af2-483f-adc3-a132c21e3e2b_SiteId">
    <vt:lpwstr>b41b72d0-4e9f-4c26-8a69-f949f367c91d</vt:lpwstr>
  </property>
  <property fmtid="{D5CDD505-2E9C-101B-9397-08002B2CF9AE}" pid="18" name="MSIP_Label_2a535040-0af2-483f-adc3-a132c21e3e2b_ActionId">
    <vt:lpwstr>6de4626a-a598-4337-88df-2d099c6d2fce</vt:lpwstr>
  </property>
  <property fmtid="{D5CDD505-2E9C-101B-9397-08002B2CF9AE}" pid="19" name="MSIP_Label_2a535040-0af2-483f-adc3-a132c21e3e2b_ContentBits">
    <vt:lpwstr>0</vt:lpwstr>
  </property>
  <property fmtid="{D5CDD505-2E9C-101B-9397-08002B2CF9AE}" pid="20" name="MSIP_Label_2a535040-0af2-483f-adc3-a132c21e3e2b_Tag">
    <vt:lpwstr>10, 3, 0, 1</vt:lpwstr>
  </property>
</Properties>
</file>