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8.svg" ContentType="image/svg+xml"/>
  <Override PartName="/ppt/media/image19.svg" ContentType="image/svg+xml"/>
  <Override PartName="/ppt/media/image2.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5000.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350" r:id="rId5"/>
  </p:sldMasterIdLst>
  <p:notesMasterIdLst>
    <p:notesMasterId r:id="rId6"/>
  </p:notesMasterIdLst>
  <p:handoutMasterIdLst>
    <p:handoutMasterId r:id="rId7"/>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Lst>
  <p:sldSz cx="12192000" cy="6858000"/>
  <p:notesSz cx="6858000" cy="9144000"/>
  <p:custDataLst>
    <p:tags r:id="rId8"/>
  </p:custDataLst>
  <p:defaultTex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736" userDrawn="1">
          <p15:clr>
            <a:srgbClr val="A4A3A4"/>
          </p15:clr>
        </p15:guide>
        <p15:guide id="2" pos="147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055DA"/>
    <a:srgbClr val="D9D9D9"/>
    <a:srgbClr val="FED143"/>
    <a:srgbClr val="77CED7"/>
    <a:srgbClr val="484749"/>
    <a:srgbClr val="7F993A"/>
    <a:srgbClr val="39C2D7"/>
    <a:srgbClr val="1887BB"/>
    <a:srgbClr val="62A230"/>
    <a:srgbClr val="675C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610" autoAdjust="0"/>
  </p:normalViewPr>
  <p:slideViewPr>
    <p:cSldViewPr snapToGrid="0" showGuides="1">
      <p:cViewPr varScale="1">
        <p:scale>
          <a:sx n="83" d="100"/>
          <a:sy n="83" d="100"/>
        </p:scale>
        <p:origin x="1084" y="56"/>
      </p:cViewPr>
      <p:guideLst>
        <p:guide pos="3840"/>
        <p:guide orient="horz" pos="2160"/>
      </p:guideLst>
    </p:cSldViewPr>
  </p:slideViewPr>
  <p:notesTextViewPr>
    <p:cViewPr>
      <p:scale>
        <a:sx n="1" d="1"/>
        <a:sy n="1" d="1"/>
      </p:scale>
      <p:origin x="0" y="0"/>
    </p:cViewPr>
  </p:notesTextViewPr>
  <p:notesViewPr>
    <p:cSldViewPr snapToGrid="0" showGuides="1">
      <p:cViewPr varScale="1">
        <p:scale>
          <a:sx n="66" d="100"/>
          <a:sy n="66" d="100"/>
        </p:scale>
        <p:origin x="0" y="0"/>
      </p:cViewPr>
      <p:guideLst>
        <p:guide orient="horz" pos="2736"/>
        <p:guide pos="1477"/>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tags" Target="tags/tag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FDC14FC-A894-4869-A797-1EC82735D106}" type="datetimeFigureOut">
              <a:rPr lang="en-US" smtClean="0"/>
              <a:t>4/24/2026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CD33E97-F2BE-44DB-A57D-0C85E2CBF508}" type="slidenum">
              <a:rPr lang="en-US" smtClean="0"/>
              <a:t>‹#›</a:t>
            </a:fld>
            <a:endParaRPr lang="en-US"/>
          </a:p>
        </p:txBody>
      </p:sp>
    </p:spTree>
    <p:extLst>
      <p:ext uri="{BB962C8B-B14F-4D97-AF65-F5344CB8AC3E}">
        <p14:creationId xmlns:p14="http://schemas.microsoft.com/office/powerpoint/2010/main" val="29677781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99C05-63F9-4248-8E20-3ACD9DF9DE7F}" type="datetimeFigureOut">
              <a:rPr lang="en-US" smtClean="0"/>
              <a:t>4/24/2026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74FABB-6DBE-47C4-B626-20167906F475}" type="slidenum">
              <a:rPr lang="en-US" smtClean="0"/>
              <a:t>‹#›</a:t>
            </a:fld>
            <a:endParaRPr lang="en-US"/>
          </a:p>
        </p:txBody>
      </p:sp>
    </p:spTree>
    <p:extLst>
      <p:ext uri="{BB962C8B-B14F-4D97-AF65-F5344CB8AC3E}">
        <p14:creationId xmlns:p14="http://schemas.microsoft.com/office/powerpoint/2010/main" val="4274864021"/>
      </p:ext>
    </p:extLst>
  </p:cSld>
  <p:clrMap bg1="lt1" tx1="dk1" bg2="lt2" tx2="dk2" accent1="accent1" accent2="accent2" accent3="accent3" accent4="accent4" accent5="accent5" accent6="accent6" hlink="hlink" folHlink="folHlink"/>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8.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8.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6.png"/><Relationship Id="rId4" Type="http://schemas.openxmlformats.org/officeDocument/2006/relationships/image" Target="../media/image8.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emf"/><Relationship Id="rId4" Type="http://schemas.openxmlformats.org/officeDocument/2006/relationships/image" Target="../media/image6.png"/><Relationship Id="rId5" Type="http://schemas.openxmlformats.org/officeDocument/2006/relationships/image" Target="../media/image8.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9.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10;&#10;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dirty="0">
                <a:effectLst/>
              </a:rPr>
              <a:t>Sub-description text goes here over one or two lines</a:t>
            </a:r>
            <a:endParaRPr lang="en-US" dirty="0"/>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dirty="0">
                <a:effectLst/>
              </a:rPr>
              <a:t>JANUARY 2023</a:t>
            </a:r>
            <a:endParaRPr lang="en-US" dirty="0"/>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endParaRPr lang="en-US" dirty="0"/>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382455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BG-Light">
    <p:bg>
      <p:bgPr>
        <a:solidFill>
          <a:schemeClr val="bg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DE3A7CEE-E1C9-5E29-7BD1-4DC1A1B47F8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dirty="0">
                <a:effectLst/>
              </a:rPr>
              <a:t>Sub-description text goes here over one or two lines</a:t>
            </a:r>
            <a:endParaRPr lang="en-US" dirty="0"/>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tx1"/>
                </a:solidFill>
                <a:effectLst/>
                <a:latin typeface="Calibri" panose="020F0502020204030204" pitchFamily="34" charset="0"/>
              </a:defRPr>
            </a:lvl1pPr>
          </a:lstStyle>
          <a:p>
            <a:pPr lvl="0">
              <a:lnSpc>
                <a:spcPct val="100000"/>
              </a:lnSpc>
              <a:spcBef>
                <a:spcPts val="0"/>
              </a:spcBef>
            </a:pPr>
            <a:r>
              <a:rPr lang="en-US" dirty="0">
                <a:effectLst/>
              </a:rPr>
              <a:t>JANUARY 2023</a:t>
            </a:r>
            <a:endParaRPr lang="en-US" dirty="0"/>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tx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endParaRPr lang="en-US" dirty="0"/>
          </a:p>
        </p:txBody>
      </p:sp>
      <p:pic>
        <p:nvPicPr>
          <p:cNvPr id="3" name="Graphic 2">
            <a:extLst>
              <a:ext uri="{FF2B5EF4-FFF2-40B4-BE49-F238E27FC236}">
                <a16:creationId xmlns:a16="http://schemas.microsoft.com/office/drawing/2014/main" id="{D046FBA0-34E7-8BA0-8C70-B6AFD4D64D86}"/>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85414" y="748727"/>
            <a:ext cx="1226857" cy="432373"/>
          </a:xfrm>
          <a:prstGeom prst="rect">
            <a:avLst/>
          </a:prstGeom>
        </p:spPr>
      </p:pic>
    </p:spTree>
    <p:extLst>
      <p:ext uri="{BB962C8B-B14F-4D97-AF65-F5344CB8AC3E}">
        <p14:creationId xmlns:p14="http://schemas.microsoft.com/office/powerpoint/2010/main" val="203170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r>
              <a:rPr lang="en-US"/>
              <a:t>Click icon to add picture</a:t>
            </a:r>
            <a:endParaRPr lang="en-US" dirty="0"/>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dirty="0">
                <a:effectLst/>
              </a:rPr>
              <a:t>Sub-description text goes here over one or two lines</a:t>
            </a:r>
            <a:endParaRPr lang="en-US" dirty="0"/>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dirty="0">
                <a:effectLst/>
              </a:rPr>
              <a:t>JANUARY 2023</a:t>
            </a:r>
            <a:endParaRPr lang="en-US" dirty="0"/>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endParaRPr lang="en-US" dirty="0"/>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276821790"/>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r>
              <a:rPr lang="en-US"/>
              <a:t>Click icon to add picture</a:t>
            </a:r>
            <a:endParaRPr lang="en-US" dirty="0"/>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dirty="0">
                <a:effectLst/>
              </a:rPr>
              <a:t>Sub-description text goes here over one or two lines</a:t>
            </a:r>
            <a:endParaRPr lang="en-US" dirty="0"/>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dirty="0">
                <a:effectLst/>
              </a:rPr>
              <a:t>JANUARY 2023</a:t>
            </a:r>
            <a:endParaRPr lang="en-US" dirty="0"/>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endParaRPr lang="en-US" dirty="0"/>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11887859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dirty="0"/>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3500199676"/>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dirty="0"/>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 name="TextBox 2">
            <a:extLst>
              <a:ext uri="{FF2B5EF4-FFF2-40B4-BE49-F238E27FC236}">
                <a16:creationId xmlns:a16="http://schemas.microsoft.com/office/drawing/2014/main" id="{A90CA163-9EEA-54E4-57D2-BFE989F6F9C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5" name="Text Placeholder 3">
            <a:extLst>
              <a:ext uri="{FF2B5EF4-FFF2-40B4-BE49-F238E27FC236}">
                <a16:creationId xmlns:a16="http://schemas.microsoft.com/office/drawing/2014/main" id="{8A0B6ADF-5C55-9945-3F05-7FFC190F1FD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2117706036"/>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dirty="0"/>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dirty="0"/>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2212901260"/>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dirty="0"/>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dirty="0"/>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dirty="0"/>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 name="TextBox 1">
            <a:extLst>
              <a:ext uri="{FF2B5EF4-FFF2-40B4-BE49-F238E27FC236}">
                <a16:creationId xmlns:a16="http://schemas.microsoft.com/office/drawing/2014/main" id="{D3634F95-D03F-BB17-0BA8-0AB623989FD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6" name="Text Placeholder 3">
            <a:extLst>
              <a:ext uri="{FF2B5EF4-FFF2-40B4-BE49-F238E27FC236}">
                <a16:creationId xmlns:a16="http://schemas.microsoft.com/office/drawing/2014/main" id="{50C2139A-0FDA-8116-257B-67457AE6A971}"/>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332581962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3857039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dirty="0">
                <a:solidFill>
                  <a:schemeClr val="bg1"/>
                </a:solidFill>
                <a:latin typeface="+mj-lt"/>
                <a:cs typeface="Calibri Light" panose="020F0302020204030204" pitchFamily="34" charset="0"/>
              </a:defRPr>
            </a:lvl1pPr>
          </a:lstStyle>
          <a:p>
            <a:pPr lvl="0"/>
            <a:r>
              <a:rPr lang="en-US" dirty="0"/>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dirty="0">
                <a:gradFill>
                  <a:gsLst>
                    <a:gs pos="76000">
                      <a:schemeClr val="accent5"/>
                    </a:gs>
                    <a:gs pos="0">
                      <a:schemeClr val="accent2"/>
                    </a:gs>
                    <a:gs pos="100000">
                      <a:schemeClr val="accent4"/>
                    </a:gs>
                  </a:gsLst>
                  <a:lin ang="1800000" scaled="0"/>
                </a:gradFill>
              </a:defRPr>
            </a:lvl1pPr>
          </a:lstStyle>
          <a:p>
            <a:pPr lvl="0"/>
            <a:r>
              <a:rPr lang="en-US" dirty="0"/>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28272127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dirty="0"/>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dirty="0">
                <a:gradFill>
                  <a:gsLst>
                    <a:gs pos="76000">
                      <a:schemeClr val="accent5"/>
                    </a:gs>
                    <a:gs pos="0">
                      <a:schemeClr val="accent2"/>
                    </a:gs>
                    <a:gs pos="100000">
                      <a:schemeClr val="accent4"/>
                    </a:gs>
                  </a:gsLst>
                  <a:lin ang="1800000" scaled="0"/>
                </a:gradFill>
              </a:defRPr>
            </a:lvl1pPr>
          </a:lstStyle>
          <a:p>
            <a:pPr lvl="0"/>
            <a:r>
              <a:rPr lang="en-US" dirty="0"/>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3596292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dirty="0"/>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dirty="0">
                <a:gradFill>
                  <a:gsLst>
                    <a:gs pos="76000">
                      <a:schemeClr val="accent5"/>
                    </a:gs>
                    <a:gs pos="0">
                      <a:schemeClr val="accent2"/>
                    </a:gs>
                    <a:gs pos="100000">
                      <a:schemeClr val="accent4"/>
                    </a:gs>
                  </a:gsLst>
                  <a:lin ang="1800000" scaled="0"/>
                </a:gradFill>
              </a:defRPr>
            </a:lvl1pPr>
          </a:lstStyle>
          <a:p>
            <a:pPr lvl="0"/>
            <a:r>
              <a:rPr lang="en-US" dirty="0"/>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23544886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a:spLocks/>
          </p:cNvSpPr>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dirty="0">
                <a:solidFill>
                  <a:schemeClr val="bg1"/>
                </a:solidFill>
                <a:latin typeface="+mj-lt"/>
                <a:ea typeface="Calibri" panose="020F0502020204030204" pitchFamily="34" charset="0"/>
                <a:cs typeface="Calibri Light" panose="020F0302020204030204" pitchFamily="34" charset="0"/>
              </a:defRPr>
            </a:lvl1pPr>
          </a:lstStyle>
          <a:p>
            <a:pPr lvl="0"/>
            <a:r>
              <a:rPr lang="en-US" dirty="0"/>
              <a:t>Disclaimer</a:t>
            </a:r>
          </a:p>
        </p:txBody>
      </p:sp>
      <p:sp>
        <p:nvSpPr>
          <p:cNvPr id="7" name="Title 4">
            <a:extLst>
              <a:ext uri="{FF2B5EF4-FFF2-40B4-BE49-F238E27FC236}">
                <a16:creationId xmlns:a16="http://schemas.microsoft.com/office/drawing/2014/main" id="{5C60129C-ED73-46C0-0FB7-BB32CA2BD978}"/>
              </a:ext>
            </a:extLst>
          </p:cNvPr>
          <p:cNvSpPr txBox="1">
            <a:spLocks/>
          </p:cNvSpPr>
          <p:nvPr userDrawn="1"/>
        </p:nvSpPr>
        <p:spPr>
          <a:xfrm>
            <a:off x="481263" y="2919114"/>
            <a:ext cx="6664971" cy="1050737"/>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a:lnSpc>
                <a:spcPct val="150000"/>
              </a:lnSpc>
            </a:pPr>
            <a:r>
              <a:rPr lang="en-US" sz="2400" b="0" dirty="0">
                <a:solidFill>
                  <a:schemeClr val="bg1"/>
                </a:solidFill>
                <a:latin typeface="Calibri Light"/>
                <a:cs typeface="Calibri Light"/>
              </a:rPr>
              <a:t>Do not share this presentation without a signed NDA.</a:t>
            </a:r>
            <a:endParaRPr lang="en-US" sz="2400" dirty="0">
              <a:solidFill>
                <a:schemeClr val="bg1"/>
              </a:solidFill>
              <a:latin typeface="Calibri Light"/>
              <a:cs typeface="Calibri Light"/>
            </a:endParaRPr>
          </a:p>
          <a:p>
            <a:pPr>
              <a:lnSpc>
                <a:spcPct val="150000"/>
              </a:lnSpc>
            </a:pPr>
            <a:r>
              <a:rPr lang="en-US" sz="2400" b="0" dirty="0">
                <a:solidFill>
                  <a:schemeClr val="bg1"/>
                </a:solidFill>
                <a:latin typeface="Calibri Light"/>
                <a:cs typeface="Calibri Light"/>
              </a:rPr>
              <a:t>Convert to PDF to protect sensitive slide notes.</a:t>
            </a:r>
            <a:endParaRPr lang="en-US" sz="2400" dirty="0">
              <a:solidFill>
                <a:schemeClr val="bg1"/>
              </a:solidFill>
              <a:latin typeface="Calibri Light"/>
              <a:cs typeface="Calibri Light"/>
            </a:endParaRP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10824945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10;&#10;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dirty="0">
                <a:effectLst/>
              </a:rPr>
              <a:t>Section description</a:t>
            </a:r>
            <a:endParaRPr lang="en-US" dirty="0"/>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dirty="0"/>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dirty="0"/>
              <a:t>01</a:t>
            </a:r>
          </a:p>
        </p:txBody>
      </p:sp>
    </p:spTree>
    <p:extLst>
      <p:ext uri="{BB962C8B-B14F-4D97-AF65-F5344CB8AC3E}">
        <p14:creationId xmlns:p14="http://schemas.microsoft.com/office/powerpoint/2010/main" val="663220183"/>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dirty="0">
                <a:effectLst/>
              </a:rPr>
              <a:t>Section description</a:t>
            </a:r>
            <a:endParaRPr lang="en-US" dirty="0"/>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dirty="0"/>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dirty="0"/>
              <a:t>01</a:t>
            </a:r>
          </a:p>
        </p:txBody>
      </p:sp>
    </p:spTree>
    <p:extLst>
      <p:ext uri="{BB962C8B-B14F-4D97-AF65-F5344CB8AC3E}">
        <p14:creationId xmlns:p14="http://schemas.microsoft.com/office/powerpoint/2010/main" val="4011371492"/>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dirty="0">
                <a:effectLst/>
              </a:rPr>
              <a:t>Section description</a:t>
            </a:r>
            <a:endParaRPr lang="en-US" dirty="0"/>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dirty="0"/>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dirty="0"/>
              <a:t>01</a:t>
            </a:r>
          </a:p>
        </p:txBody>
      </p:sp>
    </p:spTree>
    <p:extLst>
      <p:ext uri="{BB962C8B-B14F-4D97-AF65-F5344CB8AC3E}">
        <p14:creationId xmlns:p14="http://schemas.microsoft.com/office/powerpoint/2010/main" val="2501721418"/>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dirty="0">
                <a:effectLst/>
              </a:rPr>
              <a:t>Section description</a:t>
            </a:r>
            <a:endParaRPr lang="en-US" dirty="0"/>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dirty="0"/>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dirty="0"/>
              <a:t>01</a:t>
            </a:r>
          </a:p>
        </p:txBody>
      </p:sp>
    </p:spTree>
    <p:extLst>
      <p:ext uri="{BB962C8B-B14F-4D97-AF65-F5344CB8AC3E}">
        <p14:creationId xmlns:p14="http://schemas.microsoft.com/office/powerpoint/2010/main" val="1507165300"/>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10;&#10;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dirty="0">
                <a:effectLst/>
              </a:rPr>
              <a:t>Section description</a:t>
            </a:r>
            <a:endParaRPr lang="en-US" dirty="0"/>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dirty="0"/>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dirty="0"/>
              <a:t>01</a:t>
            </a:r>
          </a:p>
        </p:txBody>
      </p:sp>
    </p:spTree>
    <p:extLst>
      <p:ext uri="{BB962C8B-B14F-4D97-AF65-F5344CB8AC3E}">
        <p14:creationId xmlns:p14="http://schemas.microsoft.com/office/powerpoint/2010/main" val="1410483326"/>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2731603323"/>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endParaRPr lang="en-US" dirty="0"/>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227993942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tx1"/>
                </a:solidFill>
              </a:defRPr>
            </a:lvl1pPr>
          </a:lstStyle>
          <a:p>
            <a:pPr lvl="0"/>
            <a:r>
              <a:rPr lang="en-US" dirty="0"/>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endParaRPr lang="en-US" dirty="0"/>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36271990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65121767"/>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607140384"/>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bg1"/>
                </a:solidFill>
              </a:defRPr>
            </a:lvl1pPr>
          </a:lstStyle>
          <a:p>
            <a:pPr lvl="0"/>
            <a:r>
              <a:rPr lang="en-US" dirty="0"/>
              <a:t>Edit Master text styles</a:t>
            </a:r>
          </a:p>
        </p:txBody>
      </p:sp>
    </p:spTree>
    <p:extLst>
      <p:ext uri="{BB962C8B-B14F-4D97-AF65-F5344CB8AC3E}">
        <p14:creationId xmlns:p14="http://schemas.microsoft.com/office/powerpoint/2010/main" val="1318477604"/>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US"/>
              <a:t>Click to edit Master title style</a:t>
            </a:r>
            <a:endParaRPr lang="en-US" dirty="0"/>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2124200131"/>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pic>
        <p:nvPicPr>
          <p:cNvPr id="3" name="Graphic 2">
            <a:extLst>
              <a:ext uri="{FF2B5EF4-FFF2-40B4-BE49-F238E27FC236}">
                <a16:creationId xmlns:a16="http://schemas.microsoft.com/office/drawing/2014/main" id="{99CE1444-B151-5430-2753-A94BFE59863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930651815"/>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3606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949190965"/>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Tree>
    <p:extLst>
      <p:ext uri="{BB962C8B-B14F-4D97-AF65-F5344CB8AC3E}">
        <p14:creationId xmlns:p14="http://schemas.microsoft.com/office/powerpoint/2010/main" val="40077284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US"/>
              <a:t>Click to edit Master title style</a:t>
            </a:r>
            <a:endParaRPr lang="en-US" dirty="0"/>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3102645095"/>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62367"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
        <p:nvSpPr>
          <p:cNvPr id="11" name="TextBox 10">
            <a:extLst>
              <a:ext uri="{FF2B5EF4-FFF2-40B4-BE49-F238E27FC236}">
                <a16:creationId xmlns:a16="http://schemas.microsoft.com/office/drawing/2014/main" id="{07BD1CA3-DE0B-7A9B-CE98-826ACE3DFEB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12" name="Text Placeholder 3">
            <a:extLst>
              <a:ext uri="{FF2B5EF4-FFF2-40B4-BE49-F238E27FC236}">
                <a16:creationId xmlns:a16="http://schemas.microsoft.com/office/drawing/2014/main" id="{05F033AD-4765-5FA3-B45B-9232B4A16A8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499082683"/>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Tree>
    <p:extLst>
      <p:ext uri="{BB962C8B-B14F-4D97-AF65-F5344CB8AC3E}">
        <p14:creationId xmlns:p14="http://schemas.microsoft.com/office/powerpoint/2010/main" val="965878447"/>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
        <p:nvSpPr>
          <p:cNvPr id="11" name="TextBox 10">
            <a:extLst>
              <a:ext uri="{FF2B5EF4-FFF2-40B4-BE49-F238E27FC236}">
                <a16:creationId xmlns:a16="http://schemas.microsoft.com/office/drawing/2014/main" id="{64ACC802-5D81-6EBD-4496-14A01AE49DB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12" name="Text Placeholder 3">
            <a:extLst>
              <a:ext uri="{FF2B5EF4-FFF2-40B4-BE49-F238E27FC236}">
                <a16:creationId xmlns:a16="http://schemas.microsoft.com/office/drawing/2014/main" id="{E233E5D9-D527-CAC4-3B1E-44AA802D724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2149384361"/>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US"/>
              <a:t>Click to edit Master title style</a:t>
            </a:r>
            <a:endParaRPr lang="en-US" dirty="0"/>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410531315"/>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dirty="0"/>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dirty="0"/>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Tree>
    <p:extLst>
      <p:ext uri="{BB962C8B-B14F-4D97-AF65-F5344CB8AC3E}">
        <p14:creationId xmlns:p14="http://schemas.microsoft.com/office/powerpoint/2010/main" val="1919051182"/>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a:spLocks/>
          </p:cNvSpPr>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dirty="0"/>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dirty="0"/>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929586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Tree>
    <p:extLst>
      <p:ext uri="{BB962C8B-B14F-4D97-AF65-F5344CB8AC3E}">
        <p14:creationId xmlns:p14="http://schemas.microsoft.com/office/powerpoint/2010/main" val="2174374308"/>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3747818426"/>
      </p:ext>
    </p:extLst>
  </p:cSld>
  <p:clrMapOvr>
    <a:masterClrMapping/>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US"/>
              <a:t>Click to edit Master title style</a:t>
            </a:r>
            <a:endParaRPr lang="en-US" dirty="0"/>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498776114"/>
      </p:ext>
    </p:extLst>
  </p:cSld>
  <p:clrMapOvr>
    <a:masterClrMapping/>
  </p:clrMapOvr>
  <p:extLst>
    <p:ext uri="{DCECCB84-F9BA-43D5-87BE-67443E8EF086}">
      <p15:sldGuideLst xmlns:p15="http://schemas.microsoft.com/office/powerpoint/2012/main"/>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r>
              <a:rPr lang="en-US"/>
              <a:t>Click icon to add picture</a:t>
            </a:r>
            <a:endParaRPr lang="en-US" dirty="0"/>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US"/>
              <a:t>Click to edit Master title style</a:t>
            </a:r>
            <a:endParaRPr lang="en-US" dirty="0"/>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3840107063"/>
      </p:ext>
    </p:extLst>
  </p:cSld>
  <p:clrMapOvr>
    <a:masterClrMapping/>
  </p:clrMapOvr>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US"/>
              <a:t>Click to edit Master title style</a:t>
            </a:r>
            <a:endParaRPr lang="en-US" dirty="0"/>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Tree>
    <p:extLst>
      <p:ext uri="{BB962C8B-B14F-4D97-AF65-F5344CB8AC3E}">
        <p14:creationId xmlns:p14="http://schemas.microsoft.com/office/powerpoint/2010/main" val="391680453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a:spLocks/>
          </p:cNvSpPr>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US"/>
              <a:t>Click to edit Master title style</a:t>
            </a:r>
            <a:endParaRPr lang="en-US" dirty="0"/>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2528173972"/>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375802225"/>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dirty="0"/>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dirty="0" err="1"/>
              <a:t>popularised</a:t>
            </a:r>
            <a:r>
              <a:rPr lang="en-US" dirty="0"/>
              <a:t>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3447365524"/>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573848582"/>
      </p:ext>
    </p:extLst>
  </p:cSld>
  <p:clrMapOvr>
    <a:masterClrMapping/>
  </p:clrMapOvr>
  <p:extLst>
    <p:ext uri="{DCECCB84-F9BA-43D5-87BE-67443E8EF086}">
      <p15:sldGuideLst xmlns:p15="http://schemas.microsoft.com/office/powerpoint/2012/main"/>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711289278"/>
      </p:ext>
    </p:extLst>
  </p:cSld>
  <p:clrMapOvr>
    <a:masterClrMapping/>
  </p:clrMapOvr>
  <p:extLst>
    <p:ext uri="{DCECCB84-F9BA-43D5-87BE-67443E8EF086}">
      <p15:sldGuideLst xmlns:p15="http://schemas.microsoft.com/office/powerpoint/2012/main"/>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US"/>
              <a:t>Click to edit Master title style</a:t>
            </a:r>
            <a:endParaRPr lang="en-US" dirty="0"/>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3754336316"/>
      </p:ext>
    </p:extLst>
  </p:cSld>
  <p:clrMapOvr>
    <a:masterClrMapping/>
  </p:clrMapOvr>
  <p:extLst>
    <p:ext uri="{DCECCB84-F9BA-43D5-87BE-67443E8EF086}">
      <p15:sldGuideLst xmlns:p15="http://schemas.microsoft.com/office/powerpoint/2012/main"/>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671783748"/>
      </p:ext>
    </p:extLst>
  </p:cSld>
  <p:clrMapOvr>
    <a:masterClrMapping/>
  </p:clrMapOvr>
  <p:extLst>
    <p:ext uri="{DCECCB84-F9BA-43D5-87BE-67443E8EF086}">
      <p15:sldGuideLst xmlns:p15="http://schemas.microsoft.com/office/powerpoint/2012/main"/>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endParaRPr lang="en-US" dirty="0"/>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3854391733"/>
      </p:ext>
    </p:extLst>
  </p:cSld>
  <p:clrMapOvr>
    <a:masterClrMapping/>
  </p:clrMapOvr>
  <p:extLst>
    <p:ext uri="{DCECCB84-F9BA-43D5-87BE-67443E8EF086}">
      <p15:sldGuideLst xmlns:p15="http://schemas.microsoft.com/office/powerpoint/2012/main"/>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N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pic>
        <p:nvPicPr>
          <p:cNvPr id="4" name="Graphic 3">
            <a:extLst>
              <a:ext uri="{FF2B5EF4-FFF2-40B4-BE49-F238E27FC236}">
                <a16:creationId xmlns:a16="http://schemas.microsoft.com/office/drawing/2014/main" id="{E104305F-427E-7B08-9801-43AF5256FF7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620289068"/>
      </p:ext>
    </p:extLst>
  </p:cSld>
  <p:clrMapOvr>
    <a:masterClrMapping/>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1156550936"/>
      </p:ext>
    </p:extLst>
  </p:cSld>
  <p:clrMapOvr>
    <a:masterClrMapping/>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dirty="0"/>
              <a:t>Click to edit Master title style</a:t>
            </a:r>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3325515817"/>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ase Study-2/3 Black-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bg1">
              <a:lumMod val="95000"/>
            </a:schemeClr>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pic>
        <p:nvPicPr>
          <p:cNvPr id="5" name="Graphic 4">
            <a:extLst>
              <a:ext uri="{FF2B5EF4-FFF2-40B4-BE49-F238E27FC236}">
                <a16:creationId xmlns:a16="http://schemas.microsoft.com/office/drawing/2014/main" id="{75DC425F-9CC1-9DF3-3F54-17DAA0EB5E7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987275673"/>
      </p:ext>
    </p:extLst>
  </p:cSld>
  <p:clrMapOvr>
    <a:masterClrMapping/>
  </p:clrMapOvr>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4089205730"/>
      </p:ext>
    </p:extLst>
  </p:cSld>
  <p:clrMapOvr>
    <a:masterClrMapping/>
  </p:clrMapOvr>
  <p:extLst>
    <p:ext uri="{DCECCB84-F9BA-43D5-87BE-67443E8EF086}">
      <p15:sldGuideLst xmlns:p15="http://schemas.microsoft.com/office/powerpoint/2012/main"/>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r>
              <a:rPr lang="en-US"/>
              <a:t>Click icon to add picture</a:t>
            </a:r>
            <a:endParaRPr lang="en-US" dirty="0"/>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r>
              <a:rPr lang="en-US"/>
              <a:t>Click icon to add picture</a:t>
            </a:r>
            <a:endParaRPr lang="en-US" dirty="0"/>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r>
              <a:rPr lang="en-US"/>
              <a:t>Click icon to add picture</a:t>
            </a:r>
            <a:endParaRPr lang="en-US" dirty="0"/>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r>
              <a:rPr lang="en-US"/>
              <a:t>Click icon to add picture</a:t>
            </a:r>
            <a:endParaRPr lang="en-US" dirty="0"/>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2395381747"/>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Column Pictures-Leila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192"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192"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4307656"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4307656"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8147867"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8147867"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23" y="1389801"/>
            <a:ext cx="3600000" cy="1371600"/>
          </a:xfrm>
          <a:prstGeom prst="rect">
            <a:avLst/>
          </a:prstGeom>
          <a:solidFill>
            <a:schemeClr val="bg1">
              <a:lumMod val="95000"/>
            </a:schemeClr>
          </a:solidFill>
        </p:spPr>
        <p:txBody>
          <a:bodyPr>
            <a:noAutofit/>
          </a:bodyPr>
          <a:lstStyle/>
          <a:p>
            <a:r>
              <a:rPr lang="en-US"/>
              <a:t>Click icon to add picture</a:t>
            </a:r>
            <a:endParaRPr lang="en-US" dirty="0"/>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4307338" y="1389801"/>
            <a:ext cx="3600000" cy="1371600"/>
          </a:xfrm>
          <a:prstGeom prst="rect">
            <a:avLst/>
          </a:prstGeom>
          <a:solidFill>
            <a:schemeClr val="bg1">
              <a:lumMod val="95000"/>
            </a:schemeClr>
          </a:solidFill>
        </p:spPr>
        <p:txBody>
          <a:bodyPr>
            <a:noAutofit/>
          </a:bodyPr>
          <a:lstStyle/>
          <a:p>
            <a:r>
              <a:rPr lang="en-US"/>
              <a:t>Click icon to add picture</a:t>
            </a:r>
            <a:endParaRPr lang="en-US" dirty="0"/>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8140700" y="1389801"/>
            <a:ext cx="3600000" cy="1371600"/>
          </a:xfrm>
          <a:prstGeom prst="rect">
            <a:avLst/>
          </a:prstGeom>
          <a:solidFill>
            <a:schemeClr val="bg1">
              <a:lumMod val="95000"/>
            </a:schemeClr>
          </a:solidFill>
        </p:spPr>
        <p:txBody>
          <a:bodyPr>
            <a:noAutofit/>
          </a:bodyPr>
          <a:lstStyle/>
          <a:p>
            <a:r>
              <a:rPr lang="en-US"/>
              <a:t>Click icon to add picture</a:t>
            </a:r>
            <a:endParaRPr lang="en-US" dirty="0"/>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endParaRPr lang="en-US" dirty="0"/>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dirty="0"/>
              <a:t>Click to add section title</a:t>
            </a:r>
          </a:p>
        </p:txBody>
      </p:sp>
    </p:spTree>
    <p:extLst>
      <p:ext uri="{BB962C8B-B14F-4D97-AF65-F5344CB8AC3E}">
        <p14:creationId xmlns:p14="http://schemas.microsoft.com/office/powerpoint/2010/main" val="710738468"/>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r>
              <a:rPr lang="en-US"/>
              <a:t>Click icon to add picture</a:t>
            </a:r>
            <a:endParaRPr lang="en-US" dirty="0"/>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r>
              <a:rPr lang="en-US"/>
              <a:t>Click icon to add picture</a:t>
            </a:r>
            <a:endParaRPr lang="en-US" dirty="0"/>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r>
              <a:rPr lang="en-US"/>
              <a:t>Click icon to add picture</a:t>
            </a:r>
            <a:endParaRPr lang="en-US" dirty="0"/>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Tree>
    <p:extLst>
      <p:ext uri="{BB962C8B-B14F-4D97-AF65-F5344CB8AC3E}">
        <p14:creationId xmlns:p14="http://schemas.microsoft.com/office/powerpoint/2010/main" val="1983350600"/>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ase Study-4 Pictures-Leil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60000" cy="3429000"/>
          </a:xfrm>
          <a:prstGeom prst="rect">
            <a:avLst/>
          </a:prstGeom>
          <a:solidFill>
            <a:schemeClr val="bg2"/>
          </a:solidFill>
        </p:spPr>
        <p:txBody>
          <a:bodyPr/>
          <a:lstStyle/>
          <a:p>
            <a:r>
              <a:rPr lang="en-US"/>
              <a:t>Click icon to add picture</a:t>
            </a:r>
            <a:endParaRPr lang="en-US" dirty="0"/>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3043999" y="0"/>
            <a:ext cx="3060000" cy="3429000"/>
          </a:xfrm>
          <a:prstGeom prst="rect">
            <a:avLst/>
          </a:prstGeom>
          <a:solidFill>
            <a:schemeClr val="bg2"/>
          </a:solidFill>
        </p:spPr>
        <p:txBody>
          <a:bodyPr/>
          <a:lstStyle/>
          <a:p>
            <a:r>
              <a:rPr lang="en-US"/>
              <a:t>Click icon to add picture</a:t>
            </a:r>
            <a:endParaRPr lang="en-US" dirty="0"/>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6087999" y="0"/>
            <a:ext cx="3060000" cy="3429000"/>
          </a:xfrm>
          <a:prstGeom prst="rect">
            <a:avLst/>
          </a:prstGeom>
          <a:solidFill>
            <a:schemeClr val="bg2"/>
          </a:solidFill>
        </p:spPr>
        <p:txBody>
          <a:bodyPr/>
          <a:lstStyle/>
          <a:p>
            <a:r>
              <a:rPr lang="en-US"/>
              <a:t>Click icon to add picture</a:t>
            </a:r>
            <a:endParaRPr lang="en-US" dirty="0"/>
          </a:p>
        </p:txBody>
      </p:sp>
      <p:sp>
        <p:nvSpPr>
          <p:cNvPr id="2" name="Picture Placeholder 12">
            <a:extLst>
              <a:ext uri="{FF2B5EF4-FFF2-40B4-BE49-F238E27FC236}">
                <a16:creationId xmlns:a16="http://schemas.microsoft.com/office/drawing/2014/main" id="{4C3044EB-579C-1960-F9EB-F116665A7292}"/>
              </a:ext>
            </a:extLst>
          </p:cNvPr>
          <p:cNvSpPr>
            <a:spLocks noGrp="1"/>
          </p:cNvSpPr>
          <p:nvPr>
            <p:ph type="pic" sz="quarter" idx="25"/>
          </p:nvPr>
        </p:nvSpPr>
        <p:spPr>
          <a:xfrm>
            <a:off x="9132000" y="0"/>
            <a:ext cx="3060000" cy="3429000"/>
          </a:xfrm>
          <a:prstGeom prst="rect">
            <a:avLst/>
          </a:prstGeom>
          <a:solidFill>
            <a:schemeClr val="bg2"/>
          </a:solidFill>
        </p:spPr>
        <p:txBody>
          <a:bodyPr/>
          <a:lstStyle/>
          <a:p>
            <a:r>
              <a:rPr lang="en-US"/>
              <a:t>Click icon to add picture</a:t>
            </a:r>
            <a:endParaRPr lang="en-US" dirty="0"/>
          </a:p>
        </p:txBody>
      </p:sp>
      <p:sp>
        <p:nvSpPr>
          <p:cNvPr id="3" name="Text Placeholder 2">
            <a:extLst>
              <a:ext uri="{FF2B5EF4-FFF2-40B4-BE49-F238E27FC236}">
                <a16:creationId xmlns:a16="http://schemas.microsoft.com/office/drawing/2014/main" id="{C9D6271A-50EF-A83C-8073-0A6628457E18}"/>
              </a:ext>
            </a:extLst>
          </p:cNvPr>
          <p:cNvSpPr>
            <a:spLocks noGrp="1"/>
          </p:cNvSpPr>
          <p:nvPr>
            <p:ph type="body" sz="quarter" idx="16" hasCustomPrompt="1"/>
          </p:nvPr>
        </p:nvSpPr>
        <p:spPr>
          <a:xfrm>
            <a:off x="45720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p>
        </p:txBody>
      </p:sp>
      <p:sp>
        <p:nvSpPr>
          <p:cNvPr id="5" name="Text Placeholder 2">
            <a:extLst>
              <a:ext uri="{FF2B5EF4-FFF2-40B4-BE49-F238E27FC236}">
                <a16:creationId xmlns:a16="http://schemas.microsoft.com/office/drawing/2014/main" id="{33A26170-4FED-69CC-E7CF-6F163320DA0C}"/>
              </a:ext>
            </a:extLst>
          </p:cNvPr>
          <p:cNvSpPr>
            <a:spLocks noGrp="1"/>
          </p:cNvSpPr>
          <p:nvPr>
            <p:ph type="body" sz="quarter" idx="26" hasCustomPrompt="1"/>
          </p:nvPr>
        </p:nvSpPr>
        <p:spPr>
          <a:xfrm>
            <a:off x="45720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Leo </a:t>
            </a:r>
            <a:r>
              <a:rPr lang="en-US" dirty="0" err="1"/>
              <a:t>luctus</a:t>
            </a:r>
            <a:r>
              <a:rPr lang="en-US" dirty="0"/>
              <a:t> </a:t>
            </a:r>
            <a:r>
              <a:rPr lang="en-US" dirty="0" err="1"/>
              <a:t>adipiscing</a:t>
            </a:r>
            <a:r>
              <a:rPr lang="en-US" dirty="0"/>
              <a:t> </a:t>
            </a:r>
            <a:r>
              <a:rPr lang="en-US" dirty="0" err="1"/>
              <a:t>feugiat</a:t>
            </a:r>
            <a:r>
              <a:rPr lang="en-US" dirty="0"/>
              <a:t> </a:t>
            </a:r>
            <a:r>
              <a:rPr lang="en-US" dirty="0" err="1"/>
              <a:t>viverra</a:t>
            </a:r>
            <a:r>
              <a:rPr lang="en-US" dirty="0"/>
              <a:t> </a:t>
            </a:r>
            <a:r>
              <a:rPr lang="en-US" dirty="0" err="1"/>
              <a:t>facilisi</a:t>
            </a:r>
            <a:r>
              <a:rPr lang="en-US" dirty="0"/>
              <a:t>. </a:t>
            </a:r>
            <a:r>
              <a:rPr lang="en-US" dirty="0" err="1"/>
              <a:t>Tristique</a:t>
            </a:r>
            <a:r>
              <a:rPr lang="en-US" dirty="0"/>
              <a:t> </a:t>
            </a:r>
            <a:r>
              <a:rPr lang="en-US" dirty="0" err="1"/>
              <a:t>aliquet</a:t>
            </a:r>
            <a:r>
              <a:rPr lang="en-US" dirty="0"/>
              <a:t> </a:t>
            </a:r>
            <a:r>
              <a:rPr lang="en-US" dirty="0" err="1"/>
              <a:t>tempor</a:t>
            </a:r>
            <a:r>
              <a:rPr lang="en-US" dirty="0"/>
              <a:t>, </a:t>
            </a:r>
            <a:r>
              <a:rPr lang="en-US" dirty="0" err="1"/>
              <a:t>tortor</a:t>
            </a:r>
            <a:r>
              <a:rPr lang="en-US" dirty="0"/>
              <a:t> </a:t>
            </a:r>
            <a:r>
              <a:rPr lang="en-US" dirty="0" err="1"/>
              <a:t>amet</a:t>
            </a:r>
            <a:r>
              <a:rPr lang="en-US" dirty="0"/>
              <a:t> </a:t>
            </a:r>
            <a:r>
              <a:rPr lang="en-US" dirty="0" err="1"/>
              <a:t>scelerisque</a:t>
            </a:r>
            <a:r>
              <a:rPr lang="en-US" dirty="0"/>
              <a:t> fermentum. </a:t>
            </a:r>
            <a:r>
              <a:rPr lang="en-US" dirty="0" err="1"/>
              <a:t>Venenatis</a:t>
            </a:r>
            <a:r>
              <a:rPr lang="en-US" dirty="0"/>
              <a:t>, </a:t>
            </a:r>
            <a:r>
              <a:rPr lang="en-US" dirty="0" err="1"/>
              <a:t>quam</a:t>
            </a:r>
            <a:r>
              <a:rPr lang="en-US" dirty="0"/>
              <a:t> </a:t>
            </a:r>
            <a:r>
              <a:rPr lang="en-US" dirty="0" err="1"/>
              <a:t>consequat</a:t>
            </a:r>
            <a:r>
              <a:rPr lang="en-US" dirty="0"/>
              <a:t> </a:t>
            </a:r>
            <a:r>
              <a:rPr lang="en-US" dirty="0" err="1"/>
              <a:t>netus</a:t>
            </a:r>
            <a:r>
              <a:rPr lang="en-US" dirty="0"/>
              <a:t> magna</a:t>
            </a:r>
          </a:p>
        </p:txBody>
      </p:sp>
      <p:sp>
        <p:nvSpPr>
          <p:cNvPr id="7" name="Text Placeholder 2">
            <a:extLst>
              <a:ext uri="{FF2B5EF4-FFF2-40B4-BE49-F238E27FC236}">
                <a16:creationId xmlns:a16="http://schemas.microsoft.com/office/drawing/2014/main" id="{EFF5574A-DA2F-79E2-5257-E464C4DCBED9}"/>
              </a:ext>
            </a:extLst>
          </p:cNvPr>
          <p:cNvSpPr>
            <a:spLocks noGrp="1"/>
          </p:cNvSpPr>
          <p:nvPr>
            <p:ph type="body" sz="quarter" idx="27" hasCustomPrompt="1"/>
          </p:nvPr>
        </p:nvSpPr>
        <p:spPr>
          <a:xfrm>
            <a:off x="3370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p>
        </p:txBody>
      </p:sp>
      <p:sp>
        <p:nvSpPr>
          <p:cNvPr id="8" name="Text Placeholder 2">
            <a:extLst>
              <a:ext uri="{FF2B5EF4-FFF2-40B4-BE49-F238E27FC236}">
                <a16:creationId xmlns:a16="http://schemas.microsoft.com/office/drawing/2014/main" id="{2E50C4C1-6951-43AE-9158-49572E0C92C6}"/>
              </a:ext>
            </a:extLst>
          </p:cNvPr>
          <p:cNvSpPr>
            <a:spLocks noGrp="1"/>
          </p:cNvSpPr>
          <p:nvPr>
            <p:ph type="body" sz="quarter" idx="28" hasCustomPrompt="1"/>
          </p:nvPr>
        </p:nvSpPr>
        <p:spPr>
          <a:xfrm>
            <a:off x="3370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Leo </a:t>
            </a:r>
            <a:r>
              <a:rPr lang="en-US" dirty="0" err="1"/>
              <a:t>luctus</a:t>
            </a:r>
            <a:r>
              <a:rPr lang="en-US" dirty="0"/>
              <a:t> </a:t>
            </a:r>
            <a:r>
              <a:rPr lang="en-US" dirty="0" err="1"/>
              <a:t>adipiscing</a:t>
            </a:r>
            <a:r>
              <a:rPr lang="en-US" dirty="0"/>
              <a:t> </a:t>
            </a:r>
            <a:r>
              <a:rPr lang="en-US" dirty="0" err="1"/>
              <a:t>feugiat</a:t>
            </a:r>
            <a:r>
              <a:rPr lang="en-US" dirty="0"/>
              <a:t> </a:t>
            </a:r>
            <a:r>
              <a:rPr lang="en-US" dirty="0" err="1"/>
              <a:t>viverra</a:t>
            </a:r>
            <a:r>
              <a:rPr lang="en-US" dirty="0"/>
              <a:t> </a:t>
            </a:r>
            <a:r>
              <a:rPr lang="en-US" dirty="0" err="1"/>
              <a:t>facilisi</a:t>
            </a:r>
            <a:r>
              <a:rPr lang="en-US" dirty="0"/>
              <a:t>. </a:t>
            </a:r>
            <a:r>
              <a:rPr lang="en-US" dirty="0" err="1"/>
              <a:t>Tristique</a:t>
            </a:r>
            <a:r>
              <a:rPr lang="en-US" dirty="0"/>
              <a:t> </a:t>
            </a:r>
            <a:r>
              <a:rPr lang="en-US" dirty="0" err="1"/>
              <a:t>aliquet</a:t>
            </a:r>
            <a:r>
              <a:rPr lang="en-US" dirty="0"/>
              <a:t> </a:t>
            </a:r>
            <a:r>
              <a:rPr lang="en-US" dirty="0" err="1"/>
              <a:t>tempor</a:t>
            </a:r>
            <a:r>
              <a:rPr lang="en-US" dirty="0"/>
              <a:t>, </a:t>
            </a:r>
            <a:r>
              <a:rPr lang="en-US" dirty="0" err="1"/>
              <a:t>tortor</a:t>
            </a:r>
            <a:r>
              <a:rPr lang="en-US" dirty="0"/>
              <a:t> </a:t>
            </a:r>
            <a:r>
              <a:rPr lang="en-US" dirty="0" err="1"/>
              <a:t>amet</a:t>
            </a:r>
            <a:r>
              <a:rPr lang="en-US" dirty="0"/>
              <a:t> </a:t>
            </a:r>
            <a:r>
              <a:rPr lang="en-US" dirty="0" err="1"/>
              <a:t>scelerisque</a:t>
            </a:r>
            <a:r>
              <a:rPr lang="en-US" dirty="0"/>
              <a:t> fermentum. </a:t>
            </a:r>
            <a:r>
              <a:rPr lang="en-US" dirty="0" err="1"/>
              <a:t>Venenatis</a:t>
            </a:r>
            <a:r>
              <a:rPr lang="en-US" dirty="0"/>
              <a:t>, </a:t>
            </a:r>
            <a:r>
              <a:rPr lang="en-US" dirty="0" err="1"/>
              <a:t>quam</a:t>
            </a:r>
            <a:r>
              <a:rPr lang="en-US" dirty="0"/>
              <a:t> </a:t>
            </a:r>
            <a:r>
              <a:rPr lang="en-US" dirty="0" err="1"/>
              <a:t>consequat</a:t>
            </a:r>
            <a:r>
              <a:rPr lang="en-US" dirty="0"/>
              <a:t> </a:t>
            </a:r>
            <a:r>
              <a:rPr lang="en-US" dirty="0" err="1"/>
              <a:t>netus</a:t>
            </a:r>
            <a:r>
              <a:rPr lang="en-US" dirty="0"/>
              <a:t> magna</a:t>
            </a:r>
          </a:p>
        </p:txBody>
      </p:sp>
      <p:sp>
        <p:nvSpPr>
          <p:cNvPr id="9" name="Text Placeholder 2">
            <a:extLst>
              <a:ext uri="{FF2B5EF4-FFF2-40B4-BE49-F238E27FC236}">
                <a16:creationId xmlns:a16="http://schemas.microsoft.com/office/drawing/2014/main" id="{7000C3D5-7B7C-EDA2-9F53-869EC3327CCF}"/>
              </a:ext>
            </a:extLst>
          </p:cNvPr>
          <p:cNvSpPr>
            <a:spLocks noGrp="1"/>
          </p:cNvSpPr>
          <p:nvPr>
            <p:ph type="body" sz="quarter" idx="21" hasCustomPrompt="1"/>
          </p:nvPr>
        </p:nvSpPr>
        <p:spPr>
          <a:xfrm>
            <a:off x="6414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p>
        </p:txBody>
      </p:sp>
      <p:sp>
        <p:nvSpPr>
          <p:cNvPr id="12" name="Text Placeholder 2">
            <a:extLst>
              <a:ext uri="{FF2B5EF4-FFF2-40B4-BE49-F238E27FC236}">
                <a16:creationId xmlns:a16="http://schemas.microsoft.com/office/drawing/2014/main" id="{E9AE19AD-1845-6345-DD33-3FC9CF1784E4}"/>
              </a:ext>
            </a:extLst>
          </p:cNvPr>
          <p:cNvSpPr>
            <a:spLocks noGrp="1"/>
          </p:cNvSpPr>
          <p:nvPr>
            <p:ph type="body" sz="quarter" idx="22" hasCustomPrompt="1"/>
          </p:nvPr>
        </p:nvSpPr>
        <p:spPr>
          <a:xfrm>
            <a:off x="6414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Leo </a:t>
            </a:r>
            <a:r>
              <a:rPr lang="en-US" dirty="0" err="1"/>
              <a:t>luctus</a:t>
            </a:r>
            <a:r>
              <a:rPr lang="en-US" dirty="0"/>
              <a:t> </a:t>
            </a:r>
            <a:r>
              <a:rPr lang="en-US" dirty="0" err="1"/>
              <a:t>adipiscing</a:t>
            </a:r>
            <a:r>
              <a:rPr lang="en-US" dirty="0"/>
              <a:t> </a:t>
            </a:r>
            <a:r>
              <a:rPr lang="en-US" dirty="0" err="1"/>
              <a:t>feugiat</a:t>
            </a:r>
            <a:r>
              <a:rPr lang="en-US" dirty="0"/>
              <a:t> </a:t>
            </a:r>
            <a:r>
              <a:rPr lang="en-US" dirty="0" err="1"/>
              <a:t>viverra</a:t>
            </a:r>
            <a:r>
              <a:rPr lang="en-US" dirty="0"/>
              <a:t> </a:t>
            </a:r>
            <a:r>
              <a:rPr lang="en-US" dirty="0" err="1"/>
              <a:t>facilisi</a:t>
            </a:r>
            <a:r>
              <a:rPr lang="en-US" dirty="0"/>
              <a:t>. </a:t>
            </a:r>
            <a:r>
              <a:rPr lang="en-US" dirty="0" err="1"/>
              <a:t>Tristique</a:t>
            </a:r>
            <a:r>
              <a:rPr lang="en-US" dirty="0"/>
              <a:t> </a:t>
            </a:r>
            <a:r>
              <a:rPr lang="en-US" dirty="0" err="1"/>
              <a:t>aliquet</a:t>
            </a:r>
            <a:r>
              <a:rPr lang="en-US" dirty="0"/>
              <a:t> </a:t>
            </a:r>
            <a:r>
              <a:rPr lang="en-US" dirty="0" err="1"/>
              <a:t>tempor</a:t>
            </a:r>
            <a:r>
              <a:rPr lang="en-US" dirty="0"/>
              <a:t>, </a:t>
            </a:r>
            <a:r>
              <a:rPr lang="en-US" dirty="0" err="1"/>
              <a:t>tortor</a:t>
            </a:r>
            <a:r>
              <a:rPr lang="en-US" dirty="0"/>
              <a:t> </a:t>
            </a:r>
            <a:r>
              <a:rPr lang="en-US" dirty="0" err="1"/>
              <a:t>amet</a:t>
            </a:r>
            <a:r>
              <a:rPr lang="en-US" dirty="0"/>
              <a:t> </a:t>
            </a:r>
            <a:r>
              <a:rPr lang="en-US" dirty="0" err="1"/>
              <a:t>scelerisque</a:t>
            </a:r>
            <a:r>
              <a:rPr lang="en-US" dirty="0"/>
              <a:t> fermentum. </a:t>
            </a:r>
            <a:r>
              <a:rPr lang="en-US" dirty="0" err="1"/>
              <a:t>Venenatis</a:t>
            </a:r>
            <a:r>
              <a:rPr lang="en-US" dirty="0"/>
              <a:t>, </a:t>
            </a:r>
            <a:r>
              <a:rPr lang="en-US" dirty="0" err="1"/>
              <a:t>quam</a:t>
            </a:r>
            <a:r>
              <a:rPr lang="en-US" dirty="0"/>
              <a:t> </a:t>
            </a:r>
            <a:r>
              <a:rPr lang="en-US" dirty="0" err="1"/>
              <a:t>consequat</a:t>
            </a:r>
            <a:r>
              <a:rPr lang="en-US" dirty="0"/>
              <a:t> </a:t>
            </a:r>
            <a:r>
              <a:rPr lang="en-US" dirty="0" err="1"/>
              <a:t>netus</a:t>
            </a:r>
            <a:r>
              <a:rPr lang="en-US" dirty="0"/>
              <a:t> magna</a:t>
            </a:r>
          </a:p>
        </p:txBody>
      </p:sp>
      <p:sp>
        <p:nvSpPr>
          <p:cNvPr id="16" name="Text Placeholder 2">
            <a:extLst>
              <a:ext uri="{FF2B5EF4-FFF2-40B4-BE49-F238E27FC236}">
                <a16:creationId xmlns:a16="http://schemas.microsoft.com/office/drawing/2014/main" id="{EFF38F98-219B-60E4-DEE4-A49FED7181F5}"/>
              </a:ext>
            </a:extLst>
          </p:cNvPr>
          <p:cNvSpPr>
            <a:spLocks noGrp="1"/>
          </p:cNvSpPr>
          <p:nvPr>
            <p:ph type="body" sz="quarter" idx="23" hasCustomPrompt="1"/>
          </p:nvPr>
        </p:nvSpPr>
        <p:spPr>
          <a:xfrm>
            <a:off x="932688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8" name="Text Placeholder 2">
            <a:extLst>
              <a:ext uri="{FF2B5EF4-FFF2-40B4-BE49-F238E27FC236}">
                <a16:creationId xmlns:a16="http://schemas.microsoft.com/office/drawing/2014/main" id="{76073D28-63C4-4EAB-D10E-E4C9A179B803}"/>
              </a:ext>
            </a:extLst>
          </p:cNvPr>
          <p:cNvSpPr>
            <a:spLocks noGrp="1"/>
          </p:cNvSpPr>
          <p:nvPr>
            <p:ph type="body" sz="quarter" idx="24" hasCustomPrompt="1"/>
          </p:nvPr>
        </p:nvSpPr>
        <p:spPr>
          <a:xfrm>
            <a:off x="932688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Leo </a:t>
            </a:r>
            <a:r>
              <a:rPr lang="en-US" dirty="0" err="1"/>
              <a:t>luctus</a:t>
            </a:r>
            <a:r>
              <a:rPr lang="en-US" dirty="0"/>
              <a:t> </a:t>
            </a:r>
            <a:r>
              <a:rPr lang="en-US" dirty="0" err="1"/>
              <a:t>adipiscing</a:t>
            </a:r>
            <a:r>
              <a:rPr lang="en-US" dirty="0"/>
              <a:t> </a:t>
            </a:r>
            <a:r>
              <a:rPr lang="en-US" dirty="0" err="1"/>
              <a:t>feugiat</a:t>
            </a:r>
            <a:r>
              <a:rPr lang="en-US" dirty="0"/>
              <a:t> </a:t>
            </a:r>
            <a:r>
              <a:rPr lang="en-US" dirty="0" err="1"/>
              <a:t>viverra</a:t>
            </a:r>
            <a:r>
              <a:rPr lang="en-US" dirty="0"/>
              <a:t> </a:t>
            </a:r>
            <a:r>
              <a:rPr lang="en-US" dirty="0" err="1"/>
              <a:t>facilisi</a:t>
            </a:r>
            <a:r>
              <a:rPr lang="en-US" dirty="0"/>
              <a:t>. </a:t>
            </a:r>
            <a:r>
              <a:rPr lang="en-US" dirty="0" err="1"/>
              <a:t>Tristique</a:t>
            </a:r>
            <a:r>
              <a:rPr lang="en-US" dirty="0"/>
              <a:t> </a:t>
            </a:r>
            <a:r>
              <a:rPr lang="en-US" dirty="0" err="1"/>
              <a:t>aliquet</a:t>
            </a:r>
            <a:r>
              <a:rPr lang="en-US" dirty="0"/>
              <a:t> </a:t>
            </a:r>
            <a:r>
              <a:rPr lang="en-US" dirty="0" err="1"/>
              <a:t>tempor</a:t>
            </a:r>
            <a:r>
              <a:rPr lang="en-US" dirty="0"/>
              <a:t>, </a:t>
            </a:r>
            <a:r>
              <a:rPr lang="en-US" dirty="0" err="1"/>
              <a:t>tortor</a:t>
            </a:r>
            <a:r>
              <a:rPr lang="en-US" dirty="0"/>
              <a:t> </a:t>
            </a:r>
            <a:r>
              <a:rPr lang="en-US" dirty="0" err="1"/>
              <a:t>amet</a:t>
            </a:r>
            <a:r>
              <a:rPr lang="en-US" dirty="0"/>
              <a:t> </a:t>
            </a:r>
            <a:r>
              <a:rPr lang="en-US" dirty="0" err="1"/>
              <a:t>scelerisque</a:t>
            </a:r>
            <a:r>
              <a:rPr lang="en-US" dirty="0"/>
              <a:t> fermentum. </a:t>
            </a:r>
            <a:r>
              <a:rPr lang="en-US" dirty="0" err="1"/>
              <a:t>Venenatis</a:t>
            </a:r>
            <a:r>
              <a:rPr lang="en-US" dirty="0"/>
              <a:t>, </a:t>
            </a:r>
            <a:r>
              <a:rPr lang="en-US" dirty="0" err="1"/>
              <a:t>quam</a:t>
            </a:r>
            <a:r>
              <a:rPr lang="en-US" dirty="0"/>
              <a:t> </a:t>
            </a:r>
            <a:r>
              <a:rPr lang="en-US" dirty="0" err="1"/>
              <a:t>consequat</a:t>
            </a:r>
            <a:r>
              <a:rPr lang="en-US" dirty="0"/>
              <a:t> </a:t>
            </a:r>
            <a:r>
              <a:rPr lang="en-US" dirty="0" err="1"/>
              <a:t>netus</a:t>
            </a:r>
            <a:r>
              <a:rPr lang="en-US" dirty="0"/>
              <a:t> magna</a:t>
            </a:r>
          </a:p>
        </p:txBody>
      </p:sp>
    </p:spTree>
    <p:extLst>
      <p:ext uri="{BB962C8B-B14F-4D97-AF65-F5344CB8AC3E}">
        <p14:creationId xmlns:p14="http://schemas.microsoft.com/office/powerpoint/2010/main" val="2697825221"/>
      </p:ext>
    </p:extLst>
  </p:cSld>
  <p:clrMapOvr>
    <a:masterClrMapping/>
  </p:clrMapOvr>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r>
              <a:rPr lang="en-US"/>
              <a:t>Click icon to add picture</a:t>
            </a:r>
            <a:endParaRPr lang="en-US" dirty="0"/>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r>
              <a:rPr lang="en-US"/>
              <a:t>Click icon to add picture</a:t>
            </a:r>
            <a:endParaRPr lang="en-US" dirty="0"/>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r>
              <a:rPr lang="en-US"/>
              <a:t>Click icon to add picture</a:t>
            </a:r>
            <a:endParaRPr lang="en-US" dirty="0"/>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r>
              <a:rPr lang="en-US"/>
              <a:t>Click icon to add picture</a:t>
            </a:r>
            <a:endParaRPr lang="en-US" dirty="0"/>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Tree>
    <p:extLst>
      <p:ext uri="{BB962C8B-B14F-4D97-AF65-F5344CB8AC3E}">
        <p14:creationId xmlns:p14="http://schemas.microsoft.com/office/powerpoint/2010/main" val="843703895"/>
      </p:ext>
    </p:extLst>
  </p:cSld>
  <p:clrMapOvr>
    <a:masterClrMapping/>
  </p:clrMapOvr>
  <p:extLst>
    <p:ext uri="{DCECCB84-F9BA-43D5-87BE-67443E8EF086}">
      <p15:sldGuideLst xmlns:p15="http://schemas.microsoft.com/office/powerpoint/2012/main"/>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Tree>
    <p:extLst>
      <p:ext uri="{BB962C8B-B14F-4D97-AF65-F5344CB8AC3E}">
        <p14:creationId xmlns:p14="http://schemas.microsoft.com/office/powerpoint/2010/main" val="2018321646"/>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2DEA7B-FE87-E4A3-0E28-5A6940077AAF}"/>
              </a:ext>
            </a:extLst>
          </p:cNvPr>
          <p:cNvSpPr/>
          <p:nvPr userDrawn="1"/>
        </p:nvSpPr>
        <p:spPr bwMode="auto">
          <a:xfrm>
            <a:off x="1020000" y="999000"/>
            <a:ext cx="10152000" cy="4860000"/>
          </a:xfrm>
          <a:prstGeom prst="rect">
            <a:avLst/>
          </a:prstGeom>
          <a:gradFill>
            <a:gsLst>
              <a:gs pos="66000">
                <a:schemeClr val="accent5"/>
              </a:gs>
              <a:gs pos="0">
                <a:schemeClr val="accent2"/>
              </a:gs>
              <a:gs pos="100000">
                <a:schemeClr val="accent4"/>
              </a:gs>
            </a:gsLst>
            <a:lin ang="1800000" scaled="0"/>
          </a:gradFill>
          <a:ln>
            <a:noFill/>
          </a:ln>
          <a:effectLst/>
        </p:spPr>
        <p:txBody>
          <a:bodyPr wrap="square" lIns="0" tIns="0" rIns="0" bIns="0" rtlCol="0" anchor="ctr"/>
          <a:lstStyle/>
          <a:p>
            <a:pPr lvl="0"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9" name="Title 8">
            <a:extLst>
              <a:ext uri="{FF2B5EF4-FFF2-40B4-BE49-F238E27FC236}">
                <a16:creationId xmlns:a16="http://schemas.microsoft.com/office/drawing/2014/main" id="{388A2ACC-EFED-3CEF-B58F-EA44CFA34596}"/>
              </a:ext>
            </a:extLst>
          </p:cNvPr>
          <p:cNvSpPr>
            <a:spLocks noGrp="1"/>
          </p:cNvSpPr>
          <p:nvPr>
            <p:ph type="title" hasCustomPrompt="1"/>
          </p:nvPr>
        </p:nvSpPr>
        <p:spPr>
          <a:xfrm>
            <a:off x="2149475" y="2464175"/>
            <a:ext cx="7899400" cy="615553"/>
          </a:xfrm>
          <a:prstGeom prst="rect">
            <a:avLst/>
          </a:prstGeom>
        </p:spPr>
        <p:txBody>
          <a:bodyPr vert="horz" wrap="square" lIns="0" tIns="0" rIns="0" bIns="0" rtlCol="0" anchor="t">
            <a:spAutoFit/>
          </a:bodyPr>
          <a:lstStyle>
            <a:lvl1pPr>
              <a:defRPr lang="en-US" sz="4000" b="0" i="0" spc="0" dirty="0">
                <a:solidFill>
                  <a:schemeClr val="bg1"/>
                </a:solidFill>
                <a:effectLst/>
                <a:latin typeface="Calibri Light" panose="020F0302020204030204" pitchFamily="34" charset="0"/>
                <a:cs typeface="Calibri Light" panose="020F0302020204030204" pitchFamily="34" charset="0"/>
              </a:defRPr>
            </a:lvl1pPr>
          </a:lstStyle>
          <a:p>
            <a:pPr lvl="0"/>
            <a:r>
              <a:rPr lang="en-US" dirty="0"/>
              <a:t>Insert your quote here</a:t>
            </a:r>
          </a:p>
        </p:txBody>
      </p:sp>
      <p:sp>
        <p:nvSpPr>
          <p:cNvPr id="2" name="Title 8">
            <a:extLst>
              <a:ext uri="{FF2B5EF4-FFF2-40B4-BE49-F238E27FC236}">
                <a16:creationId xmlns:a16="http://schemas.microsoft.com/office/drawing/2014/main" id="{A967559A-5EC8-8B92-65E3-76928C972876}"/>
              </a:ext>
            </a:extLst>
          </p:cNvPr>
          <p:cNvSpPr txBox="1">
            <a:spLocks/>
          </p:cNvSpPr>
          <p:nvPr userDrawn="1"/>
        </p:nvSpPr>
        <p:spPr>
          <a:xfrm>
            <a:off x="2062976" y="1531155"/>
            <a:ext cx="1248633" cy="147732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lang="en-US" sz="4000" b="0" i="0" kern="1200" spc="0" dirty="0">
                <a:gradFill>
                  <a:gsLst>
                    <a:gs pos="50000">
                      <a:schemeClr val="accent2"/>
                    </a:gs>
                    <a:gs pos="70000">
                      <a:schemeClr val="accent5"/>
                    </a:gs>
                    <a:gs pos="100000">
                      <a:schemeClr val="accent4"/>
                    </a:gs>
                  </a:gsLst>
                  <a:lin ang="1200000" scaled="0"/>
                </a:gradFill>
                <a:effectLst/>
                <a:latin typeface="Calibri Light" panose="020F0302020204030204" pitchFamily="34" charset="0"/>
                <a:ea typeface="Calibri" panose="020F0502020204030204" pitchFamily="34" charset="0"/>
                <a:cs typeface="Calibri Light" panose="020F0302020204030204" pitchFamily="34" charset="0"/>
              </a:defRPr>
            </a:lvl1pPr>
          </a:lstStyle>
          <a:p>
            <a:r>
              <a:rPr lang="en-GB" sz="9600" dirty="0">
                <a:solidFill>
                  <a:schemeClr val="bg1"/>
                </a:solidFill>
              </a:rPr>
              <a:t>“</a:t>
            </a:r>
          </a:p>
        </p:txBody>
      </p:sp>
    </p:spTree>
    <p:extLst>
      <p:ext uri="{BB962C8B-B14F-4D97-AF65-F5344CB8AC3E}">
        <p14:creationId xmlns:p14="http://schemas.microsoft.com/office/powerpoint/2010/main" val="401183820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dirty="0"/>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84736574-B51A-9653-821A-E3F5C3FCDF5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6191EA3E-7B20-955D-0C59-DF85A915365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4" name="Text Placeholder 3">
            <a:extLst>
              <a:ext uri="{FF2B5EF4-FFF2-40B4-BE49-F238E27FC236}">
                <a16:creationId xmlns:a16="http://schemas.microsoft.com/office/drawing/2014/main" id="{A9BB0EE7-0219-6A5E-BA7F-872F2C48D7E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201504764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hank_you-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tx1"/>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dirty="0"/>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tx2">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062515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endParaRPr lang="en-US" dirty="0"/>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dirty="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dirty="0"/>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5E39841-8080-2E83-D8BB-7AD807F024A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12" name="TextBox 11">
            <a:extLst>
              <a:ext uri="{FF2B5EF4-FFF2-40B4-BE49-F238E27FC236}">
                <a16:creationId xmlns:a16="http://schemas.microsoft.com/office/drawing/2014/main" id="{598728A8-4504-9979-0928-94780E8A451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bg1"/>
                </a:solidFill>
              </a:rPr>
              <a:t>EPAM Proprietary &amp; Confidential.</a:t>
            </a:r>
          </a:p>
        </p:txBody>
      </p:sp>
      <p:sp>
        <p:nvSpPr>
          <p:cNvPr id="13" name="Text Placeholder 3">
            <a:extLst>
              <a:ext uri="{FF2B5EF4-FFF2-40B4-BE49-F238E27FC236}">
                <a16:creationId xmlns:a16="http://schemas.microsoft.com/office/drawing/2014/main" id="{68625CBB-5BC8-9235-54D3-C8F265017D7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dirty="0">
              <a:solidFill>
                <a:schemeClr val="bg1"/>
              </a:solidFill>
            </a:endParaRPr>
          </a:p>
        </p:txBody>
      </p:sp>
    </p:spTree>
    <p:extLst>
      <p:ext uri="{BB962C8B-B14F-4D97-AF65-F5344CB8AC3E}">
        <p14:creationId xmlns:p14="http://schemas.microsoft.com/office/powerpoint/2010/main" val="2335110251"/>
      </p:ext>
    </p:extLst>
  </p:cSld>
  <p:clrMapOvr>
    <a:masterClrMapping/>
  </p:clrMapOvr>
  <p:extLst>
    <p:ext uri="{DCECCB84-F9BA-43D5-87BE-67443E8EF086}">
      <p15:sldGuideLst xmlns:p15="http://schemas.microsoft.com/office/powerpoint/2012/main"/>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endParaRPr lang="en-US" dirty="0"/>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dirty="0">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584775"/>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dirty="0"/>
              <a:t>Thank you!</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dirty="0">
                <a:effectLst/>
              </a:rPr>
              <a:t>EPAM</a:t>
            </a:r>
            <a:endParaRPr lang="en-US" dirty="0"/>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dirty="0">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dirty="0">
              <a:solidFill>
                <a:schemeClr val="tx1"/>
              </a:solidFill>
            </a:endParaRPr>
          </a:p>
        </p:txBody>
      </p:sp>
    </p:spTree>
    <p:extLst>
      <p:ext uri="{BB962C8B-B14F-4D97-AF65-F5344CB8AC3E}">
        <p14:creationId xmlns:p14="http://schemas.microsoft.com/office/powerpoint/2010/main" val="539418970"/>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theme" Target="../theme/theme1.xml"/><Relationship Id="rId66" Type="http://schemas.openxmlformats.org/officeDocument/2006/relationships/image" Target="../media/image1.png"/><Relationship Id="rId67"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endParaRPr lang="en-US" dirty="0"/>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r:embed="rId66" cstate="screen">
            <a:extLst>
              <a:ext uri="{28A0092B-C50C-407E-A947-70E740481C1C}">
                <a14:useLocalDpi xmlns:a14="http://schemas.microsoft.com/office/drawing/2010/main"/>
              </a:ext>
              <a:ext uri="{96DAC541-7B7A-43D3-8B79-37D633B846F1}">
                <asvg:svgBlip xmlns:asvg="http://schemas.microsoft.com/office/drawing/2016/SVG/main" r:embed="rId67"/>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dirty="0">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dirty="0"/>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dirty="0"/>
              <a:t>Click to edit Master text styles</a:t>
            </a:r>
          </a:p>
          <a:p>
            <a:pPr lvl="1"/>
            <a:r>
              <a:rPr lang="en-GB" dirty="0"/>
              <a:t>Second level</a:t>
            </a:r>
          </a:p>
          <a:p>
            <a:pPr lvl="2"/>
            <a:r>
              <a:rPr lang="en-GB" dirty="0"/>
              <a:t>Third level</a:t>
            </a:r>
          </a:p>
        </p:txBody>
      </p:sp>
    </p:spTree>
    <p:extLst>
      <p:ext uri="{BB962C8B-B14F-4D97-AF65-F5344CB8AC3E}">
        <p14:creationId xmlns:p14="http://schemas.microsoft.com/office/powerpoint/2010/main" val="135885590"/>
      </p:ext>
    </p:extLst>
  </p:cSld>
  <p:clrMap bg1="lt1" tx1="dk1" bg2="lt2" tx2="dk2" accent1="accent1" accent2="accent2" accent3="accent3" accent4="accent4" accent5="accent5" accent6="accent6" hlink="hlink" folHlink="folHlink"/>
  <p:sldLayoutIdLst>
    <p:sldLayoutId id="2147484351" r:id="rId1"/>
    <p:sldLayoutId id="2147484352" r:id="rId2"/>
    <p:sldLayoutId id="2147484353" r:id="rId3"/>
    <p:sldLayoutId id="2147484354" r:id="rId4"/>
    <p:sldLayoutId id="2147484355" r:id="rId5"/>
    <p:sldLayoutId id="2147484356" r:id="rId6"/>
    <p:sldLayoutId id="2147484357" r:id="rId7"/>
    <p:sldLayoutId id="2147484358" r:id="rId8"/>
    <p:sldLayoutId id="2147484359" r:id="rId9"/>
    <p:sldLayoutId id="2147484360" r:id="rId10"/>
    <p:sldLayoutId id="2147484361" r:id="rId11"/>
    <p:sldLayoutId id="2147484362" r:id="rId12"/>
    <p:sldLayoutId id="2147484363" r:id="rId13"/>
    <p:sldLayoutId id="2147484364" r:id="rId14"/>
    <p:sldLayoutId id="2147484365" r:id="rId15"/>
    <p:sldLayoutId id="2147484366" r:id="rId16"/>
    <p:sldLayoutId id="2147484367" r:id="rId17"/>
    <p:sldLayoutId id="2147484368" r:id="rId18"/>
    <p:sldLayoutId id="2147484369" r:id="rId19"/>
    <p:sldLayoutId id="2147484370" r:id="rId20"/>
    <p:sldLayoutId id="2147484371" r:id="rId21"/>
    <p:sldLayoutId id="2147484372" r:id="rId22"/>
    <p:sldLayoutId id="2147484373" r:id="rId23"/>
    <p:sldLayoutId id="2147484374" r:id="rId24"/>
    <p:sldLayoutId id="2147484375" r:id="rId25"/>
    <p:sldLayoutId id="2147484376" r:id="rId26"/>
    <p:sldLayoutId id="2147484377" r:id="rId27"/>
    <p:sldLayoutId id="2147484378" r:id="rId28"/>
    <p:sldLayoutId id="2147484379" r:id="rId29"/>
    <p:sldLayoutId id="2147484380" r:id="rId30"/>
    <p:sldLayoutId id="2147484381" r:id="rId31"/>
    <p:sldLayoutId id="2147484382" r:id="rId32"/>
    <p:sldLayoutId id="2147484383" r:id="rId33"/>
    <p:sldLayoutId id="2147484384" r:id="rId34"/>
    <p:sldLayoutId id="2147484385" r:id="rId35"/>
    <p:sldLayoutId id="2147484386" r:id="rId36"/>
    <p:sldLayoutId id="2147484387" r:id="rId37"/>
    <p:sldLayoutId id="2147484388" r:id="rId38"/>
    <p:sldLayoutId id="2147484389" r:id="rId39"/>
    <p:sldLayoutId id="2147484390" r:id="rId40"/>
    <p:sldLayoutId id="2147484391" r:id="rId41"/>
    <p:sldLayoutId id="2147484392" r:id="rId42"/>
    <p:sldLayoutId id="2147484393" r:id="rId43"/>
    <p:sldLayoutId id="2147484394" r:id="rId44"/>
    <p:sldLayoutId id="2147484395" r:id="rId45"/>
    <p:sldLayoutId id="2147484396" r:id="rId46"/>
    <p:sldLayoutId id="2147484397" r:id="rId47"/>
    <p:sldLayoutId id="2147484398" r:id="rId48"/>
    <p:sldLayoutId id="2147484399" r:id="rId49"/>
    <p:sldLayoutId id="2147484400" r:id="rId50"/>
    <p:sldLayoutId id="2147484401" r:id="rId51"/>
    <p:sldLayoutId id="2147484402" r:id="rId52"/>
    <p:sldLayoutId id="2147484403" r:id="rId53"/>
    <p:sldLayoutId id="2147484404" r:id="rId54"/>
    <p:sldLayoutId id="2147484405" r:id="rId55"/>
    <p:sldLayoutId id="2147484406" r:id="rId56"/>
    <p:sldLayoutId id="2147484407" r:id="rId57"/>
    <p:sldLayoutId id="2147484408" r:id="rId58"/>
    <p:sldLayoutId id="2147484409" r:id="rId59"/>
    <p:sldLayoutId id="2147484410" r:id="rId60"/>
    <p:sldLayoutId id="2147484411" r:id="rId61"/>
    <p:sldLayoutId id="2147484412" r:id="rId62"/>
    <p:sldLayoutId id="2147484413" r:id="rId63"/>
    <p:sldLayoutId id="2147484414" r:id="rId64"/>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5.png"/><Relationship Id="rId3" Type="http://schemas.openxmlformats.org/officeDocument/2006/relationships/image" Target="../media/image2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500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ags" Target="../tags/tag5000.xml"/><Relationship Id="rId3" Type="http://schemas.openxmlformats.org/officeDocument/2006/relationships/image" Target="../media/image500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5.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image" Target="../media/image42.png"/><Relationship Id="rId5"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42.png"/><Relationship Id="rId3" Type="http://schemas.openxmlformats.org/officeDocument/2006/relationships/image" Target="../media/image23.png"/><Relationship Id="rId4" Type="http://schemas.openxmlformats.org/officeDocument/2006/relationships/image" Target="../media/image43.png"/><Relationship Id="rId5" Type="http://schemas.openxmlformats.org/officeDocument/2006/relationships/image" Target="../media/image24.png"/><Relationship Id="rId6" Type="http://schemas.openxmlformats.org/officeDocument/2006/relationships/image" Target="../media/image4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Where the ABAP estate talks to SFTP</a:t>
            </a:r>
          </a:p>
        </p:txBody>
      </p:sp>
      <p:sp>
        <p:nvSpPr>
          <p:cNvPr id="3" name="Text Placeholder 2"/>
          <p:cNvSpPr>
            <a:spLocks noGrp="1"/>
          </p:cNvSpPr>
          <p:nvPr>
            <p:ph type="body" idx="12" sz="quarter"/>
          </p:nvPr>
        </p:nvSpPr>
        <p:spPr/>
        <p:txBody>
          <a:bodyPr/>
          <a:lstStyle/>
          <a:p>
            <a:r>
              <a:t>M A Y  2 0 2 6</a:t>
            </a:r>
          </a:p>
        </p:txBody>
      </p:sp>
      <p:sp>
        <p:nvSpPr>
          <p:cNvPr id="4" name="Title 3"/>
          <p:cNvSpPr>
            <a:spLocks noGrp="1"/>
          </p:cNvSpPr>
          <p:nvPr>
            <p:ph type="title"/>
          </p:nvPr>
        </p:nvSpPr>
        <p:spPr/>
        <p:txBody>
          <a:bodyPr/>
          <a:lstStyle/>
          <a:p>
            <a:r>
              <a:t>SFTP Usage Analysis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Contents</a:t>
            </a:r>
          </a:p>
        </p:txBody>
      </p:sp>
      <p:sp>
        <p:nvSpPr>
          <p:cNvPr id="3" name="Text Placeholder 2"/>
          <p:cNvSpPr>
            <a:spLocks noGrp="1"/>
          </p:cNvSpPr>
          <p:nvPr>
            <p:ph type="body" idx="10" sz="quarter"/>
          </p:nvPr>
        </p:nvSpPr>
        <p:spPr/>
        <p:txBody>
          <a:bodyPr/>
          <a:lstStyle/>
          <a:p>
            <a:r>
              <a:t>01</a:t>
            </a:r>
          </a:p>
        </p:txBody>
      </p:sp>
      <p:sp>
        <p:nvSpPr>
          <p:cNvPr id="4" name="Text Placeholder 3"/>
          <p:cNvSpPr>
            <a:spLocks noGrp="1"/>
          </p:cNvSpPr>
          <p:nvPr>
            <p:ph type="body" idx="11" sz="quarter"/>
          </p:nvPr>
        </p:nvSpPr>
        <p:spPr/>
        <p:txBody>
          <a:bodyPr/>
          <a:lstStyle/>
          <a:p>
            <a:r>
              <a:t>02</a:t>
            </a:r>
          </a:p>
        </p:txBody>
      </p:sp>
      <p:sp>
        <p:nvSpPr>
          <p:cNvPr id="5" name="Text Placeholder 4"/>
          <p:cNvSpPr>
            <a:spLocks noGrp="1"/>
          </p:cNvSpPr>
          <p:nvPr>
            <p:ph type="body" idx="12" sz="quarter"/>
          </p:nvPr>
        </p:nvSpPr>
        <p:spPr/>
        <p:txBody>
          <a:bodyPr/>
          <a:lstStyle/>
          <a:p>
            <a:r>
              <a:t>03</a:t>
            </a:r>
          </a:p>
        </p:txBody>
      </p:sp>
      <p:sp>
        <p:nvSpPr>
          <p:cNvPr id="6" name="Text Placeholder 5"/>
          <p:cNvSpPr>
            <a:spLocks noGrp="1"/>
          </p:cNvSpPr>
          <p:nvPr>
            <p:ph type="body" idx="13" sz="quarter"/>
          </p:nvPr>
        </p:nvSpPr>
        <p:spPr/>
        <p:txBody>
          <a:bodyPr/>
          <a:lstStyle/>
          <a:p>
            <a:r>
              <a:t>04</a:t>
            </a:r>
          </a:p>
        </p:txBody>
      </p:sp>
      <p:sp>
        <p:nvSpPr>
          <p:cNvPr id="7" name="Text Placeholder 6"/>
          <p:cNvSpPr>
            <a:spLocks noGrp="1"/>
          </p:cNvSpPr>
          <p:nvPr>
            <p:ph type="body" idx="14" sz="quarter"/>
          </p:nvPr>
        </p:nvSpPr>
        <p:spPr/>
        <p:txBody>
          <a:bodyPr/>
          <a:lstStyle/>
          <a:p>
            <a:r>
              <a:t>05</a:t>
            </a:r>
          </a:p>
        </p:txBody>
      </p:sp>
      <p:sp>
        <p:nvSpPr>
          <p:cNvPr id="8" name="Text Placeholder 7"/>
          <p:cNvSpPr>
            <a:spLocks noGrp="1"/>
          </p:cNvSpPr>
          <p:nvPr>
            <p:ph type="body" idx="15" sz="quarter"/>
          </p:nvPr>
        </p:nvSpPr>
        <p:spPr/>
        <p:txBody>
          <a:bodyPr/>
          <a:lstStyle/>
          <a:p>
            <a:r>
              <a:t>06</a:t>
            </a:r>
          </a:p>
        </p:txBody>
      </p:sp>
      <p:sp>
        <p:nvSpPr>
          <p:cNvPr id="9" name="Text Placeholder 8"/>
          <p:cNvSpPr>
            <a:spLocks noGrp="1"/>
          </p:cNvSpPr>
          <p:nvPr>
            <p:ph type="body" idx="16" sz="quarter"/>
          </p:nvPr>
        </p:nvSpPr>
        <p:spPr/>
        <p:txBody>
          <a:bodyPr/>
          <a:lstStyle/>
          <a:p>
            <a:r>
              <a:t>The task — 13 seeds, one migration question</a:t>
            </a:r>
          </a:p>
        </p:txBody>
      </p:sp>
      <p:sp>
        <p:nvSpPr>
          <p:cNvPr id="10" name="Text Placeholder 9"/>
          <p:cNvSpPr>
            <a:spLocks noGrp="1"/>
          </p:cNvSpPr>
          <p:nvPr>
            <p:ph type="body" idx="17" sz="quarter"/>
          </p:nvPr>
        </p:nvSpPr>
        <p:spPr/>
        <p:txBody>
          <a:bodyPr/>
          <a:lstStyle/>
          <a:p>
            <a:r>
              <a:t>Methods</a:t>
            </a:r>
          </a:p>
        </p:txBody>
      </p:sp>
      <p:sp>
        <p:nvSpPr>
          <p:cNvPr id="11" name="Text Placeholder 10"/>
          <p:cNvSpPr>
            <a:spLocks noGrp="1"/>
          </p:cNvSpPr>
          <p:nvPr>
            <p:ph type="body" idx="18" sz="quarter"/>
          </p:nvPr>
        </p:nvSpPr>
        <p:spPr/>
        <p:txBody>
          <a:bodyPr/>
          <a:lstStyle/>
          <a:p>
            <a:r>
              <a:t>Usage map — full inventory in Z001</a:t>
            </a:r>
          </a:p>
        </p:txBody>
      </p:sp>
      <p:sp>
        <p:nvSpPr>
          <p:cNvPr id="12" name="Text Placeholder 11"/>
          <p:cNvSpPr>
            <a:spLocks noGrp="1"/>
          </p:cNvSpPr>
          <p:nvPr>
            <p:ph type="body" idx="19" sz="quarter"/>
          </p:nvPr>
        </p:nvSpPr>
        <p:spPr/>
        <p:txBody>
          <a:bodyPr/>
          <a:lstStyle/>
          <a:p>
            <a:r>
              <a:t>Analysis — by business domain</a:t>
            </a:r>
          </a:p>
        </p:txBody>
      </p:sp>
      <p:sp>
        <p:nvSpPr>
          <p:cNvPr id="13" name="Text Placeholder 12"/>
          <p:cNvSpPr>
            <a:spLocks noGrp="1"/>
          </p:cNvSpPr>
          <p:nvPr>
            <p:ph type="body" idx="20" sz="quarter"/>
          </p:nvPr>
        </p:nvSpPr>
        <p:spPr/>
        <p:txBody>
          <a:bodyPr/>
          <a:lstStyle/>
          <a:p>
            <a:r>
              <a:t>Result — migration handoff</a:t>
            </a:r>
          </a:p>
        </p:txBody>
      </p:sp>
      <p:sp>
        <p:nvSpPr>
          <p:cNvPr id="14" name="Text Placeholder 13"/>
          <p:cNvSpPr>
            <a:spLocks noGrp="1"/>
          </p:cNvSpPr>
          <p:nvPr>
            <p:ph type="body" idx="21" sz="quarter"/>
          </p:nvPr>
        </p:nvSpPr>
        <p:spPr/>
        <p:txBody>
          <a:bodyPr/>
          <a:lstStyle/>
          <a:p>
            <a:r>
              <a:t>Retro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Task</a:t>
            </a:r>
          </a:p>
        </p:txBody>
      </p:sp>
      <p:sp>
        <p:nvSpPr>
          <p:cNvPr id="3" name="Text Placeholder 2"/>
          <p:cNvSpPr>
            <a:spLocks noGrp="1"/>
          </p:cNvSpPr>
          <p:nvPr>
            <p:ph type="body" idx="10" sz="quarter"/>
          </p:nvPr>
        </p:nvSpPr>
        <p:spPr/>
        <p:txBody>
          <a:bodyPr/>
          <a:lstStyle/>
          <a:p>
            <a:r>
              <a:t>01</a:t>
            </a:r>
          </a:p>
        </p:txBody>
      </p:sp>
      <p:sp>
        <p:nvSpPr>
          <p:cNvPr id="4" name="Text Placeholder 3"/>
          <p:cNvSpPr>
            <a:spLocks noGrp="1"/>
          </p:cNvSpPr>
          <p:nvPr>
            <p:ph type="body" idx="16" sz="quarter"/>
          </p:nvPr>
        </p:nvSpPr>
        <p:spPr/>
        <p:txBody>
          <a:bodyPr/>
          <a:lstStyle/>
          <a:p>
            <a:r>
              <a:t>13 stakeholder-listed reports. One question: how does each one use SFTP? Output supports migration handoff — we do NOT design the replacement.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Goal and scope</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3566160" cy="24345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_1_BlockGrid:0:c_1_Block:Target" descr="image.png"/>
          <p:cNvPicPr>
            <a:picLocks noChangeAspect="1"/>
          </p:cNvPicPr>
          <p:nvPr/>
        </p:nvPicPr>
        <p:blipFill>
          <a:blip r:embed="rId2"/>
          <a:stretch>
            <a:fillRect/>
          </a:stretch>
        </p:blipFill>
        <p:spPr>
          <a:xfrm>
            <a:off x="1920240" y="1600200"/>
            <a:ext cx="640080" cy="640080"/>
          </a:xfrm>
          <a:prstGeom prst="rect">
            <a:avLst/>
          </a:prstGeom>
        </p:spPr>
      </p:pic>
      <p:sp>
        <p:nvSpPr>
          <p:cNvPr id="6" name="c_1_BlockGrid:0:c_1_Block:content"/>
          <p:cNvSpPr txBox="1"/>
          <p:nvPr/>
        </p:nvSpPr>
        <p:spPr>
          <a:xfrm>
            <a:off x="640080" y="2354580"/>
            <a:ext cx="3200400" cy="1405884"/>
          </a:xfrm>
          <a:prstGeom prst="rect">
            <a:avLst/>
          </a:prstGeom>
          <a:noFill/>
        </p:spPr>
        <p:txBody>
          <a:bodyPr wrap="square" lIns="0" rIns="0" tIns="0" bIns="0" anchor="t"/>
          <a:lstStyle/>
          <a:p>
            <a:pPr algn="ctr">
              <a:spcAft>
                <a:spcPts val="700"/>
              </a:spcAft>
            </a:pPr>
            <a:r>
              <a:rPr sz="1400" b="1">
                <a:solidFill>
                  <a:srgbClr val="0047FF"/>
                </a:solidFill>
              </a:rPr>
              <a:t>Goal</a:t>
            </a:r>
          </a:p>
          <a:p>
            <a:pPr algn="l" marL="228600" indent="-182880">
              <a:spcAft>
                <a:spcPts val="0"/>
              </a:spcAft>
              <a:buClr>
                <a:srgbClr val="000000"/>
              </a:buClr>
              <a:buChar char="•"/>
            </a:pPr>
            <a:r>
              <a:rPr sz="1400">
                <a:solidFill>
                  <a:srgbClr val="000000"/>
                </a:solidFill>
              </a:rPr>
              <a:t>SFTP verdict per seed (yes/no/unclear/not-found)</a:t>
            </a:r>
          </a:p>
          <a:p>
            <a:pPr algn="l" marL="228600" indent="-182880">
              <a:spcAft>
                <a:spcPts val="0"/>
              </a:spcAft>
              <a:buClr>
                <a:srgbClr val="000000"/>
              </a:buClr>
              <a:buChar char="•"/>
            </a:pPr>
            <a:r>
              <a:rPr sz="1400">
                <a:solidFill>
                  <a:srgbClr val="000000"/>
                </a:solidFill>
              </a:rPr>
              <a:t>For each yes: methods, direction, payload</a:t>
            </a:r>
          </a:p>
          <a:p>
            <a:pPr algn="l" marL="228600" indent="-182880">
              <a:spcAft>
                <a:spcPts val="0"/>
              </a:spcAft>
              <a:buClr>
                <a:srgbClr val="000000"/>
              </a:buClr>
              <a:buChar char="•"/>
            </a:pPr>
            <a:r>
              <a:rPr sz="1400">
                <a:solidFill>
                  <a:srgbClr val="000000"/>
                </a:solidFill>
              </a:rPr>
              <a:t>Blind spots called out explicitly</a:t>
            </a:r>
          </a:p>
        </p:txBody>
      </p:sp>
      <p:sp>
        <p:nvSpPr>
          <p:cNvPr id="7" name="c_1_BlockGrid:1:c_2_Block:container"/>
          <p:cNvSpPr/>
          <p:nvPr/>
        </p:nvSpPr>
        <p:spPr>
          <a:xfrm>
            <a:off x="4206240" y="1463040"/>
            <a:ext cx="3566160" cy="24345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c_1_BlockGrid:1:c_2_Block:Document_Checklist_3" descr="image.png"/>
          <p:cNvPicPr>
            <a:picLocks noChangeAspect="1"/>
          </p:cNvPicPr>
          <p:nvPr/>
        </p:nvPicPr>
        <p:blipFill>
          <a:blip r:embed="rId3"/>
          <a:stretch>
            <a:fillRect/>
          </a:stretch>
        </p:blipFill>
        <p:spPr>
          <a:xfrm>
            <a:off x="5669280" y="1600200"/>
            <a:ext cx="640080" cy="640080"/>
          </a:xfrm>
          <a:prstGeom prst="rect">
            <a:avLst/>
          </a:prstGeom>
        </p:spPr>
      </p:pic>
      <p:sp>
        <p:nvSpPr>
          <p:cNvPr id="9" name="c_1_BlockGrid:1:c_2_Block:content"/>
          <p:cNvSpPr txBox="1"/>
          <p:nvPr/>
        </p:nvSpPr>
        <p:spPr>
          <a:xfrm>
            <a:off x="4389120" y="2354580"/>
            <a:ext cx="3200400" cy="1186810"/>
          </a:xfrm>
          <a:prstGeom prst="rect">
            <a:avLst/>
          </a:prstGeom>
          <a:noFill/>
        </p:spPr>
        <p:txBody>
          <a:bodyPr wrap="square" lIns="0" rIns="0" tIns="0" bIns="0" anchor="t"/>
          <a:lstStyle/>
          <a:p>
            <a:pPr algn="ctr">
              <a:spcAft>
                <a:spcPts val="700"/>
              </a:spcAft>
            </a:pPr>
            <a:r>
              <a:rPr sz="1400" b="1">
                <a:solidFill>
                  <a:srgbClr val="A080DB"/>
                </a:solidFill>
              </a:rPr>
              <a:t>In scope</a:t>
            </a:r>
          </a:p>
          <a:p>
            <a:pPr algn="l" marL="228600" indent="-182880">
              <a:spcAft>
                <a:spcPts val="0"/>
              </a:spcAft>
              <a:buClr>
                <a:srgbClr val="000000"/>
              </a:buClr>
              <a:buChar char="•"/>
            </a:pPr>
            <a:r>
              <a:rPr sz="1400">
                <a:solidFill>
                  <a:srgbClr val="000000"/>
                </a:solidFill>
              </a:rPr>
              <a:t>Z* and /VERTEX/* in DS4_CLH</a:t>
            </a:r>
          </a:p>
          <a:p>
            <a:pPr algn="l" marL="228600" indent="-182880">
              <a:spcAft>
                <a:spcPts val="0"/>
              </a:spcAft>
              <a:buClr>
                <a:srgbClr val="000000"/>
              </a:buClr>
              <a:buChar char="•"/>
            </a:pPr>
            <a:r>
              <a:rPr sz="1400">
                <a:solidFill>
                  <a:srgbClr val="000000"/>
                </a:solidFill>
              </a:rPr>
              <a:t>13 seed objects</a:t>
            </a:r>
          </a:p>
          <a:p>
            <a:pPr algn="l" marL="228600" indent="-182880">
              <a:spcAft>
                <a:spcPts val="0"/>
              </a:spcAft>
              <a:buClr>
                <a:srgbClr val="000000"/>
              </a:buClr>
              <a:buChar char="•"/>
            </a:pPr>
            <a:r>
              <a:rPr sz="1400">
                <a:solidFill>
                  <a:srgbClr val="000000"/>
                </a:solidFill>
              </a:rPr>
              <a:t>Where-used traversal from confirmed SFTP</a:t>
            </a:r>
          </a:p>
        </p:txBody>
      </p:sp>
      <p:sp>
        <p:nvSpPr>
          <p:cNvPr id="10" name="c_1_BlockGrid:2:c_3_Block:container"/>
          <p:cNvSpPr/>
          <p:nvPr/>
        </p:nvSpPr>
        <p:spPr>
          <a:xfrm>
            <a:off x="7955280" y="1463040"/>
            <a:ext cx="3566160" cy="243458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c_1_BlockGrid:2:c_3_Block:X_Mark_Circle_1" descr="image.png"/>
          <p:cNvPicPr>
            <a:picLocks noChangeAspect="1"/>
          </p:cNvPicPr>
          <p:nvPr/>
        </p:nvPicPr>
        <p:blipFill>
          <a:blip r:embed="rId4"/>
          <a:stretch>
            <a:fillRect/>
          </a:stretch>
        </p:blipFill>
        <p:spPr>
          <a:xfrm>
            <a:off x="9418320" y="1600200"/>
            <a:ext cx="640080" cy="640080"/>
          </a:xfrm>
          <a:prstGeom prst="rect">
            <a:avLst/>
          </a:prstGeom>
        </p:spPr>
      </p:pic>
      <p:sp>
        <p:nvSpPr>
          <p:cNvPr id="12" name="c_1_BlockGrid:2:c_3_Block:content"/>
          <p:cNvSpPr txBox="1"/>
          <p:nvPr/>
        </p:nvSpPr>
        <p:spPr>
          <a:xfrm>
            <a:off x="8138160" y="2354580"/>
            <a:ext cx="3200400" cy="1405884"/>
          </a:xfrm>
          <a:prstGeom prst="rect">
            <a:avLst/>
          </a:prstGeom>
          <a:noFill/>
        </p:spPr>
        <p:txBody>
          <a:bodyPr wrap="square" lIns="0" rIns="0" tIns="0" bIns="0" anchor="t"/>
          <a:lstStyle/>
          <a:p>
            <a:pPr algn="ctr">
              <a:spcAft>
                <a:spcPts val="700"/>
              </a:spcAft>
            </a:pPr>
            <a:r>
              <a:rPr sz="1400" b="1">
                <a:solidFill>
                  <a:srgbClr val="0078C2"/>
                </a:solidFill>
              </a:rPr>
              <a:t>Out of scope</a:t>
            </a:r>
          </a:p>
          <a:p>
            <a:pPr algn="l" marL="228600" indent="-182880">
              <a:spcAft>
                <a:spcPts val="0"/>
              </a:spcAft>
              <a:buClr>
                <a:srgbClr val="000000"/>
              </a:buClr>
              <a:buChar char="•"/>
            </a:pPr>
            <a:r>
              <a:rPr sz="1400">
                <a:solidFill>
                  <a:srgbClr val="000000"/>
                </a:solidFill>
              </a:rPr>
              <a:t>Replacement design / target API selection</a:t>
            </a:r>
          </a:p>
          <a:p>
            <a:pPr algn="l" marL="228600" indent="-182880">
              <a:spcAft>
                <a:spcPts val="0"/>
              </a:spcAft>
              <a:buClr>
                <a:srgbClr val="000000"/>
              </a:buClr>
              <a:buChar char="•"/>
            </a:pPr>
            <a:r>
              <a:rPr sz="1400">
                <a:solidFill>
                  <a:srgbClr val="000000"/>
                </a:solidFill>
              </a:rPr>
              <a:t>IDoc, OData, EDI (unless they explain a usage site)</a:t>
            </a:r>
          </a:p>
          <a:p>
            <a:pPr algn="l" marL="228600" indent="-182880">
              <a:spcAft>
                <a:spcPts val="0"/>
              </a:spcAft>
              <a:buClr>
                <a:srgbClr val="000000"/>
              </a:buClr>
              <a:buChar char="•"/>
            </a:pPr>
            <a:r>
              <a:rPr sz="1400">
                <a:solidFill>
                  <a:srgbClr val="000000"/>
                </a:solidFill>
              </a:rPr>
              <a:t>SAP standard namespace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seeds. One destination. SmartAgent over MCP.</a:t>
            </a:r>
          </a:p>
        </p:txBody>
      </p:sp>
      <p:sp>
        <p:nvSpPr>
          <p:cNvPr id="3" name="Text Placeholder 2"/>
          <p:cNvSpPr>
            <a:spLocks noGrp="1"/>
          </p:cNvSpPr>
          <p:nvPr>
            <p:ph type="body" idx="15" sz="quarter"/>
          </p:nvPr>
        </p:nvSpPr>
        <p:spPr/>
        <p:txBody>
          <a:bodyPr/>
          <a:lstStyle/>
          <a:p>
            <a:r>
              <a:t>HOW THE RUN WAS WIRED</a:t>
            </a:r>
          </a:p>
        </p:txBody>
      </p:sp>
      <p:sp>
        <p:nvSpPr>
          <p:cNvPr id="4"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_1_Block:container"/>
          <p:cNvSpPr/>
          <p:nvPr/>
        </p:nvSpPr>
        <p:spPr>
          <a:xfrm>
            <a:off x="457200" y="1463040"/>
            <a:ext cx="539496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_1_Block:metric"/>
          <p:cNvSpPr txBox="1"/>
          <p:nvPr/>
        </p:nvSpPr>
        <p:spPr>
          <a:xfrm>
            <a:off x="640080" y="1600200"/>
            <a:ext cx="5029200" cy="408939"/>
          </a:xfrm>
          <a:prstGeom prst="rect">
            <a:avLst/>
          </a:prstGeom>
          <a:noFill/>
        </p:spPr>
        <p:txBody>
          <a:bodyPr wrap="none" lIns="0" rIns="0" tIns="0" bIns="0">
            <a:spAutoFit/>
          </a:bodyPr>
          <a:lstStyle/>
          <a:p>
            <a:pPr algn="ctr"/>
            <a:r>
              <a:rPr sz="2800" b="1">
                <a:solidFill>
                  <a:srgbClr val="E06C00"/>
                </a:solidFill>
              </a:rPr>
              <a:t>13</a:t>
            </a:r>
          </a:p>
        </p:txBody>
      </p:sp>
      <p:sp>
        <p:nvSpPr>
          <p:cNvPr id="7" name="c_1_Block:content"/>
          <p:cNvSpPr txBox="1"/>
          <p:nvPr/>
        </p:nvSpPr>
        <p:spPr>
          <a:xfrm>
            <a:off x="640080" y="2077719"/>
            <a:ext cx="5029200" cy="219074"/>
          </a:xfrm>
          <a:prstGeom prst="rect">
            <a:avLst/>
          </a:prstGeom>
          <a:noFill/>
        </p:spPr>
        <p:txBody>
          <a:bodyPr wrap="square" lIns="0" rIns="0" tIns="0" bIns="0" anchor="t"/>
          <a:lstStyle/>
          <a:p>
            <a:pPr algn="ctr"/>
            <a:r>
              <a:rPr sz="1400">
                <a:solidFill>
                  <a:srgbClr val="000000"/>
                </a:solidFill>
              </a:rPr>
              <a:t>stakeholder-listed seeds (corrected mid-run)</a:t>
            </a:r>
          </a:p>
        </p:txBody>
      </p:sp>
      <p:sp>
        <p:nvSpPr>
          <p:cNvPr id="8" name="c_2_Block"/>
          <p:cNvSpPr/>
          <p:nvPr/>
        </p:nvSpPr>
        <p:spPr>
          <a:xfrm>
            <a:off x="6126480" y="1463040"/>
            <a:ext cx="5394960" cy="2240280"/>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500"/>
              </a:spcAft>
            </a:pPr>
            <a:r>
              <a:rPr sz="1400" b="1">
                <a:solidFill>
                  <a:srgbClr val="FFFFFF"/>
                </a:solidFill>
              </a:rPr>
              <a:t>Transport</a:t>
            </a:r>
          </a:p>
          <a:p>
            <a:pPr algn="l" marL="228600" indent="-182880">
              <a:spcAft>
                <a:spcPts val="0"/>
              </a:spcAft>
              <a:buClr>
                <a:srgbClr val="FFFFFF"/>
              </a:buClr>
              <a:buChar char="•"/>
            </a:pPr>
            <a:r>
              <a:rPr sz="1400" b="1">
                <a:solidFill>
                  <a:srgbClr val="FFFFFF"/>
                </a:solidFill>
              </a:rPr>
              <a:t>/v1/chat/completions</a:t>
            </a:r>
            <a:r>
              <a:rPr sz="1400">
                <a:solidFill>
                  <a:srgbClr val="FFFFFF"/>
                </a:solidFill>
              </a:rPr>
              <a:t> via local MCP proxy</a:t>
            </a:r>
          </a:p>
          <a:p>
            <a:pPr algn="l" marL="228600" indent="-182880">
              <a:spcAft>
                <a:spcPts val="0"/>
              </a:spcAft>
              <a:buClr>
                <a:srgbClr val="FFFFFF"/>
              </a:buClr>
              <a:buChar char="•"/>
            </a:pPr>
            <a:r>
              <a:rPr sz="1400">
                <a:solidFill>
                  <a:srgbClr val="FFFFFF"/>
                </a:solidFill>
              </a:rPr>
              <a:t>Header </a:t>
            </a:r>
            <a:r>
              <a:rPr sz="1400" b="1">
                <a:solidFill>
                  <a:srgbClr val="FFFFFF"/>
                </a:solidFill>
              </a:rPr>
              <a:t>x-sap-destination: DS4_CLH</a:t>
            </a:r>
          </a:p>
        </p:txBody>
      </p:sp>
      <p:sp>
        <p:nvSpPr>
          <p:cNvPr id="9" name="c_3_Block"/>
          <p:cNvSpPr/>
          <p:nvPr/>
        </p:nvSpPr>
        <p:spPr>
          <a:xfrm>
            <a:off x="6126480" y="3886200"/>
            <a:ext cx="5394960" cy="2240280"/>
          </a:xfrm>
          <a:prstGeom prst="rect">
            <a:avLst/>
          </a:prstGeom>
          <a:gradFill rotWithShape="1">
            <a:gsLst>
              <a:gs pos="0">
                <a:srgbClr val="0D6976"/>
              </a:gs>
              <a:gs pos="100000">
                <a:srgbClr val="1292A3"/>
              </a:gs>
            </a:gsLst>
            <a:lin ang="16200000" scaled="0"/>
          </a:gradFill>
          <a:ln w="3175">
            <a:solidFill>
              <a:srgbClr val="303B3D"/>
            </a:solidFill>
          </a:ln>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500"/>
              </a:spcAft>
            </a:pPr>
            <a:r>
              <a:rPr sz="1400" b="1">
                <a:solidFill>
                  <a:srgbClr val="FFFFFF"/>
                </a:solidFill>
              </a:rPr>
              <a:t>Provider</a:t>
            </a:r>
          </a:p>
          <a:p>
            <a:pPr algn="l" marL="228600" indent="-182880">
              <a:spcAft>
                <a:spcPts val="0"/>
              </a:spcAft>
              <a:buClr>
                <a:srgbClr val="FFFFFF"/>
              </a:buClr>
              <a:buChar char="•"/>
            </a:pPr>
            <a:r>
              <a:rPr sz="1400">
                <a:solidFill>
                  <a:srgbClr val="FFFFFF"/>
                </a:solidFill>
              </a:rPr>
              <a:t>OpenAI gpt-5.2 / gpt-5.5-pro on ai-applications subaccount</a:t>
            </a:r>
          </a:p>
          <a:p>
            <a:pPr algn="l" marL="228600" indent="-182880">
              <a:spcAft>
                <a:spcPts val="0"/>
              </a:spcAft>
              <a:buClr>
                <a:srgbClr val="FFFFFF"/>
              </a:buClr>
              <a:buChar char="•"/>
            </a:pPr>
            <a:r>
              <a:rPr sz="1400">
                <a:solidFill>
                  <a:srgbClr val="FFFFFF"/>
                </a:solidFill>
              </a:rPr>
              <a:t>Anthropic not available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Stage 2 read every seed and its includes. Stage 2b enumerated methods openly. One mechanism kept showing up.</a:t>
            </a:r>
          </a:p>
        </p:txBody>
      </p:sp>
      <p:sp>
        <p:nvSpPr>
          <p:cNvPr id="3" name="Title 2"/>
          <p:cNvSpPr>
            <a:spLocks noGrp="1"/>
          </p:cNvSpPr>
          <p:nvPr>
            <p:ph type="title"/>
          </p:nvPr>
        </p:nvSpPr>
        <p:spPr/>
        <p:txBody>
          <a:bodyPr/>
          <a:lstStyle/>
          <a:p>
            <a:r>
              <a:t>Methods</a:t>
            </a:r>
          </a:p>
        </p:txBody>
      </p:sp>
      <p:sp>
        <p:nvSpPr>
          <p:cNvPr id="4" name="Text Placeholder 3"/>
          <p:cNvSpPr>
            <a:spLocks noGrp="1"/>
          </p:cNvSpPr>
          <p:nvPr>
            <p:ph type="body" idx="11" sz="quarter"/>
          </p:nvPr>
        </p:nvSpPr>
        <p:spPr/>
        <p:txBody>
          <a:bodyPr/>
          <a:lstStyle/>
          <a:p>
            <a:r>
              <a:t>02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Stage 2 verdicts</a:t>
            </a:r>
          </a:p>
        </p:txBody>
      </p:sp>
      <p:sp>
        <p:nvSpPr>
          <p:cNvPr id="3" name="Text Placeholder 2"/>
          <p:cNvSpPr>
            <a:spLocks noGrp="1"/>
          </p:cNvSpPr>
          <p:nvPr>
            <p:ph type="body" idx="15" sz="quarter"/>
          </p:nvPr>
        </p:nvSpPr>
        <p:spPr/>
        <p:txBody>
          <a:bodyPr/>
          <a:lstStyle/>
          <a:p>
            <a:r>
              <a:t>By verdict</a:t>
            </a:r>
          </a:p>
        </p:txBody>
      </p:sp>
      <p:sp>
        <p:nvSpPr>
          <p:cNvPr id="4" name="ContentArea"/>
          <p:cNvSpPr/>
          <p:nvPr/>
        </p:nvSpPr>
        <p:spPr>
          <a:xfrm>
            <a:off x="457200" y="1463040"/>
            <a:ext cx="7090137" cy="4710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ntentArea"/>
          <p:cNvSpPr/>
          <p:nvPr/>
        </p:nvSpPr>
        <p:spPr>
          <a:xfrm>
            <a:off x="8267337" y="1463040"/>
            <a:ext cx="3465063" cy="4710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_1_Block:container"/>
          <p:cNvSpPr/>
          <p:nvPr/>
        </p:nvSpPr>
        <p:spPr>
          <a:xfrm>
            <a:off x="457200" y="1463040"/>
            <a:ext cx="7090137" cy="97091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_1_Block:metric"/>
          <p:cNvSpPr txBox="1"/>
          <p:nvPr/>
        </p:nvSpPr>
        <p:spPr>
          <a:xfrm>
            <a:off x="640080" y="1600200"/>
            <a:ext cx="6724377" cy="408939"/>
          </a:xfrm>
          <a:prstGeom prst="rect">
            <a:avLst/>
          </a:prstGeom>
          <a:noFill/>
        </p:spPr>
        <p:txBody>
          <a:bodyPr wrap="none" lIns="0" rIns="0" tIns="0" bIns="0">
            <a:spAutoFit/>
          </a:bodyPr>
          <a:lstStyle/>
          <a:p>
            <a:pPr algn="ctr"/>
            <a:r>
              <a:rPr sz="2800" b="1">
                <a:solidFill>
                  <a:srgbClr val="E06C00"/>
                </a:solidFill>
              </a:rPr>
              <a:t>8 / 13</a:t>
            </a:r>
          </a:p>
        </p:txBody>
      </p:sp>
      <p:sp>
        <p:nvSpPr>
          <p:cNvPr id="8" name="c_1_Block:content"/>
          <p:cNvSpPr txBox="1"/>
          <p:nvPr/>
        </p:nvSpPr>
        <p:spPr>
          <a:xfrm>
            <a:off x="640080" y="2077719"/>
            <a:ext cx="6724377" cy="219074"/>
          </a:xfrm>
          <a:prstGeom prst="rect">
            <a:avLst/>
          </a:prstGeom>
          <a:noFill/>
        </p:spPr>
        <p:txBody>
          <a:bodyPr wrap="square" lIns="0" rIns="0" tIns="0" bIns="0" anchor="t"/>
          <a:lstStyle/>
          <a:p>
            <a:pPr algn="ctr"/>
            <a:r>
              <a:rPr sz="1400">
                <a:solidFill>
                  <a:srgbClr val="000000"/>
                </a:solidFill>
              </a:rPr>
              <a:t>seeds confirmed as SFTP callers</a:t>
            </a:r>
          </a:p>
        </p:txBody>
      </p:sp>
      <p:sp>
        <p:nvSpPr>
          <p:cNvPr id="9" name="c_1_BlockGrid:0:c_2_Block"/>
          <p:cNvSpPr/>
          <p:nvPr/>
        </p:nvSpPr>
        <p:spPr>
          <a:xfrm>
            <a:off x="8267337" y="1463040"/>
            <a:ext cx="3465063" cy="744854"/>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400" b="1">
                <a:solidFill>
                  <a:srgbClr val="FFFFFF"/>
                </a:solidFill>
              </a:rPr>
              <a:t>yes</a:t>
            </a:r>
          </a:p>
          <a:p>
            <a:pPr algn="l"/>
            <a:r>
              <a:rPr sz="1100">
                <a:solidFill>
                  <a:srgbClr val="FFFFFF"/>
                </a:solidFill>
              </a:rPr>
              <a:t>8 — confirmed SFTP callers</a:t>
            </a:r>
          </a:p>
        </p:txBody>
      </p:sp>
      <p:sp>
        <p:nvSpPr>
          <p:cNvPr id="10" name="c_1_BlockGrid:1:c_3_Block"/>
          <p:cNvSpPr/>
          <p:nvPr/>
        </p:nvSpPr>
        <p:spPr>
          <a:xfrm>
            <a:off x="8267337" y="2326766"/>
            <a:ext cx="3465063" cy="744854"/>
          </a:xfrm>
          <a:prstGeom prst="rect">
            <a:avLst/>
          </a:prstGeom>
          <a:gradFill rotWithShape="1">
            <a:gsLst>
              <a:gs pos="0">
                <a:srgbClr val="916CD5"/>
              </a:gs>
              <a:gs pos="100000">
                <a:srgbClr val="AE93E0"/>
              </a:gs>
            </a:gsLst>
            <a:lin ang="16200000" scaled="0"/>
          </a:gradFill>
          <a:ln w="3175">
            <a:solidFill>
              <a:srgbClr val="766F83"/>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400" b="1">
                <a:solidFill>
                  <a:srgbClr val="000000"/>
                </a:solidFill>
              </a:rPr>
              <a:t>no</a:t>
            </a:r>
          </a:p>
          <a:p>
            <a:pPr algn="l"/>
            <a:r>
              <a:rPr sz="1100">
                <a:solidFill>
                  <a:srgbClr val="000000"/>
                </a:solidFill>
              </a:rPr>
              <a:t>5 — local file I/O only</a:t>
            </a:r>
          </a:p>
        </p:txBody>
      </p:sp>
      <p:graphicFrame>
        <p:nvGraphicFramePr>
          <p:cNvPr id="11" name="c_1_BlockGrid:2:c_4_Block"/>
          <p:cNvGraphicFramePr>
            <a:graphicFrameLocks noGrp="1"/>
          </p:cNvGraphicFramePr>
          <p:nvPr/>
        </p:nvGraphicFramePr>
        <p:xfrm>
          <a:off x="8267337" y="3190492"/>
          <a:ext cx="3465063" cy="457200"/>
        </p:xfrm>
        <a:graphic>
          <a:graphicData uri="http://schemas.openxmlformats.org/drawingml/2006/table">
            <a:tbl>
              <a:tblPr firstRow="0" bandRow="0" lastRow="0" firstCol="0" lastCol="0" bandCol="0"/>
              <a:tblGrid>
                <a:gridCol w="3465063"/>
              </a:tblGrid>
              <a:tr h="457200">
                <a:tc>
                  <a:txBody>
                    <a:bodyPr wrap="square"/>
                    <a:lstStyle/>
                    <a:p>
                      <a:pPr algn="l"/>
                      <a:r>
                        <a:rPr sz="1100">
                          <a:solidFill>
                            <a:srgbClr val="000000"/>
                          </a:solidFill>
                        </a:rPr>
                        <a:t>All 13 verdicts source-cited in 02-methods.md.</a:t>
                      </a:r>
                    </a:p>
                  </a:txBody>
                  <a:tcPr marL="179720" marR="182880" marT="73152" marB="137160" anchor="t">
                    <a:lnL w="73152" cap="flat" cmpd="sng">
                      <a:solidFill>
                        <a:srgbClr val="898989"/>
                      </a:solidFill>
                      <a:prstDash val="solid"/>
                    </a:lnL>
                    <a:lnR>
                      <a:noFill/>
                    </a:lnR>
                    <a:lnT>
                      <a:noFill/>
                    </a:lnT>
                    <a:lnB>
                      <a:noFill/>
                    </a:lnB>
                    <a:solidFill>
                      <a:srgbClr val="FCFCFC"/>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SXPG_COMMAND_EXECUTE → SM69 → OS sftp/scp</a:t>
            </a:r>
          </a:p>
        </p:txBody>
      </p:sp>
      <p:sp>
        <p:nvSpPr>
          <p:cNvPr id="3" name="Text Placeholder 2"/>
          <p:cNvSpPr>
            <a:spLocks noGrp="1"/>
          </p:cNvSpPr>
          <p:nvPr>
            <p:ph type="body" idx="15" sz="quarter"/>
          </p:nvPr>
        </p:nvSpPr>
        <p:spPr/>
        <p:txBody>
          <a:bodyPr/>
          <a:lstStyle/>
          <a:p>
            <a:r>
              <a:t>SAME SHAPE, EVERY TIME</a:t>
            </a:r>
          </a:p>
        </p:txBody>
      </p:sp>
      <p:sp>
        <p:nvSpPr>
          <p:cNvPr id="4"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_1_BlockProcess:block0:c_1_Block"/>
          <p:cNvSpPr/>
          <p:nvPr/>
        </p:nvSpPr>
        <p:spPr>
          <a:xfrm>
            <a:off x="457200" y="1463040"/>
            <a:ext cx="2423160" cy="2743200"/>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1. ABAP report</a:t>
            </a:r>
          </a:p>
          <a:p>
            <a:pPr algn="l"/>
            <a:r>
              <a:rPr sz="1400">
                <a:solidFill>
                  <a:srgbClr val="FFFFFF"/>
                </a:solidFill>
              </a:rPr>
              <a:t>Z* report initiates the call from the customer estate.</a:t>
            </a:r>
          </a:p>
        </p:txBody>
      </p:sp>
      <p:sp>
        <p:nvSpPr>
          <p:cNvPr id="6" name="c_1_BlockProcess:arrow0"/>
          <p:cNvSpPr/>
          <p:nvPr/>
        </p:nvSpPr>
        <p:spPr>
          <a:xfrm>
            <a:off x="2972160" y="2663640"/>
            <a:ext cx="273600" cy="342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_1_BlockProcess:block1:c_2_Block"/>
          <p:cNvSpPr/>
          <p:nvPr/>
        </p:nvSpPr>
        <p:spPr>
          <a:xfrm>
            <a:off x="3337560" y="1463040"/>
            <a:ext cx="2423160" cy="2743200"/>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2. Read zfi_constants</a:t>
            </a:r>
          </a:p>
          <a:p>
            <a:pPr algn="l"/>
            <a:r>
              <a:rPr sz="1400">
                <a:solidFill>
                  <a:srgbClr val="FFFFFF"/>
                </a:solidFill>
              </a:rPr>
              <a:t>FTP_USER / HOST_KEY / PRIVATE_KEY_PATH / …</a:t>
            </a:r>
          </a:p>
        </p:txBody>
      </p:sp>
      <p:sp>
        <p:nvSpPr>
          <p:cNvPr id="8" name="c_1_BlockProcess:arrow1"/>
          <p:cNvSpPr/>
          <p:nvPr/>
        </p:nvSpPr>
        <p:spPr>
          <a:xfrm>
            <a:off x="5852520" y="2663640"/>
            <a:ext cx="273600" cy="342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_1_BlockProcess:block2:c_3_Block"/>
          <p:cNvSpPr/>
          <p:nvPr/>
        </p:nvSpPr>
        <p:spPr>
          <a:xfrm>
            <a:off x="6217920" y="1463040"/>
            <a:ext cx="2423160" cy="2743200"/>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3. SXPG_COMMAND_EXECUTE</a:t>
            </a:r>
          </a:p>
          <a:p>
            <a:pPr algn="l"/>
            <a:r>
              <a:rPr sz="1400">
                <a:solidFill>
                  <a:srgbClr val="FFFFFF"/>
                </a:solidFill>
              </a:rPr>
              <a:t>CALL FUNCTION with the prepared parameter set.</a:t>
            </a:r>
          </a:p>
        </p:txBody>
      </p:sp>
      <p:sp>
        <p:nvSpPr>
          <p:cNvPr id="10" name="c_1_BlockProcess:arrow2"/>
          <p:cNvSpPr/>
          <p:nvPr/>
        </p:nvSpPr>
        <p:spPr>
          <a:xfrm>
            <a:off x="8732880" y="2663640"/>
            <a:ext cx="273600" cy="342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_1_BlockProcess:block3:c_4_Block"/>
          <p:cNvSpPr/>
          <p:nvPr/>
        </p:nvSpPr>
        <p:spPr>
          <a:xfrm>
            <a:off x="9098280" y="1463040"/>
            <a:ext cx="2423160" cy="2743200"/>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4. SM69 → OS</a:t>
            </a:r>
          </a:p>
          <a:p>
            <a:pPr algn="l"/>
            <a:r>
              <a:rPr sz="1400">
                <a:solidFill>
                  <a:srgbClr val="FFFFFF"/>
                </a:solidFill>
              </a:rPr>
              <a:t>SM69 entry runs sftp/scp binary to the remote endpoint.</a:t>
            </a:r>
          </a:p>
        </p:txBody>
      </p:sp>
      <p:graphicFrame>
        <p:nvGraphicFramePr>
          <p:cNvPr id="12" name="c_5_Block"/>
          <p:cNvGraphicFramePr>
            <a:graphicFrameLocks noGrp="1"/>
          </p:cNvGraphicFramePr>
          <p:nvPr/>
        </p:nvGraphicFramePr>
        <p:xfrm>
          <a:off x="457200" y="4663440"/>
          <a:ext cx="11064240" cy="457200"/>
        </p:xfrm>
        <a:graphic>
          <a:graphicData uri="http://schemas.openxmlformats.org/drawingml/2006/table">
            <a:tbl>
              <a:tblPr firstRow="0" bandRow="0" lastRow="0" firstCol="0" lastCol="0" bandCol="0"/>
              <a:tblGrid>
                <a:gridCol w="11064240"/>
              </a:tblGrid>
              <a:tr h="457200">
                <a:tc>
                  <a:txBody>
                    <a:bodyPr wrap="square"/>
                    <a:lstStyle/>
                    <a:p>
                      <a:pPr algn="l"/>
                      <a:r>
                        <a:rPr sz="1100">
                          <a:solidFill>
                            <a:srgbClr val="000000"/>
                          </a:solidFill>
                        </a:rPr>
                        <a:t>Every confirmed SFTP report reduces to this pattern.</a:t>
                      </a:r>
                    </a:p>
                  </a:txBody>
                  <a:tcPr marL="179720" marR="182880" marT="73152" marB="137160" anchor="t">
                    <a:lnL w="73152" cap="flat" cmpd="sng">
                      <a:solidFill>
                        <a:srgbClr val="E06C00"/>
                      </a:solidFill>
                      <a:prstDash val="solid"/>
                    </a:lnL>
                    <a:lnR>
                      <a:noFill/>
                    </a:lnR>
                    <a:lnT>
                      <a:noFill/>
                    </a:lnT>
                    <a:lnB>
                      <a:noFill/>
                    </a:lnB>
                    <a:solidFill>
                      <a:srgbClr val="FCFC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auth shapes the migration must support</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5440680" cy="3657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_1_BlockGrid:0:c_1_Block:Window_Lock" descr="image.png"/>
          <p:cNvPicPr>
            <a:picLocks noChangeAspect="1"/>
          </p:cNvPicPr>
          <p:nvPr/>
        </p:nvPicPr>
        <p:blipFill>
          <a:blip r:embed="rId2"/>
          <a:stretch>
            <a:fillRect/>
          </a:stretch>
        </p:blipFill>
        <p:spPr>
          <a:xfrm>
            <a:off x="640080" y="2971800"/>
            <a:ext cx="640080" cy="640080"/>
          </a:xfrm>
          <a:prstGeom prst="rect">
            <a:avLst/>
          </a:prstGeom>
        </p:spPr>
      </p:pic>
      <p:sp>
        <p:nvSpPr>
          <p:cNvPr id="6" name="c_1_BlockGrid:0:c_1_Block:content"/>
          <p:cNvSpPr txBox="1"/>
          <p:nvPr/>
        </p:nvSpPr>
        <p:spPr>
          <a:xfrm>
            <a:off x="1600200" y="1600200"/>
            <a:ext cx="4114800" cy="950594"/>
          </a:xfrm>
          <a:prstGeom prst="rect">
            <a:avLst/>
          </a:prstGeom>
          <a:noFill/>
        </p:spPr>
        <p:txBody>
          <a:bodyPr wrap="square" lIns="0" rIns="0" tIns="0" bIns="0" anchor="t"/>
          <a:lstStyle/>
          <a:p>
            <a:pPr algn="l">
              <a:spcAft>
                <a:spcPts val="700"/>
              </a:spcAft>
            </a:pPr>
            <a:r>
              <a:rPr sz="1400" b="1">
                <a:solidFill>
                  <a:srgbClr val="0047FF"/>
                </a:solidFill>
              </a:rPr>
              <a:t>Key-based (modern)</a:t>
            </a:r>
          </a:p>
          <a:p>
            <a:pPr algn="l" marL="228600" indent="-182880">
              <a:spcAft>
                <a:spcPts val="0"/>
              </a:spcAft>
              <a:buClr>
                <a:srgbClr val="000000"/>
              </a:buClr>
              <a:buChar char="•"/>
            </a:pPr>
            <a:r>
              <a:rPr sz="1100">
                <a:solidFill>
                  <a:srgbClr val="000000"/>
                </a:solidFill>
              </a:rPr>
              <a:t>FTP_USER, FTP_DOMAIN</a:t>
            </a:r>
          </a:p>
          <a:p>
            <a:pPr algn="l" marL="228600" indent="-182880">
              <a:spcAft>
                <a:spcPts val="0"/>
              </a:spcAft>
              <a:buClr>
                <a:srgbClr val="000000"/>
              </a:buClr>
              <a:buChar char="•"/>
            </a:pPr>
            <a:r>
              <a:rPr sz="1100">
                <a:solidFill>
                  <a:srgbClr val="000000"/>
                </a:solidFill>
              </a:rPr>
              <a:t>HOST_KEY, PRIVATE_KEY_PATH, PASSPHRASE</a:t>
            </a:r>
          </a:p>
          <a:p>
            <a:pPr algn="l" marL="228600" indent="-182880">
              <a:spcAft>
                <a:spcPts val="0"/>
              </a:spcAft>
              <a:buClr>
                <a:srgbClr val="000000"/>
              </a:buClr>
              <a:buChar char="•"/>
            </a:pPr>
            <a:r>
              <a:rPr sz="1100">
                <a:solidFill>
                  <a:srgbClr val="000000"/>
                </a:solidFill>
              </a:rPr>
              <a:t>Optional: FTP_PORT, FOLDER_PATH, FILE_EXT</a:t>
            </a:r>
          </a:p>
          <a:p>
            <a:pPr algn="l" marL="228600" indent="-182880">
              <a:spcAft>
                <a:spcPts val="0"/>
              </a:spcAft>
              <a:buClr>
                <a:srgbClr val="000000"/>
              </a:buClr>
              <a:buChar char="•"/>
            </a:pPr>
            <a:r>
              <a:rPr sz="1100">
                <a:solidFill>
                  <a:srgbClr val="000000"/>
                </a:solidFill>
              </a:rPr>
              <a:t>13 of 14 direct reports + both wrapper FUGRs</a:t>
            </a:r>
          </a:p>
        </p:txBody>
      </p:sp>
      <p:sp>
        <p:nvSpPr>
          <p:cNvPr id="7" name="c_1_BlockGrid:1:c_2_Block:container"/>
          <p:cNvSpPr/>
          <p:nvPr/>
        </p:nvSpPr>
        <p:spPr>
          <a:xfrm>
            <a:off x="6080760" y="1463040"/>
            <a:ext cx="5440680" cy="3657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c_1_BlockGrid:1:c_2_Block:X_Mark_Box_1" descr="image.png"/>
          <p:cNvPicPr>
            <a:picLocks noChangeAspect="1"/>
          </p:cNvPicPr>
          <p:nvPr/>
        </p:nvPicPr>
        <p:blipFill>
          <a:blip r:embed="rId3"/>
          <a:stretch>
            <a:fillRect/>
          </a:stretch>
        </p:blipFill>
        <p:spPr>
          <a:xfrm>
            <a:off x="6263640" y="2971800"/>
            <a:ext cx="640080" cy="640080"/>
          </a:xfrm>
          <a:prstGeom prst="rect">
            <a:avLst/>
          </a:prstGeom>
        </p:spPr>
      </p:pic>
      <p:sp>
        <p:nvSpPr>
          <p:cNvPr id="9" name="c_1_BlockGrid:1:c_2_Block:content"/>
          <p:cNvSpPr txBox="1"/>
          <p:nvPr/>
        </p:nvSpPr>
        <p:spPr>
          <a:xfrm>
            <a:off x="7223760" y="1600200"/>
            <a:ext cx="4114800" cy="950594"/>
          </a:xfrm>
          <a:prstGeom prst="rect">
            <a:avLst/>
          </a:prstGeom>
          <a:noFill/>
        </p:spPr>
        <p:txBody>
          <a:bodyPr wrap="square" lIns="0" rIns="0" tIns="0" bIns="0" anchor="t"/>
          <a:lstStyle/>
          <a:p>
            <a:pPr algn="l">
              <a:spcAft>
                <a:spcPts val="700"/>
              </a:spcAft>
            </a:pPr>
            <a:r>
              <a:rPr sz="1400" b="1">
                <a:solidFill>
                  <a:srgbClr val="A080DB"/>
                </a:solidFill>
              </a:rPr>
              <a:t>Password-based (legacy)</a:t>
            </a:r>
          </a:p>
          <a:p>
            <a:pPr algn="l" marL="228600" indent="-182880">
              <a:spcAft>
                <a:spcPts val="0"/>
              </a:spcAft>
              <a:buClr>
                <a:srgbClr val="000000"/>
              </a:buClr>
              <a:buChar char="•"/>
            </a:pPr>
            <a:r>
              <a:rPr sz="1100">
                <a:solidFill>
                  <a:srgbClr val="000000"/>
                </a:solidFill>
              </a:rPr>
              <a:t>FTP_USER, FTP_PSWD, FTP_DOMAIN</a:t>
            </a:r>
          </a:p>
          <a:p>
            <a:pPr algn="l" marL="228600" indent="-182880">
              <a:spcAft>
                <a:spcPts val="0"/>
              </a:spcAft>
              <a:buClr>
                <a:srgbClr val="000000"/>
              </a:buClr>
              <a:buChar char="•"/>
            </a:pPr>
            <a:r>
              <a:rPr sz="1100">
                <a:solidFill>
                  <a:srgbClr val="000000"/>
                </a:solidFill>
              </a:rPr>
              <a:t>FTP_PORT, HOST_KEY (still)</a:t>
            </a:r>
          </a:p>
          <a:p>
            <a:pPr algn="l" marL="228600" indent="-182880">
              <a:spcAft>
                <a:spcPts val="0"/>
              </a:spcAft>
              <a:buClr>
                <a:srgbClr val="000000"/>
              </a:buClr>
              <a:buChar char="•"/>
            </a:pPr>
            <a:r>
              <a:rPr sz="1100">
                <a:solidFill>
                  <a:srgbClr val="000000"/>
                </a:solidFill>
              </a:rPr>
              <a:t>Only ZSFTP_BNP_PARIBAS is pure password-auth</a:t>
            </a:r>
          </a:p>
          <a:p>
            <a:pPr algn="l" marL="228600" indent="-182880">
              <a:spcAft>
                <a:spcPts val="0"/>
              </a:spcAft>
              <a:buClr>
                <a:srgbClr val="000000"/>
              </a:buClr>
              <a:buChar char="•"/>
            </a:pPr>
            <a:r>
              <a:rPr sz="1100">
                <a:solidFill>
                  <a:srgbClr val="000000"/>
                </a:solidFill>
              </a:rPr>
              <a:t>Several others read FTP_PSWD defensively</a:t>
            </a:r>
          </a:p>
        </p:txBody>
      </p:sp>
      <p:graphicFrame>
        <p:nvGraphicFramePr>
          <p:cNvPr id="10" name="c_3_Block"/>
          <p:cNvGraphicFramePr>
            <a:graphicFrameLocks noGrp="1"/>
          </p:cNvGraphicFramePr>
          <p:nvPr/>
        </p:nvGraphicFramePr>
        <p:xfrm>
          <a:off x="457200" y="5303520"/>
          <a:ext cx="11064240" cy="457200"/>
        </p:xfrm>
        <a:graphic>
          <a:graphicData uri="http://schemas.openxmlformats.org/drawingml/2006/table">
            <a:tbl>
              <a:tblPr firstRow="0" bandRow="0" lastRow="0" firstCol="0" lastCol="0" bandCol="0"/>
              <a:tblGrid>
                <a:gridCol w="11064240"/>
              </a:tblGrid>
              <a:tr h="457200">
                <a:tc>
                  <a:txBody>
                    <a:bodyPr wrap="square"/>
                    <a:lstStyle/>
                    <a:p>
                      <a:pPr algn="l"/>
                      <a:r>
                        <a:rPr sz="1100">
                          <a:solidFill>
                            <a:srgbClr val="000000"/>
                          </a:solidFill>
                        </a:rPr>
                        <a:t>Single-auth replacements would break the BNP password path.</a:t>
                      </a:r>
                    </a:p>
                  </a:txBody>
                  <a:tcPr marL="179720" marR="182880" marT="73152" marB="137160" anchor="t">
                    <a:lnL w="73152" cap="flat" cmpd="sng">
                      <a:solidFill>
                        <a:srgbClr val="E06C00"/>
                      </a:solidFill>
                      <a:prstDash val="solid"/>
                    </a:lnL>
                    <a:lnR>
                      <a:noFill/>
                    </a:lnR>
                    <a:lnT>
                      <a:noFill/>
                    </a:lnT>
                    <a:lnB>
                      <a:noFill/>
                    </a:lnB>
                    <a:solidFill>
                      <a:srgbClr val="FCFC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Usage Map</a:t>
            </a:r>
          </a:p>
        </p:txBody>
      </p:sp>
      <p:sp>
        <p:nvSpPr>
          <p:cNvPr id="3" name="Text Placeholder 2"/>
          <p:cNvSpPr>
            <a:spLocks noGrp="1"/>
          </p:cNvSpPr>
          <p:nvPr>
            <p:ph type="body" idx="10" sz="quarter"/>
          </p:nvPr>
        </p:nvSpPr>
        <p:spPr/>
        <p:txBody>
          <a:bodyPr/>
          <a:lstStyle/>
          <a:p>
            <a:r>
              <a:t>03</a:t>
            </a:r>
          </a:p>
        </p:txBody>
      </p:sp>
      <p:sp>
        <p:nvSpPr>
          <p:cNvPr id="4" name="Text Placeholder 3"/>
          <p:cNvSpPr>
            <a:spLocks noGrp="1"/>
          </p:cNvSpPr>
          <p:nvPr>
            <p:ph type="body" idx="16" sz="quarter"/>
          </p:nvPr>
        </p:nvSpPr>
        <p:spPr/>
        <p:txBody>
          <a:bodyPr/>
          <a:lstStyle/>
          <a:p>
            <a:r>
              <a:t>Seven independent SearchSource scans. Three credential-bag markers. Wrapper FUGRs discovered along the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 scope grew</a:t>
            </a:r>
          </a:p>
        </p:txBody>
      </p:sp>
      <p:sp>
        <p:nvSpPr>
          <p:cNvPr id="3" name="Text Placeholder 2"/>
          <p:cNvSpPr>
            <a:spLocks noGrp="1"/>
          </p:cNvSpPr>
          <p:nvPr>
            <p:ph type="body" idx="15" sz="quarter"/>
          </p:nvPr>
        </p:nvSpPr>
        <p:spPr/>
        <p:txBody>
          <a:bodyPr/>
          <a:lstStyle/>
          <a:p>
            <a:r>
              <a:t>Scope grew</a:t>
            </a:r>
          </a:p>
        </p:txBody>
      </p:sp>
      <p:sp>
        <p:nvSpPr>
          <p:cNvPr id="4" name="ContentArea"/>
          <p:cNvSpPr/>
          <p:nvPr/>
        </p:nvSpPr>
        <p:spPr>
          <a:xfrm>
            <a:off x="457200" y="1463040"/>
            <a:ext cx="6363063" cy="4710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ontentArea"/>
          <p:cNvSpPr/>
          <p:nvPr/>
        </p:nvSpPr>
        <p:spPr>
          <a:xfrm>
            <a:off x="7540263" y="1463040"/>
            <a:ext cx="4192137" cy="4710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_1_Block:container"/>
          <p:cNvSpPr/>
          <p:nvPr/>
        </p:nvSpPr>
        <p:spPr>
          <a:xfrm>
            <a:off x="457200" y="1463040"/>
            <a:ext cx="6363063" cy="4710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_1_Block:metric"/>
          <p:cNvSpPr txBox="1"/>
          <p:nvPr/>
        </p:nvSpPr>
        <p:spPr>
          <a:xfrm>
            <a:off x="640080" y="1600200"/>
            <a:ext cx="5997303" cy="408939"/>
          </a:xfrm>
          <a:prstGeom prst="rect">
            <a:avLst/>
          </a:prstGeom>
          <a:noFill/>
        </p:spPr>
        <p:txBody>
          <a:bodyPr wrap="none" lIns="0" rIns="0" tIns="0" bIns="0">
            <a:spAutoFit/>
          </a:bodyPr>
          <a:lstStyle/>
          <a:p>
            <a:pPr algn="ctr"/>
            <a:r>
              <a:rPr sz="2800" b="1">
                <a:solidFill>
                  <a:srgbClr val="E06C00"/>
                </a:solidFill>
              </a:rPr>
              <a:t>+46%</a:t>
            </a:r>
          </a:p>
        </p:txBody>
      </p:sp>
      <p:sp>
        <p:nvSpPr>
          <p:cNvPr id="8" name="c_1_Block:content"/>
          <p:cNvSpPr txBox="1"/>
          <p:nvPr/>
        </p:nvSpPr>
        <p:spPr>
          <a:xfrm>
            <a:off x="640080" y="2077719"/>
            <a:ext cx="5997303" cy="219074"/>
          </a:xfrm>
          <a:prstGeom prst="rect">
            <a:avLst/>
          </a:prstGeom>
          <a:noFill/>
        </p:spPr>
        <p:txBody>
          <a:bodyPr wrap="square" lIns="0" rIns="0" tIns="0" bIns="0" anchor="ctr"/>
          <a:lstStyle/>
          <a:p>
            <a:pPr algn="ctr"/>
            <a:r>
              <a:rPr sz="1400">
                <a:solidFill>
                  <a:srgbClr val="000000"/>
                </a:solidFill>
              </a:rPr>
              <a:t>vs the 13-seed stakeholder list (13 → 19 confirmed objects).</a:t>
            </a:r>
          </a:p>
        </p:txBody>
      </p:sp>
      <p:sp>
        <p:nvSpPr>
          <p:cNvPr id="9" name="c_1_BlockGrid:0:c_2_Block"/>
          <p:cNvSpPr/>
          <p:nvPr/>
        </p:nvSpPr>
        <p:spPr>
          <a:xfrm>
            <a:off x="7540263" y="1463040"/>
            <a:ext cx="4192137" cy="635126"/>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500"/>
              </a:spcAft>
            </a:pPr>
            <a:r>
              <a:rPr sz="1400" b="1">
                <a:solidFill>
                  <a:srgbClr val="FFFFFF"/>
                </a:solidFill>
              </a:rPr>
              <a:t>Scan PRIVATE_KEY_PATH</a:t>
            </a:r>
          </a:p>
          <a:p>
            <a:pPr algn="l"/>
            <a:r>
              <a:rPr sz="1100">
                <a:solidFill>
                  <a:srgbClr val="FFFFFF"/>
                </a:solidFill>
              </a:rPr>
              <a:t>+5 PROGs + 2 FUGRs</a:t>
            </a:r>
          </a:p>
        </p:txBody>
      </p:sp>
      <p:sp>
        <p:nvSpPr>
          <p:cNvPr id="10" name="c_1_BlockGrid:1:c_3_Block"/>
          <p:cNvSpPr/>
          <p:nvPr/>
        </p:nvSpPr>
        <p:spPr>
          <a:xfrm>
            <a:off x="7540263" y="2217038"/>
            <a:ext cx="4192137" cy="635126"/>
          </a:xfrm>
          <a:prstGeom prst="rect">
            <a:avLst/>
          </a:prstGeom>
          <a:gradFill rotWithShape="1">
            <a:gsLst>
              <a:gs pos="0">
                <a:srgbClr val="916CD5"/>
              </a:gs>
              <a:gs pos="100000">
                <a:srgbClr val="AE93E0"/>
              </a:gs>
            </a:gsLst>
            <a:lin ang="16200000" scaled="0"/>
          </a:gradFill>
          <a:ln w="3175">
            <a:solidFill>
              <a:srgbClr val="766F83"/>
            </a:solidFill>
          </a:ln>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500"/>
              </a:spcAft>
            </a:pPr>
            <a:r>
              <a:rPr sz="1400" b="1">
                <a:solidFill>
                  <a:srgbClr val="000000"/>
                </a:solidFill>
              </a:rPr>
              <a:t>Scan FTP_PSWD</a:t>
            </a:r>
          </a:p>
          <a:p>
            <a:pPr algn="l"/>
            <a:r>
              <a:rPr sz="1100">
                <a:solidFill>
                  <a:srgbClr val="000000"/>
                </a:solidFill>
              </a:rPr>
              <a:t>+1 PROG (BNP password variant)</a:t>
            </a:r>
          </a:p>
        </p:txBody>
      </p:sp>
      <p:sp>
        <p:nvSpPr>
          <p:cNvPr id="11" name="c_1_BlockGrid:2:c_4_Block"/>
          <p:cNvSpPr/>
          <p:nvPr/>
        </p:nvSpPr>
        <p:spPr>
          <a:xfrm>
            <a:off x="7540263" y="2971036"/>
            <a:ext cx="4192137" cy="635126"/>
          </a:xfrm>
          <a:prstGeom prst="rect">
            <a:avLst/>
          </a:prstGeom>
          <a:gradFill rotWithShape="1">
            <a:gsLst>
              <a:gs pos="0">
                <a:srgbClr val="0068A8"/>
              </a:gs>
              <a:gs pos="100000">
                <a:srgbClr val="0087DB"/>
              </a:gs>
            </a:gsLst>
            <a:lin ang="16200000" scaled="0"/>
          </a:gradFill>
          <a:ln w="3175">
            <a:solidFill>
              <a:srgbClr val="39464E"/>
            </a:solidFill>
          </a:ln>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500"/>
              </a:spcAft>
            </a:pPr>
            <a:r>
              <a:rPr sz="1400" b="1">
                <a:solidFill>
                  <a:srgbClr val="FFFFFF"/>
                </a:solidFill>
              </a:rPr>
              <a:t>Scan _FROM_SFTP</a:t>
            </a:r>
          </a:p>
          <a:p>
            <a:pPr algn="l"/>
            <a:r>
              <a:rPr sz="1100">
                <a:solidFill>
                  <a:srgbClr val="FFFFFF"/>
                </a:solidFill>
              </a:rPr>
              <a:t>+2 PROGs (wrapper callers)</a:t>
            </a:r>
          </a:p>
        </p:txBody>
      </p:sp>
      <p:sp>
        <p:nvSpPr>
          <p:cNvPr id="12" name="c_1_BlockGrid:3:c_5_Block"/>
          <p:cNvSpPr/>
          <p:nvPr/>
        </p:nvSpPr>
        <p:spPr>
          <a:xfrm>
            <a:off x="7540263" y="3725034"/>
            <a:ext cx="4192137" cy="635126"/>
          </a:xfrm>
          <a:prstGeom prst="rect">
            <a:avLst/>
          </a:prstGeom>
          <a:gradFill rotWithShape="1">
            <a:gsLst>
              <a:gs pos="0">
                <a:srgbClr val="0D6976"/>
              </a:gs>
              <a:gs pos="100000">
                <a:srgbClr val="1292A3"/>
              </a:gs>
            </a:gsLst>
            <a:lin ang="16200000" scaled="0"/>
          </a:gradFill>
          <a:ln w="3175">
            <a:solidFill>
              <a:srgbClr val="303B3D"/>
            </a:solidFill>
          </a:ln>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500"/>
              </a:spcAft>
            </a:pPr>
            <a:r>
              <a:rPr sz="1400" b="1">
                <a:solidFill>
                  <a:srgbClr val="FFFFFF"/>
                </a:solidFill>
              </a:rPr>
              <a:t>Sanity ZSFTP_ prefix</a:t>
            </a:r>
          </a:p>
          <a:p>
            <a:pPr algn="l"/>
            <a:r>
              <a:rPr sz="1100">
                <a:solidFill>
                  <a:srgbClr val="FFFFFF"/>
                </a:solidFill>
              </a:rPr>
              <a:t>+1 FUGR (ZDMS_SEND_FILE, _TO_SFTP naming)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SFTP inventory — Z001</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3566160" cy="15195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_1_BlockGrid:0:c_1_Block:Document_Checklist_2" descr="image.png"/>
          <p:cNvPicPr>
            <a:picLocks noChangeAspect="1"/>
          </p:cNvPicPr>
          <p:nvPr/>
        </p:nvPicPr>
        <p:blipFill>
          <a:blip r:embed="rId2"/>
          <a:stretch>
            <a:fillRect/>
          </a:stretch>
        </p:blipFill>
        <p:spPr>
          <a:xfrm>
            <a:off x="640080" y="1902775"/>
            <a:ext cx="640080" cy="640080"/>
          </a:xfrm>
          <a:prstGeom prst="rect">
            <a:avLst/>
          </a:prstGeom>
        </p:spPr>
      </p:pic>
      <p:sp>
        <p:nvSpPr>
          <p:cNvPr id="6" name="c_1_BlockGrid:0:c_1_Block:content"/>
          <p:cNvSpPr txBox="1"/>
          <p:nvPr/>
        </p:nvSpPr>
        <p:spPr>
          <a:xfrm>
            <a:off x="1600200" y="1600200"/>
            <a:ext cx="2240280" cy="807082"/>
          </a:xfrm>
          <a:prstGeom prst="rect">
            <a:avLst/>
          </a:prstGeom>
          <a:noFill/>
        </p:spPr>
        <p:txBody>
          <a:bodyPr wrap="square" lIns="0" rIns="0" tIns="0" bIns="0" anchor="t"/>
          <a:lstStyle/>
          <a:p>
            <a:pPr algn="l">
              <a:spcAft>
                <a:spcPts val="700"/>
              </a:spcAft>
            </a:pPr>
            <a:r>
              <a:rPr sz="1800" b="1">
                <a:solidFill>
                  <a:srgbClr val="0047FF"/>
                </a:solidFill>
              </a:rPr>
              <a:t>16 PROG reports</a:t>
            </a:r>
          </a:p>
          <a:p>
            <a:pPr algn="l"/>
            <a:r>
              <a:rPr sz="1400">
                <a:solidFill>
                  <a:srgbClr val="000000"/>
                </a:solidFill>
              </a:rPr>
              <a:t>Direct SXPG callers plus wrapper callers.</a:t>
            </a:r>
          </a:p>
        </p:txBody>
      </p:sp>
      <p:sp>
        <p:nvSpPr>
          <p:cNvPr id="7" name="c_1_BlockGrid:1:c_2_Block:container"/>
          <p:cNvSpPr/>
          <p:nvPr/>
        </p:nvSpPr>
        <p:spPr>
          <a:xfrm>
            <a:off x="4206240" y="1463040"/>
            <a:ext cx="3566160" cy="15195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c_1_BlockGrid:1:c_2_Block:Gear_Process_1" descr="image.png"/>
          <p:cNvPicPr>
            <a:picLocks noChangeAspect="1"/>
          </p:cNvPicPr>
          <p:nvPr/>
        </p:nvPicPr>
        <p:blipFill>
          <a:blip r:embed="rId3"/>
          <a:stretch>
            <a:fillRect/>
          </a:stretch>
        </p:blipFill>
        <p:spPr>
          <a:xfrm>
            <a:off x="4389120" y="1902775"/>
            <a:ext cx="640080" cy="640080"/>
          </a:xfrm>
          <a:prstGeom prst="rect">
            <a:avLst/>
          </a:prstGeom>
        </p:spPr>
      </p:pic>
      <p:sp>
        <p:nvSpPr>
          <p:cNvPr id="9" name="c_1_BlockGrid:1:c_2_Block:content"/>
          <p:cNvSpPr txBox="1"/>
          <p:nvPr/>
        </p:nvSpPr>
        <p:spPr>
          <a:xfrm>
            <a:off x="5349240" y="1600200"/>
            <a:ext cx="2240280" cy="1245230"/>
          </a:xfrm>
          <a:prstGeom prst="rect">
            <a:avLst/>
          </a:prstGeom>
          <a:noFill/>
        </p:spPr>
        <p:txBody>
          <a:bodyPr wrap="square" lIns="0" rIns="0" tIns="0" bIns="0" anchor="t"/>
          <a:lstStyle/>
          <a:p>
            <a:pPr algn="l">
              <a:spcAft>
                <a:spcPts val="700"/>
              </a:spcAft>
            </a:pPr>
            <a:r>
              <a:rPr sz="1800" b="1">
                <a:solidFill>
                  <a:srgbClr val="A080DB"/>
                </a:solidFill>
              </a:rPr>
              <a:t>3 wrapper FUGRs</a:t>
            </a:r>
          </a:p>
          <a:p>
            <a:pPr algn="l"/>
            <a:r>
              <a:rPr sz="1400">
                <a:solidFill>
                  <a:srgbClr val="000000"/>
                </a:solidFill>
              </a:rPr>
              <a:t>ZMEDICARE, ZERX, ZDMS_SEND_FILE — credential isolation for indirect callers.</a:t>
            </a:r>
          </a:p>
        </p:txBody>
      </p:sp>
      <p:sp>
        <p:nvSpPr>
          <p:cNvPr id="10" name="c_1_BlockGrid:2:c_3_Block:container"/>
          <p:cNvSpPr/>
          <p:nvPr/>
        </p:nvSpPr>
        <p:spPr>
          <a:xfrm>
            <a:off x="7955280" y="1463040"/>
            <a:ext cx="3566160" cy="15195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c_1_BlockGrid:2:c_3_Block:API_1" descr="image.png"/>
          <p:cNvPicPr>
            <a:picLocks noChangeAspect="1"/>
          </p:cNvPicPr>
          <p:nvPr/>
        </p:nvPicPr>
        <p:blipFill>
          <a:blip r:embed="rId4"/>
          <a:stretch>
            <a:fillRect/>
          </a:stretch>
        </p:blipFill>
        <p:spPr>
          <a:xfrm>
            <a:off x="8138160" y="1902775"/>
            <a:ext cx="640080" cy="640080"/>
          </a:xfrm>
          <a:prstGeom prst="rect">
            <a:avLst/>
          </a:prstGeom>
        </p:spPr>
      </p:pic>
      <p:sp>
        <p:nvSpPr>
          <p:cNvPr id="12" name="c_1_BlockGrid:2:c_3_Block:content"/>
          <p:cNvSpPr txBox="1"/>
          <p:nvPr/>
        </p:nvSpPr>
        <p:spPr>
          <a:xfrm>
            <a:off x="9098280" y="1600200"/>
            <a:ext cx="2240280" cy="1084576"/>
          </a:xfrm>
          <a:prstGeom prst="rect">
            <a:avLst/>
          </a:prstGeom>
          <a:noFill/>
        </p:spPr>
        <p:txBody>
          <a:bodyPr wrap="square" lIns="0" rIns="0" tIns="0" bIns="0" anchor="t"/>
          <a:lstStyle/>
          <a:p>
            <a:pPr algn="l">
              <a:spcAft>
                <a:spcPts val="700"/>
              </a:spcAft>
            </a:pPr>
            <a:r>
              <a:rPr sz="1800" b="1">
                <a:solidFill>
                  <a:srgbClr val="0078C2"/>
                </a:solidFill>
              </a:rPr>
              <a:t>11 SM69 + 5 wrapper FMs</a:t>
            </a:r>
          </a:p>
          <a:p>
            <a:pPr algn="l"/>
            <a:r>
              <a:rPr sz="1400">
                <a:solidFill>
                  <a:srgbClr val="000000"/>
                </a:solidFill>
              </a:rPr>
              <a:t>The actual mechanism artifacts on the OS side.</a:t>
            </a:r>
          </a:p>
        </p:txBody>
      </p:sp>
      <p:graphicFrame>
        <p:nvGraphicFramePr>
          <p:cNvPr id="13" name="c_4_Block"/>
          <p:cNvGraphicFramePr>
            <a:graphicFrameLocks noGrp="1"/>
          </p:cNvGraphicFramePr>
          <p:nvPr/>
        </p:nvGraphicFramePr>
        <p:xfrm>
          <a:off x="457200" y="5669280"/>
          <a:ext cx="11064240" cy="457200"/>
        </p:xfrm>
        <a:graphic>
          <a:graphicData uri="http://schemas.openxmlformats.org/drawingml/2006/table">
            <a:tbl>
              <a:tblPr firstRow="0" bandRow="0" lastRow="0" firstCol="0" lastCol="0" bandCol="0"/>
              <a:tblGrid>
                <a:gridCol w="11064240"/>
              </a:tblGrid>
              <a:tr h="457200">
                <a:tc>
                  <a:txBody>
                    <a:bodyPr wrap="square"/>
                    <a:lstStyle/>
                    <a:p>
                      <a:pPr algn="l"/>
                      <a:r>
                        <a:rPr sz="1100">
                          <a:solidFill>
                            <a:srgbClr val="000000"/>
                          </a:solidFill>
                        </a:rPr>
                        <a:t>3 SM69 entries are shared by ≥2 ABAP reports — coordinate cutover for each shared command.</a:t>
                      </a:r>
                    </a:p>
                  </a:txBody>
                  <a:tcPr marL="137160" marR="91440" marT="45720" marB="91440" anchor="t">
                    <a:lnL w="73152" cap="flat" cmpd="sng">
                      <a:solidFill>
                        <a:srgbClr val="E06C00"/>
                      </a:solidFill>
                      <a:prstDash val="solid"/>
                    </a:lnL>
                    <a:lnR>
                      <a:noFill/>
                    </a:lnR>
                    <a:lnT>
                      <a:noFill/>
                    </a:lnT>
                    <a:lnB>
                      <a:noFill/>
                    </a:lnB>
                    <a:solidFill>
                      <a:srgbClr val="FCFC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made the scans complete</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Process:block0:c_1_Block"/>
          <p:cNvSpPr/>
          <p:nvPr/>
        </p:nvSpPr>
        <p:spPr>
          <a:xfrm>
            <a:off x="457200" y="1463040"/>
            <a:ext cx="2560320" cy="2891332"/>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Step 1</a:t>
            </a:r>
          </a:p>
          <a:p>
            <a:pPr algn="l"/>
            <a:r>
              <a:rPr sz="1400">
                <a:solidFill>
                  <a:srgbClr val="FFFFFF"/>
                </a:solidFill>
              </a:rPr>
              <a:t>One scan at a time per destination.</a:t>
            </a:r>
          </a:p>
        </p:txBody>
      </p:sp>
      <p:sp>
        <p:nvSpPr>
          <p:cNvPr id="5" name="c_1_BlockProcess:arrow0"/>
          <p:cNvSpPr/>
          <p:nvPr/>
        </p:nvSpPr>
        <p:spPr>
          <a:xfrm>
            <a:off x="3046680" y="2764706"/>
            <a:ext cx="216000" cy="288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_1_BlockProcess:block1:c_2_Block"/>
          <p:cNvSpPr/>
          <p:nvPr/>
        </p:nvSpPr>
        <p:spPr>
          <a:xfrm>
            <a:off x="3291840" y="1463040"/>
            <a:ext cx="2560320" cy="2891332"/>
          </a:xfrm>
          <a:prstGeom prst="rect">
            <a:avLst/>
          </a:prstGeom>
          <a:gradFill rotWithShape="1">
            <a:gsLst>
              <a:gs pos="0">
                <a:srgbClr val="916CD5"/>
              </a:gs>
              <a:gs pos="100000">
                <a:srgbClr val="AE93E0"/>
              </a:gs>
            </a:gsLst>
            <a:lin ang="16200000" scaled="0"/>
          </a:gradFill>
          <a:ln w="3175">
            <a:solidFill>
              <a:srgbClr val="766F83"/>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000000"/>
                </a:solidFill>
              </a:rPr>
              <a:t>Step 2</a:t>
            </a:r>
          </a:p>
          <a:p>
            <a:pPr algn="l"/>
            <a:r>
              <a:rPr sz="1400">
                <a:solidFill>
                  <a:srgbClr val="000000"/>
                </a:solidFill>
              </a:rPr>
              <a:t>Single-keyword over AND-query (timeout-safe).</a:t>
            </a:r>
          </a:p>
        </p:txBody>
      </p:sp>
      <p:sp>
        <p:nvSpPr>
          <p:cNvPr id="7" name="c_1_BlockProcess:arrow1"/>
          <p:cNvSpPr/>
          <p:nvPr/>
        </p:nvSpPr>
        <p:spPr>
          <a:xfrm>
            <a:off x="5881320" y="2764706"/>
            <a:ext cx="216000" cy="288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_1_BlockProcess:block2:c_3_Block"/>
          <p:cNvSpPr/>
          <p:nvPr/>
        </p:nvSpPr>
        <p:spPr>
          <a:xfrm>
            <a:off x="6126480" y="1463040"/>
            <a:ext cx="2560320" cy="2891332"/>
          </a:xfrm>
          <a:prstGeom prst="rect">
            <a:avLst/>
          </a:prstGeom>
          <a:gradFill rotWithShape="1">
            <a:gsLst>
              <a:gs pos="0">
                <a:srgbClr val="0068A8"/>
              </a:gs>
              <a:gs pos="100000">
                <a:srgbClr val="0087DB"/>
              </a:gs>
            </a:gsLst>
            <a:lin ang="16200000" scaled="0"/>
          </a:gradFill>
          <a:ln w="3175">
            <a:solidFill>
              <a:srgbClr val="39464E"/>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Step 3</a:t>
            </a:r>
          </a:p>
          <a:p>
            <a:pPr algn="l"/>
            <a:r>
              <a:rPr sz="1400">
                <a:solidFill>
                  <a:srgbClr val="FFFFFF"/>
                </a:solidFill>
              </a:rPr>
              <a:t>Independent markers — don't rely on naming.</a:t>
            </a:r>
          </a:p>
        </p:txBody>
      </p:sp>
      <p:sp>
        <p:nvSpPr>
          <p:cNvPr id="9" name="c_1_BlockProcess:arrow2"/>
          <p:cNvSpPr/>
          <p:nvPr/>
        </p:nvSpPr>
        <p:spPr>
          <a:xfrm>
            <a:off x="8715960" y="2764706"/>
            <a:ext cx="216000" cy="288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_1_BlockProcess:block3:c_4_Block"/>
          <p:cNvSpPr/>
          <p:nvPr/>
        </p:nvSpPr>
        <p:spPr>
          <a:xfrm>
            <a:off x="8961120" y="1463040"/>
            <a:ext cx="2560320" cy="2891332"/>
          </a:xfrm>
          <a:prstGeom prst="rect">
            <a:avLst/>
          </a:prstGeom>
          <a:gradFill rotWithShape="1">
            <a:gsLst>
              <a:gs pos="0">
                <a:srgbClr val="0D6976"/>
              </a:gs>
              <a:gs pos="100000">
                <a:srgbClr val="1292A3"/>
              </a:gs>
            </a:gsLst>
            <a:lin ang="16200000" scaled="0"/>
          </a:gradFill>
          <a:ln w="3175">
            <a:solidFill>
              <a:srgbClr val="303B3D"/>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Step 4</a:t>
            </a:r>
          </a:p>
          <a:p>
            <a:pPr algn="l"/>
            <a:r>
              <a:rPr sz="1400">
                <a:solidFill>
                  <a:srgbClr val="FFFFFF"/>
                </a:solidFill>
              </a:rPr>
              <a:t>Sanity scan beyond credential literals.</a:t>
            </a:r>
          </a:p>
        </p:txBody>
      </p:sp>
      <p:graphicFrame>
        <p:nvGraphicFramePr>
          <p:cNvPr id="11" name="c_5_Block"/>
          <p:cNvGraphicFramePr>
            <a:graphicFrameLocks noGrp="1"/>
          </p:cNvGraphicFramePr>
          <p:nvPr/>
        </p:nvGraphicFramePr>
        <p:xfrm>
          <a:off x="457200" y="5669280"/>
          <a:ext cx="11064240" cy="457200"/>
        </p:xfrm>
        <a:graphic>
          <a:graphicData uri="http://schemas.openxmlformats.org/drawingml/2006/table">
            <a:tbl>
              <a:tblPr firstRow="0" bandRow="0" lastRow="0" firstCol="0" lastCol="0" bandCol="0"/>
              <a:tblGrid>
                <a:gridCol w="11064240"/>
              </a:tblGrid>
              <a:tr h="457200">
                <a:tc>
                  <a:txBody>
                    <a:bodyPr wrap="square"/>
                    <a:lstStyle/>
                    <a:p>
                      <a:pPr algn="l"/>
                      <a:r>
                        <a:rPr sz="1100">
                          <a:solidFill>
                            <a:srgbClr val="000000"/>
                          </a:solidFill>
                        </a:rPr>
                        <a:t>All seven scans returned without truncation.</a:t>
                      </a:r>
                    </a:p>
                  </a:txBody>
                  <a:tcPr marL="137160" marR="91440" marT="45720" marB="91440" anchor="t">
                    <a:lnL w="73152" cap="flat" cmpd="sng">
                      <a:solidFill>
                        <a:srgbClr val="107E8D"/>
                      </a:solidFill>
                      <a:prstDash val="solid"/>
                    </a:lnL>
                    <a:lnR>
                      <a:noFill/>
                    </a:lnR>
                    <a:lnT>
                      <a:noFill/>
                    </a:lnT>
                    <a:lnB>
                      <a:noFill/>
                    </a:lnB>
                    <a:solidFill>
                      <a:srgbClr val="FCFC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16 reports cluster into 5 business domains. The migration validation matrix has to verify each endpoint separately.</a:t>
            </a:r>
          </a:p>
        </p:txBody>
      </p:sp>
      <p:sp>
        <p:nvSpPr>
          <p:cNvPr id="3" name="Title 2"/>
          <p:cNvSpPr>
            <a:spLocks noGrp="1"/>
          </p:cNvSpPr>
          <p:nvPr>
            <p:ph type="title"/>
          </p:nvPr>
        </p:nvSpPr>
        <p:spPr/>
        <p:txBody>
          <a:bodyPr/>
          <a:lstStyle/>
          <a:p>
            <a:r>
              <a:t>Analysis</a:t>
            </a:r>
          </a:p>
        </p:txBody>
      </p:sp>
      <p:sp>
        <p:nvSpPr>
          <p:cNvPr id="4" name="Text Placeholder 3"/>
          <p:cNvSpPr>
            <a:spLocks noGrp="1"/>
          </p:cNvSpPr>
          <p:nvPr>
            <p:ph type="body" idx="11" sz="quarter"/>
          </p:nvPr>
        </p:nvSpPr>
        <p:spPr/>
        <p:txBody>
          <a:bodyPr/>
          <a:lstStyle/>
          <a:p>
            <a:r>
              <a:t>04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business domains, eight counter-parties</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3566160" cy="79057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_1_BlockGrid:0:c_1_Block:Bank" descr="image.png"/>
          <p:cNvPicPr>
            <a:picLocks noChangeAspect="1"/>
          </p:cNvPicPr>
          <p:nvPr/>
        </p:nvPicPr>
        <p:blipFill>
          <a:blip r:embed="rId2"/>
          <a:stretch>
            <a:fillRect/>
          </a:stretch>
        </p:blipFill>
        <p:spPr>
          <a:xfrm>
            <a:off x="548640" y="1538287"/>
            <a:ext cx="640080" cy="640080"/>
          </a:xfrm>
          <a:prstGeom prst="rect">
            <a:avLst/>
          </a:prstGeom>
        </p:spPr>
      </p:pic>
      <p:sp>
        <p:nvSpPr>
          <p:cNvPr id="6" name="c_1_BlockGrid:0:c_1_Block:content"/>
          <p:cNvSpPr txBox="1"/>
          <p:nvPr/>
        </p:nvSpPr>
        <p:spPr>
          <a:xfrm>
            <a:off x="1348740" y="1554480"/>
            <a:ext cx="2583180" cy="607694"/>
          </a:xfrm>
          <a:prstGeom prst="rect">
            <a:avLst/>
          </a:prstGeom>
          <a:noFill/>
        </p:spPr>
        <p:txBody>
          <a:bodyPr wrap="square" lIns="0" rIns="0" tIns="0" bIns="0" anchor="t"/>
          <a:lstStyle/>
          <a:p>
            <a:pPr algn="l">
              <a:spcAft>
                <a:spcPts val="500"/>
              </a:spcAft>
            </a:pPr>
            <a:r>
              <a:rPr sz="1400" b="1">
                <a:solidFill>
                  <a:srgbClr val="0047FF"/>
                </a:solidFill>
              </a:rPr>
              <a:t>Banking — statement loaders</a:t>
            </a:r>
          </a:p>
          <a:p>
            <a:pPr algn="l"/>
            <a:r>
              <a:rPr sz="1100">
                <a:solidFill>
                  <a:srgbClr val="000000"/>
                </a:solidFill>
              </a:rPr>
              <a:t>BNP, Citi, JPMorgan · 7 reports · both directions · MT940 + payments.</a:t>
            </a:r>
          </a:p>
        </p:txBody>
      </p:sp>
      <p:sp>
        <p:nvSpPr>
          <p:cNvPr id="7" name="c_1_BlockGrid:1:c_2_Block:container"/>
          <p:cNvSpPr/>
          <p:nvPr/>
        </p:nvSpPr>
        <p:spPr>
          <a:xfrm>
            <a:off x="4206240" y="1463040"/>
            <a:ext cx="3566160" cy="79057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c_1_BlockGrid:1:c_2_Block:Clipboard_Health" descr="image.png"/>
          <p:cNvPicPr>
            <a:picLocks noChangeAspect="1"/>
          </p:cNvPicPr>
          <p:nvPr/>
        </p:nvPicPr>
        <p:blipFill>
          <a:blip r:embed="rId3"/>
          <a:stretch>
            <a:fillRect/>
          </a:stretch>
        </p:blipFill>
        <p:spPr>
          <a:xfrm>
            <a:off x="4297680" y="1538287"/>
            <a:ext cx="640080" cy="640080"/>
          </a:xfrm>
          <a:prstGeom prst="rect">
            <a:avLst/>
          </a:prstGeom>
        </p:spPr>
      </p:pic>
      <p:sp>
        <p:nvSpPr>
          <p:cNvPr id="9" name="c_1_BlockGrid:1:c_2_Block:content"/>
          <p:cNvSpPr txBox="1"/>
          <p:nvPr/>
        </p:nvSpPr>
        <p:spPr>
          <a:xfrm>
            <a:off x="5097780" y="1554480"/>
            <a:ext cx="2583180" cy="607694"/>
          </a:xfrm>
          <a:prstGeom prst="rect">
            <a:avLst/>
          </a:prstGeom>
          <a:noFill/>
        </p:spPr>
        <p:txBody>
          <a:bodyPr wrap="square" lIns="0" rIns="0" tIns="0" bIns="0" anchor="t"/>
          <a:lstStyle/>
          <a:p>
            <a:pPr algn="l">
              <a:spcAft>
                <a:spcPts val="500"/>
              </a:spcAft>
            </a:pPr>
            <a:r>
              <a:rPr sz="1400" b="1">
                <a:solidFill>
                  <a:srgbClr val="A080DB"/>
                </a:solidFill>
              </a:rPr>
              <a:t>Healthcare claims</a:t>
            </a:r>
          </a:p>
          <a:p>
            <a:pPr algn="l"/>
            <a:r>
              <a:rPr sz="1100">
                <a:solidFill>
                  <a:srgbClr val="000000"/>
                </a:solidFill>
              </a:rPr>
              <a:t>Caparío, Patientco · 4 reports · both directions · EDI 835 / 837.</a:t>
            </a:r>
          </a:p>
        </p:txBody>
      </p:sp>
      <p:sp>
        <p:nvSpPr>
          <p:cNvPr id="10" name="c_1_BlockGrid:2:c_3_Block:container"/>
          <p:cNvSpPr/>
          <p:nvPr/>
        </p:nvSpPr>
        <p:spPr>
          <a:xfrm>
            <a:off x="7955280" y="1463040"/>
            <a:ext cx="3566160" cy="79057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c_1_BlockGrid:2:c_3_Block:Person" descr="image.png"/>
          <p:cNvPicPr>
            <a:picLocks noChangeAspect="1"/>
          </p:cNvPicPr>
          <p:nvPr/>
        </p:nvPicPr>
        <p:blipFill>
          <a:blip r:embed="rId4"/>
          <a:stretch>
            <a:fillRect/>
          </a:stretch>
        </p:blipFill>
        <p:spPr>
          <a:xfrm>
            <a:off x="8046720" y="1538287"/>
            <a:ext cx="640080" cy="640080"/>
          </a:xfrm>
          <a:prstGeom prst="rect">
            <a:avLst/>
          </a:prstGeom>
        </p:spPr>
      </p:pic>
      <p:sp>
        <p:nvSpPr>
          <p:cNvPr id="12" name="c_1_BlockGrid:2:c_3_Block:content"/>
          <p:cNvSpPr txBox="1"/>
          <p:nvPr/>
        </p:nvSpPr>
        <p:spPr>
          <a:xfrm>
            <a:off x="8846820" y="1554480"/>
            <a:ext cx="2583180" cy="607694"/>
          </a:xfrm>
          <a:prstGeom prst="rect">
            <a:avLst/>
          </a:prstGeom>
          <a:noFill/>
        </p:spPr>
        <p:txBody>
          <a:bodyPr wrap="square" lIns="0" rIns="0" tIns="0" bIns="0" anchor="t"/>
          <a:lstStyle/>
          <a:p>
            <a:pPr algn="l">
              <a:spcAft>
                <a:spcPts val="500"/>
              </a:spcAft>
            </a:pPr>
            <a:r>
              <a:rPr sz="1400" b="1">
                <a:solidFill>
                  <a:srgbClr val="0078C2"/>
                </a:solidFill>
              </a:rPr>
              <a:t>Payroll</a:t>
            </a:r>
          </a:p>
          <a:p>
            <a:pPr algn="l"/>
            <a:r>
              <a:rPr sz="1100">
                <a:solidFill>
                  <a:srgbClr val="000000"/>
                </a:solidFill>
              </a:rPr>
              <a:t>Ceridian · 2 reports · pull only · posting files into FI.</a:t>
            </a:r>
          </a:p>
        </p:txBody>
      </p:sp>
      <p:sp>
        <p:nvSpPr>
          <p:cNvPr id="13" name="c_1_BlockGrid:3:c_4_Block:container"/>
          <p:cNvSpPr/>
          <p:nvPr/>
        </p:nvSpPr>
        <p:spPr>
          <a:xfrm>
            <a:off x="457200" y="2491358"/>
            <a:ext cx="3566160" cy="7975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c_1_BlockGrid:3:c_4_Block:Folder_Connected" descr="image.png"/>
          <p:cNvPicPr>
            <a:picLocks noChangeAspect="1"/>
          </p:cNvPicPr>
          <p:nvPr/>
        </p:nvPicPr>
        <p:blipFill>
          <a:blip r:embed="rId5"/>
          <a:stretch>
            <a:fillRect/>
          </a:stretch>
        </p:blipFill>
        <p:spPr>
          <a:xfrm>
            <a:off x="548640" y="2570097"/>
            <a:ext cx="640080" cy="640080"/>
          </a:xfrm>
          <a:prstGeom prst="rect">
            <a:avLst/>
          </a:prstGeom>
        </p:spPr>
      </p:pic>
      <p:sp>
        <p:nvSpPr>
          <p:cNvPr id="15" name="c_1_BlockGrid:3:c_4_Block:content"/>
          <p:cNvSpPr txBox="1"/>
          <p:nvPr/>
        </p:nvSpPr>
        <p:spPr>
          <a:xfrm>
            <a:off x="1348740" y="2582798"/>
            <a:ext cx="2583180" cy="607694"/>
          </a:xfrm>
          <a:prstGeom prst="rect">
            <a:avLst/>
          </a:prstGeom>
          <a:noFill/>
        </p:spPr>
        <p:txBody>
          <a:bodyPr wrap="square" lIns="0" rIns="0" tIns="0" bIns="0" anchor="t"/>
          <a:lstStyle/>
          <a:p>
            <a:pPr algn="l">
              <a:spcAft>
                <a:spcPts val="500"/>
              </a:spcAft>
            </a:pPr>
            <a:r>
              <a:rPr sz="1400" b="1">
                <a:solidFill>
                  <a:srgbClr val="107E8D"/>
                </a:solidFill>
              </a:rPr>
              <a:t>Document management</a:t>
            </a:r>
          </a:p>
          <a:p>
            <a:pPr algn="l"/>
            <a:r>
              <a:rPr sz="1100">
                <a:solidFill>
                  <a:srgbClr val="000000"/>
                </a:solidFill>
              </a:rPr>
              <a:t>Internal DMS · 3 reports · both directions · PDF / CSV / attachments.</a:t>
            </a:r>
          </a:p>
        </p:txBody>
      </p:sp>
      <p:sp>
        <p:nvSpPr>
          <p:cNvPr id="16" name="c_1_BlockGrid:4:c_5_Block:container"/>
          <p:cNvSpPr/>
          <p:nvPr/>
        </p:nvSpPr>
        <p:spPr>
          <a:xfrm>
            <a:off x="4206240" y="2491358"/>
            <a:ext cx="3566160" cy="7975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c_1_BlockGrid:4:c_5_Block:Healthcare_Drugs" descr="image.png"/>
          <p:cNvPicPr>
            <a:picLocks noChangeAspect="1"/>
          </p:cNvPicPr>
          <p:nvPr/>
        </p:nvPicPr>
        <p:blipFill>
          <a:blip r:embed="rId6"/>
          <a:stretch>
            <a:fillRect/>
          </a:stretch>
        </p:blipFill>
        <p:spPr>
          <a:xfrm>
            <a:off x="4297680" y="2570097"/>
            <a:ext cx="640080" cy="640080"/>
          </a:xfrm>
          <a:prstGeom prst="rect">
            <a:avLst/>
          </a:prstGeom>
        </p:spPr>
      </p:pic>
      <p:sp>
        <p:nvSpPr>
          <p:cNvPr id="18" name="c_1_BlockGrid:4:c_5_Block:content"/>
          <p:cNvSpPr txBox="1"/>
          <p:nvPr/>
        </p:nvSpPr>
        <p:spPr>
          <a:xfrm>
            <a:off x="5097780" y="2582798"/>
            <a:ext cx="2583180" cy="607694"/>
          </a:xfrm>
          <a:prstGeom prst="rect">
            <a:avLst/>
          </a:prstGeom>
          <a:noFill/>
        </p:spPr>
        <p:txBody>
          <a:bodyPr wrap="square" lIns="0" rIns="0" tIns="0" bIns="0" anchor="t"/>
          <a:lstStyle/>
          <a:p>
            <a:pPr algn="l">
              <a:spcAft>
                <a:spcPts val="500"/>
              </a:spcAft>
            </a:pPr>
            <a:r>
              <a:rPr sz="1400" b="1">
                <a:solidFill>
                  <a:srgbClr val="E06C00"/>
                </a:solidFill>
              </a:rPr>
              <a:t>Healthcare PDF (Medicare)</a:t>
            </a:r>
          </a:p>
          <a:p>
            <a:pPr algn="l"/>
            <a:r>
              <a:rPr sz="1100">
                <a:solidFill>
                  <a:srgbClr val="000000"/>
                </a:solidFill>
              </a:rPr>
              <a:t>Internal · 2 via ZMEDI / ZERX wrappers · both directions · Medicare PDFs / CSVs.</a:t>
            </a:r>
          </a:p>
        </p:txBody>
      </p:sp>
      <p:sp>
        <p:nvSpPr>
          <p:cNvPr id="19" name="c_1_BlockGrid:5:c_6_Block:container"/>
          <p:cNvSpPr/>
          <p:nvPr/>
        </p:nvSpPr>
        <p:spPr>
          <a:xfrm>
            <a:off x="7955280" y="2491358"/>
            <a:ext cx="3566160" cy="7975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_1_BlockGrid:5:c_6_Block:metric"/>
          <p:cNvSpPr txBox="1"/>
          <p:nvPr/>
        </p:nvSpPr>
        <p:spPr>
          <a:xfrm>
            <a:off x="8046720" y="2582798"/>
            <a:ext cx="3383280" cy="408939"/>
          </a:xfrm>
          <a:prstGeom prst="rect">
            <a:avLst/>
          </a:prstGeom>
          <a:noFill/>
        </p:spPr>
        <p:txBody>
          <a:bodyPr wrap="none" lIns="0" rIns="0" tIns="0" bIns="0">
            <a:spAutoFit/>
          </a:bodyPr>
          <a:lstStyle/>
          <a:p>
            <a:pPr algn="ctr"/>
            <a:r>
              <a:rPr sz="2800" b="1">
                <a:solidFill>
                  <a:srgbClr val="E06C00"/>
                </a:solidFill>
              </a:rPr>
              <a:t>16</a:t>
            </a:r>
          </a:p>
        </p:txBody>
      </p:sp>
      <p:sp>
        <p:nvSpPr>
          <p:cNvPr id="21" name="c_1_BlockGrid:5:c_6_Block:content"/>
          <p:cNvSpPr txBox="1"/>
          <p:nvPr/>
        </p:nvSpPr>
        <p:spPr>
          <a:xfrm>
            <a:off x="8046720" y="3037457"/>
            <a:ext cx="3383280" cy="160020"/>
          </a:xfrm>
          <a:prstGeom prst="rect">
            <a:avLst/>
          </a:prstGeom>
          <a:noFill/>
        </p:spPr>
        <p:txBody>
          <a:bodyPr wrap="square" lIns="0" rIns="0" tIns="0" bIns="0" anchor="ctr"/>
          <a:lstStyle/>
          <a:p>
            <a:pPr algn="ctr"/>
            <a:r>
              <a:rPr sz="1100">
                <a:solidFill>
                  <a:srgbClr val="000000"/>
                </a:solidFill>
              </a:rPr>
              <a:t>reports total · plus 2 wrapper FUGRs.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Title 12"/>
          <p:cNvSpPr>
            <a:spLocks noGrp="1"/>
          </p:cNvSpPr>
          <p:nvPr>
            <p:ph type="title"/>
          </p:nvPr>
        </p:nvSpPr>
        <p:spPr>
          <a:xfrm>
            <a:off x="437663" y="158765"/>
            <a:ext cx="9263898" cy="307777"/>
          </a:xfrm>
        </p:spPr>
        <p:txBody>
          <a:bodyPr/>
          <a:lstStyle/>
          <a:p>
            <a:r>
              <a:rPr lang="en-US" sz="2000" b="1">
                <a:solidFill>
                  <a:schemeClr val="accent2">
                    <a:lumMod val="75000"/>
                  </a:schemeClr>
                </a:solidFill>
              </a:rPr>
              <a:t>Large wealth management company - Micro-Frontends Development</a:t>
            </a:r>
            <a:endParaRPr lang="en-US" b="1">
              <a:solidFill>
                <a:schemeClr val="accent2">
                  <a:lumMod val="75000"/>
                </a:schemeClr>
              </a:solidFill>
            </a:endParaRPr>
          </a:p>
        </p:txBody>
      </p:sp>
      <p:sp>
        <p:nvSpPr>
          <p:cNvPr id="11" name="Content Placeholder 10">
            <a:extLst>
              <a:ext uri="{FF2B5EF4-FFF2-40B4-BE49-F238E27FC236}">
                <a16:creationId xmlns:a16="http://schemas.microsoft.com/office/drawing/2014/main" id="{4A4F2224-38BB-4ECE-8A14-FB72542326B1}"/>
              </a:ext>
            </a:extLst>
          </p:cNvPr>
          <p:cNvSpPr txBox="1">
            <a:spLocks/>
          </p:cNvSpPr>
          <p:nvPr/>
        </p:nvSpPr>
        <p:spPr>
          <a:xfrm>
            <a:off x="437663" y="567627"/>
            <a:ext cx="6506601" cy="5851975"/>
          </a:xfrm>
          <a:prstGeom prst="rect">
            <a:avLst/>
          </a:prstGeom>
        </p:spPr>
        <p:txBody>
          <a:bodyPr lIns="0" tIns="45720" rIns="91440" bIns="45720" anchor="t"/>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lvl="2" indent="0" algn="just" defTabSz="342869">
              <a:spcBef>
                <a:spcPts val="113"/>
              </a:spcBef>
              <a:spcAft>
                <a:spcPts val="675"/>
              </a:spcAft>
              <a:buClr>
                <a:srgbClr val="39C2D7"/>
              </a:buClr>
              <a:buNone/>
              <a:tabLst>
                <a:tab pos="478590" algn="l"/>
              </a:tabLst>
              <a:defRPr/>
            </a:pPr>
            <a:r>
              <a:rPr lang="en-US" sz="1100" b="1">
                <a:solidFill>
                  <a:schemeClr val="accent2"/>
                </a:solidFill>
              </a:rPr>
              <a:t>Business Driver </a:t>
            </a:r>
          </a:p>
          <a:p>
            <a:pPr marL="0" lvl="2" indent="0" algn="just" defTabSz="342869">
              <a:spcBef>
                <a:spcPts val="113"/>
              </a:spcBef>
              <a:spcAft>
                <a:spcPts val="675"/>
              </a:spcAft>
              <a:buClr>
                <a:srgbClr val="39C2D7"/>
              </a:buClr>
              <a:buNone/>
              <a:tabLst>
                <a:tab pos="478590" algn="l"/>
              </a:tabLst>
              <a:defRPr/>
            </a:pPr>
            <a:r>
              <a:rPr lang="en-GB" sz="1100">
                <a:solidFill>
                  <a:srgbClr val="222222"/>
                </a:solidFill>
              </a:rPr>
              <a:t>Modern enterprise applications require rapid feature delivery and team scalability while maintaining system stability. Monolithic frontend architectures create bottlenecks where multiple teams compete for the same codebase, slowing releases and increasing risk of system-wide failures. Organizations need architectural flexibility to adopt new technologies without costly rewrites while ensuring isolated team ownership and faster time-to-market.</a:t>
            </a:r>
          </a:p>
          <a:p>
            <a:pPr marL="0" lvl="2" indent="0" algn="just" defTabSz="342869">
              <a:spcBef>
                <a:spcPts val="113"/>
              </a:spcBef>
              <a:spcAft>
                <a:spcPts val="675"/>
              </a:spcAft>
              <a:buClr>
                <a:srgbClr val="39C2D7"/>
              </a:buClr>
              <a:buNone/>
              <a:tabLst>
                <a:tab pos="478590" algn="l"/>
              </a:tabLst>
              <a:defRPr/>
            </a:pPr>
            <a:r>
              <a:rPr lang="en-US" sz="1100" b="1">
                <a:solidFill>
                  <a:schemeClr val="accent2"/>
                </a:solidFill>
              </a:rPr>
              <a:t>Challenges</a:t>
            </a:r>
            <a:endParaRPr lang="en-US" sz="1100" b="1">
              <a:solidFill>
                <a:schemeClr val="accent2"/>
              </a:solidFill>
              <a:cs typeface="Calibri"/>
            </a:endParaRPr>
          </a:p>
          <a:p>
            <a:pPr marL="285750" lvl="2" indent="-285750" algn="just" defTabSz="342869">
              <a:spcBef>
                <a:spcPts val="0"/>
              </a:spcBef>
              <a:spcAft>
                <a:spcPts val="675"/>
              </a:spcAft>
              <a:buClr>
                <a:srgbClr val="39C2D7"/>
              </a:buClr>
              <a:tabLst>
                <a:tab pos="478590" algn="l"/>
              </a:tabLst>
              <a:defRPr/>
            </a:pPr>
            <a:r>
              <a:rPr lang="en-GB" sz="1100"/>
              <a:t>Deployment Bottlenecks: Monolithic releases require full regression testing and coordination across all teams, turning weekly deployments into month-long cycles.</a:t>
            </a:r>
          </a:p>
          <a:p>
            <a:pPr marL="285750" lvl="2" indent="-285750" algn="just" defTabSz="342869">
              <a:spcBef>
                <a:spcPts val="0"/>
              </a:spcBef>
              <a:spcAft>
                <a:spcPts val="675"/>
              </a:spcAft>
              <a:buClr>
                <a:srgbClr val="39C2D7"/>
              </a:buClr>
              <a:tabLst>
                <a:tab pos="478590" algn="l"/>
              </a:tabLst>
              <a:defRPr/>
            </a:pPr>
            <a:r>
              <a:rPr lang="en-GB" sz="1100"/>
              <a:t>Scalability Constraints: Adding new teams to a monolithic codebase increases merge conflicts, code coupling, and coordination overhead exponentially.</a:t>
            </a:r>
          </a:p>
          <a:p>
            <a:pPr marL="285750" lvl="2" indent="-285750" algn="just" defTabSz="342869">
              <a:spcBef>
                <a:spcPts val="0"/>
              </a:spcBef>
              <a:spcAft>
                <a:spcPts val="675"/>
              </a:spcAft>
              <a:buClr>
                <a:srgbClr val="39C2D7"/>
              </a:buClr>
              <a:tabLst>
                <a:tab pos="478590" algn="l"/>
              </a:tabLst>
              <a:defRPr/>
            </a:pPr>
            <a:r>
              <a:rPr lang="en-GB" sz="1100"/>
              <a:t>Technology Lock-in: Upgrading frameworks or adopting new technologies requires "big bang" rewrites, risking months of development with no incremental value delivery.</a:t>
            </a:r>
          </a:p>
          <a:p>
            <a:pPr marL="285750" lvl="2" indent="-285750" algn="just" defTabSz="342869">
              <a:spcBef>
                <a:spcPts val="0"/>
              </a:spcBef>
              <a:spcAft>
                <a:spcPts val="675"/>
              </a:spcAft>
              <a:buClr>
                <a:srgbClr val="39C2D7"/>
              </a:buClr>
              <a:tabLst>
                <a:tab pos="478590" algn="l"/>
              </a:tabLst>
              <a:defRPr/>
            </a:pPr>
            <a:r>
              <a:rPr lang="en-GB" sz="1100"/>
              <a:t>Blast Radius: A single team's bug can bring down the entire application, impacting all users and features simultaneously.</a:t>
            </a:r>
          </a:p>
          <a:p>
            <a:pPr marL="285750" lvl="2" indent="-285750" algn="just" defTabSz="342869">
              <a:spcBef>
                <a:spcPts val="0"/>
              </a:spcBef>
              <a:spcAft>
                <a:spcPts val="675"/>
              </a:spcAft>
              <a:buClr>
                <a:srgbClr val="39C2D7"/>
              </a:buClr>
              <a:tabLst>
                <a:tab pos="478590" algn="l"/>
              </a:tabLst>
              <a:defRPr/>
            </a:pPr>
            <a:r>
              <a:rPr lang="en-GB" sz="1100"/>
              <a:t>Team Dependencies: Feature delivery blocked by waiting for other teams' code freezes, releases, or architectural decisions.</a:t>
            </a:r>
            <a:endParaRPr lang="en-US" sz="1100">
              <a:cs typeface="Calibri"/>
            </a:endParaRPr>
          </a:p>
          <a:p>
            <a:pPr marL="0" lvl="2" indent="0" algn="just" defTabSz="342869">
              <a:spcBef>
                <a:spcPts val="113"/>
              </a:spcBef>
              <a:spcAft>
                <a:spcPts val="675"/>
              </a:spcAft>
              <a:buClr>
                <a:srgbClr val="39C2D7"/>
              </a:buClr>
              <a:buNone/>
              <a:tabLst>
                <a:tab pos="478590" algn="l"/>
              </a:tabLst>
              <a:defRPr/>
            </a:pPr>
            <a:r>
              <a:rPr lang="en-US" sz="1100" b="1">
                <a:solidFill>
                  <a:schemeClr val="accent2"/>
                </a:solidFill>
              </a:rPr>
              <a:t>Solution / Results</a:t>
            </a:r>
            <a:endParaRPr lang="en-US" sz="1100" b="1">
              <a:solidFill>
                <a:schemeClr val="accent2"/>
              </a:solidFill>
              <a:cs typeface="Calibri"/>
            </a:endParaRPr>
          </a:p>
          <a:p>
            <a:pPr marL="0" lvl="2" indent="0" algn="just" defTabSz="342869">
              <a:spcBef>
                <a:spcPts val="0"/>
              </a:spcBef>
              <a:spcAft>
                <a:spcPts val="675"/>
              </a:spcAft>
              <a:buClr>
                <a:srgbClr val="39C2D7"/>
              </a:buClr>
              <a:buNone/>
              <a:tabLst>
                <a:tab pos="478590" algn="l"/>
              </a:tabLst>
              <a:defRPr/>
            </a:pPr>
            <a:r>
              <a:rPr lang="en-GB" sz="1100"/>
              <a:t>EPAM implemented MFE architecture for a large wealth-management company across 20+ teams for critical client-facing applications, enabling independent team velocity while maintaining enterprise-grade reliability and security standards.</a:t>
            </a:r>
          </a:p>
          <a:p>
            <a:pPr marL="285750" lvl="2" indent="-285750" algn="just" defTabSz="342869">
              <a:spcBef>
                <a:spcPts val="0"/>
              </a:spcBef>
              <a:spcAft>
                <a:spcPts val="675"/>
              </a:spcAft>
              <a:buClr>
                <a:srgbClr val="39C2D7"/>
              </a:buClr>
              <a:tabLst>
                <a:tab pos="478590" algn="l"/>
              </a:tabLst>
              <a:defRPr/>
            </a:pPr>
            <a:r>
              <a:rPr lang="en-GB" sz="1100"/>
              <a:t>Time-to-market improved from 12 days to 3 days average (75% reduction)</a:t>
            </a:r>
          </a:p>
          <a:p>
            <a:pPr marL="285750" lvl="2" indent="-285750" algn="just" defTabSz="342869">
              <a:spcBef>
                <a:spcPts val="0"/>
              </a:spcBef>
              <a:spcAft>
                <a:spcPts val="675"/>
              </a:spcAft>
              <a:buClr>
                <a:srgbClr val="39C2D7"/>
              </a:buClr>
              <a:tabLst>
                <a:tab pos="478590" algn="l"/>
              </a:tabLst>
              <a:defRPr/>
            </a:pPr>
            <a:r>
              <a:rPr lang="en-GB" sz="1100"/>
              <a:t>Deployment frequency increased to 20 deployments per team per sprint on average</a:t>
            </a:r>
          </a:p>
          <a:p>
            <a:pPr marL="285750" lvl="2" indent="-285750" algn="just" defTabSz="342869">
              <a:spcBef>
                <a:spcPts val="0"/>
              </a:spcBef>
              <a:spcAft>
                <a:spcPts val="675"/>
              </a:spcAft>
              <a:buClr>
                <a:srgbClr val="39C2D7"/>
              </a:buClr>
              <a:tabLst>
                <a:tab pos="478590" algn="l"/>
              </a:tabLst>
              <a:defRPr/>
            </a:pPr>
            <a:r>
              <a:rPr lang="en-GB" sz="1100"/>
              <a:t>Eliminated constant Scrum of Scrums coordination - reduced cross-team dependencies</a:t>
            </a:r>
          </a:p>
          <a:p>
            <a:pPr marL="285750" lvl="2" indent="-285750" algn="just" defTabSz="342869">
              <a:spcBef>
                <a:spcPts val="0"/>
              </a:spcBef>
              <a:spcAft>
                <a:spcPts val="675"/>
              </a:spcAft>
              <a:buClr>
                <a:srgbClr val="39C2D7"/>
              </a:buClr>
              <a:tabLst>
                <a:tab pos="478590" algn="l"/>
              </a:tabLst>
              <a:defRPr/>
            </a:pPr>
            <a:r>
              <a:rPr lang="en-GB" sz="1100"/>
              <a:t>Enabled independent team velocity while maintaining enterprise-grade reliability and security standards</a:t>
            </a:r>
          </a:p>
          <a:p>
            <a:pPr marL="285750" lvl="2" indent="-285750" algn="just" defTabSz="342869">
              <a:spcBef>
                <a:spcPts val="0"/>
              </a:spcBef>
              <a:spcAft>
                <a:spcPts val="675"/>
              </a:spcAft>
              <a:buClr>
                <a:srgbClr val="39C2D7"/>
              </a:buClr>
              <a:tabLst>
                <a:tab pos="478590" algn="l"/>
              </a:tabLst>
              <a:defRPr/>
            </a:pPr>
            <a:r>
              <a:rPr lang="en-US" sz="1100"/>
              <a:t>MFEs are easily integrated in AI driven solution like agents and chatbots via MCP because of size and limited context</a:t>
            </a:r>
            <a:endParaRPr lang="en-GB" sz="1100"/>
          </a:p>
          <a:p>
            <a:pPr marL="0" lvl="2" indent="0" algn="just" defTabSz="342869">
              <a:spcBef>
                <a:spcPts val="0"/>
              </a:spcBef>
              <a:spcAft>
                <a:spcPts val="675"/>
              </a:spcAft>
              <a:buClr>
                <a:srgbClr val="39C2D7"/>
              </a:buClr>
              <a:buNone/>
              <a:tabLst>
                <a:tab pos="478590" algn="l"/>
              </a:tabLst>
              <a:defRPr/>
            </a:pPr>
            <a:r>
              <a:rPr lang="en-GB" sz="1100"/>
              <a:t>Q</a:t>
            </a:r>
          </a:p>
          <a:p>
            <a:pPr marL="0" lvl="2" indent="0" algn="just" defTabSz="342869">
              <a:spcBef>
                <a:spcPts val="0"/>
              </a:spcBef>
              <a:spcAft>
                <a:spcPts val="675"/>
              </a:spcAft>
              <a:buClr>
                <a:srgbClr val="39C2D7"/>
              </a:buClr>
              <a:buNone/>
              <a:tabLst>
                <a:tab pos="478590" algn="l"/>
              </a:tabLst>
              <a:defRPr/>
            </a:pPr>
            <a:endParaRPr lang="en-US" sz="1100"/>
          </a:p>
        </p:txBody>
      </p:sp>
      <p:pic>
        <p:nvPicPr>
          <p:cNvPr id="2" name="Picture 1">
            <a:extLst>
              <a:ext uri="{FF2B5EF4-FFF2-40B4-BE49-F238E27FC236}">
                <a16:creationId xmlns:a16="http://schemas.microsoft.com/office/drawing/2014/main" id="{D8ACCC3B-8B0C-1491-F96D-BE58BCF9A05F}"/>
              </a:ext>
            </a:extLst>
          </p:cNvPr>
          <p:cNvPicPr>
            <a:picLocks noChangeAspect="1"/>
          </p:cNvPicPr>
          <p:nvPr/>
        </p:nvPicPr>
        <p:blipFill>
          <a:blip r:embed="rId2"/>
          <a:stretch>
            <a:fillRect/>
          </a:stretch>
        </p:blipFill>
        <p:spPr>
          <a:xfrm>
            <a:off x="6944264" y="1316391"/>
            <a:ext cx="5050570" cy="48361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 Placeholder 4">
            <a:extLst>
              <a:ext uri="{FF2B5EF4-FFF2-40B4-BE49-F238E27FC236}">
                <a16:creationId xmlns:a16="http://schemas.microsoft.com/office/drawing/2014/main" id="{8970CB91-9198-3E24-4649-7896DC198E01}"/>
              </a:ext>
            </a:extLst>
          </p:cNvPr>
          <p:cNvSpPr>
            <a:spLocks noGrp="1"/>
          </p:cNvSpPr>
          <p:nvPr>
            <p:ph type="body" sz="quarter" idx="10"/>
          </p:nvPr>
        </p:nvSpPr>
        <p:spPr>
          <a:xfrm>
            <a:off x="6506968" y="720725"/>
            <a:ext cx="2302297" cy="246221"/>
          </a:xfrm>
        </p:spPr>
        <p:txBody>
          <a:bodyPr/>
          <a:lstStyle/>
          <a:p>
            <a:pPr marL="0" indent="0">
              <a:buNone/>
            </a:pPr>
            <a:r>
              <a:rPr lang="en-US"/>
              <a:t>Solution Highlights</a:t>
            </a:r>
            <a:endParaRPr lang="en-PL"/>
          </a:p>
        </p:txBody>
      </p:sp>
      <p:sp>
        <p:nvSpPr>
          <p:cNvPr id="7" name="Text Placeholder 6">
            <a:extLst>
              <a:ext uri="{FF2B5EF4-FFF2-40B4-BE49-F238E27FC236}">
                <a16:creationId xmlns:a16="http://schemas.microsoft.com/office/drawing/2014/main" id="{C7957BFD-9C10-225A-73AA-7FD8C0F49412}"/>
              </a:ext>
            </a:extLst>
          </p:cNvPr>
          <p:cNvSpPr>
            <a:spLocks noGrp="1"/>
          </p:cNvSpPr>
          <p:nvPr>
            <p:ph type="body" sz="quarter" idx="18"/>
          </p:nvPr>
        </p:nvSpPr>
        <p:spPr>
          <a:xfrm>
            <a:off x="6506968" y="4119608"/>
            <a:ext cx="2302297" cy="246221"/>
          </a:xfrm>
        </p:spPr>
        <p:txBody>
          <a:bodyPr/>
          <a:lstStyle/>
          <a:p>
            <a:pPr marL="0" indent="0">
              <a:buNone/>
            </a:pPr>
            <a:r>
              <a:rPr lang="en-US"/>
              <a:t>Results</a:t>
            </a:r>
            <a:endParaRPr lang="en-PL"/>
          </a:p>
        </p:txBody>
      </p:sp>
      <p:sp>
        <p:nvSpPr>
          <p:cNvPr id="8" name="Title 7">
            <a:extLst>
              <a:ext uri="{FF2B5EF4-FFF2-40B4-BE49-F238E27FC236}">
                <a16:creationId xmlns:a16="http://schemas.microsoft.com/office/drawing/2014/main" id="{ACBF0E9F-1423-3825-621E-1C365EFF629A}"/>
              </a:ext>
            </a:extLst>
          </p:cNvPr>
          <p:cNvSpPr>
            <a:spLocks noGrp="1"/>
          </p:cNvSpPr>
          <p:nvPr>
            <p:ph type="title"/>
          </p:nvPr>
        </p:nvSpPr>
        <p:spPr/>
        <p:txBody>
          <a:bodyPr>
            <a:noAutofit/>
          </a:bodyPr>
          <a:lstStyle/>
          <a:p>
            <a:r>
              <a:rPr lang="en-GB"/>
              <a:t>Transforming Healthcare Claims Analytics with Data Pipeline Modernization</a:t>
            </a:r>
            <a:endParaRPr lang="en-PL"/>
          </a:p>
        </p:txBody>
      </p:sp>
      <p:sp>
        <p:nvSpPr>
          <p:cNvPr id="12" name="Text Placeholder 11">
            <a:extLst>
              <a:ext uri="{FF2B5EF4-FFF2-40B4-BE49-F238E27FC236}">
                <a16:creationId xmlns:a16="http://schemas.microsoft.com/office/drawing/2014/main" id="{A8B71187-2816-CC51-D76C-7F991842BF7B}"/>
              </a:ext>
            </a:extLst>
          </p:cNvPr>
          <p:cNvSpPr>
            <a:spLocks noGrp="1"/>
          </p:cNvSpPr>
          <p:nvPr>
            <p:ph type="body" sz="quarter" idx="15"/>
          </p:nvPr>
        </p:nvSpPr>
        <p:spPr/>
        <p:txBody>
          <a:bodyPr/>
          <a:lstStyle/>
          <a:p>
            <a:pPr marL="0" indent="0">
              <a:buNone/>
            </a:pPr>
            <a:r>
              <a:rPr lang="en-US"/>
              <a:t>Digital health company</a:t>
            </a:r>
          </a:p>
          <a:p>
            <a:pPr marL="0" indent="0">
              <a:buNone/>
            </a:pPr>
            <a:endParaRPr lang="en-US"/>
          </a:p>
        </p:txBody>
      </p:sp>
      <p:sp>
        <p:nvSpPr>
          <p:cNvPr id="9" name="Shape 610">
            <a:extLst>
              <a:ext uri="{FF2B5EF4-FFF2-40B4-BE49-F238E27FC236}">
                <a16:creationId xmlns:a16="http://schemas.microsoft.com/office/drawing/2014/main" id="{0A0B8010-5789-FD2C-F206-6E9618339D40}"/>
              </a:ext>
            </a:extLst>
          </p:cNvPr>
          <p:cNvSpPr txBox="1">
            <a:spLocks/>
          </p:cNvSpPr>
          <p:nvPr>
            <p:custDataLst>
              <p:tags r:id="rId2"/>
            </p:custDataLst>
          </p:nvPr>
        </p:nvSpPr>
        <p:spPr>
          <a:xfrm>
            <a:off x="457200" y="1494328"/>
            <a:ext cx="5530850" cy="1077218"/>
          </a:xfrm>
          <a:prstGeom prst="rect">
            <a:avLst/>
          </a:prstGeom>
          <a:ln w="12700">
            <a:miter lim="400000"/>
          </a:ln>
          <a:extLst>
            <a:ext uri="{C572A759-6A51-4108-AA02-DFA0A04FC94B}">
              <ma14:wrappingTextBoxFlag xmlns="" xmlns:m="http://schemas.openxmlformats.org/officeDocument/2006/math" xmlns:ma14="http://schemas.microsoft.com/office/mac/drawingml/2011/main" xmlns:p14="http://schemas.microsoft.com/office/powerpoint/2010/main" xmlns:a14="http://schemas.microsoft.com/office/drawing/2010/main" xmlns:a16="http://schemas.microsoft.com/office/drawing/2014/main" val="1"/>
            </a:ext>
          </a:extLst>
        </p:spPr>
        <p:txBody>
          <a:bodyPr wrap="square" lIns="0" tIns="0" rIns="0" bIns="0" anchor="t">
            <a:spAutoFit/>
          </a:bodyPr>
          <a:lstStyle>
            <a:lvl1pPr marL="243834" indent="-243834" algn="l" defTabSz="1219170" rtl="0" eaLnBrk="1" latinLnBrk="0" hangingPunct="1">
              <a:buClr>
                <a:schemeClr val="accent2"/>
              </a:buClr>
              <a:buFont typeface="Arial" panose="020B0604020202020204" pitchFamily="34" charset="0"/>
              <a:buChar char="•"/>
            </a:lvl1pPr>
            <a:lvl2pPr marL="243834" indent="-243834" algn="l" defTabSz="1219170" rtl="0" eaLnBrk="1" latinLnBrk="0" hangingPunct="1">
              <a:buClr>
                <a:schemeClr val="accent2"/>
              </a:buClr>
              <a:buFont typeface="Arial" panose="020B0604020202020204" pitchFamily="34" charset="0"/>
              <a:buChar char="•"/>
            </a:lvl2pPr>
            <a:lvl3pPr marL="457189" indent="-220128" algn="l" defTabSz="1219170" rtl="0" eaLnBrk="1" latinLnBrk="0" hangingPunct="1">
              <a:buClr>
                <a:schemeClr val="tx2"/>
              </a:buClr>
              <a:buFont typeface="Calibri" panose="020F0502020204030204" pitchFamily="34" charset="0"/>
              <a:buChar char="-"/>
            </a:lvl3pPr>
            <a:lvl4pPr marL="2209745" indent="-380990" algn="l" defTabSz="1219170" rtl="0" eaLnBrk="1" latinLnBrk="0" hangingPunct="1">
              <a:buFont typeface="Arial" panose="020B0604020202020204" pitchFamily="34" charset="0"/>
              <a:buChar char="•"/>
            </a:lvl4pPr>
            <a:lvl5pPr marL="3352716" indent="-304792" algn="l" defTabSz="1219170" rtl="0" eaLnBrk="1" latinLnBrk="0" hangingPunct="1">
              <a:buFont typeface="Arial" panose="020B0604020202020204" pitchFamily="34" charset="0"/>
              <a:buChar char="•"/>
            </a:lvl5pPr>
            <a:lvl6pPr marL="3352716" indent="-304792" algn="l" defTabSz="1219170" rtl="0" eaLnBrk="1" latinLnBrk="0" hangingPunct="1">
              <a:buFont typeface="Arial" panose="020B0604020202020204" pitchFamily="34" charset="0"/>
              <a:buChar char="•"/>
            </a:lvl6pPr>
            <a:lvl7pPr marL="3962301" indent="-304792" algn="l" defTabSz="1219170" rtl="0" eaLnBrk="1" latinLnBrk="0" hangingPunct="1">
              <a:buFont typeface="Arial" panose="020B0604020202020204" pitchFamily="34" charset="0"/>
              <a:buChar char="•"/>
            </a:lvl7pPr>
            <a:lvl8pPr marL="4571886" indent="-304792" algn="l" defTabSz="1219170" rtl="0" eaLnBrk="1" latinLnBrk="0" hangingPunct="1">
              <a:buFont typeface="Arial" panose="020B0604020202020204" pitchFamily="34" charset="0"/>
              <a:buChar char="•"/>
            </a:lvl8pPr>
            <a:lvl9pPr marL="5181470" indent="-304792" algn="l" defTabSz="1219170" rtl="0" eaLnBrk="1" latinLnBrk="0" hangingPunct="1">
              <a:buFont typeface="Arial" panose="020B0604020202020204" pitchFamily="34" charset="0"/>
              <a:buChar char="•"/>
            </a:lvl9pPr>
          </a:lstStyle>
          <a:p>
            <a:pPr marL="0" lvl="0" indent="0" defTabSz="914354">
              <a:buClrTx/>
              <a:buNone/>
              <a:defRPr/>
            </a:pPr>
            <a:r>
              <a:rPr kumimoji="0" lang="en-US" sz="1400" b="0" i="0" u="none" strike="noStrike" kern="1200" cap="none" spc="0" normalizeH="0" baseline="0" noProof="0">
                <a:ln>
                  <a:noFill/>
                </a:ln>
                <a:solidFill>
                  <a:srgbClr val="000000"/>
                </a:solidFill>
                <a:effectLst/>
                <a:uLnTx/>
                <a:uFillTx/>
                <a:latin typeface="Calibri"/>
                <a:ea typeface="Calibri"/>
                <a:cs typeface="Calibri"/>
              </a:rPr>
              <a:t>The client, </a:t>
            </a:r>
            <a:r>
              <a:rPr lang="en-GB" sz="1400"/>
              <a:t>a leading digital health company delivering personalized physical therapy and behavioural health support, sought to enhance its data analytics capabilities. The client needed a robust solution to ingest, process, and analyse complex healthcare claims data to validate their clinical interventions and optimize care pathways.</a:t>
            </a:r>
            <a:endParaRPr kumimoji="0" lang="en-US" sz="1400" b="0" i="0" u="none" strike="noStrike" kern="1200" cap="none" spc="0" normalizeH="0" baseline="0" noProof="0">
              <a:ln>
                <a:noFill/>
              </a:ln>
              <a:solidFill>
                <a:srgbClr val="000000"/>
              </a:solidFill>
              <a:effectLst/>
              <a:highlight>
                <a:srgbClr val="FFFF00"/>
              </a:highlight>
              <a:uLnTx/>
              <a:uFillTx/>
              <a:latin typeface="Calibri"/>
              <a:ea typeface="Calibri"/>
              <a:cs typeface="Calibri"/>
            </a:endParaRPr>
          </a:p>
        </p:txBody>
      </p:sp>
      <p:sp>
        <p:nvSpPr>
          <p:cNvPr id="10" name="Rectangle 9">
            <a:extLst>
              <a:ext uri="{FF2B5EF4-FFF2-40B4-BE49-F238E27FC236}">
                <a16:creationId xmlns:a16="http://schemas.microsoft.com/office/drawing/2014/main" id="{1E61B745-8815-2B95-3ED1-8AEA8C383C16}"/>
              </a:ext>
            </a:extLst>
          </p:cNvPr>
          <p:cNvSpPr/>
          <p:nvPr/>
        </p:nvSpPr>
        <p:spPr>
          <a:xfrm>
            <a:off x="6548398" y="995676"/>
            <a:ext cx="5052803" cy="3123932"/>
          </a:xfrm>
          <a:prstGeom prst="rect">
            <a:avLst/>
          </a:prstGeom>
        </p:spPr>
        <p:txBody>
          <a:bodyPr wrap="square" lIns="0" tIns="45720" rIns="0" bIns="45720" anchor="t">
            <a:spAutoFit/>
          </a:bodyPr>
          <a:lstStyle/>
          <a:p>
            <a:pPr marL="0" marR="0" lvl="0" indent="0" algn="l" defTabSz="914377" rtl="0" eaLnBrk="1" fontAlgn="auto" latinLnBrk="0" hangingPunct="1">
              <a:lnSpc>
                <a:spcPct val="100000"/>
              </a:lnSpc>
              <a:spcBef>
                <a:spcPts val="0"/>
              </a:spcBef>
              <a:spcAft>
                <a:spcPts val="300"/>
              </a:spcAft>
              <a:buClrTx/>
              <a:buSzTx/>
              <a:buFontTx/>
              <a:buNone/>
              <a:tabLst/>
              <a:defRPr/>
            </a:pPr>
            <a:r>
              <a:rPr kumimoji="0" lang="en-GB" sz="1400" b="0" i="0" u="none" strike="noStrike" kern="1200" cap="none" spc="0" normalizeH="0" baseline="0" noProof="0">
                <a:ln>
                  <a:noFill/>
                </a:ln>
                <a:solidFill>
                  <a:srgbClr val="222222"/>
                </a:solidFill>
                <a:effectLst/>
                <a:uLnTx/>
                <a:uFillTx/>
                <a:latin typeface="Calibri"/>
                <a:ea typeface="+mn-ea"/>
                <a:cs typeface="+mn-cs"/>
              </a:rPr>
              <a:t>EPAM team of skilled engineers and managers:</a:t>
            </a:r>
          </a:p>
          <a:p>
            <a:pPr marL="171450" lvl="0" indent="-171450" defTabSz="914377">
              <a:spcAft>
                <a:spcPts val="300"/>
              </a:spcAft>
              <a:buFont typeface="Arial" panose="020B0604020202020204" pitchFamily="34" charset="0"/>
              <a:buChar char="•"/>
              <a:defRPr/>
            </a:pPr>
            <a:r>
              <a:rPr lang="en-GB" sz="1400"/>
              <a:t>Migrated existing data warehouse from PostgreSQL to Databricks, improving scalability and analytics performance.</a:t>
            </a:r>
          </a:p>
          <a:p>
            <a:pPr marL="171450" lvl="0" indent="-171450" defTabSz="914377">
              <a:spcAft>
                <a:spcPts val="300"/>
              </a:spcAft>
              <a:buFont typeface="Arial" panose="020B0604020202020204" pitchFamily="34" charset="0"/>
              <a:buChar char="•"/>
              <a:defRPr/>
            </a:pPr>
            <a:r>
              <a:rPr lang="en-GB" sz="1400"/>
              <a:t>Developed a universal data ingestion framework using </a:t>
            </a:r>
            <a:r>
              <a:rPr lang="en-GB" sz="1400" b="1"/>
              <a:t>Apache Kafka</a:t>
            </a:r>
            <a:r>
              <a:rPr lang="en-GB" sz="1400"/>
              <a:t> and </a:t>
            </a:r>
            <a:r>
              <a:rPr lang="en-GB" sz="1400" b="1"/>
              <a:t>Databricks</a:t>
            </a:r>
            <a:r>
              <a:rPr lang="en-GB" sz="1400"/>
              <a:t>.</a:t>
            </a:r>
          </a:p>
          <a:p>
            <a:pPr marL="171450" lvl="0" indent="-171450" defTabSz="914377">
              <a:spcAft>
                <a:spcPts val="300"/>
              </a:spcAft>
              <a:buFont typeface="Arial" panose="020B0604020202020204" pitchFamily="34" charset="0"/>
              <a:buChar char="•"/>
              <a:defRPr/>
            </a:pPr>
            <a:r>
              <a:rPr lang="en-GB" sz="1400"/>
              <a:t>Implemented a high-performance claims file processing system with advanced data cleansing capabilities.</a:t>
            </a:r>
          </a:p>
          <a:p>
            <a:pPr marL="171450" lvl="0" indent="-171450" defTabSz="914377">
              <a:spcAft>
                <a:spcPts val="300"/>
              </a:spcAft>
              <a:buFont typeface="Arial" panose="020B0604020202020204" pitchFamily="34" charset="0"/>
              <a:buChar char="•"/>
              <a:defRPr/>
            </a:pPr>
            <a:r>
              <a:rPr lang="en-GB" sz="1400"/>
              <a:t>Created a streaming data pipeline supporting both real-time and batch data processing.</a:t>
            </a:r>
          </a:p>
          <a:p>
            <a:pPr marL="171450" lvl="0" indent="-171450" defTabSz="914377">
              <a:spcAft>
                <a:spcPts val="300"/>
              </a:spcAft>
              <a:buFont typeface="Arial" panose="020B0604020202020204" pitchFamily="34" charset="0"/>
              <a:buChar char="•"/>
              <a:defRPr/>
            </a:pPr>
            <a:r>
              <a:rPr lang="en-GB" sz="1400"/>
              <a:t>Established comprehensive cost optimization and governance strategies for </a:t>
            </a:r>
            <a:r>
              <a:rPr lang="en-GB" sz="1400" b="1"/>
              <a:t>Databricks</a:t>
            </a:r>
            <a:r>
              <a:rPr lang="en-GB" sz="1400"/>
              <a:t> environment.</a:t>
            </a:r>
          </a:p>
          <a:p>
            <a:pPr marL="171450" lvl="0" indent="-171450" defTabSz="914377">
              <a:spcAft>
                <a:spcPts val="300"/>
              </a:spcAft>
              <a:buFont typeface="Arial" panose="020B0604020202020204" pitchFamily="34" charset="0"/>
              <a:buChar char="•"/>
              <a:defRPr/>
            </a:pPr>
            <a:r>
              <a:rPr lang="en-GB" sz="1400"/>
              <a:t>Designed flexible, schema-adaptive ingestion mechanisms for diverse healthcare data sources.</a:t>
            </a:r>
            <a:endParaRPr kumimoji="0" lang="en-US" sz="1100" b="0" i="0" u="none" strike="noStrike" kern="1200" cap="none" spc="0" normalizeH="0" baseline="0" noProof="0">
              <a:ln>
                <a:noFill/>
              </a:ln>
              <a:solidFill>
                <a:srgbClr val="222222"/>
              </a:solidFill>
              <a:effectLst/>
              <a:uLnTx/>
              <a:uFillTx/>
              <a:latin typeface="Calibri"/>
              <a:ea typeface="Calibri"/>
              <a:cs typeface="Calibri"/>
            </a:endParaRPr>
          </a:p>
        </p:txBody>
      </p:sp>
      <p:sp>
        <p:nvSpPr>
          <p:cNvPr id="11" name="Rectangle 10">
            <a:extLst>
              <a:ext uri="{FF2B5EF4-FFF2-40B4-BE49-F238E27FC236}">
                <a16:creationId xmlns:a16="http://schemas.microsoft.com/office/drawing/2014/main" id="{3FE0E734-4561-1A34-D3CE-9903038EE35C}"/>
              </a:ext>
            </a:extLst>
          </p:cNvPr>
          <p:cNvSpPr/>
          <p:nvPr/>
        </p:nvSpPr>
        <p:spPr>
          <a:xfrm>
            <a:off x="6548398" y="4460617"/>
            <a:ext cx="5202260" cy="2046714"/>
          </a:xfrm>
          <a:prstGeom prst="rect">
            <a:avLst/>
          </a:prstGeom>
        </p:spPr>
        <p:txBody>
          <a:bodyPr wrap="square" lIns="0" tIns="45720" rIns="0" bIns="45720" anchor="t">
            <a:spAutoFit/>
          </a:bodyPr>
          <a:lstStyle/>
          <a:p>
            <a:pPr marL="285750" lvl="0" indent="-285750">
              <a:spcAft>
                <a:spcPts val="600"/>
              </a:spcAft>
              <a:buFont typeface="Arial" panose="020B0604020202020204" pitchFamily="34" charset="0"/>
              <a:buChar char="•"/>
              <a:defRPr/>
            </a:pPr>
            <a:r>
              <a:rPr lang="en-GB" sz="1400"/>
              <a:t>Significantly </a:t>
            </a:r>
            <a:r>
              <a:rPr lang="en-GB" sz="1400" b="1"/>
              <a:t>improved data processing capabilities</a:t>
            </a:r>
            <a:r>
              <a:rPr lang="en-GB" sz="1400"/>
              <a:t>, enabling more precise measurement of clinical intervention outcomes.</a:t>
            </a:r>
          </a:p>
          <a:p>
            <a:pPr marL="285750" lvl="0" indent="-285750">
              <a:spcAft>
                <a:spcPts val="600"/>
              </a:spcAft>
              <a:buFont typeface="Arial" panose="020B0604020202020204" pitchFamily="34" charset="0"/>
              <a:buChar char="•"/>
              <a:defRPr/>
            </a:pPr>
            <a:r>
              <a:rPr lang="en-GB" sz="1400"/>
              <a:t>Enhanced ability to quantify program impact through comprehensive </a:t>
            </a:r>
            <a:r>
              <a:rPr lang="en-GB" sz="1400" b="1"/>
              <a:t>claims data analysis</a:t>
            </a:r>
            <a:r>
              <a:rPr lang="en-GB" sz="1400"/>
              <a:t>.</a:t>
            </a:r>
          </a:p>
          <a:p>
            <a:pPr marL="285750" lvl="0" indent="-285750">
              <a:spcAft>
                <a:spcPts val="600"/>
              </a:spcAft>
              <a:buFont typeface="Arial" panose="020B0604020202020204" pitchFamily="34" charset="0"/>
              <a:buChar char="•"/>
              <a:defRPr/>
            </a:pPr>
            <a:r>
              <a:rPr lang="en-GB" sz="1400"/>
              <a:t>Reduced data processing complexity and improved overall data quality and reliability.</a:t>
            </a:r>
          </a:p>
          <a:p>
            <a:pPr marL="285750" lvl="0" indent="-285750">
              <a:spcAft>
                <a:spcPts val="600"/>
              </a:spcAft>
              <a:buFont typeface="Arial" panose="020B0604020202020204" pitchFamily="34" charset="0"/>
              <a:buChar char="•"/>
              <a:defRPr/>
            </a:pPr>
            <a:r>
              <a:rPr lang="en-GB" sz="1400"/>
              <a:t>Implemented </a:t>
            </a:r>
            <a:r>
              <a:rPr lang="en-GB" sz="1400" b="1"/>
              <a:t>cost-efficient data management strategies</a:t>
            </a:r>
            <a:r>
              <a:rPr lang="en-GB" sz="1400"/>
              <a:t>, optimizing Databricks resource utilization.</a:t>
            </a:r>
            <a:endParaRPr kumimoji="0" lang="en-US" sz="1050" b="0" i="0" u="none" strike="noStrike" kern="1200" cap="none" spc="0" normalizeH="0" baseline="0" noProof="0">
              <a:ln>
                <a:noFill/>
              </a:ln>
              <a:solidFill>
                <a:srgbClr val="222222"/>
              </a:solidFill>
              <a:effectLst/>
              <a:uLnTx/>
              <a:uFillTx/>
              <a:latin typeface="Calibri"/>
              <a:ea typeface="+mn-ea"/>
              <a:cs typeface="+mn-cs"/>
            </a:endParaRPr>
          </a:p>
        </p:txBody>
      </p:sp>
      <p:pic>
        <p:nvPicPr>
          <p:cNvPr id="2" name="image3.png">
            <a:extLst>
              <a:ext uri="{FF2B5EF4-FFF2-40B4-BE49-F238E27FC236}">
                <a16:creationId xmlns:a16="http://schemas.microsoft.com/office/drawing/2014/main" id="{365F0BD3-8A37-EF96-B17E-6600DA0384C8}"/>
              </a:ext>
            </a:extLst>
          </p:cNvPr>
          <p:cNvPicPr/>
          <p:nvPr/>
        </p:nvPicPr>
        <p:blipFill>
          <a:blip r:embed="rId3"/>
          <a:srcRect/>
          <a:stretch>
            <a:fillRect/>
          </a:stretch>
        </p:blipFill>
        <p:spPr>
          <a:xfrm>
            <a:off x="647030" y="2969597"/>
            <a:ext cx="4728706" cy="3388995"/>
          </a:xfrm>
          <a:prstGeom prst="rect">
            <a:avLst/>
          </a:prstGeom>
          <a:ln/>
        </p:spPr>
      </p:pic>
      <p:sp>
        <p:nvSpPr>
          <p:cNvPr id="4" name="TextBox 3">
            <a:extLst>
              <a:ext uri="{FF2B5EF4-FFF2-40B4-BE49-F238E27FC236}">
                <a16:creationId xmlns:a16="http://schemas.microsoft.com/office/drawing/2014/main" id="{E924E6FD-FA17-A40F-DD7D-6C228A9121A4}"/>
              </a:ext>
            </a:extLst>
          </p:cNvPr>
          <p:cNvSpPr txBox="1"/>
          <p:nvPr/>
        </p:nvSpPr>
        <p:spPr>
          <a:xfrm>
            <a:off x="528320" y="2753360"/>
            <a:ext cx="2306320" cy="246221"/>
          </a:xfrm>
          <a:prstGeom prst="rect">
            <a:avLst/>
          </a:prstGeom>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600" b="0" i="1" u="none" strike="noStrike" kern="1200" cap="none" spc="0" normalizeH="0" baseline="0" noProof="0">
                <a:ln>
                  <a:noFill/>
                </a:ln>
                <a:solidFill>
                  <a:srgbClr val="000000"/>
                </a:solidFill>
                <a:effectLst/>
                <a:uLnTx/>
                <a:uFillTx/>
                <a:latin typeface="Calibri"/>
                <a:ea typeface="+mn-ea"/>
                <a:cs typeface="+mn-cs"/>
              </a:rPr>
              <a:t>Architecture Layout:</a:t>
            </a:r>
          </a:p>
        </p:txBody>
      </p:sp>
      <p:sp>
        <p:nvSpPr>
          <p:cNvPr id="3" name="Example Scenario delivered by EPAM">
            <a:extLst>
              <a:ext uri="{FF2B5EF4-FFF2-40B4-BE49-F238E27FC236}">
                <a16:creationId xmlns:a16="http://schemas.microsoft.com/office/drawing/2014/main" id="{D2448E74-2B17-B33A-E8AD-52C36B38C74B}"/>
              </a:ext>
            </a:extLst>
          </p:cNvPr>
          <p:cNvSpPr txBox="1"/>
          <p:nvPr/>
        </p:nvSpPr>
        <p:spPr>
          <a:xfrm>
            <a:off x="9784501" y="59604"/>
            <a:ext cx="2412000" cy="246221"/>
          </a:xfrm>
          <a:prstGeom prst="rect">
            <a:avLst/>
          </a:prstGeom>
          <a:gradFill flip="none" rotWithShape="1">
            <a:gsLst>
              <a:gs pos="47000">
                <a:schemeClr val="accent2"/>
              </a:gs>
              <a:gs pos="74000">
                <a:schemeClr val="accent5"/>
              </a:gs>
              <a:gs pos="99000">
                <a:schemeClr val="accent4"/>
              </a:gs>
            </a:gsLst>
            <a:lin ang="0" scaled="1"/>
            <a:tileRect/>
          </a:gradFill>
          <a:ln w="12700" cap="flat">
            <a:noFill/>
            <a:miter lim="400000"/>
          </a:ln>
          <a:effectLst/>
          <a:extLst>
            <a:ext uri="{C572A759-6A51-4108-AA02-DFA0A04FC94B}">
              <ma14:wrappingTextBoxFlag xmlns="" xmlns:a16="http://schemas.microsoft.com/office/drawing/2014/main" xmlns:p14="http://schemas.microsoft.com/office/powerpoint/2010/main" xmlns:ma14="http://schemas.microsoft.com/office/mac/drawingml/2011/main" xmlns:a14="http://schemas.microsoft.com/office/drawing/2010/main" xmlns:m="http://schemas.openxmlformats.org/officeDocument/2006/math" val="1"/>
            </a:ext>
          </a:extLst>
        </p:spPr>
        <p:txBody>
          <a:bodyPr wrap="square" lIns="45719" tIns="45719" rIns="45719" bIns="45719" numCol="1" anchor="ctr">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133350" lvl="0" eaLnBrk="1">
              <a:defRPr sz="1400" b="1" kern="0">
                <a:solidFill>
                  <a:srgbClr val="FFFFFF"/>
                </a:solidFill>
                <a:uLnTx/>
                <a:latin typeface="Calibri Bold"/>
                <a:ea typeface="+mn-ea"/>
                <a:cs typeface="+mn-cs"/>
              </a:defRPr>
            </a:lvl1pPr>
          </a:lstStyle>
          <a:p>
            <a:pPr algn="ctr"/>
            <a:r>
              <a:rPr lang="en-US"/>
              <a:t>Kafka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seeds dropped from migration code scope</a:t>
            </a:r>
          </a:p>
        </p:txBody>
      </p:sp>
      <p:sp>
        <p:nvSpPr>
          <p:cNvPr id="3" name="Text Placeholder 2"/>
          <p:cNvSpPr>
            <a:spLocks noGrp="1"/>
          </p:cNvSpPr>
          <p:nvPr>
            <p:ph type="body" idx="15" sz="quarter"/>
          </p:nvPr>
        </p:nvSpPr>
        <p:spPr/>
        <p:txBody>
          <a:bodyPr/>
          <a:lstStyle/>
          <a:p>
            <a:r>
              <a:t>NOT SFTP CALLERS</a:t>
            </a:r>
          </a:p>
        </p:txBody>
      </p:sp>
      <p:sp>
        <p:nvSpPr>
          <p:cNvPr id="4"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_1_Block"/>
          <p:cNvSpPr/>
          <p:nvPr/>
        </p:nvSpPr>
        <p:spPr>
          <a:xfrm>
            <a:off x="457200" y="1463040"/>
            <a:ext cx="11064240" cy="1738624"/>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Dropped seeds</a:t>
            </a:r>
          </a:p>
          <a:p>
            <a:pPr algn="l" marL="228600" indent="-182880">
              <a:spcAft>
                <a:spcPts val="0"/>
              </a:spcAft>
              <a:buClr>
                <a:srgbClr val="FFFFFF"/>
              </a:buClr>
              <a:buChar char="•"/>
            </a:pPr>
            <a:r>
              <a:rPr sz="1400" b="1">
                <a:solidFill>
                  <a:srgbClr val="FFFFFF"/>
                </a:solidFill>
              </a:rPr>
              <a:t>/VERTEX/SPOT_VAT_OUTPUT_COMPL</a:t>
            </a:r>
            <a:r>
              <a:rPr sz="1400">
                <a:solidFill>
                  <a:srgbClr val="FFFFFF"/>
                </a:solidFill>
              </a:rPr>
              <a:t> — Vertex tax, local I/O.</a:t>
            </a:r>
          </a:p>
          <a:p>
            <a:pPr algn="l" marL="228600" indent="-182880">
              <a:spcAft>
                <a:spcPts val="0"/>
              </a:spcAft>
              <a:buClr>
                <a:srgbClr val="FFFFFF"/>
              </a:buClr>
              <a:buChar char="•"/>
            </a:pPr>
            <a:r>
              <a:rPr sz="1400" b="1">
                <a:solidFill>
                  <a:srgbClr val="FFFFFF"/>
                </a:solidFill>
              </a:rPr>
              <a:t>/VERTEX/SPOT_VAT_INPUT_COMPL</a:t>
            </a:r>
            <a:r>
              <a:rPr sz="1400">
                <a:solidFill>
                  <a:srgbClr val="FFFFFF"/>
                </a:solidFill>
              </a:rPr>
              <a:t> — Vertex tax, local I/O.</a:t>
            </a:r>
          </a:p>
          <a:p>
            <a:pPr algn="l" marL="228600" indent="-182880">
              <a:spcAft>
                <a:spcPts val="0"/>
              </a:spcAft>
              <a:buClr>
                <a:srgbClr val="FFFFFF"/>
              </a:buClr>
              <a:buChar char="•"/>
            </a:pPr>
            <a:r>
              <a:rPr sz="1400" b="1">
                <a:solidFill>
                  <a:srgbClr val="FFFFFF"/>
                </a:solidFill>
              </a:rPr>
              <a:t>ZEDI_835</a:t>
            </a:r>
            <a:r>
              <a:rPr sz="1400">
                <a:solidFill>
                  <a:srgbClr val="FFFFFF"/>
                </a:solidFill>
              </a:rPr>
              <a:t> — OPEN DATASET / GUI_UPLOAD only.</a:t>
            </a:r>
          </a:p>
          <a:p>
            <a:pPr algn="l" marL="228600" indent="-182880">
              <a:spcAft>
                <a:spcPts val="0"/>
              </a:spcAft>
              <a:buClr>
                <a:srgbClr val="FFFFFF"/>
              </a:buClr>
              <a:buChar char="•"/>
            </a:pPr>
            <a:r>
              <a:rPr sz="1400" b="1">
                <a:solidFill>
                  <a:srgbClr val="FFFFFF"/>
                </a:solidFill>
              </a:rPr>
              <a:t>ZEDI_835_JPM</a:t>
            </a:r>
            <a:r>
              <a:rPr sz="1400">
                <a:solidFill>
                  <a:srgbClr val="FFFFFF"/>
                </a:solidFill>
              </a:rPr>
              <a:t> — same shape, JPMorgan variant.</a:t>
            </a:r>
          </a:p>
          <a:p>
            <a:pPr algn="l" marL="228600" indent="-182880">
              <a:spcAft>
                <a:spcPts val="0"/>
              </a:spcAft>
              <a:buClr>
                <a:srgbClr val="FFFFFF"/>
              </a:buClr>
              <a:buChar char="•"/>
            </a:pPr>
            <a:r>
              <a:rPr sz="1400" b="1">
                <a:solidFill>
                  <a:srgbClr val="FFFFFF"/>
                </a:solidFill>
              </a:rPr>
              <a:t>ZFI_BANK_STMT_LOAD</a:t>
            </a:r>
            <a:r>
              <a:rPr sz="1400">
                <a:solidFill>
                  <a:srgbClr val="FFFFFF"/>
                </a:solidFill>
              </a:rPr>
              <a:t> — local include processing.</a:t>
            </a:r>
          </a:p>
        </p:txBody>
      </p:sp>
      <p:graphicFrame>
        <p:nvGraphicFramePr>
          <p:cNvPr id="6" name="c_2_Block"/>
          <p:cNvGraphicFramePr>
            <a:graphicFrameLocks noGrp="1"/>
          </p:cNvGraphicFramePr>
          <p:nvPr/>
        </p:nvGraphicFramePr>
        <p:xfrm>
          <a:off x="457200" y="5669280"/>
          <a:ext cx="11064240" cy="457200"/>
        </p:xfrm>
        <a:graphic>
          <a:graphicData uri="http://schemas.openxmlformats.org/drawingml/2006/table">
            <a:tbl>
              <a:tblPr firstRow="0" bandRow="0" lastRow="0" firstCol="0" lastCol="0" bandCol="0"/>
              <a:tblGrid>
                <a:gridCol w="11064240"/>
              </a:tblGrid>
              <a:tr h="457200">
                <a:tc>
                  <a:txBody>
                    <a:bodyPr wrap="square"/>
                    <a:lstStyle/>
                    <a:p>
                      <a:pPr algn="l"/>
                      <a:r>
                        <a:rPr sz="1100">
                          <a:solidFill>
                            <a:srgbClr val="000000"/>
                          </a:solidFill>
                        </a:rPr>
                        <a:t>Their file paths must still exist after the SFTP layer is replaced — they consume what SFTP callers land.</a:t>
                      </a:r>
                    </a:p>
                  </a:txBody>
                  <a:tcPr marL="137160" marR="91440" marT="45720" marB="91440" anchor="t">
                    <a:lnL w="73152" cap="flat" cmpd="sng">
                      <a:solidFill>
                        <a:srgbClr val="E06C00"/>
                      </a:solidFill>
                      <a:prstDash val="solid"/>
                    </a:lnL>
                    <a:lnR>
                      <a:noFill/>
                    </a:lnR>
                    <a:lnT>
                      <a:noFill/>
                    </a:lnT>
                    <a:lnB>
                      <a:noFill/>
                    </a:lnB>
                    <a:solidFill>
                      <a:srgbClr val="FCFCF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a:t>
            </a:r>
          </a:p>
        </p:txBody>
      </p:sp>
      <p:sp>
        <p:nvSpPr>
          <p:cNvPr id="3" name="Text Placeholder 2"/>
          <p:cNvSpPr>
            <a:spLocks noGrp="1"/>
          </p:cNvSpPr>
          <p:nvPr>
            <p:ph type="body" idx="10" sz="quarter"/>
          </p:nvPr>
        </p:nvSpPr>
        <p:spPr/>
        <p:txBody>
          <a:bodyPr/>
          <a:lstStyle/>
          <a:p>
            <a:r>
              <a:t>05</a:t>
            </a:r>
          </a:p>
        </p:txBody>
      </p:sp>
      <p:sp>
        <p:nvSpPr>
          <p:cNvPr id="4" name="Text Placeholder 3"/>
          <p:cNvSpPr>
            <a:spLocks noGrp="1"/>
          </p:cNvSpPr>
          <p:nvPr>
            <p:ph type="body" idx="16" sz="quarter"/>
          </p:nvPr>
        </p:nvSpPr>
        <p:spPr/>
        <p:txBody>
          <a:bodyPr/>
          <a:lstStyle/>
          <a:p>
            <a:r>
              <a:t>The answer to the original goal, plus what the next team needs before they start writing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Migration scope, in numbers</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_1_BlockGrid:0:c_1_Block:metric"/>
          <p:cNvSpPr txBox="1"/>
          <p:nvPr/>
        </p:nvSpPr>
        <p:spPr>
          <a:xfrm>
            <a:off x="548640" y="1554480"/>
            <a:ext cx="3383280" cy="408939"/>
          </a:xfrm>
          <a:prstGeom prst="rect">
            <a:avLst/>
          </a:prstGeom>
          <a:noFill/>
        </p:spPr>
        <p:txBody>
          <a:bodyPr wrap="none" lIns="0" rIns="0" tIns="0" bIns="0">
            <a:spAutoFit/>
          </a:bodyPr>
          <a:lstStyle/>
          <a:p>
            <a:pPr algn="ctr"/>
            <a:r>
              <a:rPr sz="2800" b="1">
                <a:solidFill>
                  <a:srgbClr val="0047FF"/>
                </a:solidFill>
              </a:rPr>
              <a:t>18</a:t>
            </a:r>
          </a:p>
        </p:txBody>
      </p:sp>
      <p:sp>
        <p:nvSpPr>
          <p:cNvPr id="6" name="c_1_BlockGrid:0:c_1_Block:content"/>
          <p:cNvSpPr txBox="1"/>
          <p:nvPr/>
        </p:nvSpPr>
        <p:spPr>
          <a:xfrm>
            <a:off x="548640" y="2009139"/>
            <a:ext cx="3383280" cy="160020"/>
          </a:xfrm>
          <a:prstGeom prst="rect">
            <a:avLst/>
          </a:prstGeom>
          <a:noFill/>
        </p:spPr>
        <p:txBody>
          <a:bodyPr wrap="square" lIns="0" rIns="0" tIns="0" bIns="0" anchor="t"/>
          <a:lstStyle/>
          <a:p>
            <a:pPr algn="l"/>
            <a:r>
              <a:rPr sz="1100">
                <a:solidFill>
                  <a:srgbClr val="000000"/>
                </a:solidFill>
              </a:rPr>
              <a:t>ABAP objects in scope (16 PROG + 2 FUGR core).</a:t>
            </a:r>
          </a:p>
        </p:txBody>
      </p:sp>
      <p:sp>
        <p:nvSpPr>
          <p:cNvPr id="7" name="c_1_BlockGrid:1:c_2_Block:container"/>
          <p:cNvSpPr/>
          <p:nvPr/>
        </p:nvSpPr>
        <p:spPr>
          <a:xfrm>
            <a:off x="420624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_1_BlockGrid:1:c_2_Block:metric"/>
          <p:cNvSpPr txBox="1"/>
          <p:nvPr/>
        </p:nvSpPr>
        <p:spPr>
          <a:xfrm>
            <a:off x="4297680" y="1554480"/>
            <a:ext cx="3383280" cy="408939"/>
          </a:xfrm>
          <a:prstGeom prst="rect">
            <a:avLst/>
          </a:prstGeom>
          <a:noFill/>
        </p:spPr>
        <p:txBody>
          <a:bodyPr wrap="none" lIns="0" rIns="0" tIns="0" bIns="0">
            <a:spAutoFit/>
          </a:bodyPr>
          <a:lstStyle/>
          <a:p>
            <a:pPr algn="ctr"/>
            <a:r>
              <a:rPr sz="2800" b="1">
                <a:solidFill>
                  <a:srgbClr val="A080DB"/>
                </a:solidFill>
              </a:rPr>
              <a:t>16</a:t>
            </a:r>
          </a:p>
        </p:txBody>
      </p:sp>
      <p:sp>
        <p:nvSpPr>
          <p:cNvPr id="9" name="c_1_BlockGrid:1:c_2_Block:content"/>
          <p:cNvSpPr txBox="1"/>
          <p:nvPr/>
        </p:nvSpPr>
        <p:spPr>
          <a:xfrm>
            <a:off x="4297680" y="2009139"/>
            <a:ext cx="3383280" cy="160020"/>
          </a:xfrm>
          <a:prstGeom prst="rect">
            <a:avLst/>
          </a:prstGeom>
          <a:noFill/>
        </p:spPr>
        <p:txBody>
          <a:bodyPr wrap="square" lIns="0" rIns="0" tIns="0" bIns="0" anchor="t"/>
          <a:lstStyle/>
          <a:p>
            <a:pPr algn="l"/>
            <a:r>
              <a:rPr sz="1100">
                <a:solidFill>
                  <a:srgbClr val="000000"/>
                </a:solidFill>
              </a:rPr>
              <a:t>business consumer reports.</a:t>
            </a:r>
          </a:p>
        </p:txBody>
      </p:sp>
      <p:sp>
        <p:nvSpPr>
          <p:cNvPr id="10" name="c_1_BlockGrid:2:c_3_Block:container"/>
          <p:cNvSpPr/>
          <p:nvPr/>
        </p:nvSpPr>
        <p:spPr>
          <a:xfrm>
            <a:off x="795528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_1_BlockGrid:2:c_3_Block:metric"/>
          <p:cNvSpPr txBox="1"/>
          <p:nvPr/>
        </p:nvSpPr>
        <p:spPr>
          <a:xfrm>
            <a:off x="8046720" y="1554480"/>
            <a:ext cx="3383280" cy="408939"/>
          </a:xfrm>
          <a:prstGeom prst="rect">
            <a:avLst/>
          </a:prstGeom>
          <a:noFill/>
        </p:spPr>
        <p:txBody>
          <a:bodyPr wrap="none" lIns="0" rIns="0" tIns="0" bIns="0">
            <a:spAutoFit/>
          </a:bodyPr>
          <a:lstStyle/>
          <a:p>
            <a:pPr algn="ctr"/>
            <a:r>
              <a:rPr sz="2800" b="1">
                <a:solidFill>
                  <a:srgbClr val="0078C2"/>
                </a:solidFill>
              </a:rPr>
              <a:t>8</a:t>
            </a:r>
          </a:p>
        </p:txBody>
      </p:sp>
      <p:sp>
        <p:nvSpPr>
          <p:cNvPr id="12" name="c_1_BlockGrid:2:c_3_Block:content"/>
          <p:cNvSpPr txBox="1"/>
          <p:nvPr/>
        </p:nvSpPr>
        <p:spPr>
          <a:xfrm>
            <a:off x="8046720" y="2009139"/>
            <a:ext cx="3383280" cy="160020"/>
          </a:xfrm>
          <a:prstGeom prst="rect">
            <a:avLst/>
          </a:prstGeom>
          <a:noFill/>
        </p:spPr>
        <p:txBody>
          <a:bodyPr wrap="square" lIns="0" rIns="0" tIns="0" bIns="0" anchor="t"/>
          <a:lstStyle/>
          <a:p>
            <a:pPr algn="l"/>
            <a:r>
              <a:rPr sz="1100">
                <a:solidFill>
                  <a:srgbClr val="000000"/>
                </a:solidFill>
              </a:rPr>
              <a:t>distinct counter-party endpoints.</a:t>
            </a:r>
          </a:p>
        </p:txBody>
      </p:sp>
      <p:sp>
        <p:nvSpPr>
          <p:cNvPr id="13" name="c_1_BlockGrid:3:c_4_Block:container"/>
          <p:cNvSpPr/>
          <p:nvPr/>
        </p:nvSpPr>
        <p:spPr>
          <a:xfrm>
            <a:off x="45720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_1_BlockGrid:3:c_4_Block:metric"/>
          <p:cNvSpPr txBox="1"/>
          <p:nvPr/>
        </p:nvSpPr>
        <p:spPr>
          <a:xfrm>
            <a:off x="548640" y="4005072"/>
            <a:ext cx="3383280" cy="408939"/>
          </a:xfrm>
          <a:prstGeom prst="rect">
            <a:avLst/>
          </a:prstGeom>
          <a:noFill/>
        </p:spPr>
        <p:txBody>
          <a:bodyPr wrap="none" lIns="0" rIns="0" tIns="0" bIns="0">
            <a:spAutoFit/>
          </a:bodyPr>
          <a:lstStyle/>
          <a:p>
            <a:pPr algn="ctr"/>
            <a:r>
              <a:rPr sz="2800" b="1">
                <a:solidFill>
                  <a:srgbClr val="107E8D"/>
                </a:solidFill>
              </a:rPr>
              <a:t>11</a:t>
            </a:r>
          </a:p>
        </p:txBody>
      </p:sp>
      <p:sp>
        <p:nvSpPr>
          <p:cNvPr id="15" name="c_1_BlockGrid:3:c_4_Block:content"/>
          <p:cNvSpPr txBox="1"/>
          <p:nvPr/>
        </p:nvSpPr>
        <p:spPr>
          <a:xfrm>
            <a:off x="548640" y="4459731"/>
            <a:ext cx="3383280" cy="160020"/>
          </a:xfrm>
          <a:prstGeom prst="rect">
            <a:avLst/>
          </a:prstGeom>
          <a:noFill/>
        </p:spPr>
        <p:txBody>
          <a:bodyPr wrap="square" lIns="0" rIns="0" tIns="0" bIns="0" anchor="t"/>
          <a:lstStyle/>
          <a:p>
            <a:pPr algn="l"/>
            <a:r>
              <a:rPr sz="1100">
                <a:solidFill>
                  <a:srgbClr val="000000"/>
                </a:solidFill>
              </a:rPr>
              <a:t>SM69 commands.</a:t>
            </a:r>
          </a:p>
        </p:txBody>
      </p:sp>
      <p:sp>
        <p:nvSpPr>
          <p:cNvPr id="16" name="c_1_BlockGrid:4:c_5_Block:container"/>
          <p:cNvSpPr/>
          <p:nvPr/>
        </p:nvSpPr>
        <p:spPr>
          <a:xfrm>
            <a:off x="420624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_1_BlockGrid:4:c_5_Block:metric"/>
          <p:cNvSpPr txBox="1"/>
          <p:nvPr/>
        </p:nvSpPr>
        <p:spPr>
          <a:xfrm>
            <a:off x="4297680" y="4005072"/>
            <a:ext cx="3383280" cy="408939"/>
          </a:xfrm>
          <a:prstGeom prst="rect">
            <a:avLst/>
          </a:prstGeom>
          <a:noFill/>
        </p:spPr>
        <p:txBody>
          <a:bodyPr wrap="none" lIns="0" rIns="0" tIns="0" bIns="0">
            <a:spAutoFit/>
          </a:bodyPr>
          <a:lstStyle/>
          <a:p>
            <a:pPr algn="ctr"/>
            <a:r>
              <a:rPr sz="2800" b="1">
                <a:solidFill>
                  <a:srgbClr val="E06C00"/>
                </a:solidFill>
              </a:rPr>
              <a:t>2</a:t>
            </a:r>
          </a:p>
        </p:txBody>
      </p:sp>
      <p:sp>
        <p:nvSpPr>
          <p:cNvPr id="18" name="c_1_BlockGrid:4:c_5_Block:content"/>
          <p:cNvSpPr txBox="1"/>
          <p:nvPr/>
        </p:nvSpPr>
        <p:spPr>
          <a:xfrm>
            <a:off x="4297680" y="4459731"/>
            <a:ext cx="3383280" cy="160020"/>
          </a:xfrm>
          <a:prstGeom prst="rect">
            <a:avLst/>
          </a:prstGeom>
          <a:noFill/>
        </p:spPr>
        <p:txBody>
          <a:bodyPr wrap="square" lIns="0" rIns="0" tIns="0" bIns="0" anchor="t"/>
          <a:lstStyle/>
          <a:p>
            <a:pPr algn="l"/>
            <a:r>
              <a:rPr sz="1100">
                <a:solidFill>
                  <a:srgbClr val="000000"/>
                </a:solidFill>
              </a:rPr>
              <a:t>auth modes to support.</a:t>
            </a:r>
          </a:p>
        </p:txBody>
      </p:sp>
      <p:sp>
        <p:nvSpPr>
          <p:cNvPr id="19" name="c_1_BlockGrid:5:c_6_Block:container"/>
          <p:cNvSpPr/>
          <p:nvPr/>
        </p:nvSpPr>
        <p:spPr>
          <a:xfrm>
            <a:off x="795528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_1_BlockGrid:5:c_6_Block:metric"/>
          <p:cNvSpPr txBox="1"/>
          <p:nvPr/>
        </p:nvSpPr>
        <p:spPr>
          <a:xfrm>
            <a:off x="8046720" y="4005072"/>
            <a:ext cx="3383280" cy="408939"/>
          </a:xfrm>
          <a:prstGeom prst="rect">
            <a:avLst/>
          </a:prstGeom>
          <a:noFill/>
        </p:spPr>
        <p:txBody>
          <a:bodyPr wrap="none" lIns="0" rIns="0" tIns="0" bIns="0">
            <a:spAutoFit/>
          </a:bodyPr>
          <a:lstStyle/>
          <a:p>
            <a:pPr algn="ctr"/>
            <a:r>
              <a:rPr sz="2800" b="1">
                <a:solidFill>
                  <a:srgbClr val="00A705"/>
                </a:solidFill>
              </a:rPr>
              <a:t>+46%</a:t>
            </a:r>
          </a:p>
        </p:txBody>
      </p:sp>
      <p:sp>
        <p:nvSpPr>
          <p:cNvPr id="21" name="c_1_BlockGrid:5:c_6_Block:content"/>
          <p:cNvSpPr txBox="1"/>
          <p:nvPr/>
        </p:nvSpPr>
        <p:spPr>
          <a:xfrm>
            <a:off x="8046720" y="4459731"/>
            <a:ext cx="3383280" cy="160020"/>
          </a:xfrm>
          <a:prstGeom prst="rect">
            <a:avLst/>
          </a:prstGeom>
          <a:noFill/>
        </p:spPr>
        <p:txBody>
          <a:bodyPr wrap="square" lIns="0" rIns="0" tIns="0" bIns="0" anchor="t"/>
          <a:lstStyle/>
          <a:p>
            <a:pPr algn="l"/>
            <a:r>
              <a:rPr sz="1100">
                <a:solidFill>
                  <a:srgbClr val="000000"/>
                </a:solidFill>
              </a:rPr>
              <a:t>vs the original seed list.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Replacement must support…</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_1_BlockGrid:0:c_1_Block:Window_Lock" descr="image.png"/>
          <p:cNvPicPr>
            <a:picLocks noChangeAspect="1"/>
          </p:cNvPicPr>
          <p:nvPr/>
        </p:nvPicPr>
        <p:blipFill>
          <a:blip r:embed="rId2"/>
          <a:stretch>
            <a:fillRect/>
          </a:stretch>
        </p:blipFill>
        <p:spPr>
          <a:xfrm>
            <a:off x="548640" y="2249424"/>
            <a:ext cx="640080" cy="640080"/>
          </a:xfrm>
          <a:prstGeom prst="rect">
            <a:avLst/>
          </a:prstGeom>
        </p:spPr>
      </p:pic>
      <p:sp>
        <p:nvSpPr>
          <p:cNvPr id="6" name="c_1_BlockGrid:0:c_1_Block:content"/>
          <p:cNvSpPr txBox="1"/>
          <p:nvPr/>
        </p:nvSpPr>
        <p:spPr>
          <a:xfrm>
            <a:off x="1348740" y="1554480"/>
            <a:ext cx="2583180" cy="607694"/>
          </a:xfrm>
          <a:prstGeom prst="rect">
            <a:avLst/>
          </a:prstGeom>
          <a:noFill/>
        </p:spPr>
        <p:txBody>
          <a:bodyPr wrap="square" lIns="0" rIns="0" tIns="0" bIns="0" anchor="t"/>
          <a:lstStyle/>
          <a:p>
            <a:pPr algn="l">
              <a:spcAft>
                <a:spcPts val="500"/>
              </a:spcAft>
            </a:pPr>
            <a:r>
              <a:rPr sz="1400" b="1">
                <a:solidFill>
                  <a:srgbClr val="0047FF"/>
                </a:solidFill>
              </a:rPr>
              <a:t>Both auth modes</a:t>
            </a:r>
          </a:p>
          <a:p>
            <a:pPr algn="l"/>
            <a:r>
              <a:rPr sz="1100">
                <a:solidFill>
                  <a:srgbClr val="000000"/>
                </a:solidFill>
              </a:rPr>
              <a:t>Key-based AND password-based (BNP requires both).</a:t>
            </a:r>
          </a:p>
        </p:txBody>
      </p:sp>
      <p:sp>
        <p:nvSpPr>
          <p:cNvPr id="7" name="c_1_BlockGrid:1:c_2_Block:container"/>
          <p:cNvSpPr/>
          <p:nvPr/>
        </p:nvSpPr>
        <p:spPr>
          <a:xfrm>
            <a:off x="420624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c_1_BlockGrid:1:c_2_Block:Arrows_Repeat_1" descr="image.png"/>
          <p:cNvPicPr>
            <a:picLocks noChangeAspect="1"/>
          </p:cNvPicPr>
          <p:nvPr/>
        </p:nvPicPr>
        <p:blipFill>
          <a:blip r:embed="rId3"/>
          <a:stretch>
            <a:fillRect/>
          </a:stretch>
        </p:blipFill>
        <p:spPr>
          <a:xfrm>
            <a:off x="4297680" y="2249424"/>
            <a:ext cx="640080" cy="640080"/>
          </a:xfrm>
          <a:prstGeom prst="rect">
            <a:avLst/>
          </a:prstGeom>
        </p:spPr>
      </p:pic>
      <p:sp>
        <p:nvSpPr>
          <p:cNvPr id="9" name="c_1_BlockGrid:1:c_2_Block:content"/>
          <p:cNvSpPr txBox="1"/>
          <p:nvPr/>
        </p:nvSpPr>
        <p:spPr>
          <a:xfrm>
            <a:off x="5097780" y="1554480"/>
            <a:ext cx="2583180" cy="447674"/>
          </a:xfrm>
          <a:prstGeom prst="rect">
            <a:avLst/>
          </a:prstGeom>
          <a:noFill/>
        </p:spPr>
        <p:txBody>
          <a:bodyPr wrap="square" lIns="0" rIns="0" tIns="0" bIns="0" anchor="t"/>
          <a:lstStyle/>
          <a:p>
            <a:pPr algn="l">
              <a:spcAft>
                <a:spcPts val="500"/>
              </a:spcAft>
            </a:pPr>
            <a:r>
              <a:rPr sz="1400" b="1">
                <a:solidFill>
                  <a:srgbClr val="A080DB"/>
                </a:solidFill>
              </a:rPr>
              <a:t>Both directions</a:t>
            </a:r>
          </a:p>
          <a:p>
            <a:pPr algn="l"/>
            <a:r>
              <a:rPr sz="1100">
                <a:solidFill>
                  <a:srgbClr val="000000"/>
                </a:solidFill>
              </a:rPr>
              <a:t>8 pull · 6 push · 2 both.</a:t>
            </a:r>
          </a:p>
        </p:txBody>
      </p:sp>
      <p:sp>
        <p:nvSpPr>
          <p:cNvPr id="10" name="c_1_BlockGrid:2:c_3_Block:container"/>
          <p:cNvSpPr/>
          <p:nvPr/>
        </p:nvSpPr>
        <p:spPr>
          <a:xfrm>
            <a:off x="795528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c_1_BlockGrid:2:c_3_Block:Window_Lock" descr="image.png"/>
          <p:cNvPicPr>
            <a:picLocks noChangeAspect="1"/>
          </p:cNvPicPr>
          <p:nvPr/>
        </p:nvPicPr>
        <p:blipFill>
          <a:blip r:embed="rId2"/>
          <a:stretch>
            <a:fillRect/>
          </a:stretch>
        </p:blipFill>
        <p:spPr>
          <a:xfrm>
            <a:off x="8046720" y="2249424"/>
            <a:ext cx="640080" cy="640080"/>
          </a:xfrm>
          <a:prstGeom prst="rect">
            <a:avLst/>
          </a:prstGeom>
        </p:spPr>
      </p:pic>
      <p:sp>
        <p:nvSpPr>
          <p:cNvPr id="12" name="c_1_BlockGrid:2:c_3_Block:content"/>
          <p:cNvSpPr txBox="1"/>
          <p:nvPr/>
        </p:nvSpPr>
        <p:spPr>
          <a:xfrm>
            <a:off x="8846820" y="1554480"/>
            <a:ext cx="2583180" cy="607694"/>
          </a:xfrm>
          <a:prstGeom prst="rect">
            <a:avLst/>
          </a:prstGeom>
          <a:noFill/>
        </p:spPr>
        <p:txBody>
          <a:bodyPr wrap="square" lIns="0" rIns="0" tIns="0" bIns="0" anchor="t"/>
          <a:lstStyle/>
          <a:p>
            <a:pPr algn="l">
              <a:spcAft>
                <a:spcPts val="500"/>
              </a:spcAft>
            </a:pPr>
            <a:r>
              <a:rPr sz="1400" b="1">
                <a:solidFill>
                  <a:srgbClr val="0078C2"/>
                </a:solidFill>
              </a:rPr>
              <a:t>PGP layer</a:t>
            </a:r>
          </a:p>
          <a:p>
            <a:pPr algn="l"/>
            <a:r>
              <a:rPr sz="1100">
                <a:solidFill>
                  <a:srgbClr val="000000"/>
                </a:solidFill>
              </a:rPr>
              <a:t>ZSFTP_BNP_PARIBAS_WITH_PGP wraps the push.</a:t>
            </a:r>
          </a:p>
        </p:txBody>
      </p:sp>
      <p:sp>
        <p:nvSpPr>
          <p:cNvPr id="13" name="c_1_BlockGrid:3:c_4_Block:container"/>
          <p:cNvSpPr/>
          <p:nvPr/>
        </p:nvSpPr>
        <p:spPr>
          <a:xfrm>
            <a:off x="45720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c_1_BlockGrid:3:c_4_Block:Global_Cloud" descr="image.png"/>
          <p:cNvPicPr>
            <a:picLocks noChangeAspect="1"/>
          </p:cNvPicPr>
          <p:nvPr/>
        </p:nvPicPr>
        <p:blipFill>
          <a:blip r:embed="rId4"/>
          <a:stretch>
            <a:fillRect/>
          </a:stretch>
        </p:blipFill>
        <p:spPr>
          <a:xfrm>
            <a:off x="548640" y="4700016"/>
            <a:ext cx="640080" cy="640080"/>
          </a:xfrm>
          <a:prstGeom prst="rect">
            <a:avLst/>
          </a:prstGeom>
        </p:spPr>
      </p:pic>
      <p:sp>
        <p:nvSpPr>
          <p:cNvPr id="15" name="c_1_BlockGrid:3:c_4_Block:content"/>
          <p:cNvSpPr txBox="1"/>
          <p:nvPr/>
        </p:nvSpPr>
        <p:spPr>
          <a:xfrm>
            <a:off x="1348740" y="4005072"/>
            <a:ext cx="2583180" cy="607694"/>
          </a:xfrm>
          <a:prstGeom prst="rect">
            <a:avLst/>
          </a:prstGeom>
          <a:noFill/>
        </p:spPr>
        <p:txBody>
          <a:bodyPr wrap="square" lIns="0" rIns="0" tIns="0" bIns="0" anchor="t"/>
          <a:lstStyle/>
          <a:p>
            <a:pPr algn="l">
              <a:spcAft>
                <a:spcPts val="500"/>
              </a:spcAft>
            </a:pPr>
            <a:r>
              <a:rPr sz="1400" b="1">
                <a:solidFill>
                  <a:srgbClr val="107E8D"/>
                </a:solidFill>
              </a:rPr>
              <a:t>11 endpoints</a:t>
            </a:r>
          </a:p>
          <a:p>
            <a:pPr algn="l"/>
            <a:r>
              <a:rPr sz="1100">
                <a:solidFill>
                  <a:srgbClr val="000000"/>
                </a:solidFill>
              </a:rPr>
              <a:t>Each SM69 binds one bank or provider host.</a:t>
            </a:r>
          </a:p>
        </p:txBody>
      </p:sp>
      <p:sp>
        <p:nvSpPr>
          <p:cNvPr id="16" name="c_1_BlockGrid:4:c_5_Block:container"/>
          <p:cNvSpPr/>
          <p:nvPr/>
        </p:nvSpPr>
        <p:spPr>
          <a:xfrm>
            <a:off x="420624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c_1_BlockGrid:4:c_5_Block:Database" descr="image.png"/>
          <p:cNvPicPr>
            <a:picLocks noChangeAspect="1"/>
          </p:cNvPicPr>
          <p:nvPr/>
        </p:nvPicPr>
        <p:blipFill>
          <a:blip r:embed="rId5"/>
          <a:stretch>
            <a:fillRect/>
          </a:stretch>
        </p:blipFill>
        <p:spPr>
          <a:xfrm>
            <a:off x="4297680" y="4700016"/>
            <a:ext cx="640080" cy="640080"/>
          </a:xfrm>
          <a:prstGeom prst="rect">
            <a:avLst/>
          </a:prstGeom>
        </p:spPr>
      </p:pic>
      <p:sp>
        <p:nvSpPr>
          <p:cNvPr id="18" name="c_1_BlockGrid:4:c_5_Block:content"/>
          <p:cNvSpPr txBox="1"/>
          <p:nvPr/>
        </p:nvSpPr>
        <p:spPr>
          <a:xfrm>
            <a:off x="5097780" y="4005072"/>
            <a:ext cx="2583180" cy="447674"/>
          </a:xfrm>
          <a:prstGeom prst="rect">
            <a:avLst/>
          </a:prstGeom>
          <a:noFill/>
        </p:spPr>
        <p:txBody>
          <a:bodyPr wrap="square" lIns="0" rIns="0" tIns="0" bIns="0" anchor="t"/>
          <a:lstStyle/>
          <a:p>
            <a:pPr algn="l">
              <a:spcAft>
                <a:spcPts val="500"/>
              </a:spcAft>
            </a:pPr>
            <a:r>
              <a:rPr sz="1400" b="1">
                <a:solidFill>
                  <a:srgbClr val="E06C00"/>
                </a:solidFill>
              </a:rPr>
              <a:t>zfi_constants single source</a:t>
            </a:r>
          </a:p>
          <a:p>
            <a:pPr algn="l"/>
            <a:r>
              <a:rPr sz="1100">
                <a:solidFill>
                  <a:srgbClr val="000000"/>
                </a:solidFill>
              </a:rPr>
              <a:t>All 16+3 read from it — keep or shim.</a:t>
            </a:r>
          </a:p>
        </p:txBody>
      </p:sp>
      <p:sp>
        <p:nvSpPr>
          <p:cNvPr id="19" name="c_1_BlockGrid:5:c_6_Block:container"/>
          <p:cNvSpPr/>
          <p:nvPr/>
        </p:nvSpPr>
        <p:spPr>
          <a:xfrm>
            <a:off x="795528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c_1_BlockGrid:5:c_6_Block:API_2" descr="image.png"/>
          <p:cNvPicPr>
            <a:picLocks noChangeAspect="1"/>
          </p:cNvPicPr>
          <p:nvPr/>
        </p:nvPicPr>
        <p:blipFill>
          <a:blip r:embed="rId6"/>
          <a:stretch>
            <a:fillRect/>
          </a:stretch>
        </p:blipFill>
        <p:spPr>
          <a:xfrm>
            <a:off x="8046720" y="4700016"/>
            <a:ext cx="640080" cy="640080"/>
          </a:xfrm>
          <a:prstGeom prst="rect">
            <a:avLst/>
          </a:prstGeom>
        </p:spPr>
      </p:pic>
      <p:sp>
        <p:nvSpPr>
          <p:cNvPr id="21" name="c_1_BlockGrid:5:c_6_Block:content"/>
          <p:cNvSpPr txBox="1"/>
          <p:nvPr/>
        </p:nvSpPr>
        <p:spPr>
          <a:xfrm>
            <a:off x="8846820" y="4005072"/>
            <a:ext cx="2583180" cy="447674"/>
          </a:xfrm>
          <a:prstGeom prst="rect">
            <a:avLst/>
          </a:prstGeom>
          <a:noFill/>
        </p:spPr>
        <p:txBody>
          <a:bodyPr wrap="square" lIns="0" rIns="0" tIns="0" bIns="0" anchor="t"/>
          <a:lstStyle/>
          <a:p>
            <a:pPr algn="l">
              <a:spcAft>
                <a:spcPts val="500"/>
              </a:spcAft>
            </a:pPr>
            <a:r>
              <a:rPr sz="1400" b="1">
                <a:solidFill>
                  <a:srgbClr val="00A705"/>
                </a:solidFill>
              </a:rPr>
              <a:t>Non-default ports</a:t>
            </a:r>
          </a:p>
          <a:p>
            <a:pPr algn="l"/>
            <a:r>
              <a:rPr sz="1100">
                <a:solidFill>
                  <a:srgbClr val="000000"/>
                </a:solidFill>
              </a:rPr>
              <a:t>FTP_PORT concatenated as ':port'.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natural cutover order</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Process:block0:c_1_Block"/>
          <p:cNvSpPr/>
          <p:nvPr/>
        </p:nvSpPr>
        <p:spPr>
          <a:xfrm>
            <a:off x="457200" y="1463040"/>
            <a:ext cx="2560320" cy="2891332"/>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Banking</a:t>
            </a:r>
          </a:p>
          <a:p>
            <a:pPr algn="l"/>
            <a:r>
              <a:rPr sz="1400">
                <a:solidFill>
                  <a:srgbClr val="FFFFFF"/>
                </a:solidFill>
              </a:rPr>
              <a:t>7 reports — MT940 + PGP for BNP.</a:t>
            </a:r>
          </a:p>
        </p:txBody>
      </p:sp>
      <p:sp>
        <p:nvSpPr>
          <p:cNvPr id="5" name="c_1_BlockProcess:arrow0"/>
          <p:cNvSpPr/>
          <p:nvPr/>
        </p:nvSpPr>
        <p:spPr>
          <a:xfrm>
            <a:off x="3046680" y="2764706"/>
            <a:ext cx="216000" cy="288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_1_BlockProcess:block1:c_2_Block"/>
          <p:cNvSpPr/>
          <p:nvPr/>
        </p:nvSpPr>
        <p:spPr>
          <a:xfrm>
            <a:off x="3291840" y="1463040"/>
            <a:ext cx="2560320" cy="2891332"/>
          </a:xfrm>
          <a:prstGeom prst="rect">
            <a:avLst/>
          </a:prstGeom>
          <a:gradFill rotWithShape="1">
            <a:gsLst>
              <a:gs pos="0">
                <a:srgbClr val="916CD5"/>
              </a:gs>
              <a:gs pos="100000">
                <a:srgbClr val="AE93E0"/>
              </a:gs>
            </a:gsLst>
            <a:lin ang="16200000" scaled="0"/>
          </a:gradFill>
          <a:ln w="3175">
            <a:solidFill>
              <a:srgbClr val="766F83"/>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000000"/>
                </a:solidFill>
              </a:rPr>
              <a:t>Healthcare clearinghouses</a:t>
            </a:r>
          </a:p>
          <a:p>
            <a:pPr algn="l"/>
            <a:r>
              <a:rPr sz="1400">
                <a:solidFill>
                  <a:srgbClr val="000000"/>
                </a:solidFill>
              </a:rPr>
              <a:t>4 reports — EDI 835/837 round-trip.</a:t>
            </a:r>
          </a:p>
        </p:txBody>
      </p:sp>
      <p:sp>
        <p:nvSpPr>
          <p:cNvPr id="7" name="c_1_BlockProcess:arrow1"/>
          <p:cNvSpPr/>
          <p:nvPr/>
        </p:nvSpPr>
        <p:spPr>
          <a:xfrm>
            <a:off x="5881320" y="2764706"/>
            <a:ext cx="216000" cy="288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_1_BlockProcess:block2:c_3_Block"/>
          <p:cNvSpPr/>
          <p:nvPr/>
        </p:nvSpPr>
        <p:spPr>
          <a:xfrm>
            <a:off x="6126480" y="1463040"/>
            <a:ext cx="2560320" cy="2891332"/>
          </a:xfrm>
          <a:prstGeom prst="rect">
            <a:avLst/>
          </a:prstGeom>
          <a:gradFill rotWithShape="1">
            <a:gsLst>
              <a:gs pos="0">
                <a:srgbClr val="0068A8"/>
              </a:gs>
              <a:gs pos="100000">
                <a:srgbClr val="0087DB"/>
              </a:gs>
            </a:gsLst>
            <a:lin ang="16200000" scaled="0"/>
          </a:gradFill>
          <a:ln w="3175">
            <a:solidFill>
              <a:srgbClr val="39464E"/>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Payroll</a:t>
            </a:r>
          </a:p>
          <a:p>
            <a:pPr algn="l"/>
            <a:r>
              <a:rPr sz="1400">
                <a:solidFill>
                  <a:srgbClr val="FFFFFF"/>
                </a:solidFill>
              </a:rPr>
              <a:t>2 reports — Ceridian posting → FI.</a:t>
            </a:r>
          </a:p>
        </p:txBody>
      </p:sp>
      <p:sp>
        <p:nvSpPr>
          <p:cNvPr id="9" name="c_1_BlockProcess:arrow2"/>
          <p:cNvSpPr/>
          <p:nvPr/>
        </p:nvSpPr>
        <p:spPr>
          <a:xfrm>
            <a:off x="8715960" y="2764706"/>
            <a:ext cx="216000" cy="288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_1_BlockProcess:block3:c_4_Block"/>
          <p:cNvSpPr/>
          <p:nvPr/>
        </p:nvSpPr>
        <p:spPr>
          <a:xfrm>
            <a:off x="8961120" y="1463040"/>
            <a:ext cx="2560320" cy="2891332"/>
          </a:xfrm>
          <a:prstGeom prst="rect">
            <a:avLst/>
          </a:prstGeom>
          <a:gradFill rotWithShape="1">
            <a:gsLst>
              <a:gs pos="0">
                <a:srgbClr val="0D6976"/>
              </a:gs>
              <a:gs pos="100000">
                <a:srgbClr val="1292A3"/>
              </a:gs>
            </a:gsLst>
            <a:lin ang="16200000" scaled="0"/>
          </a:gradFill>
          <a:ln w="3175">
            <a:solidFill>
              <a:srgbClr val="303B3D"/>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Internal DMS / eRx</a:t>
            </a:r>
          </a:p>
          <a:p>
            <a:pPr algn="l"/>
            <a:r>
              <a:rPr sz="1400">
                <a:solidFill>
                  <a:srgbClr val="FFFFFF"/>
                </a:solidFill>
              </a:rPr>
              <a:t>5 reports — wrapper-FM integrity.</a:t>
            </a:r>
          </a:p>
        </p:txBody>
      </p:sp>
      <p:graphicFrame>
        <p:nvGraphicFramePr>
          <p:cNvPr id="11" name="c_5_Block"/>
          <p:cNvGraphicFramePr>
            <a:graphicFrameLocks noGrp="1"/>
          </p:cNvGraphicFramePr>
          <p:nvPr/>
        </p:nvGraphicFramePr>
        <p:xfrm>
          <a:off x="457200" y="5669280"/>
          <a:ext cx="11064240" cy="457200"/>
        </p:xfrm>
        <a:graphic>
          <a:graphicData uri="http://schemas.openxmlformats.org/drawingml/2006/table">
            <a:tbl>
              <a:tblPr firstRow="0" bandRow="0" lastRow="0" firstCol="0" lastCol="0" bandCol="0"/>
              <a:tblGrid>
                <a:gridCol w="11064240"/>
              </a:tblGrid>
              <a:tr h="457200">
                <a:tc>
                  <a:txBody>
                    <a:bodyPr wrap="square"/>
                    <a:lstStyle/>
                    <a:p>
                      <a:pPr algn="l"/>
                      <a:r>
                        <a:rPr sz="1100">
                          <a:solidFill>
                            <a:srgbClr val="000000"/>
                          </a:solidFill>
                        </a:rPr>
                        <a:t>Each step has its own validation matrix; wrappers migrate as one unit.</a:t>
                      </a:r>
                    </a:p>
                  </a:txBody>
                  <a:tcPr marL="137160" marR="91440" marT="45720" marB="91440" anchor="t">
                    <a:lnL w="73152" cap="flat" cmpd="sng">
                      <a:solidFill>
                        <a:srgbClr val="107E8D"/>
                      </a:solidFill>
                      <a:prstDash val="solid"/>
                    </a:lnL>
                    <a:lnR>
                      <a:noFill/>
                    </a:lnR>
                    <a:lnT>
                      <a:noFill/>
                    </a:lnT>
                    <a:lnB>
                      <a:noFill/>
                    </a:lnB>
                    <a:solidFill>
                      <a:srgbClr val="FCFCFC"/>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questions the migration team must close</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11064240" cy="6305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_1_BlockGrid:0:c_1_Block:Repair" descr="image.png"/>
          <p:cNvPicPr>
            <a:picLocks noChangeAspect="1"/>
          </p:cNvPicPr>
          <p:nvPr/>
        </p:nvPicPr>
        <p:blipFill>
          <a:blip r:embed="rId2"/>
          <a:stretch>
            <a:fillRect/>
          </a:stretch>
        </p:blipFill>
        <p:spPr>
          <a:xfrm>
            <a:off x="548640" y="1458277"/>
            <a:ext cx="640080" cy="640080"/>
          </a:xfrm>
          <a:prstGeom prst="rect">
            <a:avLst/>
          </a:prstGeom>
        </p:spPr>
      </p:pic>
      <p:sp>
        <p:nvSpPr>
          <p:cNvPr id="6" name="c_1_BlockGrid:0:c_1_Block:content"/>
          <p:cNvSpPr txBox="1"/>
          <p:nvPr/>
        </p:nvSpPr>
        <p:spPr>
          <a:xfrm>
            <a:off x="1348740" y="1554480"/>
            <a:ext cx="10081260" cy="447674"/>
          </a:xfrm>
          <a:prstGeom prst="rect">
            <a:avLst/>
          </a:prstGeom>
          <a:noFill/>
        </p:spPr>
        <p:txBody>
          <a:bodyPr wrap="square" lIns="0" rIns="0" tIns="0" bIns="0" anchor="t"/>
          <a:lstStyle/>
          <a:p>
            <a:pPr algn="l">
              <a:spcAft>
                <a:spcPts val="500"/>
              </a:spcAft>
            </a:pPr>
            <a:r>
              <a:rPr sz="1400" b="1">
                <a:solidFill>
                  <a:srgbClr val="0047FF"/>
                </a:solidFill>
              </a:rPr>
              <a:t>OS-side SM69 script behavior</a:t>
            </a:r>
          </a:p>
          <a:p>
            <a:pPr algn="l"/>
            <a:r>
              <a:rPr sz="1100">
                <a:solidFill>
                  <a:srgbClr val="000000"/>
                </a:solidFill>
              </a:rPr>
              <a:t>11 SM69 entries; behavior is in SAP GUI tx SM69, out of scope for ABAP-only analysis. Needs Basis access.</a:t>
            </a:r>
          </a:p>
        </p:txBody>
      </p:sp>
      <p:sp>
        <p:nvSpPr>
          <p:cNvPr id="7" name="c_1_BlockGrid:1:c_2_Block:container"/>
          <p:cNvSpPr/>
          <p:nvPr/>
        </p:nvSpPr>
        <p:spPr>
          <a:xfrm>
            <a:off x="457200" y="2331338"/>
            <a:ext cx="11064240" cy="6305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c_1_BlockGrid:1:c_2_Block:2_People" descr="image.png"/>
          <p:cNvPicPr>
            <a:picLocks noChangeAspect="1"/>
          </p:cNvPicPr>
          <p:nvPr/>
        </p:nvPicPr>
        <p:blipFill>
          <a:blip r:embed="rId3"/>
          <a:stretch>
            <a:fillRect/>
          </a:stretch>
        </p:blipFill>
        <p:spPr>
          <a:xfrm>
            <a:off x="548640" y="2326575"/>
            <a:ext cx="640080" cy="640080"/>
          </a:xfrm>
          <a:prstGeom prst="rect">
            <a:avLst/>
          </a:prstGeom>
        </p:spPr>
      </p:pic>
      <p:sp>
        <p:nvSpPr>
          <p:cNvPr id="9" name="c_1_BlockGrid:1:c_2_Block:content"/>
          <p:cNvSpPr txBox="1"/>
          <p:nvPr/>
        </p:nvSpPr>
        <p:spPr>
          <a:xfrm>
            <a:off x="1348740" y="2422778"/>
            <a:ext cx="10081260" cy="447674"/>
          </a:xfrm>
          <a:prstGeom prst="rect">
            <a:avLst/>
          </a:prstGeom>
          <a:noFill/>
        </p:spPr>
        <p:txBody>
          <a:bodyPr wrap="square" lIns="0" rIns="0" tIns="0" bIns="0" anchor="t"/>
          <a:lstStyle/>
          <a:p>
            <a:pPr algn="l">
              <a:spcAft>
                <a:spcPts val="500"/>
              </a:spcAft>
            </a:pPr>
            <a:r>
              <a:rPr sz="1400" b="1">
                <a:solidFill>
                  <a:srgbClr val="A080DB"/>
                </a:solidFill>
              </a:rPr>
              <a:t>Two reports share the Ceridian command</a:t>
            </a:r>
          </a:p>
          <a:p>
            <a:pPr algn="l"/>
            <a:r>
              <a:rPr sz="1100">
                <a:solidFill>
                  <a:srgbClr val="000000"/>
                </a:solidFill>
              </a:rPr>
              <a:t>Operator preference or refactor leftover? Suggest consolidating after business-owner sign-off.</a:t>
            </a:r>
          </a:p>
        </p:txBody>
      </p:sp>
      <p:sp>
        <p:nvSpPr>
          <p:cNvPr id="10" name="c_1_BlockGrid:2:c_3_Block:container"/>
          <p:cNvSpPr/>
          <p:nvPr/>
        </p:nvSpPr>
        <p:spPr>
          <a:xfrm>
            <a:off x="457200" y="3199636"/>
            <a:ext cx="11064240" cy="6305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c_1_BlockGrid:2:c_3_Block:Document_Magnify" descr="image.png"/>
          <p:cNvPicPr>
            <a:picLocks noChangeAspect="1"/>
          </p:cNvPicPr>
          <p:nvPr/>
        </p:nvPicPr>
        <p:blipFill>
          <a:blip r:embed="rId4"/>
          <a:stretch>
            <a:fillRect/>
          </a:stretch>
        </p:blipFill>
        <p:spPr>
          <a:xfrm>
            <a:off x="548640" y="3194873"/>
            <a:ext cx="640080" cy="640080"/>
          </a:xfrm>
          <a:prstGeom prst="rect">
            <a:avLst/>
          </a:prstGeom>
        </p:spPr>
      </p:pic>
      <p:sp>
        <p:nvSpPr>
          <p:cNvPr id="12" name="c_1_BlockGrid:2:c_3_Block:content"/>
          <p:cNvSpPr txBox="1"/>
          <p:nvPr/>
        </p:nvSpPr>
        <p:spPr>
          <a:xfrm>
            <a:off x="1348740" y="3291076"/>
            <a:ext cx="10081260" cy="447674"/>
          </a:xfrm>
          <a:prstGeom prst="rect">
            <a:avLst/>
          </a:prstGeom>
          <a:noFill/>
        </p:spPr>
        <p:txBody>
          <a:bodyPr wrap="square" lIns="0" rIns="0" tIns="0" bIns="0" anchor="t"/>
          <a:lstStyle/>
          <a:p>
            <a:pPr algn="l">
              <a:spcAft>
                <a:spcPts val="500"/>
              </a:spcAft>
            </a:pPr>
            <a:r>
              <a:rPr sz="1400" b="1">
                <a:solidFill>
                  <a:srgbClr val="0078C2"/>
                </a:solidFill>
              </a:rPr>
              <a:t>ZDMS_EXTRACT_DOCS_TO_SFTP has 0 literal callers</a:t>
            </a:r>
          </a:p>
          <a:p>
            <a:pPr algn="l"/>
            <a:r>
              <a:rPr sz="1100">
                <a:solidFill>
                  <a:srgbClr val="000000"/>
                </a:solidFill>
              </a:rPr>
              <a:t>Dynamic call, cross-package caller, or dead code — must be resolved during cutover.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≈95% in scope · residual risk is hardcoded SFTP without zfi_constants</a:t>
            </a:r>
          </a:p>
        </p:txBody>
      </p:sp>
      <p:sp>
        <p:nvSpPr>
          <p:cNvPr id="3" name="Text Placeholder 2"/>
          <p:cNvSpPr>
            <a:spLocks noGrp="1"/>
          </p:cNvSpPr>
          <p:nvPr>
            <p:ph type="body" idx="15" sz="quarter"/>
          </p:nvPr>
        </p:nvSpPr>
        <p:spPr/>
        <p:txBody>
          <a:bodyPr/>
          <a:lstStyle/>
          <a:p>
            <a:r>
              <a:t>CONFIDENCE IN SCOPE</a:t>
            </a:r>
          </a:p>
        </p:txBody>
      </p:sp>
      <p:sp>
        <p:nvSpPr>
          <p:cNvPr id="4"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_1_BlockGrid:0:c_1_Block"/>
          <p:cNvSpPr/>
          <p:nvPr/>
        </p:nvSpPr>
        <p:spPr>
          <a:xfrm>
            <a:off x="457200" y="1463040"/>
            <a:ext cx="5440680" cy="1132328"/>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500"/>
              </a:spcAft>
            </a:pPr>
            <a:r>
              <a:rPr sz="1400" b="1">
                <a:solidFill>
                  <a:srgbClr val="FFFFFF"/>
                </a:solidFill>
              </a:rPr>
              <a:t>Within Z001 (PROG / FUGR / CLAS)</a:t>
            </a:r>
          </a:p>
          <a:p>
            <a:pPr algn="l" marL="228600" indent="-182880">
              <a:spcAft>
                <a:spcPts val="0"/>
              </a:spcAft>
              <a:buClr>
                <a:srgbClr val="FFFFFF"/>
              </a:buClr>
              <a:buChar char="•"/>
            </a:pPr>
            <a:r>
              <a:rPr sz="1400">
                <a:solidFill>
                  <a:srgbClr val="FFFFFF"/>
                </a:solidFill>
              </a:rPr>
              <a:t>3 independent credential-bag scans, all complete</a:t>
            </a:r>
          </a:p>
          <a:p>
            <a:pPr algn="l" marL="228600" indent="-182880">
              <a:spcAft>
                <a:spcPts val="0"/>
              </a:spcAft>
              <a:buClr>
                <a:srgbClr val="FFFFFF"/>
              </a:buClr>
              <a:buChar char="•"/>
            </a:pPr>
            <a:r>
              <a:rPr sz="1400">
                <a:solidFill>
                  <a:srgbClr val="FFFFFF"/>
                </a:solidFill>
              </a:rPr>
              <a:t>1 sanity scan beyond credential literals</a:t>
            </a:r>
          </a:p>
          <a:p>
            <a:pPr algn="l" marL="228600" indent="-182880">
              <a:spcAft>
                <a:spcPts val="0"/>
              </a:spcAft>
              <a:buClr>
                <a:srgbClr val="FFFFFF"/>
              </a:buClr>
              <a:buChar char="•"/>
            </a:pPr>
            <a:r>
              <a:rPr sz="1400">
                <a:solidFill>
                  <a:srgbClr val="FFFFFF"/>
                </a:solidFill>
              </a:rPr>
              <a:t>Wrapper FUGRs enumerated, callers identified</a:t>
            </a:r>
          </a:p>
        </p:txBody>
      </p:sp>
      <p:sp>
        <p:nvSpPr>
          <p:cNvPr id="6" name="c_1_BlockGrid:1:c_2_Block"/>
          <p:cNvSpPr/>
          <p:nvPr/>
        </p:nvSpPr>
        <p:spPr>
          <a:xfrm>
            <a:off x="6080760" y="1463040"/>
            <a:ext cx="5440680" cy="1132328"/>
          </a:xfrm>
          <a:prstGeom prst="rect">
            <a:avLst/>
          </a:prstGeom>
          <a:gradFill rotWithShape="1">
            <a:gsLst>
              <a:gs pos="0">
                <a:srgbClr val="916CD5"/>
              </a:gs>
              <a:gs pos="100000">
                <a:srgbClr val="AE93E0"/>
              </a:gs>
            </a:gsLst>
            <a:lin ang="16200000" scaled="0"/>
          </a:gradFill>
          <a:ln w="3175">
            <a:solidFill>
              <a:srgbClr val="766F83"/>
            </a:solidFill>
          </a:ln>
        </p:spPr>
        <p:style>
          <a:lnRef idx="1">
            <a:schemeClr val="accent1"/>
          </a:lnRef>
          <a:fillRef idx="3">
            <a:schemeClr val="accent1"/>
          </a:fillRef>
          <a:effectRef idx="2">
            <a:schemeClr val="accent1"/>
          </a:effectRef>
          <a:fontRef idx="minor">
            <a:schemeClr val="lt1"/>
          </a:fontRef>
        </p:style>
        <p:txBody>
          <a:bodyPr rtlCol="0" anchor="t" wrap="square" tIns="91440" bIns="91440"/>
          <a:lstStyle/>
          <a:p>
            <a:pPr algn="l">
              <a:spcAft>
                <a:spcPts val="500"/>
              </a:spcAft>
            </a:pPr>
            <a:r>
              <a:rPr sz="1400" b="1">
                <a:solidFill>
                  <a:srgbClr val="000000"/>
                </a:solidFill>
              </a:rPr>
              <a:t>Outside Z001</a:t>
            </a:r>
          </a:p>
          <a:p>
            <a:pPr algn="l" marL="228600" indent="-182880">
              <a:spcAft>
                <a:spcPts val="0"/>
              </a:spcAft>
              <a:buClr>
                <a:srgbClr val="000000"/>
              </a:buClr>
              <a:buChar char="•"/>
            </a:pPr>
            <a:r>
              <a:rPr sz="1400">
                <a:solidFill>
                  <a:srgbClr val="000000"/>
                </a:solidFill>
              </a:rPr>
              <a:t>Other top-level Z* packages: un-scanned</a:t>
            </a:r>
          </a:p>
          <a:p>
            <a:pPr algn="l" marL="228600" indent="-182880">
              <a:spcAft>
                <a:spcPts val="0"/>
              </a:spcAft>
              <a:buClr>
                <a:srgbClr val="000000"/>
              </a:buClr>
              <a:buChar char="•"/>
            </a:pPr>
            <a:r>
              <a:rPr sz="1400">
                <a:solidFill>
                  <a:srgbClr val="000000"/>
                </a:solidFill>
              </a:rPr>
              <a:t>Cross-package callers of wrapper FUGRs: open</a:t>
            </a:r>
          </a:p>
          <a:p>
            <a:pPr algn="l" marL="228600" indent="-182880">
              <a:spcAft>
                <a:spcPts val="0"/>
              </a:spcAft>
              <a:buClr>
                <a:srgbClr val="000000"/>
              </a:buClr>
              <a:buChar char="•"/>
            </a:pPr>
            <a:r>
              <a:rPr sz="1400">
                <a:solidFill>
                  <a:srgbClr val="000000"/>
                </a:solidFill>
              </a:rPr>
              <a:t>Customer confirmation lifts confidence to ≈99%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What the run actually cost, what went wrong, and what the next analysis run inherits.</a:t>
            </a:r>
          </a:p>
        </p:txBody>
      </p:sp>
      <p:sp>
        <p:nvSpPr>
          <p:cNvPr id="3" name="Title 2"/>
          <p:cNvSpPr>
            <a:spLocks noGrp="1"/>
          </p:cNvSpPr>
          <p:nvPr>
            <p:ph type="title"/>
          </p:nvPr>
        </p:nvSpPr>
        <p:spPr/>
        <p:txBody>
          <a:bodyPr/>
          <a:lstStyle/>
          <a:p>
            <a:r>
              <a:t>Retro</a:t>
            </a:r>
          </a:p>
        </p:txBody>
      </p:sp>
      <p:sp>
        <p:nvSpPr>
          <p:cNvPr id="4" name="Text Placeholder 3"/>
          <p:cNvSpPr>
            <a:spLocks noGrp="1"/>
          </p:cNvSpPr>
          <p:nvPr>
            <p:ph type="body" idx="11" sz="quarter"/>
          </p:nvPr>
        </p:nvSpPr>
        <p:spPr/>
        <p:txBody>
          <a:bodyPr/>
          <a:lstStyle/>
          <a:p>
            <a:r>
              <a:t>06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 economics</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_1_BlockGrid:0:c_1_Block:metric"/>
          <p:cNvSpPr txBox="1"/>
          <p:nvPr/>
        </p:nvSpPr>
        <p:spPr>
          <a:xfrm>
            <a:off x="548640" y="1554480"/>
            <a:ext cx="3383280" cy="408939"/>
          </a:xfrm>
          <a:prstGeom prst="rect">
            <a:avLst/>
          </a:prstGeom>
          <a:noFill/>
        </p:spPr>
        <p:txBody>
          <a:bodyPr wrap="none" lIns="0" rIns="0" tIns="0" bIns="0">
            <a:spAutoFit/>
          </a:bodyPr>
          <a:lstStyle/>
          <a:p>
            <a:pPr algn="ctr"/>
            <a:r>
              <a:rPr sz="2800" b="1">
                <a:solidFill>
                  <a:srgbClr val="0047FF"/>
                </a:solidFill>
              </a:rPr>
              <a:t>~2 h</a:t>
            </a:r>
          </a:p>
        </p:txBody>
      </p:sp>
      <p:sp>
        <p:nvSpPr>
          <p:cNvPr id="6" name="c_1_BlockGrid:0:c_1_Block:content"/>
          <p:cNvSpPr txBox="1"/>
          <p:nvPr/>
        </p:nvSpPr>
        <p:spPr>
          <a:xfrm>
            <a:off x="548640" y="2009139"/>
            <a:ext cx="3383280" cy="160020"/>
          </a:xfrm>
          <a:prstGeom prst="rect">
            <a:avLst/>
          </a:prstGeom>
          <a:noFill/>
        </p:spPr>
        <p:txBody>
          <a:bodyPr wrap="square" lIns="0" rIns="0" tIns="0" bIns="0" anchor="t"/>
          <a:lstStyle/>
          <a:p>
            <a:pPr algn="l"/>
            <a:r>
              <a:rPr sz="1100">
                <a:solidFill>
                  <a:srgbClr val="000000"/>
                </a:solidFill>
              </a:rPr>
              <a:t>total wall-clock</a:t>
            </a:r>
          </a:p>
        </p:txBody>
      </p:sp>
      <p:sp>
        <p:nvSpPr>
          <p:cNvPr id="7" name="c_1_BlockGrid:1:c_2_Block:container"/>
          <p:cNvSpPr/>
          <p:nvPr/>
        </p:nvSpPr>
        <p:spPr>
          <a:xfrm>
            <a:off x="420624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_1_BlockGrid:1:c_2_Block:metric"/>
          <p:cNvSpPr txBox="1"/>
          <p:nvPr/>
        </p:nvSpPr>
        <p:spPr>
          <a:xfrm>
            <a:off x="4297680" y="1554480"/>
            <a:ext cx="3383280" cy="408939"/>
          </a:xfrm>
          <a:prstGeom prst="rect">
            <a:avLst/>
          </a:prstGeom>
          <a:noFill/>
        </p:spPr>
        <p:txBody>
          <a:bodyPr wrap="none" lIns="0" rIns="0" tIns="0" bIns="0">
            <a:spAutoFit/>
          </a:bodyPr>
          <a:lstStyle/>
          <a:p>
            <a:pPr algn="ctr"/>
            <a:r>
              <a:rPr sz="2800" b="1">
                <a:solidFill>
                  <a:srgbClr val="A080DB"/>
                </a:solidFill>
              </a:rPr>
              <a:t>1.05 M</a:t>
            </a:r>
          </a:p>
        </p:txBody>
      </p:sp>
      <p:sp>
        <p:nvSpPr>
          <p:cNvPr id="9" name="c_1_BlockGrid:1:c_2_Block:content"/>
          <p:cNvSpPr txBox="1"/>
          <p:nvPr/>
        </p:nvSpPr>
        <p:spPr>
          <a:xfrm>
            <a:off x="4297680" y="2009139"/>
            <a:ext cx="3383280" cy="160020"/>
          </a:xfrm>
          <a:prstGeom prst="rect">
            <a:avLst/>
          </a:prstGeom>
          <a:noFill/>
        </p:spPr>
        <p:txBody>
          <a:bodyPr wrap="square" lIns="0" rIns="0" tIns="0" bIns="0" anchor="t"/>
          <a:lstStyle/>
          <a:p>
            <a:pPr algn="l"/>
            <a:r>
              <a:rPr sz="1100">
                <a:solidFill>
                  <a:srgbClr val="000000"/>
                </a:solidFill>
              </a:rPr>
              <a:t>executor-side tokens (gpt-5.2 + embedder)</a:t>
            </a:r>
          </a:p>
        </p:txBody>
      </p:sp>
      <p:sp>
        <p:nvSpPr>
          <p:cNvPr id="10" name="c_1_BlockGrid:2:c_3_Block:container"/>
          <p:cNvSpPr/>
          <p:nvPr/>
        </p:nvSpPr>
        <p:spPr>
          <a:xfrm>
            <a:off x="7955280" y="1463040"/>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_1_BlockGrid:2:c_3_Block:metric"/>
          <p:cNvSpPr txBox="1"/>
          <p:nvPr/>
        </p:nvSpPr>
        <p:spPr>
          <a:xfrm>
            <a:off x="8046720" y="1554480"/>
            <a:ext cx="3383280" cy="408939"/>
          </a:xfrm>
          <a:prstGeom prst="rect">
            <a:avLst/>
          </a:prstGeom>
          <a:noFill/>
        </p:spPr>
        <p:txBody>
          <a:bodyPr wrap="none" lIns="0" rIns="0" tIns="0" bIns="0">
            <a:spAutoFit/>
          </a:bodyPr>
          <a:lstStyle/>
          <a:p>
            <a:pPr algn="ctr"/>
            <a:r>
              <a:rPr sz="2800" b="1">
                <a:solidFill>
                  <a:srgbClr val="0078C2"/>
                </a:solidFill>
              </a:rPr>
              <a:t>264</a:t>
            </a:r>
          </a:p>
        </p:txBody>
      </p:sp>
      <p:sp>
        <p:nvSpPr>
          <p:cNvPr id="12" name="c_1_BlockGrid:2:c_3_Block:content"/>
          <p:cNvSpPr txBox="1"/>
          <p:nvPr/>
        </p:nvSpPr>
        <p:spPr>
          <a:xfrm>
            <a:off x="8046720" y="2009139"/>
            <a:ext cx="3383280" cy="160020"/>
          </a:xfrm>
          <a:prstGeom prst="rect">
            <a:avLst/>
          </a:prstGeom>
          <a:noFill/>
        </p:spPr>
        <p:txBody>
          <a:bodyPr wrap="square" lIns="0" rIns="0" tIns="0" bIns="0" anchor="t"/>
          <a:lstStyle/>
          <a:p>
            <a:pPr algn="l"/>
            <a:r>
              <a:rPr sz="1100">
                <a:solidFill>
                  <a:srgbClr val="000000"/>
                </a:solidFill>
              </a:rPr>
              <a:t>model requests across the run</a:t>
            </a:r>
          </a:p>
        </p:txBody>
      </p:sp>
      <p:sp>
        <p:nvSpPr>
          <p:cNvPr id="13" name="c_1_BlockGrid:3:c_4_Block:container"/>
          <p:cNvSpPr/>
          <p:nvPr/>
        </p:nvSpPr>
        <p:spPr>
          <a:xfrm>
            <a:off x="45720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_1_BlockGrid:3:c_4_Block:metric"/>
          <p:cNvSpPr txBox="1"/>
          <p:nvPr/>
        </p:nvSpPr>
        <p:spPr>
          <a:xfrm>
            <a:off x="548640" y="4005072"/>
            <a:ext cx="3383280" cy="408939"/>
          </a:xfrm>
          <a:prstGeom prst="rect">
            <a:avLst/>
          </a:prstGeom>
          <a:noFill/>
        </p:spPr>
        <p:txBody>
          <a:bodyPr wrap="none" lIns="0" rIns="0" tIns="0" bIns="0">
            <a:spAutoFit/>
          </a:bodyPr>
          <a:lstStyle/>
          <a:p>
            <a:pPr algn="ctr"/>
            <a:r>
              <a:rPr sz="2800" b="1">
                <a:solidFill>
                  <a:srgbClr val="107E8D"/>
                </a:solidFill>
              </a:rPr>
              <a:t>~$66</a:t>
            </a:r>
          </a:p>
        </p:txBody>
      </p:sp>
      <p:sp>
        <p:nvSpPr>
          <p:cNvPr id="15" name="c_1_BlockGrid:3:c_4_Block:content"/>
          <p:cNvSpPr txBox="1"/>
          <p:nvPr/>
        </p:nvSpPr>
        <p:spPr>
          <a:xfrm>
            <a:off x="548640" y="4459731"/>
            <a:ext cx="3383280" cy="160020"/>
          </a:xfrm>
          <a:prstGeom prst="rect">
            <a:avLst/>
          </a:prstGeom>
          <a:noFill/>
        </p:spPr>
        <p:txBody>
          <a:bodyPr wrap="square" lIns="0" rIns="0" tIns="0" bIns="0" anchor="t"/>
          <a:lstStyle/>
          <a:p>
            <a:pPr algn="l"/>
            <a:r>
              <a:rPr sz="1100">
                <a:solidFill>
                  <a:srgbClr val="000000"/>
                </a:solidFill>
              </a:rPr>
              <a:t>controller-side share (Claude Opus 4.7, sFTP portion)</a:t>
            </a:r>
          </a:p>
        </p:txBody>
      </p:sp>
      <p:sp>
        <p:nvSpPr>
          <p:cNvPr id="16" name="c_1_BlockGrid:4:c_5_Block:container"/>
          <p:cNvSpPr/>
          <p:nvPr/>
        </p:nvSpPr>
        <p:spPr>
          <a:xfrm>
            <a:off x="420624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_1_BlockGrid:4:c_5_Block:metric"/>
          <p:cNvSpPr txBox="1"/>
          <p:nvPr/>
        </p:nvSpPr>
        <p:spPr>
          <a:xfrm>
            <a:off x="4297680" y="4005072"/>
            <a:ext cx="3383280" cy="408939"/>
          </a:xfrm>
          <a:prstGeom prst="rect">
            <a:avLst/>
          </a:prstGeom>
          <a:noFill/>
        </p:spPr>
        <p:txBody>
          <a:bodyPr wrap="none" lIns="0" rIns="0" tIns="0" bIns="0">
            <a:spAutoFit/>
          </a:bodyPr>
          <a:lstStyle/>
          <a:p>
            <a:pPr algn="ctr"/>
            <a:r>
              <a:rPr sz="2800" b="1">
                <a:solidFill>
                  <a:srgbClr val="E06C00"/>
                </a:solidFill>
              </a:rPr>
              <a:t>7</a:t>
            </a:r>
          </a:p>
        </p:txBody>
      </p:sp>
      <p:sp>
        <p:nvSpPr>
          <p:cNvPr id="18" name="c_1_BlockGrid:4:c_5_Block:content"/>
          <p:cNvSpPr txBox="1"/>
          <p:nvPr/>
        </p:nvSpPr>
        <p:spPr>
          <a:xfrm>
            <a:off x="4297680" y="4459731"/>
            <a:ext cx="3383280" cy="160020"/>
          </a:xfrm>
          <a:prstGeom prst="rect">
            <a:avLst/>
          </a:prstGeom>
          <a:noFill/>
        </p:spPr>
        <p:txBody>
          <a:bodyPr wrap="square" lIns="0" rIns="0" tIns="0" bIns="0" anchor="t"/>
          <a:lstStyle/>
          <a:p>
            <a:pPr algn="l"/>
            <a:r>
              <a:rPr sz="1100">
                <a:solidFill>
                  <a:srgbClr val="000000"/>
                </a:solidFill>
              </a:rPr>
              <a:t>independent SearchSource scans</a:t>
            </a:r>
          </a:p>
        </p:txBody>
      </p:sp>
      <p:sp>
        <p:nvSpPr>
          <p:cNvPr id="19" name="c_1_BlockGrid:5:c_6_Block:container"/>
          <p:cNvSpPr/>
          <p:nvPr/>
        </p:nvSpPr>
        <p:spPr>
          <a:xfrm>
            <a:off x="7955280" y="3913632"/>
            <a:ext cx="356616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_1_BlockGrid:5:c_6_Block:metric"/>
          <p:cNvSpPr txBox="1"/>
          <p:nvPr/>
        </p:nvSpPr>
        <p:spPr>
          <a:xfrm>
            <a:off x="8046720" y="4005072"/>
            <a:ext cx="3383280" cy="408939"/>
          </a:xfrm>
          <a:prstGeom prst="rect">
            <a:avLst/>
          </a:prstGeom>
          <a:noFill/>
        </p:spPr>
        <p:txBody>
          <a:bodyPr wrap="none" lIns="0" rIns="0" tIns="0" bIns="0">
            <a:spAutoFit/>
          </a:bodyPr>
          <a:lstStyle/>
          <a:p>
            <a:pPr algn="ctr"/>
            <a:r>
              <a:rPr sz="2800" b="1">
                <a:solidFill>
                  <a:srgbClr val="00A705"/>
                </a:solidFill>
              </a:rPr>
              <a:t>4-12 h</a:t>
            </a:r>
          </a:p>
        </p:txBody>
      </p:sp>
      <p:sp>
        <p:nvSpPr>
          <p:cNvPr id="21" name="c_1_BlockGrid:5:c_6_Block:content"/>
          <p:cNvSpPr txBox="1"/>
          <p:nvPr/>
        </p:nvSpPr>
        <p:spPr>
          <a:xfrm>
            <a:off x="8046720" y="4459731"/>
            <a:ext cx="3383280" cy="160020"/>
          </a:xfrm>
          <a:prstGeom prst="rect">
            <a:avLst/>
          </a:prstGeom>
          <a:noFill/>
        </p:spPr>
        <p:txBody>
          <a:bodyPr wrap="square" lIns="0" rIns="0" tIns="0" bIns="0" anchor="t"/>
          <a:lstStyle/>
          <a:p>
            <a:pPr algn="l"/>
            <a:r>
              <a:rPr sz="1100">
                <a:solidFill>
                  <a:srgbClr val="000000"/>
                </a:solidFill>
              </a:rPr>
              <a:t>manual UI estimate for comparable analysis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held up</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544068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_1_BlockGrid:0:c_1_Block:Gear_Process_1" descr="image.png"/>
          <p:cNvPicPr>
            <a:picLocks noChangeAspect="1"/>
          </p:cNvPicPr>
          <p:nvPr/>
        </p:nvPicPr>
        <p:blipFill>
          <a:blip r:embed="rId2"/>
          <a:stretch>
            <a:fillRect/>
          </a:stretch>
        </p:blipFill>
        <p:spPr>
          <a:xfrm>
            <a:off x="640080" y="2249424"/>
            <a:ext cx="640080" cy="640080"/>
          </a:xfrm>
          <a:prstGeom prst="rect">
            <a:avLst/>
          </a:prstGeom>
        </p:spPr>
      </p:pic>
      <p:sp>
        <p:nvSpPr>
          <p:cNvPr id="6" name="c_1_BlockGrid:0:c_1_Block:content"/>
          <p:cNvSpPr txBox="1"/>
          <p:nvPr/>
        </p:nvSpPr>
        <p:spPr>
          <a:xfrm>
            <a:off x="1600200" y="1600200"/>
            <a:ext cx="4114800" cy="807082"/>
          </a:xfrm>
          <a:prstGeom prst="rect">
            <a:avLst/>
          </a:prstGeom>
          <a:noFill/>
        </p:spPr>
        <p:txBody>
          <a:bodyPr wrap="square" lIns="0" rIns="0" tIns="0" bIns="0" anchor="t"/>
          <a:lstStyle/>
          <a:p>
            <a:pPr algn="l">
              <a:spcAft>
                <a:spcPts val="700"/>
              </a:spcAft>
            </a:pPr>
            <a:r>
              <a:rPr sz="1800" b="1">
                <a:solidFill>
                  <a:srgbClr val="0047FF"/>
                </a:solidFill>
              </a:rPr>
              <a:t>Per-stage isolation</a:t>
            </a:r>
          </a:p>
          <a:p>
            <a:pPr algn="l"/>
            <a:r>
              <a:rPr sz="1400">
                <a:solidFill>
                  <a:srgbClr val="000000"/>
                </a:solidFill>
              </a:rPr>
              <a:t>One stage per session; artifact on disk before the next.</a:t>
            </a:r>
          </a:p>
        </p:txBody>
      </p:sp>
      <p:sp>
        <p:nvSpPr>
          <p:cNvPr id="7" name="c_1_BlockGrid:1:c_2_Block:container"/>
          <p:cNvSpPr/>
          <p:nvPr/>
        </p:nvSpPr>
        <p:spPr>
          <a:xfrm>
            <a:off x="6080760" y="1463040"/>
            <a:ext cx="544068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c_1_BlockGrid:1:c_2_Block:Document_Checklist_2" descr="image.png"/>
          <p:cNvPicPr>
            <a:picLocks noChangeAspect="1"/>
          </p:cNvPicPr>
          <p:nvPr/>
        </p:nvPicPr>
        <p:blipFill>
          <a:blip r:embed="rId3"/>
          <a:stretch>
            <a:fillRect/>
          </a:stretch>
        </p:blipFill>
        <p:spPr>
          <a:xfrm>
            <a:off x="6263640" y="2249424"/>
            <a:ext cx="640080" cy="640080"/>
          </a:xfrm>
          <a:prstGeom prst="rect">
            <a:avLst/>
          </a:prstGeom>
        </p:spPr>
      </p:pic>
      <p:sp>
        <p:nvSpPr>
          <p:cNvPr id="9" name="c_1_BlockGrid:1:c_2_Block:content"/>
          <p:cNvSpPr txBox="1"/>
          <p:nvPr/>
        </p:nvSpPr>
        <p:spPr>
          <a:xfrm>
            <a:off x="7223760" y="1600200"/>
            <a:ext cx="4114800" cy="588008"/>
          </a:xfrm>
          <a:prstGeom prst="rect">
            <a:avLst/>
          </a:prstGeom>
          <a:noFill/>
        </p:spPr>
        <p:txBody>
          <a:bodyPr wrap="square" lIns="0" rIns="0" tIns="0" bIns="0" anchor="t"/>
          <a:lstStyle/>
          <a:p>
            <a:pPr algn="l">
              <a:spcAft>
                <a:spcPts val="700"/>
              </a:spcAft>
            </a:pPr>
            <a:r>
              <a:rPr sz="1800" b="1">
                <a:solidFill>
                  <a:srgbClr val="A080DB"/>
                </a:solidFill>
              </a:rPr>
              <a:t>Raw-SSE evidence</a:t>
            </a:r>
          </a:p>
          <a:p>
            <a:pPr algn="l"/>
            <a:r>
              <a:rPr sz="1400">
                <a:solidFill>
                  <a:srgbClr val="000000"/>
                </a:solidFill>
              </a:rPr>
              <a:t>Every claim reproducible from curl/*.sse.</a:t>
            </a:r>
          </a:p>
        </p:txBody>
      </p:sp>
      <p:sp>
        <p:nvSpPr>
          <p:cNvPr id="10" name="c_1_BlockGrid:2:c_3_Block:container"/>
          <p:cNvSpPr/>
          <p:nvPr/>
        </p:nvSpPr>
        <p:spPr>
          <a:xfrm>
            <a:off x="457200" y="3913632"/>
            <a:ext cx="544068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c_1_BlockGrid:2:c_3_Block:Books" descr="image.png"/>
          <p:cNvPicPr>
            <a:picLocks noChangeAspect="1"/>
          </p:cNvPicPr>
          <p:nvPr/>
        </p:nvPicPr>
        <p:blipFill>
          <a:blip r:embed="rId4"/>
          <a:stretch>
            <a:fillRect/>
          </a:stretch>
        </p:blipFill>
        <p:spPr>
          <a:xfrm>
            <a:off x="640080" y="4700016"/>
            <a:ext cx="640080" cy="640080"/>
          </a:xfrm>
          <a:prstGeom prst="rect">
            <a:avLst/>
          </a:prstGeom>
        </p:spPr>
      </p:pic>
      <p:sp>
        <p:nvSpPr>
          <p:cNvPr id="12" name="c_1_BlockGrid:2:c_3_Block:content"/>
          <p:cNvSpPr txBox="1"/>
          <p:nvPr/>
        </p:nvSpPr>
        <p:spPr>
          <a:xfrm>
            <a:off x="1600200" y="4050792"/>
            <a:ext cx="4114800" cy="807082"/>
          </a:xfrm>
          <a:prstGeom prst="rect">
            <a:avLst/>
          </a:prstGeom>
          <a:noFill/>
        </p:spPr>
        <p:txBody>
          <a:bodyPr wrap="square" lIns="0" rIns="0" tIns="0" bIns="0" anchor="t"/>
          <a:lstStyle/>
          <a:p>
            <a:pPr algn="l">
              <a:spcAft>
                <a:spcPts val="700"/>
              </a:spcAft>
            </a:pPr>
            <a:r>
              <a:rPr sz="1800" b="1">
                <a:solidFill>
                  <a:srgbClr val="0078C2"/>
                </a:solidFill>
              </a:rPr>
              <a:t>Lessons captured in-flight</a:t>
            </a:r>
          </a:p>
          <a:p>
            <a:pPr algn="l"/>
            <a:r>
              <a:rPr sz="1400">
                <a:solidFill>
                  <a:srgbClr val="000000"/>
                </a:solidFill>
              </a:rPr>
              <a:t>6 skills + 1 decision + 1 tool-usage skill written during the run.</a:t>
            </a:r>
          </a:p>
        </p:txBody>
      </p:sp>
      <p:sp>
        <p:nvSpPr>
          <p:cNvPr id="13" name="c_1_BlockGrid:3:c_4_Block:container"/>
          <p:cNvSpPr/>
          <p:nvPr/>
        </p:nvSpPr>
        <p:spPr>
          <a:xfrm>
            <a:off x="6080760" y="3913632"/>
            <a:ext cx="5440680" cy="22128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c_1_BlockGrid:3:c_4_Block:Arrows_Repeat_1" descr="image.png"/>
          <p:cNvPicPr>
            <a:picLocks noChangeAspect="1"/>
          </p:cNvPicPr>
          <p:nvPr/>
        </p:nvPicPr>
        <p:blipFill>
          <a:blip r:embed="rId5"/>
          <a:stretch>
            <a:fillRect/>
          </a:stretch>
        </p:blipFill>
        <p:spPr>
          <a:xfrm>
            <a:off x="6263640" y="4700016"/>
            <a:ext cx="640080" cy="640080"/>
          </a:xfrm>
          <a:prstGeom prst="rect">
            <a:avLst/>
          </a:prstGeom>
        </p:spPr>
      </p:pic>
      <p:sp>
        <p:nvSpPr>
          <p:cNvPr id="15" name="c_1_BlockGrid:3:c_4_Block:content"/>
          <p:cNvSpPr txBox="1"/>
          <p:nvPr/>
        </p:nvSpPr>
        <p:spPr>
          <a:xfrm>
            <a:off x="7223760" y="4050792"/>
            <a:ext cx="4114800" cy="807082"/>
          </a:xfrm>
          <a:prstGeom prst="rect">
            <a:avLst/>
          </a:prstGeom>
          <a:noFill/>
        </p:spPr>
        <p:txBody>
          <a:bodyPr wrap="square" lIns="0" rIns="0" tIns="0" bIns="0" anchor="t"/>
          <a:lstStyle/>
          <a:p>
            <a:pPr algn="l">
              <a:spcAft>
                <a:spcPts val="700"/>
              </a:spcAft>
            </a:pPr>
            <a:r>
              <a:rPr sz="1800" b="1">
                <a:solidFill>
                  <a:srgbClr val="107E8D"/>
                </a:solidFill>
              </a:rPr>
              <a:t>Iterative scope expansion</a:t>
            </a:r>
          </a:p>
          <a:p>
            <a:pPr algn="l"/>
            <a:r>
              <a:rPr sz="1400">
                <a:solidFill>
                  <a:srgbClr val="000000"/>
                </a:solidFill>
              </a:rPr>
              <a:t>Three independent scans, each justified by the prior finding.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Lessons for the next run</a:t>
            </a:r>
          </a:p>
        </p:txBody>
      </p:sp>
      <p:sp>
        <p:nvSpPr>
          <p:cNvPr id="3"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_1_BlockGrid:0:c_1_Block:container"/>
          <p:cNvSpPr/>
          <p:nvPr/>
        </p:nvSpPr>
        <p:spPr>
          <a:xfrm>
            <a:off x="457200" y="1463040"/>
            <a:ext cx="5486400" cy="14752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c_1_BlockGrid:0:c_1_Block:Books" descr="image.png"/>
          <p:cNvPicPr>
            <a:picLocks noChangeAspect="1"/>
          </p:cNvPicPr>
          <p:nvPr/>
        </p:nvPicPr>
        <p:blipFill>
          <a:blip r:embed="rId2"/>
          <a:stretch>
            <a:fillRect/>
          </a:stretch>
        </p:blipFill>
        <p:spPr>
          <a:xfrm>
            <a:off x="548640" y="1880616"/>
            <a:ext cx="640080" cy="640080"/>
          </a:xfrm>
          <a:prstGeom prst="rect">
            <a:avLst/>
          </a:prstGeom>
        </p:spPr>
      </p:pic>
      <p:sp>
        <p:nvSpPr>
          <p:cNvPr id="6" name="c_1_BlockGrid:0:c_1_Block:content"/>
          <p:cNvSpPr txBox="1"/>
          <p:nvPr/>
        </p:nvSpPr>
        <p:spPr>
          <a:xfrm>
            <a:off x="1348740" y="1554480"/>
            <a:ext cx="4503420" cy="447674"/>
          </a:xfrm>
          <a:prstGeom prst="rect">
            <a:avLst/>
          </a:prstGeom>
          <a:noFill/>
        </p:spPr>
        <p:txBody>
          <a:bodyPr wrap="square" lIns="0" rIns="0" tIns="0" bIns="0" anchor="t"/>
          <a:lstStyle/>
          <a:p>
            <a:pPr algn="l">
              <a:spcAft>
                <a:spcPts val="500"/>
              </a:spcAft>
            </a:pPr>
            <a:r>
              <a:rPr sz="1400" b="1">
                <a:solidFill>
                  <a:srgbClr val="0047FF"/>
                </a:solidFill>
              </a:rPr>
              <a:t>English prompts only</a:t>
            </a:r>
          </a:p>
          <a:p>
            <a:pPr algn="l"/>
            <a:r>
              <a:rPr sz="1100">
                <a:solidFill>
                  <a:srgbClr val="000000"/>
                </a:solidFill>
              </a:rPr>
              <a:t>First UA batch wasted ~500k tokens.</a:t>
            </a:r>
          </a:p>
        </p:txBody>
      </p:sp>
      <p:sp>
        <p:nvSpPr>
          <p:cNvPr id="7" name="c_1_BlockGrid:1:c_2_Block:container"/>
          <p:cNvSpPr/>
          <p:nvPr/>
        </p:nvSpPr>
        <p:spPr>
          <a:xfrm>
            <a:off x="6035040" y="1463040"/>
            <a:ext cx="5486400" cy="14752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c_1_BlockGrid:1:c_2_Block:Document_Checklist_3" descr="image.png"/>
          <p:cNvPicPr>
            <a:picLocks noChangeAspect="1"/>
          </p:cNvPicPr>
          <p:nvPr/>
        </p:nvPicPr>
        <p:blipFill>
          <a:blip r:embed="rId3"/>
          <a:stretch>
            <a:fillRect/>
          </a:stretch>
        </p:blipFill>
        <p:spPr>
          <a:xfrm>
            <a:off x="6126480" y="1880616"/>
            <a:ext cx="640080" cy="640080"/>
          </a:xfrm>
          <a:prstGeom prst="rect">
            <a:avLst/>
          </a:prstGeom>
        </p:spPr>
      </p:pic>
      <p:sp>
        <p:nvSpPr>
          <p:cNvPr id="9" name="c_1_BlockGrid:1:c_2_Block:content"/>
          <p:cNvSpPr txBox="1"/>
          <p:nvPr/>
        </p:nvSpPr>
        <p:spPr>
          <a:xfrm>
            <a:off x="6926580" y="1554480"/>
            <a:ext cx="4503420" cy="447674"/>
          </a:xfrm>
          <a:prstGeom prst="rect">
            <a:avLst/>
          </a:prstGeom>
          <a:noFill/>
        </p:spPr>
        <p:txBody>
          <a:bodyPr wrap="square" lIns="0" rIns="0" tIns="0" bIns="0" anchor="t"/>
          <a:lstStyle/>
          <a:p>
            <a:pPr algn="l">
              <a:spcAft>
                <a:spcPts val="500"/>
              </a:spcAft>
            </a:pPr>
            <a:r>
              <a:rPr sz="1400" b="1">
                <a:solidFill>
                  <a:srgbClr val="A080DB"/>
                </a:solidFill>
              </a:rPr>
              <a:t>Spell out every SearchSource param</a:t>
            </a:r>
          </a:p>
          <a:p>
            <a:pPr algn="l"/>
            <a:r>
              <a:rPr sz="1100">
                <a:solidFill>
                  <a:srgbClr val="000000"/>
                </a:solidFill>
              </a:rPr>
              <a:t>Don't rely on planning-LLM defaults.</a:t>
            </a:r>
          </a:p>
        </p:txBody>
      </p:sp>
      <p:sp>
        <p:nvSpPr>
          <p:cNvPr id="10" name="c_1_BlockGrid:2:c_3_Block:container"/>
          <p:cNvSpPr/>
          <p:nvPr/>
        </p:nvSpPr>
        <p:spPr>
          <a:xfrm>
            <a:off x="457200" y="3057144"/>
            <a:ext cx="5486400" cy="14752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c_1_BlockGrid:2:c_3_Block:Clock_24h" descr="image.png"/>
          <p:cNvPicPr>
            <a:picLocks noChangeAspect="1"/>
          </p:cNvPicPr>
          <p:nvPr/>
        </p:nvPicPr>
        <p:blipFill>
          <a:blip r:embed="rId4"/>
          <a:stretch>
            <a:fillRect/>
          </a:stretch>
        </p:blipFill>
        <p:spPr>
          <a:xfrm>
            <a:off x="548640" y="3474720"/>
            <a:ext cx="640080" cy="640080"/>
          </a:xfrm>
          <a:prstGeom prst="rect">
            <a:avLst/>
          </a:prstGeom>
        </p:spPr>
      </p:pic>
      <p:sp>
        <p:nvSpPr>
          <p:cNvPr id="12" name="c_1_BlockGrid:2:c_3_Block:content"/>
          <p:cNvSpPr txBox="1"/>
          <p:nvPr/>
        </p:nvSpPr>
        <p:spPr>
          <a:xfrm>
            <a:off x="1348740" y="3148584"/>
            <a:ext cx="4503420" cy="447674"/>
          </a:xfrm>
          <a:prstGeom prst="rect">
            <a:avLst/>
          </a:prstGeom>
          <a:noFill/>
        </p:spPr>
        <p:txBody>
          <a:bodyPr wrap="square" lIns="0" rIns="0" tIns="0" bIns="0" anchor="t"/>
          <a:lstStyle/>
          <a:p>
            <a:pPr algn="l">
              <a:spcAft>
                <a:spcPts val="500"/>
              </a:spcAft>
            </a:pPr>
            <a:r>
              <a:rPr sz="1400" b="1">
                <a:solidFill>
                  <a:srgbClr val="0078C2"/>
                </a:solidFill>
              </a:rPr>
              <a:t>One scan at a time per destination</a:t>
            </a:r>
          </a:p>
          <a:p>
            <a:pPr algn="l"/>
            <a:r>
              <a:rPr sz="1100">
                <a:solidFill>
                  <a:srgbClr val="000000"/>
                </a:solidFill>
              </a:rPr>
              <a:t>Stability over wall-clock; 4 parallel scans crashed the backend.</a:t>
            </a:r>
          </a:p>
        </p:txBody>
      </p:sp>
      <p:sp>
        <p:nvSpPr>
          <p:cNvPr id="13" name="c_1_BlockGrid:3:c_4_Block:container"/>
          <p:cNvSpPr/>
          <p:nvPr/>
        </p:nvSpPr>
        <p:spPr>
          <a:xfrm>
            <a:off x="6035040" y="3057144"/>
            <a:ext cx="5486400" cy="14752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c_1_BlockGrid:3:c_4_Block:X_Mark_Circle_1" descr="image.png"/>
          <p:cNvPicPr>
            <a:picLocks noChangeAspect="1"/>
          </p:cNvPicPr>
          <p:nvPr/>
        </p:nvPicPr>
        <p:blipFill>
          <a:blip r:embed="rId5"/>
          <a:stretch>
            <a:fillRect/>
          </a:stretch>
        </p:blipFill>
        <p:spPr>
          <a:xfrm>
            <a:off x="6126480" y="3474720"/>
            <a:ext cx="640080" cy="640080"/>
          </a:xfrm>
          <a:prstGeom prst="rect">
            <a:avLst/>
          </a:prstGeom>
        </p:spPr>
      </p:pic>
      <p:sp>
        <p:nvSpPr>
          <p:cNvPr id="15" name="c_1_BlockGrid:3:c_4_Block:content"/>
          <p:cNvSpPr txBox="1"/>
          <p:nvPr/>
        </p:nvSpPr>
        <p:spPr>
          <a:xfrm>
            <a:off x="6926580" y="3148584"/>
            <a:ext cx="4503420" cy="447674"/>
          </a:xfrm>
          <a:prstGeom prst="rect">
            <a:avLst/>
          </a:prstGeom>
          <a:noFill/>
        </p:spPr>
        <p:txBody>
          <a:bodyPr wrap="square" lIns="0" rIns="0" tIns="0" bIns="0" anchor="t"/>
          <a:lstStyle/>
          <a:p>
            <a:pPr algn="l">
              <a:spcAft>
                <a:spcPts val="500"/>
              </a:spcAft>
            </a:pPr>
            <a:r>
              <a:rPr sz="1400" b="1">
                <a:solidFill>
                  <a:srgbClr val="107E8D"/>
                </a:solidFill>
              </a:rPr>
              <a:t>Never mix SearchObject + SearchSource</a:t>
            </a:r>
          </a:p>
          <a:p>
            <a:pPr algn="l"/>
            <a:r>
              <a:rPr sz="1100">
                <a:solidFill>
                  <a:srgbClr val="000000"/>
                </a:solidFill>
              </a:rPr>
              <a:t>In one prompt the model picks the wrong one.</a:t>
            </a:r>
          </a:p>
        </p:txBody>
      </p:sp>
      <p:sp>
        <p:nvSpPr>
          <p:cNvPr id="16" name="c_1_BlockGrid:4:c_5_Block:container"/>
          <p:cNvSpPr/>
          <p:nvPr/>
        </p:nvSpPr>
        <p:spPr>
          <a:xfrm>
            <a:off x="457200" y="4651248"/>
            <a:ext cx="5486400" cy="14752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c_1_BlockGrid:4:c_5_Block:Checkmark_Circle_1" descr="image.png"/>
          <p:cNvPicPr>
            <a:picLocks noChangeAspect="1"/>
          </p:cNvPicPr>
          <p:nvPr/>
        </p:nvPicPr>
        <p:blipFill>
          <a:blip r:embed="rId6"/>
          <a:stretch>
            <a:fillRect/>
          </a:stretch>
        </p:blipFill>
        <p:spPr>
          <a:xfrm>
            <a:off x="548640" y="5068824"/>
            <a:ext cx="640080" cy="640080"/>
          </a:xfrm>
          <a:prstGeom prst="rect">
            <a:avLst/>
          </a:prstGeom>
        </p:spPr>
      </p:pic>
      <p:sp>
        <p:nvSpPr>
          <p:cNvPr id="18" name="c_1_BlockGrid:4:c_5_Block:content"/>
          <p:cNvSpPr txBox="1"/>
          <p:nvPr/>
        </p:nvSpPr>
        <p:spPr>
          <a:xfrm>
            <a:off x="1348740" y="4742688"/>
            <a:ext cx="4503420" cy="447674"/>
          </a:xfrm>
          <a:prstGeom prst="rect">
            <a:avLst/>
          </a:prstGeom>
          <a:noFill/>
        </p:spPr>
        <p:txBody>
          <a:bodyPr wrap="square" lIns="0" rIns="0" tIns="0" bIns="0" anchor="t"/>
          <a:lstStyle/>
          <a:p>
            <a:pPr algn="l">
              <a:spcAft>
                <a:spcPts val="500"/>
              </a:spcAft>
            </a:pPr>
            <a:r>
              <a:rPr sz="1400" b="1">
                <a:solidFill>
                  <a:srgbClr val="E06C00"/>
                </a:solidFill>
              </a:rPr>
              <a:t>Assert tool availability positively</a:t>
            </a:r>
          </a:p>
          <a:p>
            <a:pPr algn="l"/>
            <a:r>
              <a:rPr sz="1100">
                <a:solidFill>
                  <a:srgbClr val="000000"/>
                </a:solidFill>
              </a:rPr>
              <a:t>Negative assertions leak tool names and trigger amnesia.</a:t>
            </a:r>
          </a:p>
        </p:txBody>
      </p:sp>
      <p:sp>
        <p:nvSpPr>
          <p:cNvPr id="19" name="c_1_BlockGrid:5:c_6_Block:container"/>
          <p:cNvSpPr/>
          <p:nvPr/>
        </p:nvSpPr>
        <p:spPr>
          <a:xfrm>
            <a:off x="6035040" y="4651248"/>
            <a:ext cx="5486400" cy="147523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c_1_BlockGrid:5:c_6_Block:Clock_24h" descr="image.png"/>
          <p:cNvPicPr>
            <a:picLocks noChangeAspect="1"/>
          </p:cNvPicPr>
          <p:nvPr/>
        </p:nvPicPr>
        <p:blipFill>
          <a:blip r:embed="rId4"/>
          <a:stretch>
            <a:fillRect/>
          </a:stretch>
        </p:blipFill>
        <p:spPr>
          <a:xfrm>
            <a:off x="6126480" y="5068824"/>
            <a:ext cx="640080" cy="640080"/>
          </a:xfrm>
          <a:prstGeom prst="rect">
            <a:avLst/>
          </a:prstGeom>
        </p:spPr>
      </p:pic>
      <p:sp>
        <p:nvSpPr>
          <p:cNvPr id="21" name="c_1_BlockGrid:5:c_6_Block:content"/>
          <p:cNvSpPr txBox="1"/>
          <p:nvPr/>
        </p:nvSpPr>
        <p:spPr>
          <a:xfrm>
            <a:off x="6926580" y="4742688"/>
            <a:ext cx="4503420" cy="447674"/>
          </a:xfrm>
          <a:prstGeom prst="rect">
            <a:avLst/>
          </a:prstGeom>
          <a:noFill/>
        </p:spPr>
        <p:txBody>
          <a:bodyPr wrap="square" lIns="0" rIns="0" tIns="0" bIns="0" anchor="t"/>
          <a:lstStyle/>
          <a:p>
            <a:pPr algn="l">
              <a:spcAft>
                <a:spcPts val="500"/>
              </a:spcAft>
            </a:pPr>
            <a:r>
              <a:rPr sz="1400" b="1">
                <a:solidFill>
                  <a:srgbClr val="00A705"/>
                </a:solidFill>
              </a:rPr>
              <a:t>Add 'exactly ONCE' guards</a:t>
            </a:r>
          </a:p>
          <a:p>
            <a:pPr algn="l"/>
            <a:r>
              <a:rPr sz="1100">
                <a:solidFill>
                  <a:srgbClr val="000000"/>
                </a:solidFill>
              </a:rPr>
              <a:t>Stops 50x GetIncludesList loops.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refinements to fold back</a:t>
            </a:r>
          </a:p>
        </p:txBody>
      </p:sp>
      <p:sp>
        <p:nvSpPr>
          <p:cNvPr id="3" name="Text Placeholder 2"/>
          <p:cNvSpPr>
            <a:spLocks noGrp="1"/>
          </p:cNvSpPr>
          <p:nvPr>
            <p:ph type="body" idx="15" sz="quarter"/>
          </p:nvPr>
        </p:nvSpPr>
        <p:spPr/>
        <p:txBody>
          <a:bodyPr/>
          <a:lstStyle/>
          <a:p>
            <a:r>
              <a:t>THE 5-STAGE TUTORIAL HELD UP</a:t>
            </a:r>
          </a:p>
        </p:txBody>
      </p:sp>
      <p:sp>
        <p:nvSpPr>
          <p:cNvPr id="4"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_1_BlockProcess:block0:c_1_Block"/>
          <p:cNvSpPr/>
          <p:nvPr/>
        </p:nvSpPr>
        <p:spPr>
          <a:xfrm>
            <a:off x="457200" y="1463040"/>
            <a:ext cx="3505200" cy="3264408"/>
          </a:xfrm>
          <a:prstGeom prst="rect">
            <a:avLst/>
          </a:prstGeom>
          <a:gradFill rotWithShape="1">
            <a:gsLst>
              <a:gs pos="0">
                <a:srgbClr val="003FE5"/>
              </a:gs>
              <a:gs pos="100000">
                <a:srgbClr val="1959FF"/>
              </a:gs>
            </a:gsLst>
            <a:lin ang="16200000" scaled="0"/>
          </a:gradFill>
          <a:ln w="3175">
            <a:solidFill>
              <a:srgbClr val="4B5366"/>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Stage 2b</a:t>
            </a:r>
          </a:p>
          <a:p>
            <a:pPr algn="l"/>
            <a:r>
              <a:rPr sz="1400">
                <a:solidFill>
                  <a:srgbClr val="FFFFFF"/>
                </a:solidFill>
              </a:rPr>
              <a:t>Open-ended enumeration is necessary — it catches wrapper FMs.</a:t>
            </a:r>
          </a:p>
        </p:txBody>
      </p:sp>
      <p:sp>
        <p:nvSpPr>
          <p:cNvPr id="6" name="c_1_BlockProcess:arrow0"/>
          <p:cNvSpPr/>
          <p:nvPr/>
        </p:nvSpPr>
        <p:spPr>
          <a:xfrm>
            <a:off x="3991560" y="2951244"/>
            <a:ext cx="216000" cy="288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_1_BlockProcess:block1:c_2_Block"/>
          <p:cNvSpPr/>
          <p:nvPr/>
        </p:nvSpPr>
        <p:spPr>
          <a:xfrm>
            <a:off x="4236720" y="1463040"/>
            <a:ext cx="3505200" cy="3264408"/>
          </a:xfrm>
          <a:prstGeom prst="rect">
            <a:avLst/>
          </a:prstGeom>
          <a:gradFill rotWithShape="1">
            <a:gsLst>
              <a:gs pos="0">
                <a:srgbClr val="916CD5"/>
              </a:gs>
              <a:gs pos="100000">
                <a:srgbClr val="AE93E0"/>
              </a:gs>
            </a:gsLst>
            <a:lin ang="16200000" scaled="0"/>
          </a:gradFill>
          <a:ln w="3175">
            <a:solidFill>
              <a:srgbClr val="766F83"/>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000000"/>
                </a:solidFill>
              </a:rPr>
              <a:t>Stage 3</a:t>
            </a:r>
          </a:p>
          <a:p>
            <a:pPr algn="l"/>
            <a:r>
              <a:rPr sz="1400">
                <a:solidFill>
                  <a:srgbClr val="000000"/>
                </a:solidFill>
              </a:rPr>
              <a:t>Needs &gt;=2 independent markers — password-only would be missed.</a:t>
            </a:r>
          </a:p>
        </p:txBody>
      </p:sp>
      <p:sp>
        <p:nvSpPr>
          <p:cNvPr id="8" name="c_1_BlockProcess:arrow1"/>
          <p:cNvSpPr/>
          <p:nvPr/>
        </p:nvSpPr>
        <p:spPr>
          <a:xfrm>
            <a:off x="7771080" y="2951244"/>
            <a:ext cx="216000" cy="288000"/>
          </a:xfrm>
          <a:prstGeom prst="rightArrow">
            <a:avLst/>
          </a:prstGeom>
          <a:solidFill>
            <a:srgbClr val="8989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_1_BlockProcess:block2:c_3_Block"/>
          <p:cNvSpPr/>
          <p:nvPr/>
        </p:nvSpPr>
        <p:spPr>
          <a:xfrm>
            <a:off x="8016240" y="1463040"/>
            <a:ext cx="3505200" cy="3264408"/>
          </a:xfrm>
          <a:prstGeom prst="rect">
            <a:avLst/>
          </a:prstGeom>
          <a:gradFill rotWithShape="1">
            <a:gsLst>
              <a:gs pos="0">
                <a:srgbClr val="0068A8"/>
              </a:gs>
              <a:gs pos="100000">
                <a:srgbClr val="0087DB"/>
              </a:gs>
            </a:gsLst>
            <a:lin ang="16200000" scaled="0"/>
          </a:gradFill>
          <a:ln w="3175">
            <a:solidFill>
              <a:srgbClr val="39464E"/>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37160" bIns="137160"/>
          <a:lstStyle/>
          <a:p>
            <a:pPr algn="l">
              <a:spcAft>
                <a:spcPts val="700"/>
              </a:spcAft>
            </a:pPr>
            <a:r>
              <a:rPr sz="1800" b="1">
                <a:solidFill>
                  <a:srgbClr val="FFFFFF"/>
                </a:solidFill>
              </a:rPr>
              <a:t>Late sanity scan</a:t>
            </a:r>
          </a:p>
          <a:p>
            <a:pPr algn="l"/>
            <a:r>
              <a:rPr sz="1400">
                <a:solidFill>
                  <a:srgbClr val="FFFFFF"/>
                </a:solidFill>
              </a:rPr>
              <a:t>Beyond credential literals — caught the ZDMS_SEND_FILE wrapper.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5" sz="quarter"/>
          </p:nvPr>
        </p:nvSpPr>
        <p:spPr/>
        <p:txBody>
          <a:bodyPr/>
          <a:lstStyle/>
          <a:p>
            <a:r>
              <a:t>NEXT STEPS</a:t>
            </a:r>
          </a:p>
        </p:txBody>
      </p:sp>
      <p:sp>
        <p:nvSpPr>
          <p:cNvPr id="4" name="ContentArea"/>
          <p:cNvSpPr/>
          <p:nvPr/>
        </p:nvSpPr>
        <p:spPr>
          <a:xfrm>
            <a:off x="457200" y="1463040"/>
            <a:ext cx="11064240" cy="46634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_1_Block"/>
          <p:cNvSpPr/>
          <p:nvPr/>
        </p:nvSpPr>
        <p:spPr>
          <a:xfrm>
            <a:off x="457200" y="1463040"/>
            <a:ext cx="11064240" cy="10591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marL="228600" indent="-182880">
              <a:spcAft>
                <a:spcPts val="0"/>
              </a:spcAft>
              <a:buClr>
                <a:srgbClr val="FFFFFF"/>
              </a:buClr>
              <a:buChar char="•"/>
            </a:pPr>
            <a:r>
              <a:rPr sz="1400">
                <a:solidFill>
                  <a:srgbClr val="FFFFFF"/>
                </a:solidFill>
              </a:rPr>
              <a:t>Hand artifacts (02-05 + extracts) to migration team</a:t>
            </a:r>
          </a:p>
          <a:p>
            <a:pPr algn="l" marL="228600" indent="-182880">
              <a:spcAft>
                <a:spcPts val="0"/>
              </a:spcAft>
              <a:buClr>
                <a:srgbClr val="FFFFFF"/>
              </a:buClr>
              <a:buChar char="•"/>
            </a:pPr>
            <a:r>
              <a:rPr sz="1400">
                <a:solidFill>
                  <a:srgbClr val="FFFFFF"/>
                </a:solidFill>
              </a:rPr>
              <a:t>Basis input on SM69 OS-side scripts</a:t>
            </a:r>
          </a:p>
          <a:p>
            <a:pPr algn="l" marL="228600" indent="-182880">
              <a:spcAft>
                <a:spcPts val="0"/>
              </a:spcAft>
              <a:buClr>
                <a:srgbClr val="FFFFFF"/>
              </a:buClr>
              <a:buChar char="•"/>
            </a:pPr>
            <a:r>
              <a:rPr sz="1400">
                <a:solidFill>
                  <a:srgbClr val="FFFFFF"/>
                </a:solidFill>
              </a:rPr>
              <a:t>Confirm Z001-only scope or run scans on other Z* roots</a:t>
            </a:r>
          </a:p>
          <a:p>
            <a:pPr algn="l" marL="228600" indent="-182880">
              <a:spcAft>
                <a:spcPts val="0"/>
              </a:spcAft>
              <a:buClr>
                <a:srgbClr val="FFFFFF"/>
              </a:buClr>
              <a:buChar char="•"/>
            </a:pPr>
            <a:r>
              <a:rPr sz="1400" b="1">
                <a:solidFill>
                  <a:srgbClr val="FFFFFF"/>
                </a:solidFill>
              </a:rPr>
              <a:t>Contact: </a:t>
            </a:r>
            <a:r>
              <a:rPr sz="1400">
                <a:solidFill>
                  <a:srgbClr val="FFFFFF"/>
                </a:solidFill>
              </a:rPr>
              <a:t>codebase-analysis tutorial owner (cloud-llm-hub repo)</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IO_CHANGETRACKING" val="true"/>
  <p:tag name="MIO_UPDATE" val="True"/>
  <p:tag name="MIO_OBJECTNAME" val="EPAM Overview"/>
  <p:tag name="MIO_LASTEDITORNAME" val="Peter Rutsch"/>
  <p:tag name="MIO_DBID" val="D7ED4A1B-644D-42C8-B85A-3AF7EB19A1AD"/>
  <p:tag name="MIO_LASTDOWNLOADED" val="25.09.2019 20:19:12"/>
  <p:tag name="MIO_VERSION" val="25.09.2019 19:19:12"/>
  <p:tag name="MIO_EKGUID" val="d7e3e5f7-9b32-4300-a908-3232d6ed981a"/>
  <p:tag name="MIO_NATIVESECTIONS" val="﻿&lt;?xml version=&quot;1.0&quot; encoding=&quot;utf-8&quot;?&gt;&lt;ArrayOfNativeSection xmlns:xsd=&quot;http://www.w3.org/2001/XMLSchema&quot; xmlns:xsi=&quot;http://www.w3.org/2001/XMLSchema-instance&quot;&gt;&lt;NativeSection&gt;&lt;Name&gt;About EPAM&lt;/Name&gt;&lt;FirstSlideIndex&gt;3&lt;/FirstSlideIndex&gt;&lt;SlidesCount&gt;15&lt;/SlidesCount&gt;&lt;SlideIDs /&gt;&lt;SlideGuids&gt;&lt;guid&gt;41917f75-77c0-48c8-a973-0468f4fe6223&lt;/guid&gt;&lt;guid&gt;4c4084ce-9dc3-4a2a-bd15-284b0659bb1d&lt;/guid&gt;&lt;guid&gt;c25f9840-0bea-411d-962d-9f3050c735d6&lt;/guid&gt;&lt;guid&gt;7d12a499-7701-4a6e-8610-d9d576cb0dec&lt;/guid&gt;&lt;guid&gt;61ee236e-49d2-4ed5-a476-38e350e3bfd2&lt;/guid&gt;&lt;guid&gt;ef65a5ca-8d54-4147-8afa-2ebb941538e3&lt;/guid&gt;&lt;guid&gt;c94ecc82-7873-4e32-885c-f35e7d8f652f&lt;/guid&gt;&lt;guid&gt;c3fea710-23c7-43d8-8d5d-f36b24c7383e&lt;/guid&gt;&lt;guid&gt;2bba986c-ee29-49a3-8223-b3a7867a5f4b&lt;/guid&gt;&lt;guid&gt;00e49fa1-ccf7-49ac-b1ea-429440dc91c2&lt;/guid&gt;&lt;guid&gt;cd433048-84df-4410-81de-4a8b6f9b00db&lt;/guid&gt;&lt;guid&gt;3c65c556-57fe-432d-8e6c-e872ce9c17e6&lt;/guid&gt;&lt;guid&gt;cfbce635-1caa-40a0-8168-f7cd9a71855f&lt;/guid&gt;&lt;guid&gt;0dd5438a-71f4-45bd-aeb7-e9afb36545e3&lt;/guid&gt;&lt;guid&gt;025c768f-d8c8-481b-827c-fb70a3dea855&lt;/guid&gt;&lt;/SlideGuids&gt;&lt;/NativeSection&gt;&lt;NativeSection&gt;&lt;Name&gt;EPAM Advantage&lt;/Name&gt;&lt;FirstSlideIndex&gt;18&lt;/FirstSlideIndex&gt;&lt;SlidesCount&gt;7&lt;/SlidesCount&gt;&lt;SlideIDs /&gt;&lt;SlideGuids&gt;&lt;guid&gt;1d3f40df-0be8-4722-86b4-ba408afacf35&lt;/guid&gt;&lt;guid&gt;1e4e570a-a814-43ca-b0e7-827ba1e99159&lt;/guid&gt;&lt;guid&gt;10e9fa43-a251-4d26-a911-d8ed059b1b96&lt;/guid&gt;&lt;guid&gt;c7beb776-8ff1-4acc-8007-da30e0319d43&lt;/guid&gt;&lt;guid&gt;34f142e0-cb5b-44f7-b22f-231c1a8fc0f9&lt;/guid&gt;&lt;guid&gt;26526e34-7c79-495c-b434-1b8afad190de&lt;/guid&gt;&lt;guid&gt;877dc4cd-9bef-4f8a-8bbc-52177ac46c56&lt;/guid&gt;&lt;/SlideGuids&gt;&lt;/NativeSection&gt;&lt;/ArrayOfNativeSection&gt;"/>
</p:tagLst>
</file>

<file path=ppt/tags/tag5000.xml><?xml version="1.0" encoding="utf-8"?>
<p:tagLst xmlns:a="http://schemas.openxmlformats.org/drawingml/2006/main" xmlns:r="http://schemas.openxmlformats.org/officeDocument/2006/relationships" xmlns:p="http://schemas.openxmlformats.org/presentationml/2006/main">
  <p:tag name="EMPOWERBULLETV2" val="empowerBulletV2"/>
</p:tagLst>
</file>

<file path=ppt/theme/theme1.xml><?xml version="1.0" encoding="utf-8"?>
<a:theme xmlns:a="http://schemas.openxmlformats.org/drawingml/2006/main" name="EPAM Master 2024.1">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EPAM_PresalesTemplate" id="{BA2CABEF-164A-0B40-9E1D-A9B96AE60B87}" vid="{65C357FB-1C5F-AA46-A42C-758D0D80597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B325E2B-52F7-4394-BC3E-1C5545ED6C41}">
  <we:reference id="0712333e-3078-4353-bc6c-307328446e34" version="1.0.1.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TaxCatchAll xmlns="f45da436-b9c0-45a6-9ecc-c0655a249673">
      <Value>1635</Value>
      <Value>116</Value>
      <Value>72</Value>
      <Value>1</Value>
      <Value>3444</Value>
    </TaxCatchAll>
    <LikesCount xmlns="http://schemas.microsoft.com/sharepoint/v3">37</LikesCount>
    <ica38aae1f42489fb9720caef7617fcd xmlns="f45da436-b9c0-45a6-9ecc-c0655a249673">
      <Terms xmlns="http://schemas.microsoft.com/office/infopath/2007/PartnerControls">
        <TermInfo xmlns="http://schemas.microsoft.com/office/infopath/2007/PartnerControls">
          <TermName xmlns="http://schemas.microsoft.com/office/infopath/2007/PartnerControls">General Decks:About EPAM</TermName>
          <TermId xmlns="http://schemas.microsoft.com/office/infopath/2007/PartnerControls">1bb3a607-45a4-4116-99d9-b95075743ae1</TermId>
        </TermInfo>
      </Terms>
    </ica38aae1f42489fb9720caef7617fcd>
    <StoryOwner xmlns="f45da436-b9c0-45a6-9ecc-c0655a249673">
      <UserInfo>
        <DisplayName>c:0t.c|tenant|5250c590-249d-4ccd-91b6-76bf54384662</DisplayName>
        <AccountId>15</AccountId>
        <AccountType/>
      </UserInfo>
      <UserInfo>
        <DisplayName>i:0#.f|membership|viktar_dvorkin@epam.com,#i:0#.f|membership|viktar_dvorkin@epam.com,#Viktar_Dvorkin@epam.com,#Viktar_Dvorkin@epam.com,#Viktar Dvorkin,#,#GDO Office,#SVP, Global Head of Advanced Engineering, Cloud and Enterprise Platforms</DisplayName>
        <AccountId>1450</AccountId>
        <AccountType/>
      </UserInfo>
    </StoryOwner>
    <StoryVideoLink xmlns="f45da436-b9c0-45a6-9ecc-c0655a249673">
      <Url>https://videoportal.epam.com/video/2JwbXbYM</Url>
      <Description>https://videoportal.epam.com/video/2JwbXbYM</Description>
    </StoryVideoLink>
    <a6a6423fd38e469e9a7567459672989e xmlns="f45da436-b9c0-45a6-9ecc-c0655a249673">
      <Terms xmlns="http://schemas.microsoft.com/office/infopath/2007/PartnerControls">
        <TermInfo xmlns="http://schemas.microsoft.com/office/infopath/2007/PartnerControls">
          <TermName xmlns="http://schemas.microsoft.com/office/infopath/2007/PartnerControls">Continuum</TermName>
          <TermId xmlns="http://schemas.microsoft.com/office/infopath/2007/PartnerControls">036b37b0-418a-48a3-ad40-f27762061154</TermId>
        </TermInfo>
        <TermInfo xmlns="http://schemas.microsoft.com/office/infopath/2007/PartnerControls">
          <TermName xmlns="http://schemas.microsoft.com/office/infopath/2007/PartnerControls">About EPAM</TermName>
          <TermId xmlns="http://schemas.microsoft.com/office/infopath/2007/PartnerControls">e35b7162-8377-4ac0-bb47-f30ed6f0902e</TermId>
        </TermInfo>
      </Terms>
    </a6a6423fd38e469e9a7567459672989e>
    <ExpirationDate xmlns="f45da436-b9c0-45a6-9ecc-c0655a249673">2025-11-20T00:00:00+00:00</ExpirationDate>
    <_dlc_DocId xmlns="f45da436-b9c0-45a6-9ecc-c0655a249673">EPAMSTORY-1389392072-5</_dlc_DocId>
    <_dlc_DocIdUrl xmlns="f45da436-b9c0-45a6-9ecc-c0655a249673">
      <Url>https://epam.sharepoint.com/sites/EPAMPresalesStories/_layouts/15/DocIdRedir.aspx?ID=EPAMSTORY-1389392072-5</Url>
      <Description>EPAMSTORY-1389392072-5</Description>
    </_dlc_DocIdUrl>
    <ExpirationStatus xmlns="cce964ea-0c98-4d20-81b3-11b96e0098eb">ok</ExpirationStatus>
    <ConfigNotes xmlns="http://schemas.microsoft.com/sharepoint/v3" xsi:nil="true"/>
    <o10324d9d8f24f3d87174cfdfd74b2e5 xmlns="f45da436-b9c0-45a6-9ecc-c0655a249673">
      <Terms xmlns="http://schemas.microsoft.com/office/infopath/2007/PartnerControls">
        <TermInfo xmlns="http://schemas.microsoft.com/office/infopath/2007/PartnerControls">
          <TermName xmlns="http://schemas.microsoft.com/office/infopath/2007/PartnerControls">About EPAM</TermName>
          <TermId xmlns="http://schemas.microsoft.com/office/infopath/2007/PartnerControls">5e1ed0a0-89ac-446a-837d-6ea8b9460059</TermId>
        </TermInfo>
      </Terms>
    </o10324d9d8f24f3d87174cfdfd74b2e5>
    <Contributors xmlns="cce964ea-0c98-4d20-81b3-11b96e0098eb">
      <UserInfo>
        <DisplayName/>
        <AccountId xsi:nil="true"/>
        <AccountType/>
      </UserInfo>
    </Contributors>
    <Part_x0020_of_x0020_Story xmlns="f45da436-b9c0-45a6-9ecc-c0655a249673" xsi:nil="true"/>
    <SharedWithUsers xmlns="f45da436-b9c0-45a6-9ecc-c0655a249673">
      <UserInfo>
        <DisplayName/>
        <AccountId xsi:nil="true"/>
        <AccountType/>
      </UserInfo>
    </SharedWithUsers>
    <TaxCatchAllLabel xmlns="f45da436-b9c0-45a6-9ecc-c0655a249673" xsi:nil="true"/>
    <_dlc_DocIdPersistId xmlns="f45da436-b9c0-45a6-9ecc-c0655a249673" xsi:nil="true"/>
    <h557d92785684d7cbabbc42229493ceb xmlns="f45da436-b9c0-45a6-9ecc-c0655a249673">
      <Terms xmlns="http://schemas.microsoft.com/office/infopath/2007/PartnerControls">
        <TermInfo xmlns="http://schemas.microsoft.com/office/infopath/2007/PartnerControls">
          <TermName xmlns="http://schemas.microsoft.com/office/infopath/2007/PartnerControls">Confidential: NDA Required</TermName>
          <TermId xmlns="http://schemas.microsoft.com/office/infopath/2007/PartnerControls">1078c1ca-8558-4f4e-bb3a-506201fcb43c</TermId>
        </TermInfo>
      </Terms>
    </h557d92785684d7cbabbc42229493ceb>
    <d0b4fb09d84842999ca30d5dd3a1ca39 xmlns="f45da436-b9c0-45a6-9ecc-c0655a249673">
      <Terms xmlns="http://schemas.microsoft.com/office/infopath/2007/PartnerControls"/>
    </d0b4fb09d84842999ca30d5dd3a1ca39>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ct:contentTypeSchema xmlns:ct="http://schemas.microsoft.com/office/2006/metadata/contentType" xmlns:ma="http://schemas.microsoft.com/office/2006/metadata/properties/metaAttributes" ct:_="" ma:_="" ma:contentTypeName="EPAM Story" ma:contentTypeID="0x0101009D00C2DDB7BE0A4F95197A46FA9E762A002B352ACE8C7DF74FABD5BBBE23F6FD6F" ma:contentTypeVersion="24" ma:contentTypeDescription="Create a new EPAM Story" ma:contentTypeScope="" ma:versionID="6c7ad0fab38022b33ef4691436c7fb7a">
  <xsd:schema xmlns:xsd="http://www.w3.org/2001/XMLSchema" xmlns:xs="http://www.w3.org/2001/XMLSchema" xmlns:p="http://schemas.microsoft.com/office/2006/metadata/properties" xmlns:ns1="http://schemas.microsoft.com/sharepoint/v3" xmlns:ns2="f45da436-b9c0-45a6-9ecc-c0655a249673" xmlns:ns3="cce964ea-0c98-4d20-81b3-11b96e0098eb" targetNamespace="http://schemas.microsoft.com/office/2006/metadata/properties" ma:root="true" ma:fieldsID="aef5d73f16a20ab942390f9d63fc4095" ns1:_="" ns2:_="" ns3:_="">
    <xsd:import namespace="http://schemas.microsoft.com/sharepoint/v3"/>
    <xsd:import namespace="f45da436-b9c0-45a6-9ecc-c0655a249673"/>
    <xsd:import namespace="cce964ea-0c98-4d20-81b3-11b96e0098eb"/>
    <xsd:element name="properties">
      <xsd:complexType>
        <xsd:sequence>
          <xsd:element name="documentManagement">
            <xsd:complexType>
              <xsd:all>
                <xsd:element ref="ns2:ExpirationDate"/>
                <xsd:element ref="ns2:StoryOwner"/>
                <xsd:element ref="ns3:Contributors" minOccurs="0"/>
                <xsd:element ref="ns3:ExpirationStatus" minOccurs="0"/>
                <xsd:element ref="ns2:Part_x0020_of_x0020_Story" minOccurs="0"/>
                <xsd:element ref="ns2:StoryVideoLink" minOccurs="0"/>
                <xsd:element ref="ns1:ConfigNotes" minOccurs="0"/>
                <xsd:element ref="ns2:_dlc_DocIdUrl" minOccurs="0"/>
                <xsd:element ref="ns2:a6a6423fd38e469e9a7567459672989e" minOccurs="0"/>
                <xsd:element ref="ns1:LikesCount" minOccurs="0"/>
                <xsd:element ref="ns2:SharedWithUsers" minOccurs="0"/>
                <xsd:element ref="ns2:SharedWithDetails" minOccurs="0"/>
                <xsd:element ref="ns2:ica38aae1f42489fb9720caef7617fcd" minOccurs="0"/>
                <xsd:element ref="ns2:_dlc_DocId" minOccurs="0"/>
                <xsd:element ref="ns2:o10324d9d8f24f3d87174cfdfd74b2e5" minOccurs="0"/>
                <xsd:element ref="ns2:_dlc_DocIdPersistId" minOccurs="0"/>
                <xsd:element ref="ns2:TaxCatchAll" minOccurs="0"/>
                <xsd:element ref="ns3:MediaServiceObjectDetectorVersions" minOccurs="0"/>
                <xsd:element ref="ns3:MediaServiceSearchProperties" minOccurs="0"/>
                <xsd:element ref="ns2:h557d92785684d7cbabbc42229493ceb" minOccurs="0"/>
                <xsd:element ref="ns3:MediaServiceBillingMetadata" minOccurs="0"/>
                <xsd:element ref="ns2:d0b4fb09d84842999ca30d5dd3a1ca39" minOccurs="0"/>
                <xsd:element ref="ns2:TaxCatchAllLabel"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ConfigNotes" ma:index="11" nillable="true" ma:displayName="Notes" ma:internalName="ConfigNotes" ma:readOnly="false">
      <xsd:simpleType>
        <xsd:restriction base="dms:Note">
          <xsd:maxLength value="255"/>
        </xsd:restriction>
      </xsd:simpleType>
    </xsd:element>
    <xsd:element name="LikesCount" ma:index="19" nillable="true" ma:displayName="Number of Likes" ma:hidden="true" ma:internalName="LikesCount" ma:readOnly="fals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f45da436-b9c0-45a6-9ecc-c0655a249673" elementFormDefault="qualified">
    <xsd:import namespace="http://schemas.microsoft.com/office/2006/documentManagement/types"/>
    <xsd:import namespace="http://schemas.microsoft.com/office/infopath/2007/PartnerControls"/>
    <xsd:element name="ExpirationDate" ma:index="4" ma:displayName="Review Date" ma:default="[today]" ma:format="DateOnly" ma:internalName="ExpirationDate" ma:readOnly="false">
      <xsd:simpleType>
        <xsd:restriction base="dms:DateTime"/>
      </xsd:simpleType>
    </xsd:element>
    <xsd:element name="StoryOwner" ma:index="5" ma:displayName="StoryOwner" ma:list="UserInfo" ma:SearchPeopleOnly="false" ma:SharePointGroup="0" ma:internalName="StoryOwner" ma:readOnly="false" ma:showField="ImnName">
      <xsd:complexType>
        <xsd:complexContent>
          <xsd:extension base="dms:UserMulti">
            <xsd:sequence>
              <xsd:element name="UserInfo" minOccurs="0" maxOccurs="unbounded">
                <xsd:complexType>
                  <xsd:sequence>
                    <xsd:element name="DisplayName" type="xsd:string" minOccurs="0"/>
                    <xsd:element name="AccountId" type="dms:UserId" minOccurs="0"/>
                    <xsd:element name="AccountType" type="xsd:string" minOccurs="0"/>
                  </xsd:sequence>
                </xsd:complexType>
              </xsd:element>
            </xsd:sequence>
          </xsd:extension>
        </xsd:complexContent>
      </xsd:complexType>
    </xsd:element>
    <xsd:element name="Part_x0020_of_x0020_Story" ma:index="9" nillable="true" ma:displayName="Part of Collection" ma:list="{caf6492b-c3a1-41e6-9ddd-75f5bc3198ae}" ma:internalName="Part_x0020_of_x0020_Story" ma:readOnly="false" ma:showField="Title" ma:web="f45da436-b9c0-45a6-9ecc-c0655a249673">
      <xsd:complexType>
        <xsd:complexContent>
          <xsd:extension base="dms:MultiChoiceLookup">
            <xsd:sequence>
              <xsd:element name="Value" type="dms:Lookup" maxOccurs="unbounded" minOccurs="0" nillable="true"/>
            </xsd:sequence>
          </xsd:extension>
        </xsd:complexContent>
      </xsd:complexType>
    </xsd:element>
    <xsd:element name="StoryVideoLink" ma:index="10" nillable="true" ma:displayName="StoryVideoLink" ma:description="Link to video on EPAM VideoPortal about this story" ma:format="Hyperlink" ma:internalName="StoryVideoLink"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_dlc_DocIdUrl" ma:index="14" nillable="true" ma:displayName="Document ID" ma:description="Permanent link to this document." ma:hidden="true" ma:internalName="_dlc_DocIdUrl"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a6a6423fd38e469e9a7567459672989e" ma:index="17" nillable="true" ma:taxonomy="true" ma:internalName="a6a6423fd38e469e9a7567459672989e" ma:taxonomyFieldName="StoryTags" ma:displayName="StoryTags" ma:readOnly="false" ma:default="" ma:fieldId="{a6a6423f-d38e-469e-9a75-67459672989e}" ma:taxonomyMulti="true" ma:sspId="debda6a7-6b37-4000-ac6c-4fd0a963898e" ma:termSetId="f1da140d-ef9e-4ced-9281-d8ea40222c81" ma:anchorId="00000000-0000-0000-0000-000000000000" ma:open="true" ma:isKeyword="false">
      <xsd:complexType>
        <xsd:sequence>
          <xsd:element ref="pc:Terms" minOccurs="0" maxOccurs="1"/>
        </xsd:sequence>
      </xsd:complexType>
    </xsd:element>
    <xsd:element name="SharedWithUsers" ma:index="21"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hidden="true" ma:internalName="SharedWithDetails" ma:readOnly="true">
      <xsd:simpleType>
        <xsd:restriction base="dms:Note"/>
      </xsd:simpleType>
    </xsd:element>
    <xsd:element name="ica38aae1f42489fb9720caef7617fcd" ma:index="23" ma:taxonomy="true" ma:internalName="ica38aae1f42489fb9720caef7617fcd" ma:taxonomyFieldName="Story" ma:displayName="Taxonomy" ma:readOnly="false" ma:default="" ma:fieldId="{2ca38aae-1f42-489f-b972-0caef7617fcd}" ma:taxonomyMulti="true" ma:sspId="debda6a7-6b37-4000-ac6c-4fd0a963898e" ma:termSetId="d72849a2-9b0d-48bf-bf08-492c9dccb842" ma:anchorId="00000000-0000-0000-0000-000000000000" ma:open="false" ma:isKeyword="false">
      <xsd:complexType>
        <xsd:sequence>
          <xsd:element ref="pc:Terms" minOccurs="0" maxOccurs="1"/>
        </xsd:sequence>
      </xsd:complexType>
    </xsd:element>
    <xsd:element name="_dlc_DocId" ma:index="24" nillable="true" ma:displayName="Document ID Value" ma:description="The value of the document ID assigned to this item." ma:hidden="true" ma:indexed="true" ma:internalName="_dlc_DocId" ma:readOnly="true">
      <xsd:simpleType>
        <xsd:restriction base="dms:Text"/>
      </xsd:simpleType>
    </xsd:element>
    <xsd:element name="o10324d9d8f24f3d87174cfdfd74b2e5" ma:index="25" ma:taxonomy="true" ma:internalName="o10324d9d8f24f3d87174cfdfd74b2e5" ma:taxonomyFieldName="StoryCategories" ma:displayName="StoryCategories" ma:readOnly="false" ma:default="1628;#Capability|437677bb-e3a5-4872-945b-ba4270c6cbb4" ma:fieldId="{810324d9-d8f2-4f3d-8717-4cfdfd74b2e5}" ma:taxonomyMulti="true" ma:sspId="debda6a7-6b37-4000-ac6c-4fd0a963898e" ma:termSetId="ddcebb0a-3fca-4e23-b6a5-f1f8550db231" ma:anchorId="00000000-0000-0000-0000-000000000000" ma:open="false" ma:isKeyword="false">
      <xsd:complexType>
        <xsd:sequence>
          <xsd:element ref="pc:Terms" minOccurs="0" maxOccurs="1"/>
        </xsd:sequence>
      </xsd:complexType>
    </xsd:element>
    <xsd:element name="_dlc_DocIdPersistId" ma:index="27" nillable="true" ma:displayName="Persist ID" ma:description="Keep ID on add." ma:hidden="true" ma:internalName="_dlc_DocIdPersistId" ma:readOnly="false">
      <xsd:simpleType>
        <xsd:restriction base="dms:Boolean"/>
      </xsd:simpleType>
    </xsd:element>
    <xsd:element name="TaxCatchAll" ma:index="28" nillable="true" ma:displayName="Taxonomy Catch All Column" ma:hidden="true" ma:list="{f4ef9fac-c5ce-424a-9df9-4a92c932d921}" ma:internalName="TaxCatchAll" ma:readOnly="false" ma:showField="CatchAllData" ma:web="f45da436-b9c0-45a6-9ecc-c0655a249673">
      <xsd:complexType>
        <xsd:complexContent>
          <xsd:extension base="dms:MultiChoiceLookup">
            <xsd:sequence>
              <xsd:element name="Value" type="dms:Lookup" maxOccurs="unbounded" minOccurs="0" nillable="true"/>
            </xsd:sequence>
          </xsd:extension>
        </xsd:complexContent>
      </xsd:complexType>
    </xsd:element>
    <xsd:element name="h557d92785684d7cbabbc42229493ceb" ma:index="31" ma:taxonomy="true" ma:internalName="h557d92785684d7cbabbc42229493ceb" ma:taxonomyFieldName="UsagePermission" ma:displayName="UsagePermission" ma:readOnly="false" ma:default="3444;#Confidential: NDA Required|1078c1ca-8558-4f4e-bb3a-506201fcb43c" ma:fieldId="{1557d927-8568-4d7c-babb-c42229493ceb}" ma:sspId="debda6a7-6b37-4000-ac6c-4fd0a963898e" ma:termSetId="8fdd4e80-0ab9-4356-9b99-f53e66d46305" ma:anchorId="00000000-0000-0000-0000-000000000000" ma:open="false" ma:isKeyword="false">
      <xsd:complexType>
        <xsd:sequence>
          <xsd:element ref="pc:Terms" minOccurs="0" maxOccurs="1"/>
        </xsd:sequence>
      </xsd:complexType>
    </xsd:element>
    <xsd:element name="d0b4fb09d84842999ca30d5dd3a1ca39" ma:index="34" nillable="true" ma:taxonomy="true" ma:internalName="d0b4fb09d84842999ca30d5dd3a1ca39" ma:taxonomyFieldName="VCN" ma:displayName="VCN" ma:readOnly="false" ma:default="" ma:fieldId="{d0b4fb09-d848-4299-9ca3-0d5dd3a1ca39}" ma:taxonomyMulti="true" ma:sspId="debda6a7-6b37-4000-ac6c-4fd0a963898e" ma:termSetId="983cafd6-05e4-4154-90f9-0772cf21af68" ma:anchorId="00000000-0000-0000-0000-000000000000" ma:open="false" ma:isKeyword="false">
      <xsd:complexType>
        <xsd:sequence>
          <xsd:element ref="pc:Terms" minOccurs="0" maxOccurs="1"/>
        </xsd:sequence>
      </xsd:complexType>
    </xsd:element>
    <xsd:element name="TaxCatchAllLabel" ma:index="35" nillable="true" ma:displayName="Taxonomy Catch All Column1" ma:hidden="true" ma:list="{f4ef9fac-c5ce-424a-9df9-4a92c932d921}" ma:internalName="TaxCatchAllLabel" ma:readOnly="false" ma:showField="CatchAllDataLabel" ma:web="f45da436-b9c0-45a6-9ecc-c0655a24967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cce964ea-0c98-4d20-81b3-11b96e0098eb" elementFormDefault="qualified">
    <xsd:import namespace="http://schemas.microsoft.com/office/2006/documentManagement/types"/>
    <xsd:import namespace="http://schemas.microsoft.com/office/infopath/2007/PartnerControls"/>
    <xsd:element name="Contributors" ma:index="6" nillable="true" ma:displayName="Contributors" ma:format="Dropdown" ma:list="UserInfo" ma:SharePointGroup="0" ma:internalName="Contributors"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xpirationStatus" ma:index="7" nillable="true" ma:displayName="ExpirationStatus" ma:internalName="ExpirationStatus" ma:readOnly="false">
      <xsd:simpleType>
        <xsd:restriction base="dms:Text">
          <xsd:maxLength value="255"/>
        </xsd:restriction>
      </xsd:simpleType>
    </xsd:element>
    <xsd:element name="MediaServiceObjectDetectorVersions" ma:index="29" nillable="true" ma:displayName="MediaServiceObjectDetectorVersions" ma:hidden="true" ma:indexed="true" ma:internalName="MediaServiceObjectDetectorVersions" ma:readOnly="true">
      <xsd:simpleType>
        <xsd:restriction base="dms:Text"/>
      </xsd:simpleType>
    </xsd:element>
    <xsd:element name="MediaServiceSearchProperties" ma:index="30" nillable="true" ma:displayName="MediaServiceSearchProperties" ma:hidden="true" ma:internalName="MediaServiceSearchPropertie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Note"/>
      </xsd:simpleType>
    </xsd:element>
    <xsd:element name="MediaServiceGenerationTime" ma:index="36" nillable="true" ma:displayName="MediaServiceGenerationTime" ma:hidden="true" ma:internalName="MediaServiceGenerationTime" ma:readOnly="true">
      <xsd:simpleType>
        <xsd:restriction base="dms:Text"/>
      </xsd:simpleType>
    </xsd:element>
    <xsd:element name="MediaServiceEventHashCode" ma:index="37"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0CB216C-B8AE-4FE7-A9EB-F5691280A8C7}">
  <ds:schemaRefs>
    <ds:schemaRef ds:uri="http://schemas.microsoft.com/sharepoint/events"/>
  </ds:schemaRefs>
</ds:datastoreItem>
</file>

<file path=customXml/itemProps2.xml><?xml version="1.0" encoding="utf-8"?>
<ds:datastoreItem xmlns:ds="http://schemas.openxmlformats.org/officeDocument/2006/customXml" ds:itemID="{D5483322-9D94-4891-9E64-C985B1D86A41}">
  <ds:schemaRefs>
    <ds:schemaRef ds:uri="f45da436-b9c0-45a6-9ecc-c0655a249673"/>
    <ds:schemaRef ds:uri="http://purl.org/dc/dcmitype/"/>
    <ds:schemaRef ds:uri="http://purl.org/dc/terms/"/>
    <ds:schemaRef ds:uri="http://purl.org/dc/elements/1.1/"/>
    <ds:schemaRef ds:uri="http://schemas.microsoft.com/sharepoint/v3"/>
    <ds:schemaRef ds:uri="http://schemas.microsoft.com/office/2006/documentManagement/types"/>
    <ds:schemaRef ds:uri="http://www.w3.org/XML/1998/namespace"/>
    <ds:schemaRef ds:uri="cce964ea-0c98-4d20-81b3-11b96e0098eb"/>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3.xml><?xml version="1.0" encoding="utf-8"?>
<ds:datastoreItem xmlns:ds="http://schemas.openxmlformats.org/officeDocument/2006/customXml" ds:itemID="{9BE67F4B-6A2F-473F-80F8-05CE7721E7A5}">
  <ds:schemaRefs>
    <ds:schemaRef ds:uri="http://schemas.microsoft.com/sharepoint/v3/contenttype/forms"/>
  </ds:schemaRefs>
</ds:datastoreItem>
</file>

<file path=customXml/itemProps4.xml><?xml version="1.0" encoding="utf-8"?>
<ds:datastoreItem xmlns:ds="http://schemas.openxmlformats.org/officeDocument/2006/customXml" ds:itemID="{223FEB0C-CC02-4177-8430-04E42C5C0C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f45da436-b9c0-45a6-9ecc-c0655a249673"/>
    <ds:schemaRef ds:uri="cce964ea-0c98-4d20-81b3-11b96e0098e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Covers</Template>
  <TotalTime>1266</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0</vt:i4>
      </vt:variant>
    </vt:vector>
  </HeadingPairs>
  <TitlesOfParts>
    <vt:vector size="6" baseType="lpstr">
      <vt:lpstr>Arial</vt:lpstr>
      <vt:lpstr>Calibri</vt:lpstr>
      <vt:lpstr>Calibri Light</vt:lpstr>
      <vt:lpstr>Courier New</vt:lpstr>
      <vt:lpstr>Human Sans</vt:lpstr>
      <vt:lpstr>EPAM Master 2024.1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EPAM Overview</dc:title>
  <dc:creator>Jennifer Markowitz</dc:creator>
  <cp:lastModifiedBy>Dmitry Zdanovich</cp:lastModifiedBy>
  <cp:revision>4</cp:revision>
  <dcterms:created xsi:type="dcterms:W3CDTF">2018-01-26T19:23:30Z</dcterms:created>
  <dcterms:modified xsi:type="dcterms:W3CDTF">2026-04-24T13:17:55Z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0x0101009D00C2DDB7BE0A4F95197A46FA9E762A002B352ACE8C7DF74FABD5BBBE23F6FD6F</vt:lpwstr>
  </property>
  <property fmtid="{D5CDD505-2E9C-101B-9397-08002B2CF9AE}" pid="3" name="ImportRevision">
    <vt:lpwstr>636751944040000000</vt:lpwstr>
  </property>
  <property fmtid="{D5CDD505-2E9C-101B-9397-08002B2CF9AE}" pid="4" name="StoryTags">
    <vt:lpwstr>72;#Continuum|036b37b0-418a-48a3-ad40-f27762061154;#116;#About EPAM|e35b7162-8377-4ac0-bb47-f30ed6f0902e</vt:lpwstr>
  </property>
  <property fmtid="{D5CDD505-2E9C-101B-9397-08002B2CF9AE}" pid="5" name="_dlc_DocIdItemGuid">
    <vt:lpwstr>041f0451-e7b6-47dd-8915-ddc72a6e399d</vt:lpwstr>
  </property>
  <property fmtid="{D5CDD505-2E9C-101B-9397-08002B2CF9AE}" pid="6" name="StoryTaxonomy">
    <vt:lpwstr>204;#EPAM Overview|107422c5-c5be-4599-981e-e0bc82e53d69</vt:lpwstr>
  </property>
  <property fmtid="{D5CDD505-2E9C-101B-9397-08002B2CF9AE}" pid="7" name="h098c32ae4474a2397bbdf9bd347fc14">
    <vt:lpwstr>EPAM Overview|107422c5-c5be-4599-981e-e0bc82e53d69</vt:lpwstr>
  </property>
  <property fmtid="{D5CDD505-2E9C-101B-9397-08002B2CF9AE}" pid="8" name="LikedBy">
    <vt:lpwstr>17;#Palina Vilava;#78;#Martin Asencio;#39;#Sergey Levchenko;#970;#Jesal Panchal;#5014;#Yury Slobodski;#243;#Esmy Jensen;#2461;#David Aldrich;#36;#Yuliya Ziaziulina;#899;#Markus Eriksson;#1694;#David Guerri;#7200;#Anand Topu;#219;#Sofia Odintseva;#22949;#Andrew Macey;#9941;#Ilya Kuntsevich;#22597;#Claudia Gorham1;#23522;#Volodymyr Stepanets (Contractor);#24069;#Deborah Regal;#24283;#Vladimir Grevtsev;#27435;#Ryan Ahmed;#20380;#Karan Bhardwaj;#27681;#Caroline Prenn;#24469;#Maneesh Khare;#30037;#CLAUDIA GIANFELICE;#418;#Gary Thomson;#863;#Ghislain Siewe;#7315;#Vivek Agarwal;#31715;#Mahesh Aluvala;#32105;#Alexa Robinson;#32214;#Ted Slater;#22485;#Giuseppe Riefoli;#33929;#Trinh Nguyen;#3914;#Bogdan Jurjevich;#2215;#Taryn Hess;#35911;#Kiryl Domnitch;#16039;#Quentin Odier;#15333;#Jack Maher;#29060;#i:0#.f|membership|marius_constantinescu@epam.com</vt:lpwstr>
  </property>
  <property fmtid="{D5CDD505-2E9C-101B-9397-08002B2CF9AE}" pid="9" name="StoryCategories">
    <vt:lpwstr>1635;#About EPAM|5e1ed0a0-89ac-446a-837d-6ea8b9460059</vt:lpwstr>
  </property>
  <property fmtid="{D5CDD505-2E9C-101B-9397-08002B2CF9AE}" pid="10" name="UsagePermission">
    <vt:lpwstr>3444;#Confidential: NDA Required|1078c1ca-8558-4f4e-bb3a-506201fcb43c</vt:lpwstr>
  </property>
  <property fmtid="{D5CDD505-2E9C-101B-9397-08002B2CF9AE}" pid="11" name="VCN">
    <vt:lpwstr/>
  </property>
  <property fmtid="{D5CDD505-2E9C-101B-9397-08002B2CF9AE}" pid="12" name="Story">
    <vt:lpwstr>1;#General Decks:About EPAM|1bb3a607-45a4-4116-99d9-b95075743ae1</vt:lpwstr>
  </property>
  <property fmtid="{D5CDD505-2E9C-101B-9397-08002B2CF9AE}" pid="13" name="MSIP_Label_2a535040-0af2-483f-adc3-a132c21e3e2b_Enabled">
    <vt:lpwstr>true</vt:lpwstr>
  </property>
  <property fmtid="{D5CDD505-2E9C-101B-9397-08002B2CF9AE}" pid="14" name="MSIP_Label_2a535040-0af2-483f-adc3-a132c21e3e2b_SetDate">
    <vt:lpwstr>2026-01-27T08:34:32Z</vt:lpwstr>
  </property>
  <property fmtid="{D5CDD505-2E9C-101B-9397-08002B2CF9AE}" pid="15" name="MSIP_Label_2a535040-0af2-483f-adc3-a132c21e3e2b_Method">
    <vt:lpwstr>Standard</vt:lpwstr>
  </property>
  <property fmtid="{D5CDD505-2E9C-101B-9397-08002B2CF9AE}" pid="16" name="MSIP_Label_2a535040-0af2-483f-adc3-a132c21e3e2b_Name">
    <vt:lpwstr>EPAM_Confidential</vt:lpwstr>
  </property>
  <property fmtid="{D5CDD505-2E9C-101B-9397-08002B2CF9AE}" pid="17" name="MSIP_Label_2a535040-0af2-483f-adc3-a132c21e3e2b_SiteId">
    <vt:lpwstr>b41b72d0-4e9f-4c26-8a69-f949f367c91d</vt:lpwstr>
  </property>
  <property fmtid="{D5CDD505-2E9C-101B-9397-08002B2CF9AE}" pid="18" name="MSIP_Label_2a535040-0af2-483f-adc3-a132c21e3e2b_ActionId">
    <vt:lpwstr>6de4626a-a598-4337-88df-2d099c6d2fce</vt:lpwstr>
  </property>
  <property fmtid="{D5CDD505-2E9C-101B-9397-08002B2CF9AE}" pid="19" name="MSIP_Label_2a535040-0af2-483f-adc3-a132c21e3e2b_ContentBits">
    <vt:lpwstr>0</vt:lpwstr>
  </property>
  <property fmtid="{D5CDD505-2E9C-101B-9397-08002B2CF9AE}" pid="20" name="MSIP_Label_2a535040-0af2-483f-adc3-a132c21e3e2b_Tag">
    <vt:lpwstr>10, 3, 0, 1</vt:lpwstr>
  </property>
</Properties>
</file>