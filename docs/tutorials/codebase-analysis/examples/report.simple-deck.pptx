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8.svg" ContentType="image/svg+xml"/>
  <Override PartName="/ppt/media/image19.svg" ContentType="image/svg+xml"/>
  <Override PartName="/ppt/media/image2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350" r:id="rId5"/>
  </p:sldMasterIdLst>
  <p:notesMasterIdLst>
    <p:notesMasterId r:id="rId6"/>
  </p:notesMasterIdLst>
  <p:handoutMasterIdLst>
    <p:handoutMasterId r:id="rId7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</p:sldIdLst>
  <p:sldSz cx="12192000" cy="6858000"/>
  <p:notesSz cx="6858000" cy="9144000"/>
  <p:custDataLst>
    <p:tags r:id="rId8"/>
  </p:custDataLst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736" userDrawn="1">
          <p15:clr>
            <a:srgbClr val="A4A3A4"/>
          </p15:clr>
        </p15:guide>
        <p15:guide id="2" pos="147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55DA"/>
    <a:srgbClr val="D9D9D9"/>
    <a:srgbClr val="FED143"/>
    <a:srgbClr val="77CED7"/>
    <a:srgbClr val="484749"/>
    <a:srgbClr val="7F993A"/>
    <a:srgbClr val="39C2D7"/>
    <a:srgbClr val="1887BB"/>
    <a:srgbClr val="62A230"/>
    <a:srgbClr val="675C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610" autoAdjust="0"/>
  </p:normalViewPr>
  <p:slideViewPr>
    <p:cSldViewPr snapToGrid="0" showGuides="1">
      <p:cViewPr varScale="1">
        <p:scale>
          <a:sx n="83" d="100"/>
          <a:sy n="83" d="100"/>
        </p:scale>
        <p:origin x="1084" y="5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66" d="100"/>
          <a:sy n="66" d="100"/>
        </p:scale>
        <p:origin x="0" y="0"/>
      </p:cViewPr>
      <p:guideLst>
        <p:guide orient="horz" pos="2736"/>
        <p:guide pos="1477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DC14FC-A894-4869-A797-1EC82735D10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D33E97-F2BE-44DB-A57D-0C85E2CBF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7781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99C05-63F9-4248-8E20-3ACD9DF9DE7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74FABB-6DBE-47C4-B626-20167906F4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864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emf"/><Relationship Id="rId4" Type="http://schemas.openxmlformats.org/officeDocument/2006/relationships/image" Target="../media/image6.png"/><Relationship Id="rId5" Type="http://schemas.openxmlformats.org/officeDocument/2006/relationships/image" Target="../media/image8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B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right light in the dark&#10;&#10;Description automatically generated with medium confidence">
            <a:extLst>
              <a:ext uri="{FF2B5EF4-FFF2-40B4-BE49-F238E27FC236}">
                <a16:creationId xmlns:a16="http://schemas.microsoft.com/office/drawing/2014/main" id="{292D94B7-0233-C940-0B7E-BB187340B7C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48AADE-3723-5675-1E93-91E2083DA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2020841-C9E1-4289-E94E-04CC0C8D6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1E233166-418F-6386-079E-CEDA3BF98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AC7376-20F0-E0B1-E7D5-414FC5DC35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55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BG-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DE3A7CEE-E1C9-5E29-7BD1-4DC1A1B47F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48AADE-3723-5675-1E93-91E2083DA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2020841-C9E1-4289-E94E-04CC0C8D6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tx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1E233166-418F-6386-079E-CEDA3BF98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046FBA0-34E7-8BA0-8C70-B6AFD4D64D8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5414" y="748727"/>
            <a:ext cx="1226857" cy="43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706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88486-1E04-4170-877E-F561315E0FF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0BD2E969-F100-6B32-8DFD-11A45E5E43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67B491-F517-CB8D-96B1-B02A50D723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430FF820-B532-1296-E817-DF961B67D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54D4BD-6E7A-841D-F70C-31FAEF56CD6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8217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339377C-8642-441F-BDC6-500DB01AD362}"/>
              </a:ext>
            </a:extLst>
          </p:cNvPr>
          <p:cNvSpPr/>
          <p:nvPr userDrawn="1"/>
        </p:nvSpPr>
        <p:spPr bwMode="auto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11A216CA-E680-42EB-BC45-95A09D62759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5998" y="0"/>
            <a:ext cx="6096001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30094E5E-6EFF-CE7E-D775-2FA95EEE2F1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5309027" cy="2769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E632B84-D810-D682-26F1-538579099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5309027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7E6BD730-15BB-8DAE-B807-85A733E0F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5311637" cy="1846659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6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229A6F-36FA-05D5-E223-1581D31CE2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8785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">
            <a:extLst>
              <a:ext uri="{FF2B5EF4-FFF2-40B4-BE49-F238E27FC236}">
                <a16:creationId xmlns:a16="http://schemas.microsoft.com/office/drawing/2014/main" id="{7D36EB9C-BBDB-7447-884B-AC6C7C7D1D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Contents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ECE784D3-D287-664F-80A6-CBA29DD12F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4216" y="152141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29A1CE94-599A-5146-9EFB-9AEECE43678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24216" y="22144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0E828E5-70FD-D449-B964-390D8366EA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4216" y="289739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23D1ADF7-7F17-9F4A-A000-26CFD756A3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4216" y="359045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C8974FB4-0DC4-9A48-849B-3445C17323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4216" y="4273364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B70AEBB-A750-864B-B6BD-21B4D0EFE2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24216" y="495627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6A80AC0-F1D6-7541-A91C-C279FD1948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56507" y="152141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8BEB51A-F18F-5749-809D-EC078A513A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6507" y="22144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6735154-D863-074C-BEF0-25E8F08360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6507" y="289739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C373B72A-00B1-9E4F-BC7F-202B2AC57F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6507" y="359045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A584DDAC-74C3-8649-AA09-BE37E59266E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56507" y="4273364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4BE98457-B105-874C-9706-66BA69C1AFC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56507" y="495627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</p:spTree>
    <p:extLst>
      <p:ext uri="{BB962C8B-B14F-4D97-AF65-F5344CB8AC3E}">
        <p14:creationId xmlns:p14="http://schemas.microsoft.com/office/powerpoint/2010/main" val="35001996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F2C7208-C4AB-4962-96F0-F897DFFC37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37B4F039-C58D-468E-394C-C92CD517A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Contents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BDF361-F375-D313-8D06-BDA2782784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4216" y="152141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BC6E842-5D88-CC5C-F1DA-808D61BEE75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24216" y="22144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CD37A923-9C8E-6CA3-1F51-1680DBD2536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4216" y="289739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3DB5EB1A-8556-A82E-AC69-301BA431D9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4216" y="359045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11E3B50A-6363-7824-DFC1-3035609DF67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4216" y="4273364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13E6F179-1003-654A-7321-F8FE6D12AC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24216" y="495627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A7166E3-13D7-44C2-45BA-F8800FCD1D9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56507" y="152141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42EBD53-BF92-55A6-E85A-50AD5A80A5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6507" y="22144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41709A76-8AD3-E8A8-447B-E2C8D00A4A1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6507" y="289739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FA4DA4A4-AEAC-105E-34C0-12EBA35F10E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6507" y="359045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6DD83F2-9BFD-E0B8-4706-D7200B45DE3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56507" y="4273364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0D94FEEB-2EA8-081B-0B69-F0ED7A8348A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56507" y="495627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0CA163-9EEA-54E4-57D2-BFE989F6F9C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A0B6ADF-5C55-9945-3F05-7FFC190F1FD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7706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73338DC0-8609-4542-8807-E7838F7CE5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30496" y="1541587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header here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43948224-37C6-4D02-AFD9-C1D88C1C07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30496" y="223184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BDE3CEE-0230-44C2-A389-A8747AA6BB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30496" y="2922103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76BF9761-22A6-4919-B7B5-2A027DDC6D4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30496" y="361236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BA13C9B-9D26-4B3E-8215-17F0475C200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30496" y="430261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64AC5FFC-6616-4F1B-B644-F0560ADC7E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30496" y="499287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49D503E-C57A-9E5B-19CF-94AF46BB63B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01160" y="154158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2BD3FFC-05D4-6AF7-0434-C1AC0298E5C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01160" y="2234115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0952C60-604F-9F1A-9D20-17D094CE483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1160" y="2923806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D164F81-CDD1-C1B4-ED55-A3321E1032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01160" y="361349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DF71D53-1D3F-D8F8-96D5-6DE13F1A9CC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01160" y="430318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142F11AF-BF37-8BBB-B5E7-A8655CF9477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101160" y="499287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</p:spTree>
    <p:extLst>
      <p:ext uri="{BB962C8B-B14F-4D97-AF65-F5344CB8AC3E}">
        <p14:creationId xmlns:p14="http://schemas.microsoft.com/office/powerpoint/2010/main" val="22129012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Agenda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404C027E-E5F6-C4D1-7BE4-B87D52F48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72B4D0-A39C-FAF6-B1FC-E8138006004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30496" y="1541587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Section header here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00A134C-93F9-0B06-D8F4-9B3C7532A42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30496" y="223184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37B92C4-122A-5377-7B74-D58A2319E9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30496" y="2922103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28A167B-CD8D-159B-58DB-AD9C0600F6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30496" y="361236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3238DD8-4A7D-554B-8216-37EA1F0231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30496" y="430261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1D58AB5-54CF-F584-79F8-821E69DF601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30496" y="499287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6367AC01-84C2-7E8C-3BF8-201856803E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01160" y="154158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0B1A9C8-7F43-7DB1-4F91-53075745C4B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01160" y="2234115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6C8629B-DFA8-41AA-9C67-96D3D02BED2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1160" y="2923806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11CC2B96-A6B1-5232-3AEE-F9B7FDBBC13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01160" y="361349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00:00 – 00:00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7A18B250-73F5-69E3-5878-B1D8C984F42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01160" y="430318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62FE180-ECE1-55D7-0248-053AC1E99B1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101160" y="499287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634F95-D03F-BB17-0BA8-0AB623989FD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0C2139A-0FDA-8116-257B-67457AE6A971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8196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om_1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919866F5-F57A-6C40-4D30-D67CB6A3D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000" b="1" i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0EC5345-D2D0-6B03-7DDB-B62AB64329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1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CB32F50E-D900-4FFA-87A8-502151FBE2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BA73176-A11D-D62A-EC12-39C3DF983B1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ED43E1-5036-AF03-3AFC-AC404D716E48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4AFFE7B-BAB3-2BE6-68C7-82413494811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7039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2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05BDBBF2-452B-8A53-D3BC-946EEC4030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2CA620CE-1B8B-D388-B43E-902BAFDB8F3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B21D373-42F2-86AB-3F79-81C1BE34820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8720EBE-A59D-52D5-044F-DF5C07F83D7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F31129-9154-6101-E99F-40D9C428A70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7BD8E2-6131-A98D-36C8-080B716E4D6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212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3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8BEA6F8A-F8D2-0E03-127C-C4C39351EE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F86F72EA-0ABE-9A8E-4E77-930AA5496A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A5E6E347-3D84-596D-2504-6BB7F348311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5684E56-61FE-0760-81FB-D738FF31CED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AFDEA9-4B5D-18D7-3B7C-ADC156E9EFC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818241-0582-A630-8CB0-7598682D85EA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2924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4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8956E04-CBD7-E482-8975-949516BE35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DF04DE8-18FA-CC1C-A2E5-416F24CA08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6BD1EAAB-FF14-59B6-EB7C-E327DBE476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53ED1D57-42C1-01EC-FDEC-8930A13F028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158379-42B6-CCBC-ACEF-3055CDBB2DD6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C1715E-3786-F104-88AB-8B85E2F6D91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44886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CBC286D-0325-2652-6DE3-BC17B7921CDE}"/>
              </a:ext>
            </a:extLst>
          </p:cNvPr>
          <p:cNvSpPr txBox="1">
            <a:spLocks/>
          </p:cNvSpPr>
          <p:nvPr userDrawn="1"/>
        </p:nvSpPr>
        <p:spPr>
          <a:xfrm>
            <a:off x="481264" y="1667844"/>
            <a:ext cx="4403565" cy="101566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lang="en-US" sz="6000" b="1" i="0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Disclaimer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5C60129C-ED73-46C0-0FB7-BB32CA2BD978}"/>
              </a:ext>
            </a:extLst>
          </p:cNvPr>
          <p:cNvSpPr txBox="1">
            <a:spLocks/>
          </p:cNvSpPr>
          <p:nvPr userDrawn="1"/>
        </p:nvSpPr>
        <p:spPr>
          <a:xfrm>
            <a:off x="481263" y="2919114"/>
            <a:ext cx="6664971" cy="1050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2400" b="0" dirty="0">
                <a:solidFill>
                  <a:schemeClr val="bg1"/>
                </a:solidFill>
                <a:latin typeface="Calibri Light"/>
                <a:cs typeface="Calibri Light"/>
              </a:rPr>
              <a:t>Do not share this presentation without a signed NDA.</a:t>
            </a:r>
            <a:endParaRPr lang="en-US" sz="2400" dirty="0">
              <a:solidFill>
                <a:schemeClr val="bg1"/>
              </a:solidFill>
              <a:latin typeface="Calibri Light"/>
              <a:cs typeface="Calibri Light"/>
            </a:endParaRPr>
          </a:p>
          <a:p>
            <a:pPr>
              <a:lnSpc>
                <a:spcPct val="150000"/>
              </a:lnSpc>
            </a:pPr>
            <a:r>
              <a:rPr lang="en-US" sz="2400" b="0" dirty="0">
                <a:solidFill>
                  <a:schemeClr val="bg1"/>
                </a:solidFill>
                <a:latin typeface="Calibri Light"/>
                <a:cs typeface="Calibri Light"/>
              </a:rPr>
              <a:t>Convert to PDF to protect sensitive slide notes.</a:t>
            </a:r>
            <a:endParaRPr lang="en-US" sz="2400" dirty="0">
              <a:solidFill>
                <a:schemeClr val="bg1"/>
              </a:solidFill>
              <a:latin typeface="Calibri Light"/>
              <a:cs typeface="Calibri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3464A0-B9BD-B9A5-38BA-45F5800B2DA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1264" y="872962"/>
            <a:ext cx="668294" cy="622205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C9E71BD3-C16B-E833-87BA-15C30377643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42082F-236C-033C-4BB1-ED91055E10D6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DDC278-1F97-461F-020F-97C4F17BCD4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24945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 with medium confidence">
            <a:extLst>
              <a:ext uri="{FF2B5EF4-FFF2-40B4-BE49-F238E27FC236}">
                <a16:creationId xmlns:a16="http://schemas.microsoft.com/office/drawing/2014/main" id="{93E89BDD-DFE0-2F52-8234-B4BA719C24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45299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AB1331E-AD8D-C6DD-2EB9-162F1E8744C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E73F41-F196-FE58-99BD-8AFA2B909861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ECA775BE-E377-94D3-AEB3-0F6AC5EABBE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51296AC5-6772-5447-9F7F-930222E7D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522FF93D-C8A6-33EF-5BC7-877E52BEE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FA81627C-09AF-5EC8-CA35-DF312ECADD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6322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8E60C0F2-79B7-EE1B-6041-90317B3CB1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5199D6FE-5F94-4710-8291-B3438158799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3F08F0-0194-EA75-42BA-A0773D6D3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BCD999-82B2-EE7A-6B7F-62E9DF0FC3BB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F60BC1F9-F5BB-BACB-98D9-6B1EA76689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21A2213A-A5D0-F62A-BDB3-8BB538A659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500BD8D1-BEE3-CC7B-18BC-B2C6739412D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113714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47254E77-EA64-0D5B-1B56-09AF228EFA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41AD50E6-D58E-3D8C-41A0-48F21CC758C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EC493A-D2B3-E243-2D3B-B6C3183A3174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F48D13-7FE0-0CB2-89F9-E7AA85593DB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7D221B2F-F01A-3D8B-58F3-2E0CD57769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7" name="Title 8">
            <a:extLst>
              <a:ext uri="{FF2B5EF4-FFF2-40B4-BE49-F238E27FC236}">
                <a16:creationId xmlns:a16="http://schemas.microsoft.com/office/drawing/2014/main" id="{5E154CAE-C4D8-C2A0-6BE8-461C3B8FA5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702DE92A-A744-9D66-5950-661ECF019C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5017214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5381F3-7ADD-A798-2917-70C400E5FC0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704668" y="2820541"/>
            <a:ext cx="4487332" cy="4037459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ECD9392-FD78-BAFC-F25C-F397815B41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C8D2A9-E7E5-3BDF-6F80-BF5E11614C7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562172F-E23C-EEAE-BC22-38510E2D106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747460E-84D6-E4C7-66CE-0A88D0D3B7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4C926E2E-67D5-D03F-CAF1-D936DD3C01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70B9D3F-8FFD-EE49-3B30-05286E2EBB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071653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ackground pattern&#10;&#10;Description automatically generated">
            <a:extLst>
              <a:ext uri="{FF2B5EF4-FFF2-40B4-BE49-F238E27FC236}">
                <a16:creationId xmlns:a16="http://schemas.microsoft.com/office/drawing/2014/main" id="{35273E55-8F47-AC18-08B7-C31C53E2A2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ECD9392-FD78-BAFC-F25C-F397815B41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C8D2A9-E7E5-3BDF-6F80-BF5E11614C7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562172F-E23C-EEAE-BC22-38510E2D106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CBBCDB36-A5F4-DF81-FE84-1CBB055082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36520FD8-AF16-A7D1-FBFD-C07B1B5276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BEA145C4-F1AE-010B-FC94-C27466A668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104833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721896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6033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Up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799394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E4F57360-96E0-124A-8B27-F0C4589ED9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1195614"/>
            <a:ext cx="11274552" cy="24622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B4284D-C7B7-AF33-505C-3BCE70543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8CBF3641-43B5-6FAC-E7AA-3C2E1B6868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6271990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51217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D8E0D9-9406-08F5-F3AB-192276B8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3010F0C-E353-B615-EE43-DC7134E728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28E7F92-C4B1-FD15-88E1-E80C3CABEB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BE634E-7C12-4735-5F97-ACA0CB41F52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91A8E84-4915-F847-688F-F749F3B632B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71403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ubtitl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D8E0D9-9406-08F5-F3AB-192276B8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3010F0C-E353-B615-EE43-DC7134E728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28E7F92-C4B1-FD15-88E1-E80C3CABEB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BE634E-7C12-4735-5F97-ACA0CB41F52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91A8E84-4915-F847-688F-F749F3B632B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AA4049EA-1C80-CEF2-C39E-9249C1D295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1195614"/>
            <a:ext cx="11274552" cy="24622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184776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0" y="0"/>
            <a:ext cx="5988049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9D2FFF58-70EB-C86F-9E59-1581F18B87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FF9120F-E29C-8B3A-D5EB-E673F7B2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8A6D870D-A9F4-488C-8ECB-5016711134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2698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1242001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0" y="0"/>
            <a:ext cx="598804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FF9120F-E29C-8B3A-D5EB-E673F7B2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8A6D870D-A9F4-488C-8ECB-5016711134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2698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9CE1444-B151-5430-2753-A94BFE5986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51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-Tw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7891C23-3EE8-0CED-28FE-170D18A2D615}"/>
              </a:ext>
            </a:extLst>
          </p:cNvPr>
          <p:cNvGrpSpPr/>
          <p:nvPr userDrawn="1"/>
        </p:nvGrpSpPr>
        <p:grpSpPr>
          <a:xfrm>
            <a:off x="3909694" y="-2"/>
            <a:ext cx="4653972" cy="6858002"/>
            <a:chOff x="3300840" y="-2"/>
            <a:chExt cx="4653972" cy="6858002"/>
          </a:xfrm>
          <a:solidFill>
            <a:schemeClr val="bg1">
              <a:lumMod val="95000"/>
            </a:schemeClr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E4E5E53-9F1A-D61C-9EEB-E1510482E5BF}"/>
                </a:ext>
              </a:extLst>
            </p:cNvPr>
            <p:cNvSpPr/>
            <p:nvPr userDrawn="1"/>
          </p:nvSpPr>
          <p:spPr bwMode="auto">
            <a:xfrm>
              <a:off x="3300840" y="0"/>
              <a:ext cx="4110732" cy="6858000"/>
            </a:xfrm>
            <a:prstGeom prst="rect">
              <a:avLst/>
            </a:prstGeom>
            <a:grpFill/>
            <a:ln>
              <a:noFill/>
            </a:ln>
            <a:effectLst/>
          </p:spPr>
          <p:txBody>
            <a:bodyPr wrap="none" rtlCol="0" anchor="ctr"/>
            <a:lstStyle/>
            <a:p>
              <a:pPr algn="ctr"/>
              <a:endPara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  <p:sp>
          <p:nvSpPr>
            <p:cNvPr id="13" name="Isosceles Triangle 13">
              <a:extLst>
                <a:ext uri="{FF2B5EF4-FFF2-40B4-BE49-F238E27FC236}">
                  <a16:creationId xmlns:a16="http://schemas.microsoft.com/office/drawing/2014/main" id="{DF41968F-990C-67B1-0475-04E0249E281A}"/>
                </a:ext>
              </a:extLst>
            </p:cNvPr>
            <p:cNvSpPr/>
            <p:nvPr userDrawn="1"/>
          </p:nvSpPr>
          <p:spPr>
            <a:xfrm rot="5400000" flipH="1">
              <a:off x="4249415" y="3152602"/>
              <a:ext cx="6858002" cy="5527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1" y="0"/>
            <a:ext cx="4076701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E036E7A-2B84-45D1-985C-C2AD71420C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936060" y="3152602"/>
            <a:ext cx="6858002" cy="55279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80E4AD9-5B60-F04F-FEE1-80647A0EA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189EAA6-8653-D9C5-4653-C4B7BB2BB32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9491909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4" y="0"/>
            <a:ext cx="237172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894D8D-7B75-A627-E4B9-1C694A55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8252847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05EF53-7E88-FC61-2AD6-524C995155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091D4E-6AE3-3F04-D0A0-8C96044CC29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78EB0A-0FF2-079E-6368-97511A388F2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0077284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5" y="0"/>
            <a:ext cx="2371722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E6AE37-FC1E-5269-1E83-C3E9928ED25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7A8488-5F43-686E-E10B-16D16E352EE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B7DE099-ACDF-D41B-FBC3-5EE9A76F4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7450138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AF7055BE-CD0F-6E9E-5992-4C7B9EF5FAB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3600000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02645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0FD50C-06F7-21CC-1F6A-D75586A5063A}"/>
              </a:ext>
            </a:extLst>
          </p:cNvPr>
          <p:cNvSpPr/>
          <p:nvPr userDrawn="1"/>
        </p:nvSpPr>
        <p:spPr bwMode="auto">
          <a:xfrm>
            <a:off x="5166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6866651-9DE6-3C00-E38E-CCE80D60499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2367" y="6438901"/>
            <a:ext cx="540540" cy="190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4" y="0"/>
            <a:ext cx="237172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894D8D-7B75-A627-E4B9-1C694A55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8252847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05EF53-7E88-FC61-2AD6-524C995155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BD1CA3-DE0B-7A9B-CE98-826ACE3DFEB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05F033AD-4765-5FA3-B45B-9232B4A16A8B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0826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395CC0-872C-69F3-88ED-BEF3B6BA9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4DF7A43-01BC-022E-268E-6B2F50E13A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F6CAB9-3229-A377-2782-A27CB6B30495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B5412B9-D91D-8002-0693-897E81DD8C8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9658784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F441E88-7FE8-D22E-100F-B090659320A1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FA5AB7F-48A8-2636-3278-4702BB8C57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395CC0-872C-69F3-88ED-BEF3B6BA9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4DF7A43-01BC-022E-268E-6B2F50E13A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ACC802-5D81-6EBD-4496-14A01AE49DBC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233E5D9-D527-CAC4-3B1E-44AA802D724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93843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9FDF51-3B9F-C5D8-7A84-09B7B6CB9E8B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3A15A-582D-3DDB-CC40-43726E84CA43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D8F2DF5-DE6F-E2FC-0057-63CC04174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764213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74897430-924B-CB14-9A94-8DB20A76C7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764213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105313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723900"/>
            <a:ext cx="2302297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kern="800" cap="none" spc="13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2302297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kern="800" cap="none" spc="13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D9D0C0-2EBB-53F1-FD7B-7BFF49053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BF6AFA3-4B0B-A44E-C32C-9E35F112D7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A437B-1C43-BD15-538B-E37E3F956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23EDF6C-81ED-D75B-14CE-F3906A1FF5D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9190511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E6C5343-68AD-9879-2727-7ECBCB6A1B23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EF0FAA-381C-3A89-42AF-830EF59119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56236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B24921F-F7DB-7A40-465F-85F610FC20C6}"/>
              </a:ext>
            </a:extLst>
          </p:cNvPr>
          <p:cNvSpPr txBox="1"/>
          <p:nvPr userDrawn="1"/>
        </p:nvSpPr>
        <p:spPr>
          <a:xfrm>
            <a:off x="10048875" y="6423925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64F018D9-6B5F-8BCB-BD75-7816BF58C56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23926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723900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D9D0C0-2EBB-53F1-FD7B-7BFF49053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BF6AFA3-4B0B-A44E-C32C-9E35F112D7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A437B-1C43-BD15-538B-E37E3F956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23EDF6C-81ED-D75B-14CE-F3906A1FF5D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9586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40C5E2-D359-5FED-B284-19CF47A41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A60CDFE-3A94-5F3A-0523-ABA56078007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7052EF-2C83-09DE-9638-F3492217FF7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997612B5-8615-3AC0-8239-012312B6FD9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743743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72960BA-AA0C-9715-43A2-22B9050A478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1783F67-AD13-06FC-C79E-DE6FBF4D05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414E4-F961-7DD4-8CFB-7B93DD10B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2BE525B-A1C0-1DD5-E075-79F96E71ED4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67A229-8E7F-A1E8-7492-218AEFB06B0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71751A4-BF09-09F2-77C6-42F2F2AEB24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78184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B7486B-35A7-A3FF-6F44-2159B1E9FAD3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82A7F25-3763-4002-A844-19432F96312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EBC1AB0-2CF4-70A1-0BD7-A9A57D9F9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342021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9B299D4E-38EF-AC64-7836-1AD1E87996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342021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987761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4D51ED0-4D08-4641-87AC-8F2B5E2A3B9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091CD3F7-14AE-A849-9B73-75D2354D484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C6BA4E-CBCB-554D-CA98-146A521CFDF4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BB62B8-4926-8E23-51B4-D8AC31708BB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A808058-9E6F-F0D8-A385-7B4C54766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005137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93D95AB9-CE03-7AFD-DBBE-C67756B352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005137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401070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81004-83D3-1FD9-8DEB-8753B675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3611880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B05C9E2-FF8C-3AB5-99B5-2786F045CA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93178D-6CC8-41D7-8CEB-9ED5EE67A4B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CC52C08-BA77-F41F-7A2A-48DD915C7E8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9168045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Pictur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1463925-928E-4FE1-B9E5-B83141A2C221}"/>
              </a:ext>
            </a:extLst>
          </p:cNvPr>
          <p:cNvSpPr/>
          <p:nvPr userDrawn="1"/>
        </p:nvSpPr>
        <p:spPr bwMode="auto">
          <a:xfrm>
            <a:off x="-1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169AD5E-5F94-E6C0-0DB3-77E8A5A0D3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438901"/>
            <a:ext cx="540540" cy="1904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3DBF0C-CA25-003D-B5D8-6EE24C1F808C}"/>
              </a:ext>
            </a:extLst>
          </p:cNvPr>
          <p:cNvSpPr txBox="1"/>
          <p:nvPr userDrawn="1"/>
        </p:nvSpPr>
        <p:spPr>
          <a:xfrm>
            <a:off x="10048874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697B36E0-E687-34C7-ACB3-F681FF77C582}"/>
              </a:ext>
            </a:extLst>
          </p:cNvPr>
          <p:cNvSpPr txBox="1">
            <a:spLocks/>
          </p:cNvSpPr>
          <p:nvPr userDrawn="1"/>
        </p:nvSpPr>
        <p:spPr>
          <a:xfrm>
            <a:off x="11498093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81004-83D3-1FD9-8DEB-8753B675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3611880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B05C9E2-FF8C-3AB5-99B5-2786F045CA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93178D-6CC8-41D7-8CEB-9ED5EE67A4B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CC52C08-BA77-F41F-7A2A-48DD915C7E8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81739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5EB0785-A8B2-B844-97DC-362F6DEDBA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8022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Up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D6310AE-15DA-337B-9B5E-33A904BF35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 dirty="0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dirty="0" err="1"/>
              <a:t>popularised</a:t>
            </a:r>
            <a:r>
              <a:rPr lang="en-US" dirty="0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4F314DE-C7E3-7237-4318-0407E44F57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5B1A98-E850-C3DE-38BF-EFAE0A2DC98C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E6FC5F8-7CE5-D29D-2CCA-C5715CDD43B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73655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CD48285-8885-4D22-8AE4-172AF611419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5F520A7-9AB7-29A3-F6E1-6EDE842D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5B6FBE-AD77-73FE-AB75-C5B0A0FF3D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5738485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69C4A8F-5B1E-7B0E-CAF7-B9F33D92C84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5F520A7-9AB7-29A3-F6E1-6EDE842D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5B6FBE-AD77-73FE-AB75-C5B0A0FF3D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D6F42AB-F517-759C-A3C4-63443ED771D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4E9D77-5CF8-5131-6018-48DF58117EC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34280A7-4796-759A-6B00-0444E865A6A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12892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F61EEF5-D25E-43F9-9DE7-B0D48CE58D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700771F-7FE8-2510-0C0E-734572A38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764213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E1513A24-C9FD-06A1-1015-D9656D68B8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764213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543363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E5D96D1E-C1BD-6F40-A978-D03F53CD4A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78374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E036E7A-2B84-45D1-985C-C2AD71420C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54523F-EFD3-EDB0-4AF0-FB2421CC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DB8D92B-BDD7-86B1-A31A-C3740736BA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543917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54523F-EFD3-EDB0-4AF0-FB2421CC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DB8D92B-BDD7-86B1-A31A-C3740736BA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104305F-427E-7B08-9801-43AF5256FF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2890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B0227B-1090-48E9-B33D-CB9CA73DF05F}"/>
              </a:ext>
            </a:extLst>
          </p:cNvPr>
          <p:cNvSpPr/>
          <p:nvPr userDrawn="1"/>
        </p:nvSpPr>
        <p:spPr bwMode="auto">
          <a:xfrm flipH="1">
            <a:off x="3108325" y="0"/>
            <a:ext cx="908367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1C45522-9A1C-E9EB-4D96-B0CFFD2F7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2502567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E6E8F6-4D6C-2884-0A7D-72BB39B21D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2502567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A07FC1-18DF-2355-0123-10BF2390C02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B024407-B901-7B1F-04F9-932983C670E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65509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A9547FE-7857-4A70-ACDF-06ACC0CC38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0096CA2-6B8E-1E0B-7446-BC5F37E7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0402405-4264-41C3-7E10-6A2AF1A461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3255158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Black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0096CA2-6B8E-1E0B-7446-BC5F37E7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0402405-4264-41C3-7E10-6A2AF1A461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5DC425F-9CC1-9DF3-3F54-17DAA0EB5E7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2756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Statem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6E44CDB4-CF54-423C-9681-C9AAACA56B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2F6686-8C0A-120D-0C06-1F8DA97E3C4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465D26-CB94-F414-6836-638151C91C4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92057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Column Pictur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1376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1376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7032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7032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0D35C967-D122-42CE-BDAF-F34B55F00EA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54FDC613-45BE-47C3-82C5-FC027C2DE43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31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413442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363153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Picture Placeholder 23">
            <a:extLst>
              <a:ext uri="{FF2B5EF4-FFF2-40B4-BE49-F238E27FC236}">
                <a16:creationId xmlns:a16="http://schemas.microsoft.com/office/drawing/2014/main" id="{5145A383-DF32-4D59-98B6-07591E0CE3E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9312864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02B5D-C175-DE3C-BEC7-EB4A4187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106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93C67F9-F2A6-3918-0A8D-555112C9F4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382446"/>
            <a:ext cx="2695074" cy="207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953817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Pictures-Leil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2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2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07656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07656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7867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47867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23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307338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140700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02B5D-C175-DE3C-BEC7-EB4A4187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106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93C67F9-F2A6-3918-0A8D-555112C9F4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382446"/>
            <a:ext cx="2695074" cy="207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7107384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3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1" y="4124960"/>
            <a:ext cx="3312160" cy="246221"/>
          </a:xfrm>
        </p:spPr>
        <p:txBody>
          <a:bodyPr>
            <a:spAutoFit/>
          </a:bodyPr>
          <a:lstStyle>
            <a:lvl1pPr>
              <a:defRPr sz="16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3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0"/>
            <a:ext cx="40767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076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140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7BF9D5A-73E5-43EB-95F4-FF563695164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4697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AC52B6B-2068-4BD5-8D7B-E2AA5CC142A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06449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56DCAB-CD09-4E29-A907-70E7EBE0E68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302125" y="4124325"/>
            <a:ext cx="3311525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C9A5C7D-52BE-42FF-9382-B63BBD810FD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406449" y="4114800"/>
            <a:ext cx="3312160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833506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4 Pictures-Lei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3999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87999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Picture Placeholder 12">
            <a:extLst>
              <a:ext uri="{FF2B5EF4-FFF2-40B4-BE49-F238E27FC236}">
                <a16:creationId xmlns:a16="http://schemas.microsoft.com/office/drawing/2014/main" id="{4C3044EB-579C-1960-F9EB-F116665A729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32000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D6271A-50EF-A83C-8073-0A6628457E1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33A26170-4FED-69CC-E7CF-6F163320DA0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7200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EFF5574A-DA2F-79E2-5257-E464C4DCBED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370039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E50C4C1-6951-43AE-9158-49572E0C92C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370039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000C3D5-7B7C-EDA2-9F53-869EC3327CC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14039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E9AE19AD-1845-6345-DD33-3FC9CF1784E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14039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EFF38F98-219B-60E4-DEE4-A49FED7181F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6073D28-63C4-4EAB-D10E-E4C9A179B8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</p:spTree>
    <p:extLst>
      <p:ext uri="{BB962C8B-B14F-4D97-AF65-F5344CB8AC3E}">
        <p14:creationId xmlns:p14="http://schemas.microsoft.com/office/powerpoint/2010/main" val="2697825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95D56692-426B-4F40-8BC1-45B989D4414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8777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2D43E18-54F7-4125-A364-D733497B4F3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7555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Picture Placeholder 12">
            <a:extLst>
              <a:ext uri="{FF2B5EF4-FFF2-40B4-BE49-F238E27FC236}">
                <a16:creationId xmlns:a16="http://schemas.microsoft.com/office/drawing/2014/main" id="{0D751945-7936-4E08-A1DF-7F344072146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146333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F219C23-5248-6A23-1656-7F24D37DB2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D0F7879-EF16-5C25-BC5F-DF85AD10BA3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7931746-EE72-E501-E583-1218E82991F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437038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BE84340-BD33-8E44-99AA-69963886122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32164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32DEA7B-FE87-E4A3-0E28-5A6940077AAF}"/>
              </a:ext>
            </a:extLst>
          </p:cNvPr>
          <p:cNvSpPr/>
          <p:nvPr userDrawn="1"/>
        </p:nvSpPr>
        <p:spPr bwMode="auto">
          <a:xfrm>
            <a:off x="1020000" y="999000"/>
            <a:ext cx="10152000" cy="4860000"/>
          </a:xfrm>
          <a:prstGeom prst="rect">
            <a:avLst/>
          </a:prstGeom>
          <a:gradFill>
            <a:gsLst>
              <a:gs pos="66000">
                <a:schemeClr val="accent5"/>
              </a:gs>
              <a:gs pos="0">
                <a:schemeClr val="accent2"/>
              </a:gs>
              <a:gs pos="100000">
                <a:schemeClr val="accent4"/>
              </a:gs>
            </a:gsLst>
            <a:lin ang="1800000" scaled="0"/>
          </a:gra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lvl="0"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88A2ACC-EFED-3CEF-B58F-EA44CFA345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49475" y="2464175"/>
            <a:ext cx="7899400" cy="61555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4000" b="0" i="0" spc="0" dirty="0">
                <a:solidFill>
                  <a:schemeClr val="bg1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Insert your quote here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A967559A-5EC8-8B92-65E3-76928C972876}"/>
              </a:ext>
            </a:extLst>
          </p:cNvPr>
          <p:cNvSpPr txBox="1">
            <a:spLocks/>
          </p:cNvSpPr>
          <p:nvPr userDrawn="1"/>
        </p:nvSpPr>
        <p:spPr>
          <a:xfrm>
            <a:off x="2062976" y="1531155"/>
            <a:ext cx="1248633" cy="147732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GB" sz="9600" dirty="0">
                <a:solidFill>
                  <a:schemeClr val="bg1"/>
                </a:solidFill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401183820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2B93596-9EFA-D1CF-1891-B79E8C1342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08594" y="1585875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DC7A20-9DDC-243D-12E0-D419647A6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8594" y="2359058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BB83A-8F61-9449-F88A-D14428FB92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08594" y="2744373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8CEB9B-E281-2F84-4094-6D6C75AE16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08594" y="327345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B5D4FBD-9119-A47E-823E-8468ED6CF4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08594" y="356038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67B81F6-EE7E-69A9-E411-F7C5230340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08594" y="4117149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7D40B0A2-8366-4164-6D42-A15D2F6F5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353882"/>
            <a:ext cx="4220135" cy="11079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7200" b="0" i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Thank you!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A2464A-FAB8-9787-5897-30B871357252}"/>
              </a:ext>
            </a:extLst>
          </p:cNvPr>
          <p:cNvCxnSpPr>
            <a:cxnSpLocks/>
          </p:cNvCxnSpPr>
          <p:nvPr userDrawn="1"/>
        </p:nvCxnSpPr>
        <p:spPr>
          <a:xfrm>
            <a:off x="6008594" y="1981200"/>
            <a:ext cx="6248400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84736574-B51A-9653-821A-E3F5C3FCDF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191EA3E-7B20-955D-0C59-DF85A9153658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BB0EE7-0219-6A5E-BA7F-872F2C48D7E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50476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-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2B93596-9EFA-D1CF-1891-B79E8C1342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08594" y="1585875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DC7A20-9DDC-243D-12E0-D419647A6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8594" y="2359058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BB83A-8F61-9449-F88A-D14428FB92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08594" y="2744373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8CEB9B-E281-2F84-4094-6D6C75AE16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08594" y="327345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B5D4FBD-9119-A47E-823E-8468ED6CF4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08594" y="356038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67B81F6-EE7E-69A9-E411-F7C5230340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08594" y="4117149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7D40B0A2-8366-4164-6D42-A15D2F6F5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353882"/>
            <a:ext cx="4220135" cy="11079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7200" b="0" i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Thank you!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A2464A-FAB8-9787-5897-30B871357252}"/>
              </a:ext>
            </a:extLst>
          </p:cNvPr>
          <p:cNvCxnSpPr>
            <a:cxnSpLocks/>
          </p:cNvCxnSpPr>
          <p:nvPr userDrawn="1"/>
        </p:nvCxnSpPr>
        <p:spPr>
          <a:xfrm>
            <a:off x="6008594" y="1981200"/>
            <a:ext cx="6248400" cy="0"/>
          </a:xfrm>
          <a:prstGeom prst="line">
            <a:avLst/>
          </a:prstGeom>
          <a:ln w="6350">
            <a:solidFill>
              <a:schemeClr val="tx2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062515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_phot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C487BF-0EFB-7D6C-3495-E817AE08A6A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C4526B2C-80FA-F150-338B-DB03C5073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663" y="1035424"/>
            <a:ext cx="4648200" cy="110799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7200" b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Thank you!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AF9CC8A-BAB0-4529-6083-A3D7F01CE4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4663" y="2540616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5054708-622B-37B7-6E33-486A71C952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4663" y="3313799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56D2A3F-CCA1-F399-D035-1BB32FED63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4663" y="3672220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50C7B71-5C80-8C3A-B66C-42F7296EB9C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4663" y="420130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0BFDDCB6-69BB-2359-40AB-46BA1DA744F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74663" y="448823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3D16F9E7-5E17-1B62-F499-C761278885E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4663" y="4897078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FF80AE-E38B-EC18-E1B5-2B5AAE36C2F4}"/>
              </a:ext>
            </a:extLst>
          </p:cNvPr>
          <p:cNvCxnSpPr>
            <a:cxnSpLocks/>
          </p:cNvCxnSpPr>
          <p:nvPr userDrawn="1"/>
        </p:nvCxnSpPr>
        <p:spPr>
          <a:xfrm>
            <a:off x="474663" y="2935941"/>
            <a:ext cx="3534335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3">
            <a:extLst>
              <a:ext uri="{FF2B5EF4-FFF2-40B4-BE49-F238E27FC236}">
                <a16:creationId xmlns:a16="http://schemas.microsoft.com/office/drawing/2014/main" id="{B5E39841-8080-2E83-D8BB-7AD807F024A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98728A8-4504-9979-0928-94780E8A451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68625CBB-5BC8-9235-54D3-C8F265017D7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1102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x_Photo_+_Caption_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50EF9F7-1BDD-C412-DA7B-D3D0D1ABA0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7700" y="670773"/>
            <a:ext cx="10896600" cy="553952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C1B8CB-9FFB-8D0A-F788-18710501B096}"/>
              </a:ext>
            </a:extLst>
          </p:cNvPr>
          <p:cNvSpPr/>
          <p:nvPr userDrawn="1"/>
        </p:nvSpPr>
        <p:spPr bwMode="auto">
          <a:xfrm>
            <a:off x="0" y="2679405"/>
            <a:ext cx="4924396" cy="4178595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8E94620-1500-8D43-BD64-006D83AE4B8E}"/>
              </a:ext>
            </a:extLst>
          </p:cNvPr>
          <p:cNvSpPr/>
          <p:nvPr userDrawn="1"/>
        </p:nvSpPr>
        <p:spPr bwMode="auto">
          <a:xfrm>
            <a:off x="-2151983" y="5103629"/>
            <a:ext cx="3848986" cy="3848986"/>
          </a:xfrm>
          <a:prstGeom prst="ellipse">
            <a:avLst/>
          </a:prstGeom>
          <a:solidFill>
            <a:srgbClr val="8B97FF">
              <a:alpha val="65000"/>
            </a:srgbClr>
          </a:solidFill>
          <a:ln>
            <a:noFill/>
          </a:ln>
          <a:effectLst>
            <a:softEdge rad="805949"/>
          </a:effectLst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Calibri" panose="020F050202020403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159C2A-0FC8-422F-92E4-B92935AAE5A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7699" y="3809007"/>
            <a:ext cx="3722281" cy="58477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Thank you!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3428999"/>
            <a:ext cx="373291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200" b="1" spc="3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EPAM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84CEF6B-33E9-BCE0-3818-CFEBB6352D8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7700" y="5438001"/>
            <a:ext cx="3690384" cy="2769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2FADFE-CDC9-BCE0-575D-8C2B21EF5ECA}"/>
              </a:ext>
            </a:extLst>
          </p:cNvPr>
          <p:cNvSpPr txBox="1"/>
          <p:nvPr userDrawn="1"/>
        </p:nvSpPr>
        <p:spPr>
          <a:xfrm>
            <a:off x="2271713" y="-85725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endParaRPr lang="en-US" sz="1200" dirty="0">
              <a:ea typeface="Human Sans" charset="0"/>
              <a:cs typeface="Human Sans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FE3F6A-717B-D671-C21C-B99B4FB231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1" y="237004"/>
            <a:ext cx="495300" cy="1820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AA398A-2E47-0C00-F4A0-87498FC7BBC1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8E7F306-CD25-215E-BBB0-42720869F90C}"/>
              </a:ext>
            </a:extLst>
          </p:cNvPr>
          <p:cNvSpPr txBox="1">
            <a:spLocks/>
          </p:cNvSpPr>
          <p:nvPr userDrawn="1"/>
        </p:nvSpPr>
        <p:spPr>
          <a:xfrm>
            <a:off x="11340916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tx1"/>
                </a:solidFill>
              </a:rPr>
              <a:pPr lvl="0"/>
              <a:t>‹#›</a:t>
            </a:fld>
            <a:endParaRPr 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94189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theme" Target="../theme/theme1.xml"/><Relationship Id="rId66" Type="http://schemas.openxmlformats.org/officeDocument/2006/relationships/image" Target="../media/image1.png"/><Relationship Id="rId67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723899"/>
            <a:ext cx="11277599" cy="4572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B532318-7ECA-4FB6-ADB1-48895B543C86}"/>
              </a:ext>
            </a:extLst>
          </p:cNvPr>
          <p:cNvPicPr>
            <a:picLocks noChangeAspect="1"/>
          </p:cNvPicPr>
          <p:nvPr userDrawn="1"/>
        </p:nvPicPr>
        <p:blipFill>
          <a:blip r:embed="rId66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7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641FF6-5DCC-D34B-9DD7-29931472CBC7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1DA6592-6579-C548-911C-85A5195E10BA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3A0289-E5C4-74D3-46E5-CB49BE902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139" y="1680713"/>
            <a:ext cx="11267660" cy="449148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5885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51" r:id="rId1"/>
    <p:sldLayoutId id="2147484352" r:id="rId2"/>
    <p:sldLayoutId id="2147484353" r:id="rId3"/>
    <p:sldLayoutId id="2147484354" r:id="rId4"/>
    <p:sldLayoutId id="2147484355" r:id="rId5"/>
    <p:sldLayoutId id="2147484356" r:id="rId6"/>
    <p:sldLayoutId id="2147484357" r:id="rId7"/>
    <p:sldLayoutId id="2147484358" r:id="rId8"/>
    <p:sldLayoutId id="2147484359" r:id="rId9"/>
    <p:sldLayoutId id="2147484360" r:id="rId10"/>
    <p:sldLayoutId id="2147484361" r:id="rId11"/>
    <p:sldLayoutId id="2147484362" r:id="rId12"/>
    <p:sldLayoutId id="2147484363" r:id="rId13"/>
    <p:sldLayoutId id="2147484364" r:id="rId14"/>
    <p:sldLayoutId id="2147484365" r:id="rId15"/>
    <p:sldLayoutId id="2147484366" r:id="rId16"/>
    <p:sldLayoutId id="2147484367" r:id="rId17"/>
    <p:sldLayoutId id="2147484368" r:id="rId18"/>
    <p:sldLayoutId id="2147484369" r:id="rId19"/>
    <p:sldLayoutId id="2147484370" r:id="rId20"/>
    <p:sldLayoutId id="2147484371" r:id="rId21"/>
    <p:sldLayoutId id="2147484372" r:id="rId22"/>
    <p:sldLayoutId id="2147484373" r:id="rId23"/>
    <p:sldLayoutId id="2147484374" r:id="rId24"/>
    <p:sldLayoutId id="2147484375" r:id="rId25"/>
    <p:sldLayoutId id="2147484376" r:id="rId26"/>
    <p:sldLayoutId id="2147484377" r:id="rId27"/>
    <p:sldLayoutId id="2147484378" r:id="rId28"/>
    <p:sldLayoutId id="2147484379" r:id="rId29"/>
    <p:sldLayoutId id="2147484380" r:id="rId30"/>
    <p:sldLayoutId id="2147484381" r:id="rId31"/>
    <p:sldLayoutId id="2147484382" r:id="rId32"/>
    <p:sldLayoutId id="2147484383" r:id="rId33"/>
    <p:sldLayoutId id="2147484384" r:id="rId34"/>
    <p:sldLayoutId id="2147484385" r:id="rId35"/>
    <p:sldLayoutId id="2147484386" r:id="rId36"/>
    <p:sldLayoutId id="2147484387" r:id="rId37"/>
    <p:sldLayoutId id="2147484388" r:id="rId38"/>
    <p:sldLayoutId id="2147484389" r:id="rId39"/>
    <p:sldLayoutId id="2147484390" r:id="rId40"/>
    <p:sldLayoutId id="2147484391" r:id="rId41"/>
    <p:sldLayoutId id="2147484392" r:id="rId42"/>
    <p:sldLayoutId id="2147484393" r:id="rId43"/>
    <p:sldLayoutId id="2147484394" r:id="rId44"/>
    <p:sldLayoutId id="2147484395" r:id="rId45"/>
    <p:sldLayoutId id="2147484396" r:id="rId46"/>
    <p:sldLayoutId id="2147484397" r:id="rId47"/>
    <p:sldLayoutId id="2147484398" r:id="rId48"/>
    <p:sldLayoutId id="2147484399" r:id="rId49"/>
    <p:sldLayoutId id="2147484400" r:id="rId50"/>
    <p:sldLayoutId id="2147484401" r:id="rId51"/>
    <p:sldLayoutId id="2147484402" r:id="rId52"/>
    <p:sldLayoutId id="2147484403" r:id="rId53"/>
    <p:sldLayoutId id="2147484404" r:id="rId54"/>
    <p:sldLayoutId id="2147484405" r:id="rId55"/>
    <p:sldLayoutId id="2147484406" r:id="rId56"/>
    <p:sldLayoutId id="2147484407" r:id="rId57"/>
    <p:sldLayoutId id="2147484408" r:id="rId58"/>
    <p:sldLayoutId id="2147484409" r:id="rId59"/>
    <p:sldLayoutId id="2147484410" r:id="rId60"/>
    <p:sldLayoutId id="2147484411" r:id="rId61"/>
    <p:sldLayoutId id="2147484412" r:id="rId62"/>
    <p:sldLayoutId id="2147484413" r:id="rId63"/>
    <p:sldLayoutId id="2147484414" r:id="rId64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200" b="1" i="0" kern="1200" dirty="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None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  <a:lvl2pPr marL="253800" indent="-25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2pPr>
      <a:lvl3pPr marL="504000" indent="-25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Courier New" panose="02070309020205020404" pitchFamily="49" charset="0"/>
        <a:buChar char="o"/>
        <a:defRPr sz="14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56">
          <p15:clr>
            <a:srgbClr val="F26B43"/>
          </p15:clr>
        </p15:guide>
        <p15:guide id="16" orient="horz" pos="239">
          <p15:clr>
            <a:srgbClr val="F26B43"/>
          </p15:clr>
        </p15:guide>
        <p15:guide id="17" orient="horz" pos="454">
          <p15:clr>
            <a:srgbClr val="F26B43"/>
          </p15:clr>
        </p15:guide>
        <p15:guide id="20" orient="horz" pos="744">
          <p15:clr>
            <a:srgbClr val="F26B43"/>
          </p15:clr>
        </p15:guide>
        <p15:guide id="41" orient="horz" pos="3888">
          <p15:clr>
            <a:srgbClr val="F26B43"/>
          </p15:clr>
        </p15:guide>
        <p15:guide id="43" orient="horz" pos="4176">
          <p15:clr>
            <a:srgbClr val="F26B43"/>
          </p15:clr>
        </p15:guide>
        <p15:guide id="56" orient="horz">
          <p15:clr>
            <a:srgbClr val="F26B43"/>
          </p15:clr>
        </p15:guide>
        <p15:guide id="58" orient="horz" pos="4032">
          <p15:clr>
            <a:srgbClr val="F26B43"/>
          </p15:clr>
        </p15:guide>
        <p15:guide id="59" pos="288">
          <p15:clr>
            <a:srgbClr val="F26B43"/>
          </p15:clr>
        </p15:guide>
        <p15:guide id="61" pos="7392">
          <p15:clr>
            <a:srgbClr val="F26B43"/>
          </p15:clr>
        </p15:guide>
        <p15:guide id="64" pos="1354">
          <p15:clr>
            <a:srgbClr val="F26B43"/>
          </p15:clr>
        </p15:guide>
        <p15:guide id="65" pos="1498">
          <p15:clr>
            <a:srgbClr val="F26B43"/>
          </p15:clr>
        </p15:guide>
        <p15:guide id="68" pos="2710">
          <p15:clr>
            <a:srgbClr val="F26B43"/>
          </p15:clr>
        </p15:guide>
        <p15:guide id="69" pos="2568">
          <p15:clr>
            <a:srgbClr val="F26B43"/>
          </p15:clr>
        </p15:guide>
        <p15:guide id="72" pos="3772">
          <p15:clr>
            <a:srgbClr val="F26B43"/>
          </p15:clr>
        </p15:guide>
        <p15:guide id="73" pos="3919">
          <p15:clr>
            <a:srgbClr val="F26B43"/>
          </p15:clr>
        </p15:guide>
        <p15:guide id="76" pos="5128">
          <p15:clr>
            <a:srgbClr val="F26B43"/>
          </p15:clr>
        </p15:guide>
        <p15:guide id="77" pos="4981">
          <p15:clr>
            <a:srgbClr val="F26B43"/>
          </p15:clr>
        </p15:guide>
        <p15:guide id="80" pos="6186">
          <p15:clr>
            <a:srgbClr val="F26B43"/>
          </p15:clr>
        </p15:guide>
        <p15:guide id="81" pos="633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6.png"/><Relationship Id="rId3" Type="http://schemas.openxmlformats.org/officeDocument/2006/relationships/image" Target="../media/image30.png"/><Relationship Id="rId4" Type="http://schemas.openxmlformats.org/officeDocument/2006/relationships/image" Target="../media/image27.png"/><Relationship Id="rId5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22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38.png"/><Relationship Id="rId3" Type="http://schemas.openxmlformats.org/officeDocument/2006/relationships/image" Target="../media/image24.png"/><Relationship Id="rId4" Type="http://schemas.openxmlformats.org/officeDocument/2006/relationships/image" Target="../media/image3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36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24.png"/><Relationship Id="rId3" Type="http://schemas.openxmlformats.org/officeDocument/2006/relationships/image" Target="../media/image38.png"/><Relationship Id="rId4" Type="http://schemas.openxmlformats.org/officeDocument/2006/relationships/image" Target="../media/image52.png"/><Relationship Id="rId5" Type="http://schemas.openxmlformats.org/officeDocument/2006/relationships/image" Target="../media/image4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52.png"/><Relationship Id="rId3" Type="http://schemas.openxmlformats.org/officeDocument/2006/relationships/image" Target="../media/image34.png"/><Relationship Id="rId4" Type="http://schemas.openxmlformats.org/officeDocument/2006/relationships/image" Target="../media/image33.png"/><Relationship Id="rId5" Type="http://schemas.openxmlformats.org/officeDocument/2006/relationships/image" Target="../media/image35.png"/><Relationship Id="rId6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Where the ABAP estate talks to SFTP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M A Y  2 0 2 6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SFTP Usage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Methodology — how user + AI worked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The task — 13 seeds, one question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Methods · Usage map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t>Analysis — by business domain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Result — migration handoff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Retro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How user and AI agreed on the question, designed the scan pipeline together, executed it stage by stage, and verified.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method — four stages, in order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FOUR STAGES, IN ORDER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Process:block0:c_1_Block:container"/>
          <p:cNvSpPr/>
          <p:nvPr/>
        </p:nvSpPr>
        <p:spPr>
          <a:xfrm>
            <a:off x="45720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Process:block0:c_1_Block:Targe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740" y="1600200"/>
            <a:ext cx="640080" cy="640080"/>
          </a:xfrm>
          <a:prstGeom prst="rect">
            <a:avLst/>
          </a:prstGeom>
        </p:spPr>
      </p:pic>
      <p:sp>
        <p:nvSpPr>
          <p:cNvPr id="7" name="c_1_BlockProcess:block0:c_1_Block:content"/>
          <p:cNvSpPr txBox="1"/>
          <p:nvPr/>
        </p:nvSpPr>
        <p:spPr>
          <a:xfrm>
            <a:off x="640080" y="2354580"/>
            <a:ext cx="2057400" cy="7905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1. Formalize the task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Plain-language goal + measurable check. Stops us from answering the wrong question.</a:t>
            </a:r>
          </a:p>
        </p:txBody>
      </p:sp>
      <p:sp>
        <p:nvSpPr>
          <p:cNvPr id="8" name="c_1_BlockProcess:arrow0"/>
          <p:cNvSpPr/>
          <p:nvPr/>
        </p:nvSpPr>
        <p:spPr>
          <a:xfrm>
            <a:off x="297216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Process:block1:c_2_Block:container"/>
          <p:cNvSpPr/>
          <p:nvPr/>
        </p:nvSpPr>
        <p:spPr>
          <a:xfrm>
            <a:off x="333756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c_1_BlockProcess:block1:c_2_Block:Structure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100" y="1600200"/>
            <a:ext cx="640080" cy="640080"/>
          </a:xfrm>
          <a:prstGeom prst="rect">
            <a:avLst/>
          </a:prstGeom>
        </p:spPr>
      </p:pic>
      <p:sp>
        <p:nvSpPr>
          <p:cNvPr id="11" name="c_1_BlockProcess:block1:c_2_Block:content"/>
          <p:cNvSpPr txBox="1"/>
          <p:nvPr/>
        </p:nvSpPr>
        <p:spPr>
          <a:xfrm>
            <a:off x="3520440" y="2354580"/>
            <a:ext cx="2057400" cy="9505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2. Design the process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Stage list for THIS task — per-stage artifact, per-stage evaluation. Stages are not pre-baked.</a:t>
            </a:r>
          </a:p>
        </p:txBody>
      </p:sp>
      <p:sp>
        <p:nvSpPr>
          <p:cNvPr id="12" name="c_1_BlockProcess:arrow1"/>
          <p:cNvSpPr/>
          <p:nvPr/>
        </p:nvSpPr>
        <p:spPr>
          <a:xfrm>
            <a:off x="585252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_1_BlockProcess:block2:c_3_Block:container"/>
          <p:cNvSpPr/>
          <p:nvPr/>
        </p:nvSpPr>
        <p:spPr>
          <a:xfrm>
            <a:off x="621792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Process:block2:c_3_Block:Gear_Process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9460" y="1600200"/>
            <a:ext cx="640080" cy="640080"/>
          </a:xfrm>
          <a:prstGeom prst="rect">
            <a:avLst/>
          </a:prstGeom>
        </p:spPr>
      </p:pic>
      <p:sp>
        <p:nvSpPr>
          <p:cNvPr id="15" name="c_1_BlockProcess:block2:c_3_Block:content"/>
          <p:cNvSpPr txBox="1"/>
          <p:nvPr/>
        </p:nvSpPr>
        <p:spPr>
          <a:xfrm>
            <a:off x="6400800" y="2354580"/>
            <a:ext cx="2057400" cy="9505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3. Execute stages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Each stage produces its artifact. Refine the skill at every checkpoint, never as a separate pass.</a:t>
            </a:r>
          </a:p>
        </p:txBody>
      </p:sp>
      <p:sp>
        <p:nvSpPr>
          <p:cNvPr id="16" name="c_1_BlockProcess:arrow2"/>
          <p:cNvSpPr/>
          <p:nvPr/>
        </p:nvSpPr>
        <p:spPr>
          <a:xfrm>
            <a:off x="873288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_1_BlockProcess:block3:c_4_Block:container"/>
          <p:cNvSpPr/>
          <p:nvPr/>
        </p:nvSpPr>
        <p:spPr>
          <a:xfrm>
            <a:off x="909828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c_1_BlockProcess:block3:c_4_Block:Checkmark_Circle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9820" y="1600200"/>
            <a:ext cx="640080" cy="640080"/>
          </a:xfrm>
          <a:prstGeom prst="rect">
            <a:avLst/>
          </a:prstGeom>
        </p:spPr>
      </p:pic>
      <p:sp>
        <p:nvSpPr>
          <p:cNvPr id="19" name="c_1_BlockProcess:block3:c_4_Block:content"/>
          <p:cNvSpPr txBox="1"/>
          <p:nvPr/>
        </p:nvSpPr>
        <p:spPr>
          <a:xfrm>
            <a:off x="9281160" y="2354580"/>
            <a:ext cx="2057400" cy="9505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4. Verify the goal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Yes → done. No → goal-check names the earlier stage to return to, based on what evidence was missing.</a:t>
            </a:r>
          </a:p>
        </p:txBody>
      </p:sp>
      <p:graphicFrame>
        <p:nvGraphicFramePr>
          <p:cNvPr id="20" name="c_5_Block"/>
          <p:cNvGraphicFramePr>
            <a:graphicFrameLocks noGrp="1"/>
          </p:cNvGraphicFramePr>
          <p:nvPr/>
        </p:nvGraphicFramePr>
        <p:xfrm>
          <a:off x="457200" y="496304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Iteration is normal — which earlier stage to return to is decided by the failing goal-check, not by a pre-baked rule.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Pair-work as badminton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USER SERVES, AI RETURNS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Person_Sui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80616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User serves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Plain-language task description. The user names the stage; the AI never takes the lead role.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57200" y="3057144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Android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74720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1600200" y="3194304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7E8D"/>
                </a:solidFill>
              </a:rPr>
              <a:t>AI returns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Formalizes, drafts, calls tools, proposes. Each return is small enough to review before the next exchange.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57200" y="4651248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c_1_BlockGrid:2:c_3_Block:Checkmark_Circle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68824"/>
            <a:ext cx="640080" cy="640080"/>
          </a:xfrm>
          <a:prstGeom prst="rect">
            <a:avLst/>
          </a:prstGeom>
        </p:spPr>
      </p:pic>
      <p:sp>
        <p:nvSpPr>
          <p:cNvPr id="13" name="c_1_BlockGrid:2:c_3_Block:content"/>
          <p:cNvSpPr txBox="1"/>
          <p:nvPr/>
        </p:nvSpPr>
        <p:spPr>
          <a:xfrm>
            <a:off x="1600200" y="4788408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8453D2"/>
                </a:solidFill>
              </a:rPr>
              <a:t>User reviews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Keeps what holds, rejects what does not, asks for a correction. Reader judges, AI drafts. Neither side defers.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we ran this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THE FOUR STAGES, MAPPED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Formalize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User: 'For 13 seeds, does each call SFTP?' Together: verdict per seed, methods/direction/payload, blind spots, Z*/VERTEX/* scope, NO replacement design.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Design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Stage 2: ReadProgram each seed → Stage 2b: open-ended method enumeration → Stage 3: independent-marker scans → late sanity scan beyond credential literals.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753ECC"/>
              </a:gs>
              <a:gs pos="100000">
                <a:srgbClr val="9267D7"/>
              </a:gs>
            </a:gsLst>
            <a:lin ang="16200000" scaled="0"/>
          </a:gradFill>
          <a:ln w="3175">
            <a:solidFill>
              <a:srgbClr val="645D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Execute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Per-stage artifact on disk before next stage: 02-methods.md → 02b-methods-deep.md → 02c-code-extracts.md → 03-usage-map.md → 04-analysis.md → 05-result.md.</a:t>
            </a:r>
          </a:p>
        </p:txBody>
      </p:sp>
      <p:sp>
        <p:nvSpPr>
          <p:cNvPr id="8" name="c_1_BlockGrid:3:c_4_Block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Verify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13 seeds → 19 confirmed objects · 5 domains · 11 SM69 endpoints · per-finding citations. Goal met. Iteration: scope grew via 3 independent scans + 1 sanity scan.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kept the run honest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THREE DISCIPLINES IN PROMPTS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Gear_Process_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80616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Per-stage isolation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One stage per session. Artifact on disk before next stage. Stops context drift; each handoff is reviewable.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57200" y="3057144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Document_Layou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74720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1600200" y="3194304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7E8D"/>
                </a:solidFill>
              </a:rPr>
              <a:t>Raw-SSE evidence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Every claim reproducible from curl/*.sse. Reader can re-derive the deck from raw traces — no agent authority.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57200" y="4651248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c_1_BlockGrid:2:c_3_Block:Checkmark_Circle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68824"/>
            <a:ext cx="640080" cy="640080"/>
          </a:xfrm>
          <a:prstGeom prst="rect">
            <a:avLst/>
          </a:prstGeom>
        </p:spPr>
      </p:pic>
      <p:sp>
        <p:nvSpPr>
          <p:cNvPr id="13" name="c_1_BlockGrid:2:c_3_Block:content"/>
          <p:cNvSpPr txBox="1"/>
          <p:nvPr/>
        </p:nvSpPr>
        <p:spPr>
          <a:xfrm>
            <a:off x="1600200" y="4788408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8453D2"/>
                </a:solidFill>
              </a:rPr>
              <a:t>Sequential SearchSource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Heavy ABAP scans run sequentially per destination — parallel scans crashed the backend on earlier runs.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AI agents, two roles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CONTROLLER + EXECUTOR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11064240" cy="107670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Person_Sui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81353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User — judge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Names the goal (sFTP usage per seed), names the scan, reviews each artifact. Decides when scope grows or stops.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57200" y="2658618"/>
            <a:ext cx="11064240" cy="107670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Brain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76931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1600200" y="2795778"/>
            <a:ext cx="9738360" cy="6305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7E8D"/>
                </a:solidFill>
              </a:rPr>
              <a:t>Controller — Claude Code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CLI agent on the user's laptop. Drives the conversation, formalizes the question, designs the scan pipeline with the user, parses outputs. Cannot touch SAP directly.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57200" y="3854196"/>
            <a:ext cx="11064240" cy="107670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c_1_BlockGrid:2:c_3_Block:Androi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072509"/>
            <a:ext cx="640080" cy="640080"/>
          </a:xfrm>
          <a:prstGeom prst="rect">
            <a:avLst/>
          </a:prstGeom>
        </p:spPr>
      </p:pic>
      <p:sp>
        <p:nvSpPr>
          <p:cNvPr id="13" name="c_1_BlockGrid:2:c_3_Block:content"/>
          <p:cNvSpPr txBox="1"/>
          <p:nvPr/>
        </p:nvSpPr>
        <p:spPr>
          <a:xfrm>
            <a:off x="1600200" y="3991356"/>
            <a:ext cx="9738360" cy="6305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8453D2"/>
                </a:solidFill>
              </a:rPr>
              <a:t>Executor — SmartAgent on cloud-llm-hub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Called by the controller over /v1/chat/completions. gpt-5.2 + MCP tools (SearchObject, SearchSource, ReadProgram, GetIncludesList, GetInclude). Returns code-cited evidence; does not pick scope.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457200" y="5049774"/>
            <a:ext cx="11064240" cy="107670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c_1_BlockGrid:3:c_4_Block:Cloud_Arrows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5268087"/>
            <a:ext cx="640080" cy="640080"/>
          </a:xfrm>
          <a:prstGeom prst="rect">
            <a:avLst/>
          </a:prstGeom>
        </p:spPr>
      </p:pic>
      <p:sp>
        <p:nvSpPr>
          <p:cNvPr id="16" name="c_1_BlockGrid:3:c_4_Block:content"/>
          <p:cNvSpPr txBox="1"/>
          <p:nvPr/>
        </p:nvSpPr>
        <p:spPr>
          <a:xfrm>
            <a:off x="1600200" y="5186934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E06C00"/>
                </a:solidFill>
              </a:rPr>
              <a:t>Wiring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Claude Code → /v1/chat/completions on cloud-llm-hub → SmartAgent (gpt-5.2) → MCP → SAP destination DS4_CLH. Artifacts land as .md files.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we designed THIS process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DIALOGUE → STAGE LIST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User serves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FFFFF"/>
                </a:solidFill>
              </a:rPr>
              <a:t>“For these 13 seed reports, does each call SFTP? Output supports migration; we do NOT design the replacement.”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AI returns clarifications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What verdict scale per seed?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What scope — only Z* and /VERTEX/*?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Should we expand scope from confirmed callers, or stay on the 13?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753ECC"/>
              </a:gs>
              <a:gs pos="100000">
                <a:srgbClr val="9267D7"/>
              </a:gs>
            </a:gsLst>
            <a:lin ang="16200000" scaled="0"/>
          </a:gradFill>
          <a:ln w="3175">
            <a:solidFill>
              <a:srgbClr val="645D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User decides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yes / no / unclear / not-found per seed; methods/direction/payload for yes.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Z* and /VERTEX/* in DS4_CLH only.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Expand via where-used + credential-bag scans when justified.</a:t>
            </a:r>
          </a:p>
        </p:txBody>
      </p:sp>
      <p:sp>
        <p:nvSpPr>
          <p:cNvPr id="8" name="c_1_BlockGrid:3:c_4_Block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Stage list emerges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Stage 2 (read seed) → Stage 2b (open enumeration) → Stage 2c (code extracts) → Stage 3 (usage map) → Stage 4 (analysis by domain) → Stage 5 (result).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Catching errors during the run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FIVE STEPS, EVERY ERROR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_1_BlockGrid:0:c_1_Block"/>
          <p:cNvGraphicFramePr>
            <a:graphicFrameLocks noGrp="1"/>
          </p:cNvGraphicFramePr>
          <p:nvPr/>
        </p:nvGraphicFramePr>
        <p:xfrm>
          <a:off x="457200" y="1463040"/>
          <a:ext cx="11064240" cy="1475232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1475232">
                <a:tc>
                  <a:txBody>
                    <a:bodyPr wrap="square"/>
                    <a:lstStyle/>
                    <a:p>
                      <a:pPr algn="l">
                        <a:spcAft>
                          <a:spcPts val="50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Ukrainian prompts wasted ~500k tokens</a:t>
                      </a:r>
                    </a:p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Symptom: first scan batch in Ukrainian, agent kept translating context. Repro: token counter on parallel checks. Root cause: cross-language overhead in pipeline. Fix: artifacts in English. Skill: feedback_artifacts_english.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_1_BlockGrid:1:c_2_Block"/>
          <p:cNvGraphicFramePr>
            <a:graphicFrameLocks noGrp="1"/>
          </p:cNvGraphicFramePr>
          <p:nvPr/>
        </p:nvGraphicFramePr>
        <p:xfrm>
          <a:off x="457200" y="3057144"/>
          <a:ext cx="11064240" cy="1475232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1475232">
                <a:tc>
                  <a:txBody>
                    <a:bodyPr wrap="square"/>
                    <a:lstStyle/>
                    <a:p>
                      <a:pPr algn="l">
                        <a:spcAft>
                          <a:spcPts val="50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Parallel SearchSource crashed the backend</a:t>
                      </a:r>
                    </a:p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Symptom: 4 parallel scans → SAP HTTP errors. Repro: single-scan baseline works. Root cause: SearchSource is heavy on ABAP side. Fix: run sequentially per destination. Skill: feedback_dont_overload_sap_backend.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_1_BlockGrid:2:c_3_Block"/>
          <p:cNvGraphicFramePr>
            <a:graphicFrameLocks noGrp="1"/>
          </p:cNvGraphicFramePr>
          <p:nvPr/>
        </p:nvGraphicFramePr>
        <p:xfrm>
          <a:off x="457200" y="4651248"/>
          <a:ext cx="11064240" cy="1475232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1475232">
                <a:tc>
                  <a:txBody>
                    <a:bodyPr wrap="square"/>
                    <a:lstStyle/>
                    <a:p>
                      <a:pPr algn="l">
                        <a:spcAft>
                          <a:spcPts val="50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Mixing SearchObject + SearchSource in one prompt</a:t>
                      </a:r>
                    </a:p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Symptom: model picked the wrong tool. Repro: split-prompt test. Root cause: planning LLM conflates similar tools. Fix: one tool per prompt. Skill: feedback_no_searchobject_and_searchsource_together.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Skills are an output of the run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AT EVERY CHECKPOINT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Knowledg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80616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Why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A run that leaves no refined process or skill behind has burned experience that walks out the door.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57200" y="3057144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Clock_24h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74720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1600200" y="3194304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7E8D"/>
                </a:solidFill>
              </a:rPr>
              <a:t>When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At every stage checkpoint, ask: “what did I change in the process or in a skill?” If nothing — re-read the run.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57200" y="4651248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c_1_BlockGrid:2:c_3_Block:Document_Layout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68824"/>
            <a:ext cx="640080" cy="640080"/>
          </a:xfrm>
          <a:prstGeom prst="rect">
            <a:avLst/>
          </a:prstGeom>
        </p:spPr>
      </p:pic>
      <p:sp>
        <p:nvSpPr>
          <p:cNvPr id="13" name="c_1_BlockGrid:2:c_3_Block:content"/>
          <p:cNvSpPr txBox="1"/>
          <p:nvPr/>
        </p:nvSpPr>
        <p:spPr>
          <a:xfrm>
            <a:off x="1600200" y="4788408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8453D2"/>
                </a:solidFill>
              </a:rPr>
              <a:t>What this run produced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6 process skills + 1 design decision + 1 tool-usage skill written during the run. Plus the 5-stage tutorial pipeline itself, validated and refined.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Task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 stakeholder-listed reports. One question: how does each one use SFTP? Output supports migration handoff — we do NOT design the replacement.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Goal and scope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3566160" cy="24345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Targe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600200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640080" y="2354580"/>
            <a:ext cx="3200400" cy="14058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Goal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SFTP verdict per seed (yes/no/unclear/not-found)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For each yes: methods, direction, payload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Blind spots called out explicitly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4206240" y="1463040"/>
            <a:ext cx="3566160" cy="24345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Document_Checklist_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600200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4389120" y="2354580"/>
            <a:ext cx="3200400" cy="11868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A080DB"/>
                </a:solidFill>
              </a:rPr>
              <a:t>In scope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Z* and /VERTEX/* in DS4_CLH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13 seed objects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Where-used traversal from confirmed SFTP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7955280" y="1463040"/>
            <a:ext cx="3566160" cy="24345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X_Mark_Circle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1600200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8138160" y="2354580"/>
            <a:ext cx="3200400" cy="14058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78C2"/>
                </a:solidFill>
              </a:rPr>
              <a:t>Out of scope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Replacement design / target API selection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IDoc, OData, EDI (unless they explain a usage site)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SAP standard namespace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 seeds. One destination. SmartAgent over MCP.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HOW THE RUN WAS WIRED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:container"/>
          <p:cNvSpPr/>
          <p:nvPr/>
        </p:nvSpPr>
        <p:spPr>
          <a:xfrm>
            <a:off x="457200" y="1463040"/>
            <a:ext cx="539496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:metric"/>
          <p:cNvSpPr txBox="1"/>
          <p:nvPr/>
        </p:nvSpPr>
        <p:spPr>
          <a:xfrm>
            <a:off x="640080" y="1600200"/>
            <a:ext cx="502920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13</a:t>
            </a:r>
          </a:p>
        </p:txBody>
      </p:sp>
      <p:sp>
        <p:nvSpPr>
          <p:cNvPr id="7" name="c_1_Block:content"/>
          <p:cNvSpPr txBox="1"/>
          <p:nvPr/>
        </p:nvSpPr>
        <p:spPr>
          <a:xfrm>
            <a:off x="640080" y="2077719"/>
            <a:ext cx="502920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stakeholder-listed seeds (corrected mid-run)</a:t>
            </a:r>
          </a:p>
        </p:txBody>
      </p:sp>
      <p:sp>
        <p:nvSpPr>
          <p:cNvPr id="8" name="c_2_Block"/>
          <p:cNvSpPr/>
          <p:nvPr/>
        </p:nvSpPr>
        <p:spPr>
          <a:xfrm>
            <a:off x="6126480" y="1463040"/>
            <a:ext cx="5394960" cy="224028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Transport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 b="1">
                <a:solidFill>
                  <a:srgbClr val="FFFFFF"/>
                </a:solidFill>
              </a:rPr>
              <a:t>/v1/chat/completions</a:t>
            </a:r>
            <a:r>
              <a:rPr sz="1400">
                <a:solidFill>
                  <a:srgbClr val="FFFFFF"/>
                </a:solidFill>
              </a:rPr>
              <a:t> via local MCP proxy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Header </a:t>
            </a:r>
            <a:r>
              <a:rPr sz="1400" b="1">
                <a:solidFill>
                  <a:srgbClr val="FFFFFF"/>
                </a:solidFill>
              </a:rPr>
              <a:t>x-sap-destination: DS4_CLH</a:t>
            </a:r>
          </a:p>
        </p:txBody>
      </p:sp>
      <p:sp>
        <p:nvSpPr>
          <p:cNvPr id="9" name="c_3_Block"/>
          <p:cNvSpPr/>
          <p:nvPr/>
        </p:nvSpPr>
        <p:spPr>
          <a:xfrm>
            <a:off x="6126480" y="3886200"/>
            <a:ext cx="5394960" cy="2240280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Provider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OpenAI gpt-5.2 / gpt-5.5-pro on ai-applications subaccount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Anthropic not available here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Stage 2 read every seed and its includes. Stage 2b enumerated methods openly. One mechanism kept showing up.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2 verdicts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By verdict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7090137" cy="4710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ontentArea"/>
          <p:cNvSpPr/>
          <p:nvPr/>
        </p:nvSpPr>
        <p:spPr>
          <a:xfrm>
            <a:off x="8267337" y="1463040"/>
            <a:ext cx="3465063" cy="4710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:container"/>
          <p:cNvSpPr/>
          <p:nvPr/>
        </p:nvSpPr>
        <p:spPr>
          <a:xfrm>
            <a:off x="457200" y="1463040"/>
            <a:ext cx="7090137" cy="97091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_1_Block:metric"/>
          <p:cNvSpPr txBox="1"/>
          <p:nvPr/>
        </p:nvSpPr>
        <p:spPr>
          <a:xfrm>
            <a:off x="640080" y="1600200"/>
            <a:ext cx="6724377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8 / 13</a:t>
            </a:r>
          </a:p>
        </p:txBody>
      </p:sp>
      <p:sp>
        <p:nvSpPr>
          <p:cNvPr id="8" name="c_1_Block:content"/>
          <p:cNvSpPr txBox="1"/>
          <p:nvPr/>
        </p:nvSpPr>
        <p:spPr>
          <a:xfrm>
            <a:off x="640080" y="2077719"/>
            <a:ext cx="6724377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seeds confirmed as SFTP callers</a:t>
            </a:r>
          </a:p>
        </p:txBody>
      </p:sp>
      <p:sp>
        <p:nvSpPr>
          <p:cNvPr id="9" name="c_1_BlockGrid:0:c_2_Block"/>
          <p:cNvSpPr/>
          <p:nvPr/>
        </p:nvSpPr>
        <p:spPr>
          <a:xfrm>
            <a:off x="8267337" y="1463040"/>
            <a:ext cx="3465063" cy="744854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yes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8 — confirmed SFTP callers</a:t>
            </a:r>
          </a:p>
        </p:txBody>
      </p:sp>
      <p:sp>
        <p:nvSpPr>
          <p:cNvPr id="10" name="c_1_BlockGrid:1:c_3_Block"/>
          <p:cNvSpPr/>
          <p:nvPr/>
        </p:nvSpPr>
        <p:spPr>
          <a:xfrm>
            <a:off x="8267337" y="2326766"/>
            <a:ext cx="3465063" cy="744854"/>
          </a:xfrm>
          <a:prstGeom prst="rect">
            <a:avLst/>
          </a:prstGeom>
          <a:gradFill rotWithShape="1">
            <a:gsLst>
              <a:gs pos="0">
                <a:srgbClr val="916CD5"/>
              </a:gs>
              <a:gs pos="100000">
                <a:srgbClr val="AE93E0"/>
              </a:gs>
            </a:gsLst>
            <a:lin ang="16200000" scaled="0"/>
          </a:gradFill>
          <a:ln w="3175">
            <a:solidFill>
              <a:srgbClr val="766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no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5 — local file I/O only</a:t>
            </a:r>
          </a:p>
        </p:txBody>
      </p:sp>
      <p:graphicFrame>
        <p:nvGraphicFramePr>
          <p:cNvPr id="11" name="c_1_BlockGrid:2:c_4_Block"/>
          <p:cNvGraphicFramePr>
            <a:graphicFrameLocks noGrp="1"/>
          </p:cNvGraphicFramePr>
          <p:nvPr/>
        </p:nvGraphicFramePr>
        <p:xfrm>
          <a:off x="8267337" y="3190492"/>
          <a:ext cx="3465063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465063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All 13 verdicts source-cited in 02-methods.md.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898989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SXPG_COMMAND_EXECUTE → SM69 → OS sftp/scp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SAME SHAPE, EVERY TIME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Process:block0:c_1_Block"/>
          <p:cNvSpPr/>
          <p:nvPr/>
        </p:nvSpPr>
        <p:spPr>
          <a:xfrm>
            <a:off x="457200" y="1463040"/>
            <a:ext cx="2423160" cy="274320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1. ABAP report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Z* report initiates the call from the customer estate.</a:t>
            </a:r>
          </a:p>
        </p:txBody>
      </p:sp>
      <p:sp>
        <p:nvSpPr>
          <p:cNvPr id="6" name="c_1_BlockProcess:arrow0"/>
          <p:cNvSpPr/>
          <p:nvPr/>
        </p:nvSpPr>
        <p:spPr>
          <a:xfrm>
            <a:off x="2972160" y="26636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_1_BlockProcess:block1:c_2_Block"/>
          <p:cNvSpPr/>
          <p:nvPr/>
        </p:nvSpPr>
        <p:spPr>
          <a:xfrm>
            <a:off x="3337560" y="1463040"/>
            <a:ext cx="2423160" cy="274320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2. Read zfi_constants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FTP_USER / HOST_KEY / PRIVATE_KEY_PATH / …</a:t>
            </a:r>
          </a:p>
        </p:txBody>
      </p:sp>
      <p:sp>
        <p:nvSpPr>
          <p:cNvPr id="8" name="c_1_BlockProcess:arrow1"/>
          <p:cNvSpPr/>
          <p:nvPr/>
        </p:nvSpPr>
        <p:spPr>
          <a:xfrm>
            <a:off x="5852520" y="26636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Process:block2:c_3_Block"/>
          <p:cNvSpPr/>
          <p:nvPr/>
        </p:nvSpPr>
        <p:spPr>
          <a:xfrm>
            <a:off x="6217920" y="1463040"/>
            <a:ext cx="2423160" cy="274320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3. SXPG_COMMAND_EXECUTE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CALL FUNCTION with the prepared parameter set.</a:t>
            </a:r>
          </a:p>
        </p:txBody>
      </p:sp>
      <p:sp>
        <p:nvSpPr>
          <p:cNvPr id="10" name="c_1_BlockProcess:arrow2"/>
          <p:cNvSpPr/>
          <p:nvPr/>
        </p:nvSpPr>
        <p:spPr>
          <a:xfrm>
            <a:off x="8732880" y="26636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_1_BlockProcess:block3:c_4_Block"/>
          <p:cNvSpPr/>
          <p:nvPr/>
        </p:nvSpPr>
        <p:spPr>
          <a:xfrm>
            <a:off x="9098280" y="1463040"/>
            <a:ext cx="2423160" cy="274320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4. SM69 → OS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SM69 entry runs sftp/scp binary to the remote endpoint.</a:t>
            </a:r>
          </a:p>
        </p:txBody>
      </p:sp>
      <p:graphicFrame>
        <p:nvGraphicFramePr>
          <p:cNvPr id="12" name="c_5_Block"/>
          <p:cNvGraphicFramePr>
            <a:graphicFrameLocks noGrp="1"/>
          </p:cNvGraphicFramePr>
          <p:nvPr/>
        </p:nvGraphicFramePr>
        <p:xfrm>
          <a:off x="457200" y="466344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Every confirmed SFTP report reduces to this pattern.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auth shapes the migration must support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5440680" cy="3657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Window_Lock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71800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600200" y="1600200"/>
            <a:ext cx="4114800" cy="9505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Key-based (modern)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FTP_USER, FTP_DOMAIN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HOST_KEY, PRIVATE_KEY_PATH, PASSPHRASE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Optional: FTP_PORT, FOLDER_PATH, FILE_EXT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13 of 14 direct reports + both wrapper FUGRs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6080760" y="1463040"/>
            <a:ext cx="5440680" cy="3657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X_Mark_Box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971800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7223760" y="1600200"/>
            <a:ext cx="4114800" cy="9505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A080DB"/>
                </a:solidFill>
              </a:rPr>
              <a:t>Password-based (legacy)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FTP_USER, FTP_PSWD, FTP_DOMAIN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FTP_PORT, HOST_KEY (still)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Only ZSFTP_BNP_PARIBAS is pure password-auth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Several others read FTP_PSWD defensively</a:t>
            </a:r>
          </a:p>
        </p:txBody>
      </p:sp>
      <p:graphicFrame>
        <p:nvGraphicFramePr>
          <p:cNvPr id="10" name="c_3_Block"/>
          <p:cNvGraphicFramePr>
            <a:graphicFrameLocks noGrp="1"/>
          </p:cNvGraphicFramePr>
          <p:nvPr/>
        </p:nvGraphicFramePr>
        <p:xfrm>
          <a:off x="457200" y="530352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Single-auth replacements would break the BNP password path.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Usage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Seven independent SearchSource scans. Three credential-bag markers. Wrapper FUGRs discovered along the way.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the scope grew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Scope grew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6363063" cy="4710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ontentArea"/>
          <p:cNvSpPr/>
          <p:nvPr/>
        </p:nvSpPr>
        <p:spPr>
          <a:xfrm>
            <a:off x="7540263" y="1463040"/>
            <a:ext cx="4192137" cy="4710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:container"/>
          <p:cNvSpPr/>
          <p:nvPr/>
        </p:nvSpPr>
        <p:spPr>
          <a:xfrm>
            <a:off x="457200" y="1463040"/>
            <a:ext cx="6363063" cy="4710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_1_Block:metric"/>
          <p:cNvSpPr txBox="1"/>
          <p:nvPr/>
        </p:nvSpPr>
        <p:spPr>
          <a:xfrm>
            <a:off x="640080" y="1600200"/>
            <a:ext cx="5997303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+46%</a:t>
            </a:r>
          </a:p>
        </p:txBody>
      </p:sp>
      <p:sp>
        <p:nvSpPr>
          <p:cNvPr id="8" name="c_1_Block:content"/>
          <p:cNvSpPr txBox="1"/>
          <p:nvPr/>
        </p:nvSpPr>
        <p:spPr>
          <a:xfrm>
            <a:off x="640080" y="2077719"/>
            <a:ext cx="5997303" cy="21907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400">
                <a:solidFill>
                  <a:srgbClr val="000000"/>
                </a:solidFill>
              </a:rPr>
              <a:t>vs the 13-seed stakeholder list (13 → 19 confirmed objects).</a:t>
            </a:r>
          </a:p>
        </p:txBody>
      </p:sp>
      <p:sp>
        <p:nvSpPr>
          <p:cNvPr id="9" name="c_1_BlockGrid:0:c_2_Block"/>
          <p:cNvSpPr/>
          <p:nvPr/>
        </p:nvSpPr>
        <p:spPr>
          <a:xfrm>
            <a:off x="7540263" y="1463040"/>
            <a:ext cx="4192137" cy="635126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Scan PRIVATE_KEY_PATH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+5 PROGs + 2 FUGRs</a:t>
            </a:r>
          </a:p>
        </p:txBody>
      </p:sp>
      <p:sp>
        <p:nvSpPr>
          <p:cNvPr id="10" name="c_1_BlockGrid:1:c_3_Block"/>
          <p:cNvSpPr/>
          <p:nvPr/>
        </p:nvSpPr>
        <p:spPr>
          <a:xfrm>
            <a:off x="7540263" y="2217038"/>
            <a:ext cx="4192137" cy="635126"/>
          </a:xfrm>
          <a:prstGeom prst="rect">
            <a:avLst/>
          </a:prstGeom>
          <a:gradFill rotWithShape="1">
            <a:gsLst>
              <a:gs pos="0">
                <a:srgbClr val="916CD5"/>
              </a:gs>
              <a:gs pos="100000">
                <a:srgbClr val="AE93E0"/>
              </a:gs>
            </a:gsLst>
            <a:lin ang="16200000" scaled="0"/>
          </a:gradFill>
          <a:ln w="3175">
            <a:solidFill>
              <a:srgbClr val="766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Scan FTP_PSWD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+1 PROG (BNP password variant)</a:t>
            </a:r>
          </a:p>
        </p:txBody>
      </p:sp>
      <p:sp>
        <p:nvSpPr>
          <p:cNvPr id="11" name="c_1_BlockGrid:2:c_4_Block"/>
          <p:cNvSpPr/>
          <p:nvPr/>
        </p:nvSpPr>
        <p:spPr>
          <a:xfrm>
            <a:off x="7540263" y="2971036"/>
            <a:ext cx="4192137" cy="635126"/>
          </a:xfrm>
          <a:prstGeom prst="rect">
            <a:avLst/>
          </a:prstGeom>
          <a:gradFill rotWithShape="1">
            <a:gsLst>
              <a:gs pos="0">
                <a:srgbClr val="0068A8"/>
              </a:gs>
              <a:gs pos="100000">
                <a:srgbClr val="0087DB"/>
              </a:gs>
            </a:gsLst>
            <a:lin ang="16200000" scaled="0"/>
          </a:gradFill>
          <a:ln w="3175">
            <a:solidFill>
              <a:srgbClr val="3946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Scan _FROM_SFTP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+2 PROGs (wrapper callers)</a:t>
            </a:r>
          </a:p>
        </p:txBody>
      </p:sp>
      <p:sp>
        <p:nvSpPr>
          <p:cNvPr id="12" name="c_1_BlockGrid:3:c_5_Block"/>
          <p:cNvSpPr/>
          <p:nvPr/>
        </p:nvSpPr>
        <p:spPr>
          <a:xfrm>
            <a:off x="7540263" y="3725034"/>
            <a:ext cx="4192137" cy="635126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Sanity ZSFTP_ prefix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+1 FUGR (ZDMS_SEND_FILE, _TO_SFTP naming)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Final SFTP inventory — Z001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3566160" cy="151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Document_Checklist_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02775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600200" y="1600200"/>
            <a:ext cx="2240280" cy="8070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47FF"/>
                </a:solidFill>
              </a:rPr>
              <a:t>16 PROG reports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Direct SXPG callers plus wrapper callers.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4206240" y="1463040"/>
            <a:ext cx="3566160" cy="151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Gear_Process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902775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5349240" y="1600200"/>
            <a:ext cx="2240280" cy="12452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A080DB"/>
                </a:solidFill>
              </a:rPr>
              <a:t>3 wrapper FUGRs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ZMEDICARE, ZERX, ZDMS_SEND_FILE — credential isolation for indirect callers.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7955280" y="1463040"/>
            <a:ext cx="3566160" cy="151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API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902775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9098280" y="1600200"/>
            <a:ext cx="2240280" cy="10845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78C2"/>
                </a:solidFill>
              </a:rPr>
              <a:t>11 SM69 + 5 wrapper FMs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The actual mechanism artifacts on the OS side.</a:t>
            </a:r>
          </a:p>
        </p:txBody>
      </p:sp>
      <p:graphicFrame>
        <p:nvGraphicFramePr>
          <p:cNvPr id="13" name="c_4_Block"/>
          <p:cNvGraphicFramePr>
            <a:graphicFrameLocks noGrp="1"/>
          </p:cNvGraphicFramePr>
          <p:nvPr/>
        </p:nvGraphicFramePr>
        <p:xfrm>
          <a:off x="457200" y="566928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3 SM69 entries are shared by ≥2 ABAP reports — coordinate cutover for each shared command.</a:t>
                      </a:r>
                    </a:p>
                  </a:txBody>
                  <a:tcPr marL="137160" marR="91440" marT="45720" marB="9144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we made the scans complete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Process:block0:c_1_Block"/>
          <p:cNvSpPr/>
          <p:nvPr/>
        </p:nvSpPr>
        <p:spPr>
          <a:xfrm>
            <a:off x="45720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Step 1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One scan at a time per destination.</a:t>
            </a:r>
          </a:p>
        </p:txBody>
      </p:sp>
      <p:sp>
        <p:nvSpPr>
          <p:cNvPr id="5" name="c_1_BlockProcess:arrow0"/>
          <p:cNvSpPr/>
          <p:nvPr/>
        </p:nvSpPr>
        <p:spPr>
          <a:xfrm>
            <a:off x="3046680" y="2764706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Process:block1:c_2_Block"/>
          <p:cNvSpPr/>
          <p:nvPr/>
        </p:nvSpPr>
        <p:spPr>
          <a:xfrm>
            <a:off x="329184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916CD5"/>
              </a:gs>
              <a:gs pos="100000">
                <a:srgbClr val="AE93E0"/>
              </a:gs>
            </a:gsLst>
            <a:lin ang="16200000" scaled="0"/>
          </a:gradFill>
          <a:ln w="3175">
            <a:solidFill>
              <a:srgbClr val="766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0000"/>
                </a:solidFill>
              </a:rPr>
              <a:t>Step 2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Single-keyword over AND-query (timeout-safe).</a:t>
            </a:r>
          </a:p>
        </p:txBody>
      </p:sp>
      <p:sp>
        <p:nvSpPr>
          <p:cNvPr id="7" name="c_1_BlockProcess:arrow1"/>
          <p:cNvSpPr/>
          <p:nvPr/>
        </p:nvSpPr>
        <p:spPr>
          <a:xfrm>
            <a:off x="5881320" y="2764706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_1_BlockProcess:block2:c_3_Block"/>
          <p:cNvSpPr/>
          <p:nvPr/>
        </p:nvSpPr>
        <p:spPr>
          <a:xfrm>
            <a:off x="612648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0068A8"/>
              </a:gs>
              <a:gs pos="100000">
                <a:srgbClr val="0087DB"/>
              </a:gs>
            </a:gsLst>
            <a:lin ang="16200000" scaled="0"/>
          </a:gradFill>
          <a:ln w="3175">
            <a:solidFill>
              <a:srgbClr val="3946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Step 3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Independent markers — don't rely on naming.</a:t>
            </a:r>
          </a:p>
        </p:txBody>
      </p:sp>
      <p:sp>
        <p:nvSpPr>
          <p:cNvPr id="9" name="c_1_BlockProcess:arrow2"/>
          <p:cNvSpPr/>
          <p:nvPr/>
        </p:nvSpPr>
        <p:spPr>
          <a:xfrm>
            <a:off x="8715960" y="2764706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_1_BlockProcess:block3:c_4_Block"/>
          <p:cNvSpPr/>
          <p:nvPr/>
        </p:nvSpPr>
        <p:spPr>
          <a:xfrm>
            <a:off x="896112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Step 4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Sanity scan beyond credential literals.</a:t>
            </a:r>
          </a:p>
        </p:txBody>
      </p:sp>
      <p:graphicFrame>
        <p:nvGraphicFramePr>
          <p:cNvPr id="11" name="c_5_Block"/>
          <p:cNvGraphicFramePr>
            <a:graphicFrameLocks noGrp="1"/>
          </p:cNvGraphicFramePr>
          <p:nvPr/>
        </p:nvGraphicFramePr>
        <p:xfrm>
          <a:off x="457200" y="566928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All seven scans returned without truncation.</a:t>
                      </a:r>
                    </a:p>
                  </a:txBody>
                  <a:tcPr marL="137160" marR="91440" marT="45720" marB="91440" anchor="t">
                    <a:lnL w="73152" cap="flat" cmpd="sng">
                      <a:solidFill>
                        <a:srgbClr val="107E8D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16 reports cluster into 5 business domains. The migration validation matrix has to verify each endpoint separately.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Five business domains, eight counter-parties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3566160" cy="79057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Bank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8287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348740" y="1554480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47FF"/>
                </a:solidFill>
              </a:rPr>
              <a:t>Banking — statement loaders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BNP, Citi, JPMorgan · 7 reports · both directions · MT940 + payments.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4206240" y="1463040"/>
            <a:ext cx="3566160" cy="79057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Clipboard_Health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538287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5097780" y="1554480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A080DB"/>
                </a:solidFill>
              </a:rPr>
              <a:t>Healthcare claims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Caparío, Patientco · 4 reports · both directions · EDI 835 / 837.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7955280" y="1463040"/>
            <a:ext cx="3566160" cy="79057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Person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538287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8846820" y="1554480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78C2"/>
                </a:solidFill>
              </a:rPr>
              <a:t>Payroll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Ceridian · 2 reports · pull only · posting files into FI.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457200" y="2491358"/>
            <a:ext cx="3566160" cy="79755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Grid:3:c_4_Block:Folder_Connecte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570097"/>
            <a:ext cx="640080" cy="640080"/>
          </a:xfrm>
          <a:prstGeom prst="rect">
            <a:avLst/>
          </a:prstGeom>
        </p:spPr>
      </p:pic>
      <p:sp>
        <p:nvSpPr>
          <p:cNvPr id="15" name="c_1_BlockGrid:3:c_4_Block:content"/>
          <p:cNvSpPr txBox="1"/>
          <p:nvPr/>
        </p:nvSpPr>
        <p:spPr>
          <a:xfrm>
            <a:off x="1348740" y="2582798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07E8D"/>
                </a:solidFill>
              </a:rPr>
              <a:t>Document management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Internal DMS · 3 reports · both directions · PDF / CSV / attachments.</a:t>
            </a:r>
          </a:p>
        </p:txBody>
      </p:sp>
      <p:sp>
        <p:nvSpPr>
          <p:cNvPr id="16" name="c_1_BlockGrid:4:c_5_Block:container"/>
          <p:cNvSpPr/>
          <p:nvPr/>
        </p:nvSpPr>
        <p:spPr>
          <a:xfrm>
            <a:off x="4206240" y="2491358"/>
            <a:ext cx="3566160" cy="79755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c_1_BlockGrid:4:c_5_Block:Healthcare_Drugs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0" y="2570097"/>
            <a:ext cx="640080" cy="640080"/>
          </a:xfrm>
          <a:prstGeom prst="rect">
            <a:avLst/>
          </a:prstGeom>
        </p:spPr>
      </p:pic>
      <p:sp>
        <p:nvSpPr>
          <p:cNvPr id="18" name="c_1_BlockGrid:4:c_5_Block:content"/>
          <p:cNvSpPr txBox="1"/>
          <p:nvPr/>
        </p:nvSpPr>
        <p:spPr>
          <a:xfrm>
            <a:off x="5097780" y="2582798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E06C00"/>
                </a:solidFill>
              </a:rPr>
              <a:t>Healthcare PDF (Medicare)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Internal · 2 via ZMEDI / ZERX wrappers · both directions · Medicare PDFs / CSVs.</a:t>
            </a:r>
          </a:p>
        </p:txBody>
      </p:sp>
      <p:sp>
        <p:nvSpPr>
          <p:cNvPr id="19" name="c_1_BlockGrid:5:c_6_Block:container"/>
          <p:cNvSpPr/>
          <p:nvPr/>
        </p:nvSpPr>
        <p:spPr>
          <a:xfrm>
            <a:off x="7955280" y="2491358"/>
            <a:ext cx="3566160" cy="79755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_1_BlockGrid:5:c_6_Block:metric"/>
          <p:cNvSpPr txBox="1"/>
          <p:nvPr/>
        </p:nvSpPr>
        <p:spPr>
          <a:xfrm>
            <a:off x="8046720" y="2582798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16</a:t>
            </a:r>
          </a:p>
        </p:txBody>
      </p:sp>
      <p:sp>
        <p:nvSpPr>
          <p:cNvPr id="21" name="c_1_BlockGrid:5:c_6_Block:content"/>
          <p:cNvSpPr txBox="1"/>
          <p:nvPr/>
        </p:nvSpPr>
        <p:spPr>
          <a:xfrm>
            <a:off x="8046720" y="3037457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>
                <a:solidFill>
                  <a:srgbClr val="000000"/>
                </a:solidFill>
              </a:rPr>
              <a:t>reports total · plus 2 wrapper FUGRs.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Five seeds dropped from migration code scope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NOT SFTP CALLERS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"/>
          <p:cNvSpPr/>
          <p:nvPr/>
        </p:nvSpPr>
        <p:spPr>
          <a:xfrm>
            <a:off x="457200" y="1463040"/>
            <a:ext cx="11064240" cy="1738624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Dropped seeds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 b="1">
                <a:solidFill>
                  <a:srgbClr val="FFFFFF"/>
                </a:solidFill>
              </a:rPr>
              <a:t>/VERTEX/SPOT_VAT_OUTPUT_COMPL</a:t>
            </a:r>
            <a:r>
              <a:rPr sz="1400">
                <a:solidFill>
                  <a:srgbClr val="FFFFFF"/>
                </a:solidFill>
              </a:rPr>
              <a:t> — Vertex tax, local I/O.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 b="1">
                <a:solidFill>
                  <a:srgbClr val="FFFFFF"/>
                </a:solidFill>
              </a:rPr>
              <a:t>/VERTEX/SPOT_VAT_INPUT_COMPL</a:t>
            </a:r>
            <a:r>
              <a:rPr sz="1400">
                <a:solidFill>
                  <a:srgbClr val="FFFFFF"/>
                </a:solidFill>
              </a:rPr>
              <a:t> — Vertex tax, local I/O.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 b="1">
                <a:solidFill>
                  <a:srgbClr val="FFFFFF"/>
                </a:solidFill>
              </a:rPr>
              <a:t>ZEDI_835</a:t>
            </a:r>
            <a:r>
              <a:rPr sz="1400">
                <a:solidFill>
                  <a:srgbClr val="FFFFFF"/>
                </a:solidFill>
              </a:rPr>
              <a:t> — OPEN DATASET / GUI_UPLOAD only.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 b="1">
                <a:solidFill>
                  <a:srgbClr val="FFFFFF"/>
                </a:solidFill>
              </a:rPr>
              <a:t>ZEDI_835_JPM</a:t>
            </a:r>
            <a:r>
              <a:rPr sz="1400">
                <a:solidFill>
                  <a:srgbClr val="FFFFFF"/>
                </a:solidFill>
              </a:rPr>
              <a:t> — same shape, JPMorgan variant.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 b="1">
                <a:solidFill>
                  <a:srgbClr val="FFFFFF"/>
                </a:solidFill>
              </a:rPr>
              <a:t>ZFI_BANK_STMT_LOAD</a:t>
            </a:r>
            <a:r>
              <a:rPr sz="1400">
                <a:solidFill>
                  <a:srgbClr val="FFFFFF"/>
                </a:solidFill>
              </a:rPr>
              <a:t> — local include processing.</a:t>
            </a:r>
          </a:p>
        </p:txBody>
      </p:sp>
      <p:graphicFrame>
        <p:nvGraphicFramePr>
          <p:cNvPr id="6" name="c_2_Block"/>
          <p:cNvGraphicFramePr>
            <a:graphicFrameLocks noGrp="1"/>
          </p:cNvGraphicFramePr>
          <p:nvPr/>
        </p:nvGraphicFramePr>
        <p:xfrm>
          <a:off x="457200" y="566928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Their file paths must still exist after the SFTP layer is replaced — they consume what SFTP callers land.</a:t>
                      </a:r>
                    </a:p>
                  </a:txBody>
                  <a:tcPr marL="137160" marR="91440" marT="45720" marB="9144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The answer to the original goal, plus what the next team needs before they start writing code.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Migration scope, in numbers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metric"/>
          <p:cNvSpPr txBox="1"/>
          <p:nvPr/>
        </p:nvSpPr>
        <p:spPr>
          <a:xfrm>
            <a:off x="548640" y="1554480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47FF"/>
                </a:solidFill>
              </a:rPr>
              <a:t>18</a:t>
            </a:r>
          </a:p>
        </p:txBody>
      </p:sp>
      <p:sp>
        <p:nvSpPr>
          <p:cNvPr id="6" name="c_1_BlockGrid:0:c_1_Block:content"/>
          <p:cNvSpPr txBox="1"/>
          <p:nvPr/>
        </p:nvSpPr>
        <p:spPr>
          <a:xfrm>
            <a:off x="548640" y="2009139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ABAP objects in scope (16 PROG + 2 FUGR core).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420624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_1_BlockGrid:1:c_2_Block:metric"/>
          <p:cNvSpPr txBox="1"/>
          <p:nvPr/>
        </p:nvSpPr>
        <p:spPr>
          <a:xfrm>
            <a:off x="4297680" y="1554480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A080DB"/>
                </a:solidFill>
              </a:rPr>
              <a:t>16</a:t>
            </a:r>
          </a:p>
        </p:txBody>
      </p:sp>
      <p:sp>
        <p:nvSpPr>
          <p:cNvPr id="9" name="c_1_BlockGrid:1:c_2_Block:content"/>
          <p:cNvSpPr txBox="1"/>
          <p:nvPr/>
        </p:nvSpPr>
        <p:spPr>
          <a:xfrm>
            <a:off x="4297680" y="2009139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business consumer reports.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795528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_1_BlockGrid:2:c_3_Block:metric"/>
          <p:cNvSpPr txBox="1"/>
          <p:nvPr/>
        </p:nvSpPr>
        <p:spPr>
          <a:xfrm>
            <a:off x="8046720" y="1554480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78C2"/>
                </a:solidFill>
              </a:rPr>
              <a:t>8</a:t>
            </a:r>
          </a:p>
        </p:txBody>
      </p:sp>
      <p:sp>
        <p:nvSpPr>
          <p:cNvPr id="12" name="c_1_BlockGrid:2:c_3_Block:content"/>
          <p:cNvSpPr txBox="1"/>
          <p:nvPr/>
        </p:nvSpPr>
        <p:spPr>
          <a:xfrm>
            <a:off x="8046720" y="2009139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distinct counter-party endpoints.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45720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_1_BlockGrid:3:c_4_Block:metric"/>
          <p:cNvSpPr txBox="1"/>
          <p:nvPr/>
        </p:nvSpPr>
        <p:spPr>
          <a:xfrm>
            <a:off x="548640" y="4005072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11</a:t>
            </a:r>
          </a:p>
        </p:txBody>
      </p:sp>
      <p:sp>
        <p:nvSpPr>
          <p:cNvPr id="15" name="c_1_BlockGrid:3:c_4_Block:content"/>
          <p:cNvSpPr txBox="1"/>
          <p:nvPr/>
        </p:nvSpPr>
        <p:spPr>
          <a:xfrm>
            <a:off x="548640" y="4459731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SM69 commands.</a:t>
            </a:r>
          </a:p>
        </p:txBody>
      </p:sp>
      <p:sp>
        <p:nvSpPr>
          <p:cNvPr id="16" name="c_1_BlockGrid:4:c_5_Block:container"/>
          <p:cNvSpPr/>
          <p:nvPr/>
        </p:nvSpPr>
        <p:spPr>
          <a:xfrm>
            <a:off x="420624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_1_BlockGrid:4:c_5_Block:metric"/>
          <p:cNvSpPr txBox="1"/>
          <p:nvPr/>
        </p:nvSpPr>
        <p:spPr>
          <a:xfrm>
            <a:off x="4297680" y="4005072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2</a:t>
            </a:r>
          </a:p>
        </p:txBody>
      </p:sp>
      <p:sp>
        <p:nvSpPr>
          <p:cNvPr id="18" name="c_1_BlockGrid:4:c_5_Block:content"/>
          <p:cNvSpPr txBox="1"/>
          <p:nvPr/>
        </p:nvSpPr>
        <p:spPr>
          <a:xfrm>
            <a:off x="4297680" y="4459731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auth modes to support.</a:t>
            </a:r>
          </a:p>
        </p:txBody>
      </p:sp>
      <p:sp>
        <p:nvSpPr>
          <p:cNvPr id="19" name="c_1_BlockGrid:5:c_6_Block:container"/>
          <p:cNvSpPr/>
          <p:nvPr/>
        </p:nvSpPr>
        <p:spPr>
          <a:xfrm>
            <a:off x="795528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_1_BlockGrid:5:c_6_Block:metric"/>
          <p:cNvSpPr txBox="1"/>
          <p:nvPr/>
        </p:nvSpPr>
        <p:spPr>
          <a:xfrm>
            <a:off x="8046720" y="4005072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A705"/>
                </a:solidFill>
              </a:rPr>
              <a:t>+46%</a:t>
            </a:r>
          </a:p>
        </p:txBody>
      </p:sp>
      <p:sp>
        <p:nvSpPr>
          <p:cNvPr id="21" name="c_1_BlockGrid:5:c_6_Block:content"/>
          <p:cNvSpPr txBox="1"/>
          <p:nvPr/>
        </p:nvSpPr>
        <p:spPr>
          <a:xfrm>
            <a:off x="8046720" y="4459731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vs the original seed list.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Replacement must support…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Window_Lock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49424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348740" y="1554480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47FF"/>
                </a:solidFill>
              </a:rPr>
              <a:t>Both auth modes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Key-based AND password-based (BNP requires both).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420624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Arrows_Repeat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249424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5097780" y="1554480"/>
            <a:ext cx="258318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A080DB"/>
                </a:solidFill>
              </a:rPr>
              <a:t>Both directions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8 pull · 6 push · 2 both.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795528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Window_Lock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249424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8846820" y="1554480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78C2"/>
                </a:solidFill>
              </a:rPr>
              <a:t>PGP layer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ZSFTP_BNP_PARIBAS_WITH_PGP wraps the push.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45720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Grid:3:c_4_Block:Global_Clou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00016"/>
            <a:ext cx="640080" cy="640080"/>
          </a:xfrm>
          <a:prstGeom prst="rect">
            <a:avLst/>
          </a:prstGeom>
        </p:spPr>
      </p:pic>
      <p:sp>
        <p:nvSpPr>
          <p:cNvPr id="15" name="c_1_BlockGrid:3:c_4_Block:content"/>
          <p:cNvSpPr txBox="1"/>
          <p:nvPr/>
        </p:nvSpPr>
        <p:spPr>
          <a:xfrm>
            <a:off x="1348740" y="4005072"/>
            <a:ext cx="2583180" cy="6076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07E8D"/>
                </a:solidFill>
              </a:rPr>
              <a:t>11 endpoints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Each SM69 binds one bank or provider host.</a:t>
            </a:r>
          </a:p>
        </p:txBody>
      </p:sp>
      <p:sp>
        <p:nvSpPr>
          <p:cNvPr id="16" name="c_1_BlockGrid:4:c_5_Block:container"/>
          <p:cNvSpPr/>
          <p:nvPr/>
        </p:nvSpPr>
        <p:spPr>
          <a:xfrm>
            <a:off x="420624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c_1_BlockGrid:4:c_5_Block:Databas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4700016"/>
            <a:ext cx="640080" cy="640080"/>
          </a:xfrm>
          <a:prstGeom prst="rect">
            <a:avLst/>
          </a:prstGeom>
        </p:spPr>
      </p:pic>
      <p:sp>
        <p:nvSpPr>
          <p:cNvPr id="18" name="c_1_BlockGrid:4:c_5_Block:content"/>
          <p:cNvSpPr txBox="1"/>
          <p:nvPr/>
        </p:nvSpPr>
        <p:spPr>
          <a:xfrm>
            <a:off x="5097780" y="4005072"/>
            <a:ext cx="258318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E06C00"/>
                </a:solidFill>
              </a:rPr>
              <a:t>zfi_constants single source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All 16+3 read from it — keep or shim.</a:t>
            </a:r>
          </a:p>
        </p:txBody>
      </p:sp>
      <p:sp>
        <p:nvSpPr>
          <p:cNvPr id="19" name="c_1_BlockGrid:5:c_6_Block:container"/>
          <p:cNvSpPr/>
          <p:nvPr/>
        </p:nvSpPr>
        <p:spPr>
          <a:xfrm>
            <a:off x="795528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c_1_BlockGrid:5:c_6_Block:API_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4700016"/>
            <a:ext cx="640080" cy="640080"/>
          </a:xfrm>
          <a:prstGeom prst="rect">
            <a:avLst/>
          </a:prstGeom>
        </p:spPr>
      </p:pic>
      <p:sp>
        <p:nvSpPr>
          <p:cNvPr id="21" name="c_1_BlockGrid:5:c_6_Block:content"/>
          <p:cNvSpPr txBox="1"/>
          <p:nvPr/>
        </p:nvSpPr>
        <p:spPr>
          <a:xfrm>
            <a:off x="8846820" y="4005072"/>
            <a:ext cx="258318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A705"/>
                </a:solidFill>
              </a:rPr>
              <a:t>Non-default ports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FTP_PORT concatenated as ':port'.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natural cutover order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Process:block0:c_1_Block"/>
          <p:cNvSpPr/>
          <p:nvPr/>
        </p:nvSpPr>
        <p:spPr>
          <a:xfrm>
            <a:off x="45720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Banking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7 reports — MT940 + PGP for BNP.</a:t>
            </a:r>
          </a:p>
        </p:txBody>
      </p:sp>
      <p:sp>
        <p:nvSpPr>
          <p:cNvPr id="5" name="c_1_BlockProcess:arrow0"/>
          <p:cNvSpPr/>
          <p:nvPr/>
        </p:nvSpPr>
        <p:spPr>
          <a:xfrm>
            <a:off x="3046680" y="2764706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Process:block1:c_2_Block"/>
          <p:cNvSpPr/>
          <p:nvPr/>
        </p:nvSpPr>
        <p:spPr>
          <a:xfrm>
            <a:off x="329184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916CD5"/>
              </a:gs>
              <a:gs pos="100000">
                <a:srgbClr val="AE93E0"/>
              </a:gs>
            </a:gsLst>
            <a:lin ang="16200000" scaled="0"/>
          </a:gradFill>
          <a:ln w="3175">
            <a:solidFill>
              <a:srgbClr val="766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0000"/>
                </a:solidFill>
              </a:rPr>
              <a:t>Healthcare clearinghouses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4 reports — EDI 835/837 round-trip.</a:t>
            </a:r>
          </a:p>
        </p:txBody>
      </p:sp>
      <p:sp>
        <p:nvSpPr>
          <p:cNvPr id="7" name="c_1_BlockProcess:arrow1"/>
          <p:cNvSpPr/>
          <p:nvPr/>
        </p:nvSpPr>
        <p:spPr>
          <a:xfrm>
            <a:off x="5881320" y="2764706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_1_BlockProcess:block2:c_3_Block"/>
          <p:cNvSpPr/>
          <p:nvPr/>
        </p:nvSpPr>
        <p:spPr>
          <a:xfrm>
            <a:off x="612648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0068A8"/>
              </a:gs>
              <a:gs pos="100000">
                <a:srgbClr val="0087DB"/>
              </a:gs>
            </a:gsLst>
            <a:lin ang="16200000" scaled="0"/>
          </a:gradFill>
          <a:ln w="3175">
            <a:solidFill>
              <a:srgbClr val="3946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Payroll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2 reports — Ceridian posting → FI.</a:t>
            </a:r>
          </a:p>
        </p:txBody>
      </p:sp>
      <p:sp>
        <p:nvSpPr>
          <p:cNvPr id="9" name="c_1_BlockProcess:arrow2"/>
          <p:cNvSpPr/>
          <p:nvPr/>
        </p:nvSpPr>
        <p:spPr>
          <a:xfrm>
            <a:off x="8715960" y="2764706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_1_BlockProcess:block3:c_4_Block"/>
          <p:cNvSpPr/>
          <p:nvPr/>
        </p:nvSpPr>
        <p:spPr>
          <a:xfrm>
            <a:off x="8961120" y="1463040"/>
            <a:ext cx="2560320" cy="2891332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Internal DMS / eRx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5 reports — wrapper-FM integrity.</a:t>
            </a:r>
          </a:p>
        </p:txBody>
      </p:sp>
      <p:graphicFrame>
        <p:nvGraphicFramePr>
          <p:cNvPr id="11" name="c_5_Block"/>
          <p:cNvGraphicFramePr>
            <a:graphicFrameLocks noGrp="1"/>
          </p:cNvGraphicFramePr>
          <p:nvPr/>
        </p:nvGraphicFramePr>
        <p:xfrm>
          <a:off x="457200" y="566928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Each step has its own validation matrix; wrappers migrate as one unit.</a:t>
                      </a:r>
                    </a:p>
                  </a:txBody>
                  <a:tcPr marL="137160" marR="91440" marT="45720" marB="91440" anchor="t">
                    <a:lnL w="73152" cap="flat" cmpd="sng">
                      <a:solidFill>
                        <a:srgbClr val="107E8D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questions the migration team must close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11064240" cy="63055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Repai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58277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348740" y="1554480"/>
            <a:ext cx="1008126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47FF"/>
                </a:solidFill>
              </a:rPr>
              <a:t>OS-side SM69 script behavior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11 SM69 entries; behavior is in SAP GUI tx SM69, out of scope for ABAP-only analysis. Needs Basis access.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457200" y="2331338"/>
            <a:ext cx="11064240" cy="63055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2_Peop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326575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1348740" y="2422778"/>
            <a:ext cx="1008126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A080DB"/>
                </a:solidFill>
              </a:rPr>
              <a:t>Two reports share the Ceridian command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Operator preference or refactor leftover? Suggest consolidating after business-owner sign-off.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457200" y="3199636"/>
            <a:ext cx="11064240" cy="63055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Document_Magnify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94873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1348740" y="3291076"/>
            <a:ext cx="1008126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78C2"/>
                </a:solidFill>
              </a:rPr>
              <a:t>ZDMS_EXTRACT_DOCS_TO_SFTP has 0 literal callers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Dynamic call, cross-package caller, or dead code — must be resolved during cutover.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≈95% in scope · residual risk is hardcoded SFTP without zfi_constants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CONFIDENCE IN SCOPE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5440680" cy="1132328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Within Z001 (PROG / FUGR / CLAS)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3 independent credential-bag scans, all complete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1 sanity scan beyond credential literals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Wrapper FUGRs enumerated, callers identified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6080760" y="1463040"/>
            <a:ext cx="5440680" cy="1132328"/>
          </a:xfrm>
          <a:prstGeom prst="rect">
            <a:avLst/>
          </a:prstGeom>
          <a:gradFill rotWithShape="1">
            <a:gsLst>
              <a:gs pos="0">
                <a:srgbClr val="916CD5"/>
              </a:gs>
              <a:gs pos="100000">
                <a:srgbClr val="AE93E0"/>
              </a:gs>
            </a:gsLst>
            <a:lin ang="16200000" scaled="0"/>
          </a:gradFill>
          <a:ln w="3175">
            <a:solidFill>
              <a:srgbClr val="766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Outside Z001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Other top-level Z* packages: un-scanned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Cross-package callers of wrapper FUGRs: open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Customer confirmation lifts confidence to ≈99%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What the run actually cost, what went wrong, and what the next analysis run inherits.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Retro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Run economics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metric"/>
          <p:cNvSpPr txBox="1"/>
          <p:nvPr/>
        </p:nvSpPr>
        <p:spPr>
          <a:xfrm>
            <a:off x="548640" y="1554480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47FF"/>
                </a:solidFill>
              </a:rPr>
              <a:t>~2 h</a:t>
            </a:r>
          </a:p>
        </p:txBody>
      </p:sp>
      <p:sp>
        <p:nvSpPr>
          <p:cNvPr id="6" name="c_1_BlockGrid:0:c_1_Block:content"/>
          <p:cNvSpPr txBox="1"/>
          <p:nvPr/>
        </p:nvSpPr>
        <p:spPr>
          <a:xfrm>
            <a:off x="548640" y="2009139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total wall-clock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420624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_1_BlockGrid:1:c_2_Block:metric"/>
          <p:cNvSpPr txBox="1"/>
          <p:nvPr/>
        </p:nvSpPr>
        <p:spPr>
          <a:xfrm>
            <a:off x="4297680" y="1554480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A080DB"/>
                </a:solidFill>
              </a:rPr>
              <a:t>1.05 M</a:t>
            </a:r>
          </a:p>
        </p:txBody>
      </p:sp>
      <p:sp>
        <p:nvSpPr>
          <p:cNvPr id="9" name="c_1_BlockGrid:1:c_2_Block:content"/>
          <p:cNvSpPr txBox="1"/>
          <p:nvPr/>
        </p:nvSpPr>
        <p:spPr>
          <a:xfrm>
            <a:off x="4297680" y="2009139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executor-side tokens (gpt-5.2 + embedder)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7955280" y="1463040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_1_BlockGrid:2:c_3_Block:metric"/>
          <p:cNvSpPr txBox="1"/>
          <p:nvPr/>
        </p:nvSpPr>
        <p:spPr>
          <a:xfrm>
            <a:off x="8046720" y="1554480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78C2"/>
                </a:solidFill>
              </a:rPr>
              <a:t>264</a:t>
            </a:r>
          </a:p>
        </p:txBody>
      </p:sp>
      <p:sp>
        <p:nvSpPr>
          <p:cNvPr id="12" name="c_1_BlockGrid:2:c_3_Block:content"/>
          <p:cNvSpPr txBox="1"/>
          <p:nvPr/>
        </p:nvSpPr>
        <p:spPr>
          <a:xfrm>
            <a:off x="8046720" y="2009139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model requests across the run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45720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_1_BlockGrid:3:c_4_Block:metric"/>
          <p:cNvSpPr txBox="1"/>
          <p:nvPr/>
        </p:nvSpPr>
        <p:spPr>
          <a:xfrm>
            <a:off x="548640" y="4005072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~$66</a:t>
            </a:r>
          </a:p>
        </p:txBody>
      </p:sp>
      <p:sp>
        <p:nvSpPr>
          <p:cNvPr id="15" name="c_1_BlockGrid:3:c_4_Block:content"/>
          <p:cNvSpPr txBox="1"/>
          <p:nvPr/>
        </p:nvSpPr>
        <p:spPr>
          <a:xfrm>
            <a:off x="548640" y="4459731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controller-side share (Claude Opus 4.7, sFTP portion)</a:t>
            </a:r>
          </a:p>
        </p:txBody>
      </p:sp>
      <p:sp>
        <p:nvSpPr>
          <p:cNvPr id="16" name="c_1_BlockGrid:4:c_5_Block:container"/>
          <p:cNvSpPr/>
          <p:nvPr/>
        </p:nvSpPr>
        <p:spPr>
          <a:xfrm>
            <a:off x="420624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_1_BlockGrid:4:c_5_Block:metric"/>
          <p:cNvSpPr txBox="1"/>
          <p:nvPr/>
        </p:nvSpPr>
        <p:spPr>
          <a:xfrm>
            <a:off x="4297680" y="4005072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7</a:t>
            </a:r>
          </a:p>
        </p:txBody>
      </p:sp>
      <p:sp>
        <p:nvSpPr>
          <p:cNvPr id="18" name="c_1_BlockGrid:4:c_5_Block:content"/>
          <p:cNvSpPr txBox="1"/>
          <p:nvPr/>
        </p:nvSpPr>
        <p:spPr>
          <a:xfrm>
            <a:off x="4297680" y="4459731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independent SearchSource scans</a:t>
            </a:r>
          </a:p>
        </p:txBody>
      </p:sp>
      <p:sp>
        <p:nvSpPr>
          <p:cNvPr id="19" name="c_1_BlockGrid:5:c_6_Block:container"/>
          <p:cNvSpPr/>
          <p:nvPr/>
        </p:nvSpPr>
        <p:spPr>
          <a:xfrm>
            <a:off x="7955280" y="3913632"/>
            <a:ext cx="356616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_1_BlockGrid:5:c_6_Block:metric"/>
          <p:cNvSpPr txBox="1"/>
          <p:nvPr/>
        </p:nvSpPr>
        <p:spPr>
          <a:xfrm>
            <a:off x="8046720" y="4005072"/>
            <a:ext cx="338328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A705"/>
                </a:solidFill>
              </a:rPr>
              <a:t>4-12 h</a:t>
            </a:r>
          </a:p>
        </p:txBody>
      </p:sp>
      <p:sp>
        <p:nvSpPr>
          <p:cNvPr id="21" name="c_1_BlockGrid:5:c_6_Block:content"/>
          <p:cNvSpPr txBox="1"/>
          <p:nvPr/>
        </p:nvSpPr>
        <p:spPr>
          <a:xfrm>
            <a:off x="8046720" y="4459731"/>
            <a:ext cx="338328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>
                <a:solidFill>
                  <a:srgbClr val="000000"/>
                </a:solidFill>
              </a:rPr>
              <a:t>manual UI estimate for comparable analysis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held up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Gear_Process_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9424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600200" y="1600200"/>
            <a:ext cx="4114800" cy="8070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47FF"/>
                </a:solidFill>
              </a:rPr>
              <a:t>Per-stage isolation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One stage per session; artifact on disk before the next.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Document_Checklist_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249424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7223760" y="1600200"/>
            <a:ext cx="4114800" cy="5880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A080DB"/>
                </a:solidFill>
              </a:rPr>
              <a:t>Raw-SSE evidence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Every claim reproducible from curl/*.sse.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Books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700016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1600200" y="4050792"/>
            <a:ext cx="4114800" cy="8070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78C2"/>
                </a:solidFill>
              </a:rPr>
              <a:t>Lessons captured in-flight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6 skills + 1 decision + 1 tool-usage skill written during the run.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Grid:3:c_4_Block:Arrows_Repeat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4700016"/>
            <a:ext cx="640080" cy="640080"/>
          </a:xfrm>
          <a:prstGeom prst="rect">
            <a:avLst/>
          </a:prstGeom>
        </p:spPr>
      </p:pic>
      <p:sp>
        <p:nvSpPr>
          <p:cNvPr id="15" name="c_1_BlockGrid:3:c_4_Block:content"/>
          <p:cNvSpPr txBox="1"/>
          <p:nvPr/>
        </p:nvSpPr>
        <p:spPr>
          <a:xfrm>
            <a:off x="7223760" y="4050792"/>
            <a:ext cx="4114800" cy="8070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107E8D"/>
                </a:solidFill>
              </a:rPr>
              <a:t>Iterative scope expansion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Three independent scans, each justified by the prior finding.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Lessons for the next run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548640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Books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0616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348740" y="1554480"/>
            <a:ext cx="450342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47FF"/>
                </a:solidFill>
              </a:rPr>
              <a:t>English prompts only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First UA batch wasted ~500k tokens.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6035040" y="1463040"/>
            <a:ext cx="548640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Document_Checklist_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880616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6926580" y="1554480"/>
            <a:ext cx="450342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A080DB"/>
                </a:solidFill>
              </a:rPr>
              <a:t>Spell out every SearchSource param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Don't rely on planning-LLM defaults.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457200" y="3057144"/>
            <a:ext cx="548640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Clock_24h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720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1348740" y="3148584"/>
            <a:ext cx="450342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78C2"/>
                </a:solidFill>
              </a:rPr>
              <a:t>One scan at a time per destination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Stability over wall-clock; 4 parallel scans crashed the backend.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6035040" y="3057144"/>
            <a:ext cx="548640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Grid:3:c_4_Block:X_Mark_Circle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474720"/>
            <a:ext cx="640080" cy="640080"/>
          </a:xfrm>
          <a:prstGeom prst="rect">
            <a:avLst/>
          </a:prstGeom>
        </p:spPr>
      </p:pic>
      <p:sp>
        <p:nvSpPr>
          <p:cNvPr id="15" name="c_1_BlockGrid:3:c_4_Block:content"/>
          <p:cNvSpPr txBox="1"/>
          <p:nvPr/>
        </p:nvSpPr>
        <p:spPr>
          <a:xfrm>
            <a:off x="6926580" y="3148584"/>
            <a:ext cx="450342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07E8D"/>
                </a:solidFill>
              </a:rPr>
              <a:t>Never mix SearchObject + SearchSource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In one prompt the model picks the wrong one.</a:t>
            </a:r>
          </a:p>
        </p:txBody>
      </p:sp>
      <p:sp>
        <p:nvSpPr>
          <p:cNvPr id="16" name="c_1_BlockGrid:4:c_5_Block:container"/>
          <p:cNvSpPr/>
          <p:nvPr/>
        </p:nvSpPr>
        <p:spPr>
          <a:xfrm>
            <a:off x="457200" y="4651248"/>
            <a:ext cx="548640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c_1_BlockGrid:4:c_5_Block:Checkmark_Circle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068824"/>
            <a:ext cx="640080" cy="640080"/>
          </a:xfrm>
          <a:prstGeom prst="rect">
            <a:avLst/>
          </a:prstGeom>
        </p:spPr>
      </p:pic>
      <p:sp>
        <p:nvSpPr>
          <p:cNvPr id="18" name="c_1_BlockGrid:4:c_5_Block:content"/>
          <p:cNvSpPr txBox="1"/>
          <p:nvPr/>
        </p:nvSpPr>
        <p:spPr>
          <a:xfrm>
            <a:off x="1348740" y="4742688"/>
            <a:ext cx="450342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E06C00"/>
                </a:solidFill>
              </a:rPr>
              <a:t>Assert tool availability positively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Negative assertions leak tool names and trigger amnesia.</a:t>
            </a:r>
          </a:p>
        </p:txBody>
      </p:sp>
      <p:sp>
        <p:nvSpPr>
          <p:cNvPr id="19" name="c_1_BlockGrid:5:c_6_Block:container"/>
          <p:cNvSpPr/>
          <p:nvPr/>
        </p:nvSpPr>
        <p:spPr>
          <a:xfrm>
            <a:off x="6035040" y="4651248"/>
            <a:ext cx="548640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c_1_BlockGrid:5:c_6_Block:Clock_24h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5068824"/>
            <a:ext cx="640080" cy="640080"/>
          </a:xfrm>
          <a:prstGeom prst="rect">
            <a:avLst/>
          </a:prstGeom>
        </p:spPr>
      </p:pic>
      <p:sp>
        <p:nvSpPr>
          <p:cNvPr id="21" name="c_1_BlockGrid:5:c_6_Block:content"/>
          <p:cNvSpPr txBox="1"/>
          <p:nvPr/>
        </p:nvSpPr>
        <p:spPr>
          <a:xfrm>
            <a:off x="6926580" y="4742688"/>
            <a:ext cx="4503420" cy="4476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A705"/>
                </a:solidFill>
              </a:rPr>
              <a:t>Add 'exactly ONCE' guards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Stops 50x GetIncludesList loops.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refinements to fold back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THE 5-STAGE TUTORIAL HELD UP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Process:block0:c_1_Block"/>
          <p:cNvSpPr/>
          <p:nvPr/>
        </p:nvSpPr>
        <p:spPr>
          <a:xfrm>
            <a:off x="457200" y="1463040"/>
            <a:ext cx="3505200" cy="3264408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Stage 2b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Open-ended enumeration is necessary — it catches wrapper FMs.</a:t>
            </a:r>
          </a:p>
        </p:txBody>
      </p:sp>
      <p:sp>
        <p:nvSpPr>
          <p:cNvPr id="6" name="c_1_BlockProcess:arrow0"/>
          <p:cNvSpPr/>
          <p:nvPr/>
        </p:nvSpPr>
        <p:spPr>
          <a:xfrm>
            <a:off x="3991560" y="2951244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_1_BlockProcess:block1:c_2_Block"/>
          <p:cNvSpPr/>
          <p:nvPr/>
        </p:nvSpPr>
        <p:spPr>
          <a:xfrm>
            <a:off x="4236720" y="1463040"/>
            <a:ext cx="3505200" cy="3264408"/>
          </a:xfrm>
          <a:prstGeom prst="rect">
            <a:avLst/>
          </a:prstGeom>
          <a:gradFill rotWithShape="1">
            <a:gsLst>
              <a:gs pos="0">
                <a:srgbClr val="916CD5"/>
              </a:gs>
              <a:gs pos="100000">
                <a:srgbClr val="AE93E0"/>
              </a:gs>
            </a:gsLst>
            <a:lin ang="16200000" scaled="0"/>
          </a:gradFill>
          <a:ln w="3175">
            <a:solidFill>
              <a:srgbClr val="766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0000"/>
                </a:solidFill>
              </a:rPr>
              <a:t>Stage 3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Needs &gt;=2 independent markers — password-only would be missed.</a:t>
            </a:r>
          </a:p>
        </p:txBody>
      </p:sp>
      <p:sp>
        <p:nvSpPr>
          <p:cNvPr id="8" name="c_1_BlockProcess:arrow1"/>
          <p:cNvSpPr/>
          <p:nvPr/>
        </p:nvSpPr>
        <p:spPr>
          <a:xfrm>
            <a:off x="7771080" y="2951244"/>
            <a:ext cx="216000" cy="288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Process:block2:c_3_Block"/>
          <p:cNvSpPr/>
          <p:nvPr/>
        </p:nvSpPr>
        <p:spPr>
          <a:xfrm>
            <a:off x="8016240" y="1463040"/>
            <a:ext cx="3505200" cy="3264408"/>
          </a:xfrm>
          <a:prstGeom prst="rect">
            <a:avLst/>
          </a:prstGeom>
          <a:gradFill rotWithShape="1">
            <a:gsLst>
              <a:gs pos="0">
                <a:srgbClr val="0068A8"/>
              </a:gs>
              <a:gs pos="100000">
                <a:srgbClr val="0087DB"/>
              </a:gs>
            </a:gsLst>
            <a:lin ang="16200000" scaled="0"/>
          </a:gradFill>
          <a:ln w="3175">
            <a:solidFill>
              <a:srgbClr val="3946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FFFFF"/>
                </a:solidFill>
              </a:rPr>
              <a:t>Late sanity scan</a:t>
            </a:r>
          </a:p>
          <a:p>
            <a:pPr algn="l"/>
            <a:r>
              <a:rPr sz="1400">
                <a:solidFill>
                  <a:srgbClr val="FFFFFF"/>
                </a:solidFill>
              </a:rPr>
              <a:t>Beyond credential literals — caught the ZDMS_SEND_FILE wrapper.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"/>
          <p:cNvSpPr/>
          <p:nvPr/>
        </p:nvSpPr>
        <p:spPr>
          <a:xfrm>
            <a:off x="457200" y="1463040"/>
            <a:ext cx="11064240" cy="1059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Hand artifacts (02-05 + extracts) to migration team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Basis input on SM69 OS-side scripts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>
                <a:solidFill>
                  <a:srgbClr val="FFFFFF"/>
                </a:solidFill>
              </a:rPr>
              <a:t>Confirm Z001-only scope or run scans on other Z* roots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400" b="1">
                <a:solidFill>
                  <a:srgbClr val="FFFFFF"/>
                </a:solidFill>
              </a:rPr>
              <a:t>Contact: </a:t>
            </a:r>
            <a:r>
              <a:rPr sz="1400">
                <a:solidFill>
                  <a:srgbClr val="FFFFFF"/>
                </a:solidFill>
              </a:rPr>
              <a:t>codebase-analysis tutorial owner (cloud-llm-hub repo)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HANGETRACKING" val="true"/>
  <p:tag name="MIO_UPDATE" val="True"/>
  <p:tag name="MIO_OBJECTNAME" val="EPAM Overview"/>
  <p:tag name="MIO_LASTEDITORNAME" val="Peter Rutsch"/>
  <p:tag name="MIO_DBID" val="D7ED4A1B-644D-42C8-B85A-3AF7EB19A1AD"/>
  <p:tag name="MIO_LASTDOWNLOADED" val="25.09.2019 20:19:12"/>
  <p:tag name="MIO_VERSION" val="25.09.2019 19:19:12"/>
  <p:tag name="MIO_EKGUID" val="d7e3e5f7-9b32-4300-a908-3232d6ed981a"/>
  <p:tag name="MIO_NATIVESECTIONS" val="﻿&lt;?xml version=&quot;1.0&quot; encoding=&quot;utf-8&quot;?&gt;&lt;ArrayOfNativeSection xmlns:xsd=&quot;http://www.w3.org/2001/XMLSchema&quot; xmlns:xsi=&quot;http://www.w3.org/2001/XMLSchema-instance&quot;&gt;&lt;NativeSection&gt;&lt;Name&gt;About EPAM&lt;/Name&gt;&lt;FirstSlideIndex&gt;3&lt;/FirstSlideIndex&gt;&lt;SlidesCount&gt;15&lt;/SlidesCount&gt;&lt;SlideIDs /&gt;&lt;SlideGuids&gt;&lt;guid&gt;41917f75-77c0-48c8-a973-0468f4fe6223&lt;/guid&gt;&lt;guid&gt;4c4084ce-9dc3-4a2a-bd15-284b0659bb1d&lt;/guid&gt;&lt;guid&gt;c25f9840-0bea-411d-962d-9f3050c735d6&lt;/guid&gt;&lt;guid&gt;7d12a499-7701-4a6e-8610-d9d576cb0dec&lt;/guid&gt;&lt;guid&gt;61ee236e-49d2-4ed5-a476-38e350e3bfd2&lt;/guid&gt;&lt;guid&gt;ef65a5ca-8d54-4147-8afa-2ebb941538e3&lt;/guid&gt;&lt;guid&gt;c94ecc82-7873-4e32-885c-f35e7d8f652f&lt;/guid&gt;&lt;guid&gt;c3fea710-23c7-43d8-8d5d-f36b24c7383e&lt;/guid&gt;&lt;guid&gt;2bba986c-ee29-49a3-8223-b3a7867a5f4b&lt;/guid&gt;&lt;guid&gt;00e49fa1-ccf7-49ac-b1ea-429440dc91c2&lt;/guid&gt;&lt;guid&gt;cd433048-84df-4410-81de-4a8b6f9b00db&lt;/guid&gt;&lt;guid&gt;3c65c556-57fe-432d-8e6c-e872ce9c17e6&lt;/guid&gt;&lt;guid&gt;cfbce635-1caa-40a0-8168-f7cd9a71855f&lt;/guid&gt;&lt;guid&gt;0dd5438a-71f4-45bd-aeb7-e9afb36545e3&lt;/guid&gt;&lt;guid&gt;025c768f-d8c8-481b-827c-fb70a3dea855&lt;/guid&gt;&lt;/SlideGuids&gt;&lt;/NativeSection&gt;&lt;NativeSection&gt;&lt;Name&gt;EPAM Advantage&lt;/Name&gt;&lt;FirstSlideIndex&gt;18&lt;/FirstSlideIndex&gt;&lt;SlidesCount&gt;7&lt;/SlidesCount&gt;&lt;SlideIDs /&gt;&lt;SlideGuids&gt;&lt;guid&gt;1d3f40df-0be8-4722-86b4-ba408afacf35&lt;/guid&gt;&lt;guid&gt;1e4e570a-a814-43ca-b0e7-827ba1e99159&lt;/guid&gt;&lt;guid&gt;10e9fa43-a251-4d26-a911-d8ed059b1b96&lt;/guid&gt;&lt;guid&gt;c7beb776-8ff1-4acc-8007-da30e0319d43&lt;/guid&gt;&lt;guid&gt;34f142e0-cb5b-44f7-b22f-231c1a8fc0f9&lt;/guid&gt;&lt;guid&gt;26526e34-7c79-495c-b434-1b8afad190de&lt;/guid&gt;&lt;guid&gt;877dc4cd-9bef-4f8a-8bbc-52177ac46c56&lt;/guid&gt;&lt;/SlideGuids&gt;&lt;/NativeSection&gt;&lt;/ArrayOfNativeSection&gt;"/>
</p:tagLst>
</file>

<file path=ppt/theme/theme1.xml><?xml version="1.0" encoding="utf-8"?>
<a:theme xmlns:a="http://schemas.openxmlformats.org/drawingml/2006/main" name="EPAM Master 2024.1">
  <a:themeElements>
    <a:clrScheme name="EPAM 2023">
      <a:dk1>
        <a:srgbClr val="000000"/>
      </a:dk1>
      <a:lt1>
        <a:srgbClr val="FFFFFF"/>
      </a:lt1>
      <a:dk2>
        <a:srgbClr val="A0A0A0"/>
      </a:dk2>
      <a:lt2>
        <a:srgbClr val="FBFAFA"/>
      </a:lt2>
      <a:accent1>
        <a:srgbClr val="060606"/>
      </a:accent1>
      <a:accent2>
        <a:srgbClr val="418DFF"/>
      </a:accent2>
      <a:accent3>
        <a:srgbClr val="107E8D"/>
      </a:accent3>
      <a:accent4>
        <a:srgbClr val="8353D2"/>
      </a:accent4>
      <a:accent5>
        <a:srgbClr val="3055DA"/>
      </a:accent5>
      <a:accent6>
        <a:srgbClr val="009CBE"/>
      </a:accent6>
      <a:hlink>
        <a:srgbClr val="61E2BB"/>
      </a:hlink>
      <a:folHlink>
        <a:srgbClr val="03815B"/>
      </a:folHlink>
    </a:clrScheme>
    <a:fontScheme name="EPAM">
      <a:majorFont>
        <a:latin typeface="Calibri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  <a:effectLst/>
      </a:spPr>
      <a:bodyPr wrap="square" lIns="0" tIns="0" rIns="0" bIns="0" rtlCol="0" anchor="ctr"/>
      <a:lstStyle>
        <a:defPPr algn="ctr">
          <a:defRPr sz="2400" dirty="0" smtClean="0">
            <a:solidFill>
              <a:schemeClr val="bg1"/>
            </a:solidFill>
            <a:latin typeface="Calibri Light" panose="020F0302020204030204" pitchFamily="34" charset="0"/>
            <a:ea typeface="Human Sans ExtraLight" charset="0"/>
            <a:cs typeface="Human Sans ExtraLight" charset="0"/>
          </a:defRPr>
        </a:defPPr>
      </a:lstStyle>
    </a:spDef>
    <a:lnDef>
      <a:spPr>
        <a:ln w="635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wrap="square" lIns="0" tIns="0" rIns="0" bIns="0">
        <a:spAutoFit/>
      </a:bodyPr>
      <a:lstStyle>
        <a:defPPr algn="l">
          <a:defRPr dirty="0" smtClean="0"/>
        </a:defPPr>
      </a:lstStyle>
    </a:txDef>
  </a:objectDefaults>
  <a:extraClrSchemeLst/>
  <a:custClrLst>
    <a:custClr name="PALINA BLUE">
      <a:srgbClr val="A9C9D7"/>
    </a:custClr>
    <a:custClr name="DARK PURPLE ">
      <a:srgbClr val="8A7CBB"/>
    </a:custClr>
    <a:custClr name="LIGHT PURPLE">
      <a:srgbClr val="AE9BD8"/>
    </a:custClr>
    <a:custClr name="BRIGHT CORAL">
      <a:srgbClr val="FF4E33"/>
    </a:custClr>
    <a:custClr name="EPAM CORAL">
      <a:srgbClr val="FF8468"/>
    </a:custClr>
    <a:custClr name="BRIGHT ORANGE">
      <a:srgbClr val="FF8500"/>
    </a:custClr>
    <a:custClr name="ORANGE ">
      <a:srgbClr val="FFA436"/>
    </a:custClr>
    <a:custClr name="DARK GREEN">
      <a:srgbClr val="62A230"/>
    </a:custClr>
    <a:custClr name="BRIGHT GREEN">
      <a:srgbClr val="9BC838"/>
    </a:custClr>
    <a:custClr name="LIME GREEN">
      <a:srgbClr val="C8DE49"/>
    </a:custClr>
    <a:custClr name="Coral Orange">
      <a:srgbClr val="F57F41"/>
    </a:custClr>
    <a:custClr name="Tangerine">
      <a:srgbClr val="F15C44"/>
    </a:custClr>
    <a:custClr name="Gold">
      <a:srgbClr val="DBB661"/>
    </a:custClr>
    <a:custClr name="Turqoise">
      <a:srgbClr val="2A9D8E"/>
    </a:custClr>
    <a:custClr name="Ocean">
      <a:srgbClr val="209EBD"/>
    </a:custClr>
    <a:custClr name="Charcoal">
      <a:srgbClr val="264553"/>
    </a:custClr>
    <a:custClr name="Eggplant">
      <a:srgbClr val="58335E"/>
    </a:custClr>
    <a:custClr name="Grape Soda">
      <a:srgbClr val="745C97"/>
    </a:custClr>
    <a:custClr name="Wild Berry">
      <a:srgbClr val="89608E"/>
    </a:custClr>
    <a:custClr name="Taffy">
      <a:srgbClr val="8ACDEA"/>
    </a:custClr>
    <a:custClr name="Honey">
      <a:srgbClr val="EFEA5A"/>
    </a:custClr>
    <a:custClr name="Mint">
      <a:srgbClr val="2CD094"/>
    </a:custClr>
    <a:custClr name="Malibu">
      <a:srgbClr val="BAD49C"/>
    </a:custClr>
    <a:custClr name="Cotton Candy">
      <a:srgbClr val="EEB4B3"/>
    </a:custClr>
    <a:custClr name="Guava">
      <a:srgbClr val="E26D5C"/>
    </a:custClr>
  </a:custClrLst>
  <a:extLst>
    <a:ext uri="{05A4C25C-085E-4340-85A3-A5531E510DB2}">
      <thm15:themeFamily xmlns:thm15="http://schemas.microsoft.com/office/thememl/2012/main" name="EPAM_PresalesTemplate" id="{BA2CABEF-164A-0B40-9E1D-A9B96AE60B87}" vid="{65C357FB-1C5F-AA46-A42C-758D0D80597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B325E2B-52F7-4394-BC3E-1C5545ED6C41}">
  <we:reference id="0712333e-3078-4353-bc6c-307328446e34" version="1.0.1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45da436-b9c0-45a6-9ecc-c0655a249673">
      <Value>1635</Value>
      <Value>116</Value>
      <Value>72</Value>
      <Value>1</Value>
      <Value>3444</Value>
    </TaxCatchAll>
    <LikesCount xmlns="http://schemas.microsoft.com/sharepoint/v3">37</LikesCount>
    <ica38aae1f42489fb9720caef7617fcd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General Decks:About EPAM</TermName>
          <TermId xmlns="http://schemas.microsoft.com/office/infopath/2007/PartnerControls">1bb3a607-45a4-4116-99d9-b95075743ae1</TermId>
        </TermInfo>
      </Terms>
    </ica38aae1f42489fb9720caef7617fcd>
    <StoryOwner xmlns="f45da436-b9c0-45a6-9ecc-c0655a249673">
      <UserInfo>
        <DisplayName>c:0t.c|tenant|5250c590-249d-4ccd-91b6-76bf54384662</DisplayName>
        <AccountId>15</AccountId>
        <AccountType/>
      </UserInfo>
      <UserInfo>
        <DisplayName>i:0#.f|membership|viktar_dvorkin@epam.com,#i:0#.f|membership|viktar_dvorkin@epam.com,#Viktar_Dvorkin@epam.com,#Viktar_Dvorkin@epam.com,#Viktar Dvorkin,#,#GDO Office,#SVP, Global Head of Advanced Engineering, Cloud and Enterprise Platforms</DisplayName>
        <AccountId>1450</AccountId>
        <AccountType/>
      </UserInfo>
    </StoryOwner>
    <StoryVideoLink xmlns="f45da436-b9c0-45a6-9ecc-c0655a249673">
      <Url>https://videoportal.epam.com/video/2JwbXbYM</Url>
      <Description>https://videoportal.epam.com/video/2JwbXbYM</Description>
    </StoryVideoLink>
    <a6a6423fd38e469e9a7567459672989e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Continuum</TermName>
          <TermId xmlns="http://schemas.microsoft.com/office/infopath/2007/PartnerControls">036b37b0-418a-48a3-ad40-f27762061154</TermId>
        </TermInfo>
        <TermInfo xmlns="http://schemas.microsoft.com/office/infopath/2007/PartnerControls">
          <TermName xmlns="http://schemas.microsoft.com/office/infopath/2007/PartnerControls">About EPAM</TermName>
          <TermId xmlns="http://schemas.microsoft.com/office/infopath/2007/PartnerControls">e35b7162-8377-4ac0-bb47-f30ed6f0902e</TermId>
        </TermInfo>
      </Terms>
    </a6a6423fd38e469e9a7567459672989e>
    <ExpirationDate xmlns="f45da436-b9c0-45a6-9ecc-c0655a249673">2025-11-20T00:00:00+00:00</ExpirationDate>
    <_dlc_DocId xmlns="f45da436-b9c0-45a6-9ecc-c0655a249673">EPAMSTORY-1389392072-5</_dlc_DocId>
    <_dlc_DocIdUrl xmlns="f45da436-b9c0-45a6-9ecc-c0655a249673">
      <Url>https://epam.sharepoint.com/sites/EPAMPresalesStories/_layouts/15/DocIdRedir.aspx?ID=EPAMSTORY-1389392072-5</Url>
      <Description>EPAMSTORY-1389392072-5</Description>
    </_dlc_DocIdUrl>
    <ExpirationStatus xmlns="cce964ea-0c98-4d20-81b3-11b96e0098eb">ok</ExpirationStatus>
    <ConfigNotes xmlns="http://schemas.microsoft.com/sharepoint/v3" xsi:nil="true"/>
    <o10324d9d8f24f3d87174cfdfd74b2e5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About EPAM</TermName>
          <TermId xmlns="http://schemas.microsoft.com/office/infopath/2007/PartnerControls">5e1ed0a0-89ac-446a-837d-6ea8b9460059</TermId>
        </TermInfo>
      </Terms>
    </o10324d9d8f24f3d87174cfdfd74b2e5>
    <Contributors xmlns="cce964ea-0c98-4d20-81b3-11b96e0098eb">
      <UserInfo>
        <DisplayName/>
        <AccountId xsi:nil="true"/>
        <AccountType/>
      </UserInfo>
    </Contributors>
    <Part_x0020_of_x0020_Story xmlns="f45da436-b9c0-45a6-9ecc-c0655a249673" xsi:nil="true"/>
    <SharedWithUsers xmlns="f45da436-b9c0-45a6-9ecc-c0655a249673">
      <UserInfo>
        <DisplayName/>
        <AccountId xsi:nil="true"/>
        <AccountType/>
      </UserInfo>
    </SharedWithUsers>
    <TaxCatchAllLabel xmlns="f45da436-b9c0-45a6-9ecc-c0655a249673" xsi:nil="true"/>
    <_dlc_DocIdPersistId xmlns="f45da436-b9c0-45a6-9ecc-c0655a249673" xsi:nil="true"/>
    <h557d92785684d7cbabbc42229493ceb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Confidential: NDA Required</TermName>
          <TermId xmlns="http://schemas.microsoft.com/office/infopath/2007/PartnerControls">1078c1ca-8558-4f4e-bb3a-506201fcb43c</TermId>
        </TermInfo>
      </Terms>
    </h557d92785684d7cbabbc42229493ceb>
    <d0b4fb09d84842999ca30d5dd3a1ca39 xmlns="f45da436-b9c0-45a6-9ecc-c0655a249673">
      <Terms xmlns="http://schemas.microsoft.com/office/infopath/2007/PartnerControls"/>
    </d0b4fb09d84842999ca30d5dd3a1ca39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EPAM Story" ma:contentTypeID="0x0101009D00C2DDB7BE0A4F95197A46FA9E762A002B352ACE8C7DF74FABD5BBBE23F6FD6F" ma:contentTypeVersion="24" ma:contentTypeDescription="Create a new EPAM Story" ma:contentTypeScope="" ma:versionID="6c7ad0fab38022b33ef4691436c7fb7a">
  <xsd:schema xmlns:xsd="http://www.w3.org/2001/XMLSchema" xmlns:xs="http://www.w3.org/2001/XMLSchema" xmlns:p="http://schemas.microsoft.com/office/2006/metadata/properties" xmlns:ns1="http://schemas.microsoft.com/sharepoint/v3" xmlns:ns2="f45da436-b9c0-45a6-9ecc-c0655a249673" xmlns:ns3="cce964ea-0c98-4d20-81b3-11b96e0098eb" targetNamespace="http://schemas.microsoft.com/office/2006/metadata/properties" ma:root="true" ma:fieldsID="aef5d73f16a20ab942390f9d63fc4095" ns1:_="" ns2:_="" ns3:_="">
    <xsd:import namespace="http://schemas.microsoft.com/sharepoint/v3"/>
    <xsd:import namespace="f45da436-b9c0-45a6-9ecc-c0655a249673"/>
    <xsd:import namespace="cce964ea-0c98-4d20-81b3-11b96e0098eb"/>
    <xsd:element name="properties">
      <xsd:complexType>
        <xsd:sequence>
          <xsd:element name="documentManagement">
            <xsd:complexType>
              <xsd:all>
                <xsd:element ref="ns2:ExpirationDate"/>
                <xsd:element ref="ns2:StoryOwner"/>
                <xsd:element ref="ns3:Contributors" minOccurs="0"/>
                <xsd:element ref="ns3:ExpirationStatus" minOccurs="0"/>
                <xsd:element ref="ns2:Part_x0020_of_x0020_Story" minOccurs="0"/>
                <xsd:element ref="ns2:StoryVideoLink" minOccurs="0"/>
                <xsd:element ref="ns1:ConfigNotes" minOccurs="0"/>
                <xsd:element ref="ns2:_dlc_DocIdUrl" minOccurs="0"/>
                <xsd:element ref="ns2:a6a6423fd38e469e9a7567459672989e" minOccurs="0"/>
                <xsd:element ref="ns1:LikesCount" minOccurs="0"/>
                <xsd:element ref="ns2:SharedWithUsers" minOccurs="0"/>
                <xsd:element ref="ns2:SharedWithDetails" minOccurs="0"/>
                <xsd:element ref="ns2:ica38aae1f42489fb9720caef7617fcd" minOccurs="0"/>
                <xsd:element ref="ns2:_dlc_DocId" minOccurs="0"/>
                <xsd:element ref="ns2:o10324d9d8f24f3d87174cfdfd74b2e5" minOccurs="0"/>
                <xsd:element ref="ns2:_dlc_DocIdPersistId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2:h557d92785684d7cbabbc42229493ceb" minOccurs="0"/>
                <xsd:element ref="ns3:MediaServiceBillingMetadata" minOccurs="0"/>
                <xsd:element ref="ns2:d0b4fb09d84842999ca30d5dd3a1ca39" minOccurs="0"/>
                <xsd:element ref="ns2:TaxCatchAllLabel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ConfigNotes" ma:index="11" nillable="true" ma:displayName="Notes" ma:internalName="ConfigNotes" ma:readOnly="false">
      <xsd:simpleType>
        <xsd:restriction base="dms:Note">
          <xsd:maxLength value="255"/>
        </xsd:restriction>
      </xsd:simpleType>
    </xsd:element>
    <xsd:element name="LikesCount" ma:index="19" nillable="true" ma:displayName="Number of Likes" ma:hidden="true" ma:internalName="LikesCount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5da436-b9c0-45a6-9ecc-c0655a249673" elementFormDefault="qualified">
    <xsd:import namespace="http://schemas.microsoft.com/office/2006/documentManagement/types"/>
    <xsd:import namespace="http://schemas.microsoft.com/office/infopath/2007/PartnerControls"/>
    <xsd:element name="ExpirationDate" ma:index="4" ma:displayName="Review Date" ma:default="[today]" ma:format="DateOnly" ma:internalName="ExpirationDate" ma:readOnly="false">
      <xsd:simpleType>
        <xsd:restriction base="dms:DateTime"/>
      </xsd:simpleType>
    </xsd:element>
    <xsd:element name="StoryOwner" ma:index="5" ma:displayName="StoryOwner" ma:list="UserInfo" ma:SearchPeopleOnly="false" ma:SharePointGroup="0" ma:internalName="StoryOwner" ma:readOnly="fals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Part_x0020_of_x0020_Story" ma:index="9" nillable="true" ma:displayName="Part of Collection" ma:list="{caf6492b-c3a1-41e6-9ddd-75f5bc3198ae}" ma:internalName="Part_x0020_of_x0020_Story" ma:readOnly="false" ma:showField="Title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toryVideoLink" ma:index="10" nillable="true" ma:displayName="StoryVideoLink" ma:description="Link to video on EPAM VideoPortal about this story" ma:format="Hyperlink" ma:internalName="StoryVideo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Url" ma:index="14" nillable="true" ma:displayName="Document ID" ma:description="Permanent link to this document." ma:hidden="true" ma:internalName="_dlc_DocIdUrl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a6a6423fd38e469e9a7567459672989e" ma:index="17" nillable="true" ma:taxonomy="true" ma:internalName="a6a6423fd38e469e9a7567459672989e" ma:taxonomyFieldName="StoryTags" ma:displayName="StoryTags" ma:readOnly="false" ma:default="" ma:fieldId="{a6a6423f-d38e-469e-9a75-67459672989e}" ma:taxonomyMulti="true" ma:sspId="debda6a7-6b37-4000-ac6c-4fd0a963898e" ma:termSetId="f1da140d-ef9e-4ced-9281-d8ea40222c81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SharedWithUsers" ma:index="21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hidden="true" ma:internalName="SharedWithDetails" ma:readOnly="true">
      <xsd:simpleType>
        <xsd:restriction base="dms:Note"/>
      </xsd:simpleType>
    </xsd:element>
    <xsd:element name="ica38aae1f42489fb9720caef7617fcd" ma:index="23" ma:taxonomy="true" ma:internalName="ica38aae1f42489fb9720caef7617fcd" ma:taxonomyFieldName="Story" ma:displayName="Taxonomy" ma:readOnly="false" ma:default="" ma:fieldId="{2ca38aae-1f42-489f-b972-0caef7617fcd}" ma:taxonomyMulti="true" ma:sspId="debda6a7-6b37-4000-ac6c-4fd0a963898e" ma:termSetId="d72849a2-9b0d-48bf-bf08-492c9dccb842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" ma:index="24" nillable="true" ma:displayName="Document ID Value" ma:description="The value of the document ID assigned to this item." ma:hidden="true" ma:indexed="true" ma:internalName="_dlc_DocId" ma:readOnly="true">
      <xsd:simpleType>
        <xsd:restriction base="dms:Text"/>
      </xsd:simpleType>
    </xsd:element>
    <xsd:element name="o10324d9d8f24f3d87174cfdfd74b2e5" ma:index="25" ma:taxonomy="true" ma:internalName="o10324d9d8f24f3d87174cfdfd74b2e5" ma:taxonomyFieldName="StoryCategories" ma:displayName="StoryCategories" ma:readOnly="false" ma:default="1628;#Capability|437677bb-e3a5-4872-945b-ba4270c6cbb4" ma:fieldId="{810324d9-d8f2-4f3d-8717-4cfdfd74b2e5}" ma:taxonomyMulti="true" ma:sspId="debda6a7-6b37-4000-ac6c-4fd0a963898e" ma:termSetId="ddcebb0a-3fca-4e23-b6a5-f1f8550db23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PersistId" ma:index="27" nillable="true" ma:displayName="Persist ID" ma:description="Keep ID on add." ma:hidden="true" ma:internalName="_dlc_DocIdPersistId" ma:readOnly="false">
      <xsd:simpleType>
        <xsd:restriction base="dms:Boolean"/>
      </xsd:simpleType>
    </xsd:element>
    <xsd:element name="TaxCatchAll" ma:index="28" nillable="true" ma:displayName="Taxonomy Catch All Column" ma:hidden="true" ma:list="{f4ef9fac-c5ce-424a-9df9-4a92c932d921}" ma:internalName="TaxCatchAll" ma:readOnly="false" ma:showField="CatchAllData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h557d92785684d7cbabbc42229493ceb" ma:index="31" ma:taxonomy="true" ma:internalName="h557d92785684d7cbabbc42229493ceb" ma:taxonomyFieldName="UsagePermission" ma:displayName="UsagePermission" ma:readOnly="false" ma:default="3444;#Confidential: NDA Required|1078c1ca-8558-4f4e-bb3a-506201fcb43c" ma:fieldId="{1557d927-8568-4d7c-babb-c42229493ceb}" ma:sspId="debda6a7-6b37-4000-ac6c-4fd0a963898e" ma:termSetId="8fdd4e80-0ab9-4356-9b99-f53e66d4630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d0b4fb09d84842999ca30d5dd3a1ca39" ma:index="34" nillable="true" ma:taxonomy="true" ma:internalName="d0b4fb09d84842999ca30d5dd3a1ca39" ma:taxonomyFieldName="VCN" ma:displayName="VCN" ma:readOnly="false" ma:default="" ma:fieldId="{d0b4fb09-d848-4299-9ca3-0d5dd3a1ca39}" ma:taxonomyMulti="true" ma:sspId="debda6a7-6b37-4000-ac6c-4fd0a963898e" ma:termSetId="983cafd6-05e4-4154-90f9-0772cf21af68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35" nillable="true" ma:displayName="Taxonomy Catch All Column1" ma:hidden="true" ma:list="{f4ef9fac-c5ce-424a-9df9-4a92c932d921}" ma:internalName="TaxCatchAllLabel" ma:readOnly="false" ma:showField="CatchAllDataLabel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e964ea-0c98-4d20-81b3-11b96e0098eb" elementFormDefault="qualified">
    <xsd:import namespace="http://schemas.microsoft.com/office/2006/documentManagement/types"/>
    <xsd:import namespace="http://schemas.microsoft.com/office/infopath/2007/PartnerControls"/>
    <xsd:element name="Contributors" ma:index="6" nillable="true" ma:displayName="Contributors" ma:format="Dropdown" ma:list="UserInfo" ma:SharePointGroup="0" ma:internalName="Contributo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xpirationStatus" ma:index="7" nillable="true" ma:displayName="ExpirationStatus" ma:internalName="ExpirationStatus" ma:readOnly="false">
      <xsd:simpleType>
        <xsd:restriction base="dms:Text">
          <xsd:maxLength value="255"/>
        </xsd:restriction>
      </xsd:simpleType>
    </xsd:element>
    <xsd:element name="MediaServiceObjectDetectorVersions" ma:index="2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3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CB216C-B8AE-4FE7-A9EB-F5691280A8C7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D5483322-9D94-4891-9E64-C985B1D86A41}">
  <ds:schemaRefs>
    <ds:schemaRef ds:uri="f45da436-b9c0-45a6-9ecc-c0655a249673"/>
    <ds:schemaRef ds:uri="http://purl.org/dc/dcmitype/"/>
    <ds:schemaRef ds:uri="http://purl.org/dc/terms/"/>
    <ds:schemaRef ds:uri="http://purl.org/dc/elements/1.1/"/>
    <ds:schemaRef ds:uri="http://schemas.microsoft.com/sharepoint/v3"/>
    <ds:schemaRef ds:uri="http://schemas.microsoft.com/office/2006/documentManagement/types"/>
    <ds:schemaRef ds:uri="http://www.w3.org/XML/1998/namespace"/>
    <ds:schemaRef ds:uri="cce964ea-0c98-4d20-81b3-11b96e0098eb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9BE67F4B-6A2F-473F-80F8-05CE7721E7A5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223FEB0C-CC02-4177-8430-04E42C5C0C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45da436-b9c0-45a6-9ecc-c0655a249673"/>
    <ds:schemaRef ds:uri="cce964ea-0c98-4d20-81b3-11b96e0098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Covers</Template>
  <TotalTime>1266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Calibri</vt:lpstr>
      <vt:lpstr>Calibri Light</vt:lpstr>
      <vt:lpstr>Courier New</vt:lpstr>
      <vt:lpstr>Human Sans</vt:lpstr>
      <vt:lpstr>EPAM Master 2024.1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EPAM Overview</dc:title>
  <dc:creator>Jennifer Markowitz</dc:creator>
  <cp:lastModifiedBy>Dmitry Zdanovich</cp:lastModifiedBy>
  <cp:revision>4</cp:revision>
  <dcterms:created xsi:type="dcterms:W3CDTF">2018-01-26T19:23:30Z</dcterms:created>
  <dcterms:modified xsi:type="dcterms:W3CDTF">2026-04-24T13:17:55Z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0x0101009D00C2DDB7BE0A4F95197A46FA9E762A002B352ACE8C7DF74FABD5BBBE23F6FD6F</vt:lpwstr>
  </property>
  <property fmtid="{D5CDD505-2E9C-101B-9397-08002B2CF9AE}" pid="3" name="ImportRevision">
    <vt:lpwstr>636751944040000000</vt:lpwstr>
  </property>
  <property fmtid="{D5CDD505-2E9C-101B-9397-08002B2CF9AE}" pid="4" name="StoryTags">
    <vt:lpwstr>72;#Continuum|036b37b0-418a-48a3-ad40-f27762061154;#116;#About EPAM|e35b7162-8377-4ac0-bb47-f30ed6f0902e</vt:lpwstr>
  </property>
  <property fmtid="{D5CDD505-2E9C-101B-9397-08002B2CF9AE}" pid="5" name="_dlc_DocIdItemGuid">
    <vt:lpwstr>041f0451-e7b6-47dd-8915-ddc72a6e399d</vt:lpwstr>
  </property>
  <property fmtid="{D5CDD505-2E9C-101B-9397-08002B2CF9AE}" pid="6" name="StoryTaxonomy">
    <vt:lpwstr>204;#EPAM Overview|107422c5-c5be-4599-981e-e0bc82e53d69</vt:lpwstr>
  </property>
  <property fmtid="{D5CDD505-2E9C-101B-9397-08002B2CF9AE}" pid="7" name="h098c32ae4474a2397bbdf9bd347fc14">
    <vt:lpwstr>EPAM Overview|107422c5-c5be-4599-981e-e0bc82e53d69</vt:lpwstr>
  </property>
  <property fmtid="{D5CDD505-2E9C-101B-9397-08002B2CF9AE}" pid="8" name="LikedBy">
    <vt:lpwstr>17;#Palina Vilava;#78;#Martin Asencio;#39;#Sergey Levchenko;#970;#Jesal Panchal;#5014;#Yury Slobodski;#243;#Esmy Jensen;#2461;#David Aldrich;#36;#Yuliya Ziaziulina;#899;#Markus Eriksson;#1694;#David Guerri;#7200;#Anand Topu;#219;#Sofia Odintseva;#22949;#Andrew Macey;#9941;#Ilya Kuntsevich;#22597;#Claudia Gorham1;#23522;#Volodymyr Stepanets (Contractor);#24069;#Deborah Regal;#24283;#Vladimir Grevtsev;#27435;#Ryan Ahmed;#20380;#Karan Bhardwaj;#27681;#Caroline Prenn;#24469;#Maneesh Khare;#30037;#CLAUDIA GIANFELICE;#418;#Gary Thomson;#863;#Ghislain Siewe;#7315;#Vivek Agarwal;#31715;#Mahesh Aluvala;#32105;#Alexa Robinson;#32214;#Ted Slater;#22485;#Giuseppe Riefoli;#33929;#Trinh Nguyen;#3914;#Bogdan Jurjevich;#2215;#Taryn Hess;#35911;#Kiryl Domnitch;#16039;#Quentin Odier;#15333;#Jack Maher;#29060;#i:0#.f|membership|marius_constantinescu@epam.com</vt:lpwstr>
  </property>
  <property fmtid="{D5CDD505-2E9C-101B-9397-08002B2CF9AE}" pid="9" name="StoryCategories">
    <vt:lpwstr>1635;#About EPAM|5e1ed0a0-89ac-446a-837d-6ea8b9460059</vt:lpwstr>
  </property>
  <property fmtid="{D5CDD505-2E9C-101B-9397-08002B2CF9AE}" pid="10" name="UsagePermission">
    <vt:lpwstr>3444;#Confidential: NDA Required|1078c1ca-8558-4f4e-bb3a-506201fcb43c</vt:lpwstr>
  </property>
  <property fmtid="{D5CDD505-2E9C-101B-9397-08002B2CF9AE}" pid="11" name="VCN">
    <vt:lpwstr/>
  </property>
  <property fmtid="{D5CDD505-2E9C-101B-9397-08002B2CF9AE}" pid="12" name="Story">
    <vt:lpwstr>1;#General Decks:About EPAM|1bb3a607-45a4-4116-99d9-b95075743ae1</vt:lpwstr>
  </property>
  <property fmtid="{D5CDD505-2E9C-101B-9397-08002B2CF9AE}" pid="13" name="MSIP_Label_2a535040-0af2-483f-adc3-a132c21e3e2b_Enabled">
    <vt:lpwstr>true</vt:lpwstr>
  </property>
  <property fmtid="{D5CDD505-2E9C-101B-9397-08002B2CF9AE}" pid="14" name="MSIP_Label_2a535040-0af2-483f-adc3-a132c21e3e2b_SetDate">
    <vt:lpwstr>2026-01-27T08:34:32Z</vt:lpwstr>
  </property>
  <property fmtid="{D5CDD505-2E9C-101B-9397-08002B2CF9AE}" pid="15" name="MSIP_Label_2a535040-0af2-483f-adc3-a132c21e3e2b_Method">
    <vt:lpwstr>Standard</vt:lpwstr>
  </property>
  <property fmtid="{D5CDD505-2E9C-101B-9397-08002B2CF9AE}" pid="16" name="MSIP_Label_2a535040-0af2-483f-adc3-a132c21e3e2b_Name">
    <vt:lpwstr>EPAM_Confidential</vt:lpwstr>
  </property>
  <property fmtid="{D5CDD505-2E9C-101B-9397-08002B2CF9AE}" pid="17" name="MSIP_Label_2a535040-0af2-483f-adc3-a132c21e3e2b_SiteId">
    <vt:lpwstr>b41b72d0-4e9f-4c26-8a69-f949f367c91d</vt:lpwstr>
  </property>
  <property fmtid="{D5CDD505-2E9C-101B-9397-08002B2CF9AE}" pid="18" name="MSIP_Label_2a535040-0af2-483f-adc3-a132c21e3e2b_ActionId">
    <vt:lpwstr>6de4626a-a598-4337-88df-2d099c6d2fce</vt:lpwstr>
  </property>
  <property fmtid="{D5CDD505-2E9C-101B-9397-08002B2CF9AE}" pid="19" name="MSIP_Label_2a535040-0af2-483f-adc3-a132c21e3e2b_ContentBits">
    <vt:lpwstr>0</vt:lpwstr>
  </property>
  <property fmtid="{D5CDD505-2E9C-101B-9397-08002B2CF9AE}" pid="20" name="MSIP_Label_2a535040-0af2-483f-adc3-a132c21e3e2b_Tag">
    <vt:lpwstr>10, 3, 0, 1</vt:lpwstr>
  </property>
</Properties>
</file>