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_rels/.rels" ContentType="application/vnd.openxmlformats-package.relationships+xml"/>
  <Override PartName="/customXml/item1.xml" ContentType="application/xml"/>
  <Override PartName="/customXml/itemProps1.xml" ContentType="application/vnd.openxmlformats-officedocument.customXmlProperties+xml"/>
  <Override PartName="/customXml/item2.xml" ContentType="application/xml"/>
  <Override PartName="/customXml/_rels/item4.xml.rels" ContentType="application/vnd.openxmlformats-package.relationships+xml"/>
  <Override PartName="/customXml/_rels/item3.xml.rels" ContentType="application/vnd.openxmlformats-package.relationships+xml"/>
  <Override PartName="/customXml/_rels/item2.xml.rels" ContentType="application/vnd.openxmlformats-package.relationships+xml"/>
  <Override PartName="/customXml/_rels/item1.xml.rels" ContentType="application/vnd.openxmlformats-package.relationships+xml"/>
  <Override PartName="/customXml/itemProps2.xml" ContentType="application/vnd.openxmlformats-officedocument.customXmlProperties+xml"/>
  <Override PartName="/customXml/item3.xml" ContentType="application/xml"/>
  <Override PartName="/customXml/itemProps3.xml" ContentType="application/vnd.openxmlformats-officedocument.customXmlProperties+xml"/>
  <Override PartName="/customXml/item4.xml" ContentType="application/xml"/>
  <Override PartName="/customXml/itemProps4.xml" ContentType="application/vnd.openxmlformats-officedocument.customXmlProperties+xml"/>
  <Override PartName="/ppt/webextensions/taskpanes.xml" ContentType="application/xml"/>
  <Override PartName="/ppt/presentation.xml" ContentType="application/vnd.openxmlformats-officedocument.presentationml.presentation.main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wmf" ContentType="image/x-wmf"/>
  <Override PartName="/ppt/media/image4.png" ContentType="image/png"/>
  <Override PartName="/ppt/media/image5.png" ContentType="image/png"/>
  <Override PartName="/ppt/slideLayouts/_rels/slideLayout1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26.xml.rels" ContentType="application/vnd.openxmlformats-package.relationships+xml"/>
  <Override PartName="/ppt/slideLayouts/slideLayout2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../customXml/item1.xml"/><Relationship Id="rId5" Type="http://schemas.openxmlformats.org/officeDocument/2006/relationships/customXml" Target="../customXml/item2.xml"/><Relationship Id="rId6" Type="http://schemas.openxmlformats.org/officeDocument/2006/relationships/customXml" Target="../customXml/item3.xml"/><Relationship Id="rId7" Type="http://schemas.openxmlformats.org/officeDocument/2006/relationships/customXml" Target="../customXml/item4.xml"/><Relationship Id="rId8" Type="http://schemas.microsoft.com/office/2011/relationships/webextensiontaskpanes" Target="ppt/webextensions/taskpanes.xml"/><Relationship Id="rId9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ubTitle"/>
          </p:nvPr>
        </p:nvSpPr>
        <p:spPr>
          <a:xfrm>
            <a:off x="457200" y="267120"/>
            <a:ext cx="361152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361152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6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76220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/>
          </p:nvPr>
        </p:nvSpPr>
        <p:spPr>
          <a:xfrm>
            <a:off x="2307960" y="382320"/>
            <a:ext cx="176220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subTitle"/>
          </p:nvPr>
        </p:nvSpPr>
        <p:spPr>
          <a:xfrm>
            <a:off x="457200" y="723960"/>
            <a:ext cx="11274120" cy="21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/>
          </p:nvPr>
        </p:nvSpPr>
        <p:spPr>
          <a:xfrm>
            <a:off x="2307960" y="382320"/>
            <a:ext cx="176220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/>
          </p:nvPr>
        </p:nvSpPr>
        <p:spPr>
          <a:xfrm>
            <a:off x="457200" y="50004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76220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/>
          </p:nvPr>
        </p:nvSpPr>
        <p:spPr>
          <a:xfrm>
            <a:off x="230796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/>
          </p:nvPr>
        </p:nvSpPr>
        <p:spPr>
          <a:xfrm>
            <a:off x="2307960" y="50004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/>
          </p:nvPr>
        </p:nvSpPr>
        <p:spPr>
          <a:xfrm>
            <a:off x="230796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/>
          </p:nvPr>
        </p:nvSpPr>
        <p:spPr>
          <a:xfrm>
            <a:off x="457200" y="500040"/>
            <a:ext cx="361152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361152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57200" y="500040"/>
            <a:ext cx="361152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/>
          </p:nvPr>
        </p:nvSpPr>
        <p:spPr>
          <a:xfrm>
            <a:off x="230796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/>
          </p:nvPr>
        </p:nvSpPr>
        <p:spPr>
          <a:xfrm>
            <a:off x="457200" y="50004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/>
          </p:nvPr>
        </p:nvSpPr>
        <p:spPr>
          <a:xfrm>
            <a:off x="2307960" y="50004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/>
          </p:nvPr>
        </p:nvSpPr>
        <p:spPr>
          <a:xfrm>
            <a:off x="1678680" y="38232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/>
          </p:nvPr>
        </p:nvSpPr>
        <p:spPr>
          <a:xfrm>
            <a:off x="2899800" y="38232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/>
          </p:nvPr>
        </p:nvSpPr>
        <p:spPr>
          <a:xfrm>
            <a:off x="457200" y="50004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/>
          </p:nvPr>
        </p:nvSpPr>
        <p:spPr>
          <a:xfrm>
            <a:off x="1678680" y="50004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/>
          </p:nvPr>
        </p:nvSpPr>
        <p:spPr>
          <a:xfrm>
            <a:off x="2899800" y="50004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subTitle"/>
          </p:nvPr>
        </p:nvSpPr>
        <p:spPr>
          <a:xfrm>
            <a:off x="457200" y="267120"/>
            <a:ext cx="361152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361152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6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76220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/>
          </p:nvPr>
        </p:nvSpPr>
        <p:spPr>
          <a:xfrm>
            <a:off x="2307960" y="382320"/>
            <a:ext cx="176220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subTitle"/>
          </p:nvPr>
        </p:nvSpPr>
        <p:spPr>
          <a:xfrm>
            <a:off x="457200" y="723960"/>
            <a:ext cx="11274120" cy="21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/>
          </p:nvPr>
        </p:nvSpPr>
        <p:spPr>
          <a:xfrm>
            <a:off x="2307960" y="382320"/>
            <a:ext cx="176220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/>
          </p:nvPr>
        </p:nvSpPr>
        <p:spPr>
          <a:xfrm>
            <a:off x="457200" y="50004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76220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230796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2307960" y="50004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/>
          </p:nvPr>
        </p:nvSpPr>
        <p:spPr>
          <a:xfrm>
            <a:off x="230796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0" name="PlaceHolder 4"/>
          <p:cNvSpPr>
            <a:spLocks noGrp="1"/>
          </p:cNvSpPr>
          <p:nvPr>
            <p:ph/>
          </p:nvPr>
        </p:nvSpPr>
        <p:spPr>
          <a:xfrm>
            <a:off x="457200" y="500040"/>
            <a:ext cx="361152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361152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/>
          </p:nvPr>
        </p:nvSpPr>
        <p:spPr>
          <a:xfrm>
            <a:off x="457200" y="500040"/>
            <a:ext cx="361152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6" name="PlaceHolder 3"/>
          <p:cNvSpPr>
            <a:spLocks noGrp="1"/>
          </p:cNvSpPr>
          <p:nvPr>
            <p:ph/>
          </p:nvPr>
        </p:nvSpPr>
        <p:spPr>
          <a:xfrm>
            <a:off x="230796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7" name="PlaceHolder 4"/>
          <p:cNvSpPr>
            <a:spLocks noGrp="1"/>
          </p:cNvSpPr>
          <p:nvPr>
            <p:ph/>
          </p:nvPr>
        </p:nvSpPr>
        <p:spPr>
          <a:xfrm>
            <a:off x="457200" y="50004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8" name="PlaceHolder 5"/>
          <p:cNvSpPr>
            <a:spLocks noGrp="1"/>
          </p:cNvSpPr>
          <p:nvPr>
            <p:ph/>
          </p:nvPr>
        </p:nvSpPr>
        <p:spPr>
          <a:xfrm>
            <a:off x="2307960" y="50004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1" name="PlaceHolder 3"/>
          <p:cNvSpPr>
            <a:spLocks noGrp="1"/>
          </p:cNvSpPr>
          <p:nvPr>
            <p:ph/>
          </p:nvPr>
        </p:nvSpPr>
        <p:spPr>
          <a:xfrm>
            <a:off x="1678680" y="38232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2" name="PlaceHolder 4"/>
          <p:cNvSpPr>
            <a:spLocks noGrp="1"/>
          </p:cNvSpPr>
          <p:nvPr>
            <p:ph/>
          </p:nvPr>
        </p:nvSpPr>
        <p:spPr>
          <a:xfrm>
            <a:off x="2899800" y="38232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3" name="PlaceHolder 5"/>
          <p:cNvSpPr>
            <a:spLocks noGrp="1"/>
          </p:cNvSpPr>
          <p:nvPr>
            <p:ph/>
          </p:nvPr>
        </p:nvSpPr>
        <p:spPr>
          <a:xfrm>
            <a:off x="457200" y="50004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" name="PlaceHolder 6"/>
          <p:cNvSpPr>
            <a:spLocks noGrp="1"/>
          </p:cNvSpPr>
          <p:nvPr>
            <p:ph/>
          </p:nvPr>
        </p:nvSpPr>
        <p:spPr>
          <a:xfrm>
            <a:off x="1678680" y="50004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5" name="PlaceHolder 7"/>
          <p:cNvSpPr>
            <a:spLocks noGrp="1"/>
          </p:cNvSpPr>
          <p:nvPr>
            <p:ph/>
          </p:nvPr>
        </p:nvSpPr>
        <p:spPr>
          <a:xfrm>
            <a:off x="2899800" y="50004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 type="subTitle"/>
          </p:nvPr>
        </p:nvSpPr>
        <p:spPr>
          <a:xfrm>
            <a:off x="457200" y="267120"/>
            <a:ext cx="361152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361152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6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6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76220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7" name="PlaceHolder 3"/>
          <p:cNvSpPr>
            <a:spLocks noGrp="1"/>
          </p:cNvSpPr>
          <p:nvPr>
            <p:ph/>
          </p:nvPr>
        </p:nvSpPr>
        <p:spPr>
          <a:xfrm>
            <a:off x="2307960" y="382320"/>
            <a:ext cx="176220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subTitle"/>
          </p:nvPr>
        </p:nvSpPr>
        <p:spPr>
          <a:xfrm>
            <a:off x="457200" y="723960"/>
            <a:ext cx="11274120" cy="21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2" name="PlaceHolder 3"/>
          <p:cNvSpPr>
            <a:spLocks noGrp="1"/>
          </p:cNvSpPr>
          <p:nvPr>
            <p:ph/>
          </p:nvPr>
        </p:nvSpPr>
        <p:spPr>
          <a:xfrm>
            <a:off x="2307960" y="382320"/>
            <a:ext cx="176220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3" name="PlaceHolder 4"/>
          <p:cNvSpPr>
            <a:spLocks noGrp="1"/>
          </p:cNvSpPr>
          <p:nvPr>
            <p:ph/>
          </p:nvPr>
        </p:nvSpPr>
        <p:spPr>
          <a:xfrm>
            <a:off x="457200" y="50004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76220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/>
          </p:nvPr>
        </p:nvSpPr>
        <p:spPr>
          <a:xfrm>
            <a:off x="230796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7" name="PlaceHolder 4"/>
          <p:cNvSpPr>
            <a:spLocks noGrp="1"/>
          </p:cNvSpPr>
          <p:nvPr>
            <p:ph/>
          </p:nvPr>
        </p:nvSpPr>
        <p:spPr>
          <a:xfrm>
            <a:off x="2307960" y="50004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0" name="PlaceHolder 3"/>
          <p:cNvSpPr>
            <a:spLocks noGrp="1"/>
          </p:cNvSpPr>
          <p:nvPr>
            <p:ph/>
          </p:nvPr>
        </p:nvSpPr>
        <p:spPr>
          <a:xfrm>
            <a:off x="230796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1" name="PlaceHolder 4"/>
          <p:cNvSpPr>
            <a:spLocks noGrp="1"/>
          </p:cNvSpPr>
          <p:nvPr>
            <p:ph/>
          </p:nvPr>
        </p:nvSpPr>
        <p:spPr>
          <a:xfrm>
            <a:off x="457200" y="500040"/>
            <a:ext cx="361152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361152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/>
          </p:nvPr>
        </p:nvSpPr>
        <p:spPr>
          <a:xfrm>
            <a:off x="457200" y="500040"/>
            <a:ext cx="361152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/>
          </p:nvPr>
        </p:nvSpPr>
        <p:spPr>
          <a:xfrm>
            <a:off x="230796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8" name="PlaceHolder 4"/>
          <p:cNvSpPr>
            <a:spLocks noGrp="1"/>
          </p:cNvSpPr>
          <p:nvPr>
            <p:ph/>
          </p:nvPr>
        </p:nvSpPr>
        <p:spPr>
          <a:xfrm>
            <a:off x="457200" y="50004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9" name="PlaceHolder 5"/>
          <p:cNvSpPr>
            <a:spLocks noGrp="1"/>
          </p:cNvSpPr>
          <p:nvPr>
            <p:ph/>
          </p:nvPr>
        </p:nvSpPr>
        <p:spPr>
          <a:xfrm>
            <a:off x="2307960" y="50004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2" name="PlaceHolder 3"/>
          <p:cNvSpPr>
            <a:spLocks noGrp="1"/>
          </p:cNvSpPr>
          <p:nvPr>
            <p:ph/>
          </p:nvPr>
        </p:nvSpPr>
        <p:spPr>
          <a:xfrm>
            <a:off x="1678680" y="38232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3" name="PlaceHolder 4"/>
          <p:cNvSpPr>
            <a:spLocks noGrp="1"/>
          </p:cNvSpPr>
          <p:nvPr>
            <p:ph/>
          </p:nvPr>
        </p:nvSpPr>
        <p:spPr>
          <a:xfrm>
            <a:off x="2899800" y="38232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4" name="PlaceHolder 5"/>
          <p:cNvSpPr>
            <a:spLocks noGrp="1"/>
          </p:cNvSpPr>
          <p:nvPr>
            <p:ph/>
          </p:nvPr>
        </p:nvSpPr>
        <p:spPr>
          <a:xfrm>
            <a:off x="457200" y="50004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5" name="PlaceHolder 6"/>
          <p:cNvSpPr>
            <a:spLocks noGrp="1"/>
          </p:cNvSpPr>
          <p:nvPr>
            <p:ph/>
          </p:nvPr>
        </p:nvSpPr>
        <p:spPr>
          <a:xfrm>
            <a:off x="1678680" y="50004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6" name="PlaceHolder 7"/>
          <p:cNvSpPr>
            <a:spLocks noGrp="1"/>
          </p:cNvSpPr>
          <p:nvPr>
            <p:ph/>
          </p:nvPr>
        </p:nvSpPr>
        <p:spPr>
          <a:xfrm>
            <a:off x="2899800" y="50004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wmf"/><Relationship Id="rId5" Type="http://schemas.openxmlformats.org/officeDocument/2006/relationships/slideLayout" Target="../slideLayouts/slideLayout1.xml"/><Relationship Id="rId6" Type="http://schemas.openxmlformats.org/officeDocument/2006/relationships/slideLayout" Target="../slideLayouts/slideLayout2.xml"/><Relationship Id="rId7" Type="http://schemas.openxmlformats.org/officeDocument/2006/relationships/slideLayout" Target="../slideLayouts/slideLayout3.xml"/><Relationship Id="rId8" Type="http://schemas.openxmlformats.org/officeDocument/2006/relationships/slideLayout" Target="../slideLayouts/slideLayout4.xml"/><Relationship Id="rId9" Type="http://schemas.openxmlformats.org/officeDocument/2006/relationships/slideLayout" Target="../slideLayouts/slideLayout5.xml"/><Relationship Id="rId10" Type="http://schemas.openxmlformats.org/officeDocument/2006/relationships/slideLayout" Target="../slideLayouts/slideLayout6.xml"/><Relationship Id="rId11" Type="http://schemas.openxmlformats.org/officeDocument/2006/relationships/slideLayout" Target="../slideLayouts/slideLayout7.xml"/><Relationship Id="rId12" Type="http://schemas.openxmlformats.org/officeDocument/2006/relationships/slideLayout" Target="../slideLayouts/slideLayout8.xml"/><Relationship Id="rId13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0.xml"/><Relationship Id="rId15" Type="http://schemas.openxmlformats.org/officeDocument/2006/relationships/slideLayout" Target="../slideLayouts/slideLayout11.xml"/><Relationship Id="rId16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4.xml"/><Relationship Id="rId13" Type="http://schemas.openxmlformats.org/officeDocument/2006/relationships/slideLayout" Target="../slideLayouts/slideLayout35.xml"/><Relationship Id="rId14" Type="http://schemas.openxmlformats.org/officeDocument/2006/relationships/slideLayout" Target="../slideLayouts/slideLayout3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Graphic 6" descr=""/>
          <p:cNvPicPr/>
          <p:nvPr/>
        </p:nvPicPr>
        <p:blipFill>
          <a:blip r:embed="rId2"/>
          <a:stretch/>
        </p:blipFill>
        <p:spPr>
          <a:xfrm>
            <a:off x="457200" y="6438960"/>
            <a:ext cx="540360" cy="190080"/>
          </a:xfrm>
          <a:prstGeom prst="rect">
            <a:avLst/>
          </a:prstGeom>
          <a:ln w="0">
            <a:noFill/>
          </a:ln>
        </p:spPr>
      </p:pic>
      <p:sp>
        <p:nvSpPr>
          <p:cNvPr id="1" name="TextBox 10"/>
          <p:cNvSpPr/>
          <p:nvPr/>
        </p:nvSpPr>
        <p:spPr>
          <a:xfrm>
            <a:off x="10049040" y="6406560"/>
            <a:ext cx="139644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0" lang="en-US" sz="600" spc="-1" strike="noStrike">
                <a:solidFill>
                  <a:srgbClr val="000000"/>
                </a:solidFill>
                <a:latin typeface="Calibri"/>
                <a:ea typeface="Calibri"/>
              </a:rPr>
              <a:t>EPAM Proprietary &amp; Confidential.</a:t>
            </a:r>
            <a:endParaRPr b="0" lang="en-US" sz="600" spc="-1" strike="noStrike">
              <a:latin typeface="Arial"/>
            </a:endParaRPr>
          </a:p>
        </p:txBody>
      </p:sp>
      <p:sp>
        <p:nvSpPr>
          <p:cNvPr id="2" name="Text Placeholder 3"/>
          <p:cNvSpPr/>
          <p:nvPr/>
        </p:nvSpPr>
        <p:spPr>
          <a:xfrm>
            <a:off x="11498040" y="6406560"/>
            <a:ext cx="242640" cy="2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fld id="{3BB675CA-664C-4881-BE3D-46A18BB096EF}" type="slidenum">
              <a:rPr b="0" lang="en-US" sz="1000" spc="-1" strike="noStrike">
                <a:solidFill>
                  <a:srgbClr val="222222"/>
                </a:solidFill>
                <a:latin typeface="Calibri"/>
                <a:ea typeface="Calibri"/>
              </a:rPr>
              <a:t>&lt;number&gt;</a:t>
            </a:fld>
            <a:endParaRPr b="0" lang="en-US" sz="1000" spc="-1" strike="noStrike">
              <a:latin typeface="Arial"/>
            </a:endParaRPr>
          </a:p>
        </p:txBody>
      </p:sp>
      <p:pic>
        <p:nvPicPr>
          <p:cNvPr id="3" name="Picture 3" descr="A bright light in the dark&#10;&#10;Description automatically generated with medium confidence"/>
          <p:cNvPicPr/>
          <p:nvPr/>
        </p:nvPicPr>
        <p:blipFill>
          <a:blip r:embed="rId3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1"/>
          <p:cNvSpPr>
            <a:spLocks noGrp="1"/>
          </p:cNvSpPr>
          <p:nvPr>
            <p:ph type="body"/>
          </p:nvPr>
        </p:nvSpPr>
        <p:spPr>
          <a:xfrm>
            <a:off x="468720" y="4663440"/>
            <a:ext cx="6489360" cy="397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 Light"/>
                <a:ea typeface="Calibri"/>
              </a:rPr>
              <a:t>Sub-description text goes here over </a:t>
            </a:r>
            <a:r>
              <a:rPr b="0" lang="en-US" sz="1800" spc="-1" strike="noStrike">
                <a:solidFill>
                  <a:srgbClr val="ffffff"/>
                </a:solidFill>
                <a:latin typeface="Calibri Light"/>
                <a:ea typeface="Calibri"/>
              </a:rPr>
              <a:t>one or two lines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68720" y="5245560"/>
            <a:ext cx="6489360" cy="397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398" strike="noStrike">
                <a:solidFill>
                  <a:srgbClr val="ffffff"/>
                </a:solidFill>
                <a:latin typeface="Calibri"/>
                <a:ea typeface="Calibri"/>
              </a:rPr>
              <a:t>JANUARY 2023</a:t>
            </a:r>
            <a:endParaRPr b="0" lang="en-US" sz="1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title"/>
          </p:nvPr>
        </p:nvSpPr>
        <p:spPr>
          <a:xfrm>
            <a:off x="466200" y="1696320"/>
            <a:ext cx="7843320" cy="365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000" spc="-1" strike="noStrike">
                <a:solidFill>
                  <a:srgbClr val="ffffff"/>
                </a:solidFill>
                <a:latin typeface="Calibri Light"/>
                <a:ea typeface="Calibri"/>
              </a:rPr>
              <a:t>Click </a:t>
            </a:r>
            <a:r>
              <a:rPr b="0" lang="en-US" sz="8000" spc="-1" strike="noStrike">
                <a:solidFill>
                  <a:srgbClr val="ffffff"/>
                </a:solidFill>
                <a:latin typeface="Calibri Light"/>
                <a:ea typeface="Calibri"/>
              </a:rPr>
              <a:t>to edit </a:t>
            </a:r>
            <a:r>
              <a:rPr b="0" lang="en-US" sz="8000" spc="-1" strike="noStrike">
                <a:solidFill>
                  <a:srgbClr val="ffffff"/>
                </a:solidFill>
                <a:latin typeface="Calibri Light"/>
                <a:ea typeface="Calibri"/>
              </a:rPr>
              <a:t>Maste</a:t>
            </a:r>
            <a:r>
              <a:rPr b="0" lang="en-US" sz="8000" spc="-1" strike="noStrike">
                <a:solidFill>
                  <a:srgbClr val="ffffff"/>
                </a:solidFill>
                <a:latin typeface="Calibri Light"/>
                <a:ea typeface="Calibri"/>
              </a:rPr>
              <a:t>r title </a:t>
            </a:r>
            <a:r>
              <a:rPr b="0" lang="en-US" sz="8000" spc="-1" strike="noStrike">
                <a:solidFill>
                  <a:srgbClr val="ffffff"/>
                </a:solidFill>
                <a:latin typeface="Calibri Light"/>
                <a:ea typeface="Calibri"/>
              </a:rPr>
              <a:t>style</a:t>
            </a:r>
            <a:endParaRPr b="0" lang="en-US" sz="8000" spc="-1" strike="noStrike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7" name="Picture 7" descr=""/>
          <p:cNvPicPr/>
          <p:nvPr/>
        </p:nvPicPr>
        <p:blipFill>
          <a:blip r:embed="rId4"/>
          <a:stretch/>
        </p:blipFill>
        <p:spPr>
          <a:xfrm>
            <a:off x="485280" y="740880"/>
            <a:ext cx="1226520" cy="45072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5"/>
    <p:sldLayoutId id="2147483650" r:id="rId6"/>
    <p:sldLayoutId id="2147483651" r:id="rId7"/>
    <p:sldLayoutId id="2147483652" r:id="rId8"/>
    <p:sldLayoutId id="2147483653" r:id="rId9"/>
    <p:sldLayoutId id="2147483654" r:id="rId10"/>
    <p:sldLayoutId id="2147483655" r:id="rId11"/>
    <p:sldLayoutId id="2147483656" r:id="rId12"/>
    <p:sldLayoutId id="2147483657" r:id="rId13"/>
    <p:sldLayoutId id="2147483658" r:id="rId14"/>
    <p:sldLayoutId id="2147483659" r:id="rId15"/>
    <p:sldLayoutId id="2147483660" r:id="rId16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Graphic 6" descr=""/>
          <p:cNvPicPr/>
          <p:nvPr/>
        </p:nvPicPr>
        <p:blipFill>
          <a:blip r:embed="rId2"/>
          <a:stretch/>
        </p:blipFill>
        <p:spPr>
          <a:xfrm>
            <a:off x="457200" y="6438960"/>
            <a:ext cx="540360" cy="190080"/>
          </a:xfrm>
          <a:prstGeom prst="rect">
            <a:avLst/>
          </a:prstGeom>
          <a:ln w="0">
            <a:noFill/>
          </a:ln>
        </p:spPr>
      </p:pic>
      <p:sp>
        <p:nvSpPr>
          <p:cNvPr id="45" name="TextBox 10"/>
          <p:cNvSpPr/>
          <p:nvPr/>
        </p:nvSpPr>
        <p:spPr>
          <a:xfrm>
            <a:off x="10049040" y="6406560"/>
            <a:ext cx="139644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0" lang="en-US" sz="600" spc="-1" strike="noStrike">
                <a:solidFill>
                  <a:srgbClr val="000000"/>
                </a:solidFill>
                <a:latin typeface="Calibri"/>
                <a:ea typeface="Calibri"/>
              </a:rPr>
              <a:t>EPAM Proprietary &amp; Confidential.</a:t>
            </a:r>
            <a:endParaRPr b="0" lang="en-US" sz="600" spc="-1" strike="noStrike">
              <a:latin typeface="Arial"/>
            </a:endParaRPr>
          </a:p>
        </p:txBody>
      </p:sp>
      <p:sp>
        <p:nvSpPr>
          <p:cNvPr id="46" name="Text Placeholder 3"/>
          <p:cNvSpPr/>
          <p:nvPr/>
        </p:nvSpPr>
        <p:spPr>
          <a:xfrm>
            <a:off x="11498040" y="6406560"/>
            <a:ext cx="242640" cy="2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fld id="{8988C7B4-7FBB-4A5E-A47E-E41CFD9F34DE}" type="slidenum">
              <a:rPr b="0" lang="en-US" sz="1000" spc="-1" strike="noStrike">
                <a:solidFill>
                  <a:srgbClr val="222222"/>
                </a:solidFill>
                <a:latin typeface="Calibri"/>
                <a:ea typeface="Calibri"/>
              </a:rPr>
              <a:t>&lt;number&gt;</a:t>
            </a:fld>
            <a:endParaRPr b="0" lang="en-US" sz="1000" spc="-1" strike="noStrike">
              <a:latin typeface="Arial"/>
            </a:endParaRPr>
          </a:p>
        </p:txBody>
      </p:sp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67280" y="1190880"/>
            <a:ext cx="3024360" cy="182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6000" spc="-1" strike="noStrike">
                <a:solidFill>
                  <a:srgbClr val="3055da"/>
                </a:solidFill>
                <a:latin typeface="Calibri"/>
                <a:ea typeface="Calibri"/>
              </a:rPr>
              <a:t>Cont</a:t>
            </a:r>
            <a:r>
              <a:rPr b="1" lang="en-US" sz="6000" spc="-1" strike="noStrike">
                <a:solidFill>
                  <a:srgbClr val="3055da"/>
                </a:solidFill>
                <a:latin typeface="Calibri"/>
                <a:ea typeface="Calibri"/>
              </a:rPr>
              <a:t>ents</a:t>
            </a:r>
            <a:endParaRPr b="0" lang="en-US" sz="6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4324320" y="1521360"/>
            <a:ext cx="498600" cy="397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01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4324320" y="2214360"/>
            <a:ext cx="498600" cy="397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02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body"/>
          </p:nvPr>
        </p:nvSpPr>
        <p:spPr>
          <a:xfrm>
            <a:off x="4324320" y="2897280"/>
            <a:ext cx="498600" cy="397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03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body"/>
          </p:nvPr>
        </p:nvSpPr>
        <p:spPr>
          <a:xfrm>
            <a:off x="4324320" y="3590280"/>
            <a:ext cx="498600" cy="397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04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body"/>
          </p:nvPr>
        </p:nvSpPr>
        <p:spPr>
          <a:xfrm>
            <a:off x="4324320" y="4273200"/>
            <a:ext cx="498600" cy="397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05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3" name="PlaceHolder 7"/>
          <p:cNvSpPr>
            <a:spLocks noGrp="1"/>
          </p:cNvSpPr>
          <p:nvPr>
            <p:ph type="body"/>
          </p:nvPr>
        </p:nvSpPr>
        <p:spPr>
          <a:xfrm>
            <a:off x="4324320" y="4956120"/>
            <a:ext cx="498600" cy="397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06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4" name="PlaceHolder 8"/>
          <p:cNvSpPr>
            <a:spLocks noGrp="1"/>
          </p:cNvSpPr>
          <p:nvPr>
            <p:ph type="body"/>
          </p:nvPr>
        </p:nvSpPr>
        <p:spPr>
          <a:xfrm>
            <a:off x="5056560" y="1521360"/>
            <a:ext cx="4554000" cy="397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Sec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tio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n 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hea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der 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her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e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5" name="PlaceHolder 9"/>
          <p:cNvSpPr>
            <a:spLocks noGrp="1"/>
          </p:cNvSpPr>
          <p:nvPr>
            <p:ph type="body"/>
          </p:nvPr>
        </p:nvSpPr>
        <p:spPr>
          <a:xfrm>
            <a:off x="5056560" y="2214360"/>
            <a:ext cx="4554000" cy="397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Sec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tio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n 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hea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der 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her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e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6" name="PlaceHolder 10"/>
          <p:cNvSpPr>
            <a:spLocks noGrp="1"/>
          </p:cNvSpPr>
          <p:nvPr>
            <p:ph type="body"/>
          </p:nvPr>
        </p:nvSpPr>
        <p:spPr>
          <a:xfrm>
            <a:off x="5056560" y="2897280"/>
            <a:ext cx="4554000" cy="397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Section header here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7" name="PlaceHolder 11"/>
          <p:cNvSpPr>
            <a:spLocks noGrp="1"/>
          </p:cNvSpPr>
          <p:nvPr>
            <p:ph type="body"/>
          </p:nvPr>
        </p:nvSpPr>
        <p:spPr>
          <a:xfrm>
            <a:off x="5056560" y="3590280"/>
            <a:ext cx="4554000" cy="397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Section header here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8" name="PlaceHolder 12"/>
          <p:cNvSpPr>
            <a:spLocks noGrp="1"/>
          </p:cNvSpPr>
          <p:nvPr>
            <p:ph type="body"/>
          </p:nvPr>
        </p:nvSpPr>
        <p:spPr>
          <a:xfrm>
            <a:off x="5056560" y="4273200"/>
            <a:ext cx="4554000" cy="397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Section header here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9" name="PlaceHolder 13"/>
          <p:cNvSpPr>
            <a:spLocks noGrp="1"/>
          </p:cNvSpPr>
          <p:nvPr>
            <p:ph type="body"/>
          </p:nvPr>
        </p:nvSpPr>
        <p:spPr>
          <a:xfrm>
            <a:off x="5056560" y="4956120"/>
            <a:ext cx="4554000" cy="397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Section header here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raphic 6" descr=""/>
          <p:cNvPicPr/>
          <p:nvPr/>
        </p:nvPicPr>
        <p:blipFill>
          <a:blip r:embed="rId2"/>
          <a:stretch/>
        </p:blipFill>
        <p:spPr>
          <a:xfrm>
            <a:off x="457200" y="6438960"/>
            <a:ext cx="540360" cy="190080"/>
          </a:xfrm>
          <a:prstGeom prst="rect">
            <a:avLst/>
          </a:prstGeom>
          <a:ln w="0">
            <a:noFill/>
          </a:ln>
        </p:spPr>
      </p:pic>
      <p:sp>
        <p:nvSpPr>
          <p:cNvPr id="97" name="TextBox 10"/>
          <p:cNvSpPr/>
          <p:nvPr/>
        </p:nvSpPr>
        <p:spPr>
          <a:xfrm>
            <a:off x="10049040" y="6406560"/>
            <a:ext cx="139644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0" lang="en-US" sz="600" spc="-1" strike="noStrike">
                <a:solidFill>
                  <a:srgbClr val="000000"/>
                </a:solidFill>
                <a:latin typeface="Calibri"/>
                <a:ea typeface="Calibri"/>
              </a:rPr>
              <a:t>EPAM Proprietary &amp; Confidential.</a:t>
            </a:r>
            <a:endParaRPr b="0" lang="en-US" sz="600" spc="-1" strike="noStrike">
              <a:latin typeface="Arial"/>
            </a:endParaRPr>
          </a:p>
        </p:txBody>
      </p:sp>
      <p:sp>
        <p:nvSpPr>
          <p:cNvPr id="98" name="Text Placeholder 3"/>
          <p:cNvSpPr/>
          <p:nvPr/>
        </p:nvSpPr>
        <p:spPr>
          <a:xfrm>
            <a:off x="11498040" y="6406560"/>
            <a:ext cx="242640" cy="2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fld id="{1EE1CD3A-84F4-4B42-AB7E-A23488AE98E2}" type="slidenum">
              <a:rPr b="0" lang="en-US" sz="1000" spc="-1" strike="noStrike">
                <a:solidFill>
                  <a:srgbClr val="222222"/>
                </a:solidFill>
                <a:latin typeface="Calibri"/>
                <a:ea typeface="Calibri"/>
              </a:rPr>
              <a:t>&lt;number&gt;</a:t>
            </a:fld>
            <a:endParaRPr b="0" lang="en-US" sz="1000" spc="-1" strike="noStrike">
              <a:latin typeface="Arial"/>
            </a:endParaRPr>
          </a:p>
        </p:txBody>
      </p:sp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000000"/>
                </a:solidFill>
                <a:latin typeface="Calibri"/>
                <a:ea typeface="Calibri"/>
              </a:rPr>
              <a:t>Cli</a:t>
            </a:r>
            <a:r>
              <a:rPr b="1" lang="en-US" sz="2200" spc="-1" strike="noStrike">
                <a:solidFill>
                  <a:srgbClr val="000000"/>
                </a:solidFill>
                <a:latin typeface="Calibri"/>
                <a:ea typeface="Calibri"/>
              </a:rPr>
              <a:t>ck </a:t>
            </a:r>
            <a:r>
              <a:rPr b="1" lang="en-US" sz="2200" spc="-1" strike="noStrike">
                <a:solidFill>
                  <a:srgbClr val="000000"/>
                </a:solidFill>
                <a:latin typeface="Calibri"/>
                <a:ea typeface="Calibri"/>
              </a:rPr>
              <a:t>to </a:t>
            </a:r>
            <a:r>
              <a:rPr b="1" lang="en-US" sz="2200" spc="-1" strike="noStrike">
                <a:solidFill>
                  <a:srgbClr val="000000"/>
                </a:solidFill>
                <a:latin typeface="Calibri"/>
                <a:ea typeface="Calibri"/>
              </a:rPr>
              <a:t>edi</a:t>
            </a:r>
            <a:r>
              <a:rPr b="1" lang="en-US" sz="2200" spc="-1" strike="noStrike">
                <a:solidFill>
                  <a:srgbClr val="000000"/>
                </a:solidFill>
                <a:latin typeface="Calibri"/>
                <a:ea typeface="Calibri"/>
              </a:rPr>
              <a:t>t </a:t>
            </a:r>
            <a:r>
              <a:rPr b="1" lang="en-US" sz="2200" spc="-1" strike="noStrike">
                <a:solidFill>
                  <a:srgbClr val="000000"/>
                </a:solidFill>
                <a:latin typeface="Calibri"/>
                <a:ea typeface="Calibri"/>
              </a:rPr>
              <a:t>Ma</a:t>
            </a:r>
            <a:r>
              <a:rPr b="1" lang="en-US" sz="2200" spc="-1" strike="noStrike">
                <a:solidFill>
                  <a:srgbClr val="000000"/>
                </a:solidFill>
                <a:latin typeface="Calibri"/>
                <a:ea typeface="Calibri"/>
              </a:rPr>
              <a:t>ste</a:t>
            </a:r>
            <a:r>
              <a:rPr b="1" lang="en-US" sz="2200" spc="-1" strike="noStrike">
                <a:solidFill>
                  <a:srgbClr val="000000"/>
                </a:solidFill>
                <a:latin typeface="Calibri"/>
                <a:ea typeface="Calibri"/>
              </a:rPr>
              <a:t>r </a:t>
            </a:r>
            <a:r>
              <a:rPr b="1" lang="en-US" sz="2200" spc="-1" strike="noStrike">
                <a:solidFill>
                  <a:srgbClr val="000000"/>
                </a:solidFill>
                <a:latin typeface="Calibri"/>
                <a:ea typeface="Calibri"/>
              </a:rPr>
              <a:t>titl</a:t>
            </a:r>
            <a:r>
              <a:rPr b="1" lang="en-US" sz="2200" spc="-1" strike="noStrike">
                <a:solidFill>
                  <a:srgbClr val="000000"/>
                </a:solidFill>
                <a:latin typeface="Calibri"/>
                <a:ea typeface="Calibri"/>
              </a:rPr>
              <a:t>e </a:t>
            </a:r>
            <a:r>
              <a:rPr b="1" lang="en-US" sz="2200" spc="-1" strike="noStrike">
                <a:solidFill>
                  <a:srgbClr val="000000"/>
                </a:solidFill>
                <a:latin typeface="Calibri"/>
                <a:ea typeface="Calibri"/>
              </a:rPr>
              <a:t>sty</a:t>
            </a:r>
            <a:r>
              <a:rPr b="1" lang="en-US" sz="2200" spc="-1" strike="noStrike">
                <a:solidFill>
                  <a:srgbClr val="000000"/>
                </a:solidFill>
                <a:latin typeface="Calibri"/>
                <a:ea typeface="Calibri"/>
              </a:rPr>
              <a:t>le</a:t>
            </a:r>
            <a:endParaRPr b="0" lang="en-US" sz="2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457200" y="382320"/>
            <a:ext cx="361152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1000" spc="299" strike="noStrike" cap="all">
                <a:solidFill>
                  <a:srgbClr val="000000"/>
                </a:solidFill>
                <a:latin typeface="Calibri"/>
                <a:ea typeface="Calibri"/>
              </a:rPr>
              <a:t>Click to add section title</a:t>
            </a:r>
            <a:endParaRPr b="0" lang="en-US" sz="1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/>
          </p:nvPr>
        </p:nvSpPr>
        <p:spPr>
          <a:xfrm>
            <a:off x="468720" y="4663440"/>
            <a:ext cx="6489360" cy="27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 Light"/>
                <a:ea typeface="Calibri"/>
              </a:rPr>
              <a:t>Where the ABAP estate talks to SFTP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468720" y="5245560"/>
            <a:ext cx="6489360" cy="1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1" lang="en-US" sz="1200" spc="398" strike="noStrike">
                <a:solidFill>
                  <a:srgbClr val="ffffff"/>
                </a:solidFill>
                <a:latin typeface="Calibri"/>
                <a:ea typeface="Calibri"/>
              </a:rPr>
              <a:t>M A Y  2 0 2 6</a:t>
            </a:r>
            <a:endParaRPr b="0" lang="en-US" sz="1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title"/>
          </p:nvPr>
        </p:nvSpPr>
        <p:spPr>
          <a:xfrm>
            <a:off x="466200" y="1696320"/>
            <a:ext cx="7843320" cy="2461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000" spc="-1" strike="noStrike">
                <a:solidFill>
                  <a:srgbClr val="ffffff"/>
                </a:solidFill>
                <a:latin typeface="Calibri Light"/>
                <a:ea typeface="Calibri"/>
              </a:rPr>
              <a:t>SF</a:t>
            </a:r>
            <a:r>
              <a:rPr b="0" lang="en-US" sz="8000" spc="-1" strike="noStrike">
                <a:solidFill>
                  <a:srgbClr val="ffffff"/>
                </a:solidFill>
                <a:latin typeface="Calibri Light"/>
                <a:ea typeface="Calibri"/>
              </a:rPr>
              <a:t>TP </a:t>
            </a:r>
            <a:r>
              <a:rPr b="0" lang="en-US" sz="8000" spc="-1" strike="noStrike">
                <a:solidFill>
                  <a:srgbClr val="ffffff"/>
                </a:solidFill>
                <a:latin typeface="Calibri Light"/>
                <a:ea typeface="Calibri"/>
              </a:rPr>
              <a:t>Us</a:t>
            </a:r>
            <a:r>
              <a:rPr b="0" lang="en-US" sz="8000" spc="-1" strike="noStrike">
                <a:solidFill>
                  <a:srgbClr val="ffffff"/>
                </a:solidFill>
                <a:latin typeface="Calibri Light"/>
                <a:ea typeface="Calibri"/>
              </a:rPr>
              <a:t>ag</a:t>
            </a:r>
            <a:r>
              <a:rPr b="0" lang="en-US" sz="8000" spc="-1" strike="noStrike">
                <a:solidFill>
                  <a:srgbClr val="ffffff"/>
                </a:solidFill>
                <a:latin typeface="Calibri Light"/>
                <a:ea typeface="Calibri"/>
              </a:rPr>
              <a:t>e </a:t>
            </a:r>
            <a:r>
              <a:rPr b="0" lang="en-US" sz="8000" spc="-1" strike="noStrike">
                <a:solidFill>
                  <a:srgbClr val="ffffff"/>
                </a:solidFill>
                <a:latin typeface="Calibri Light"/>
                <a:ea typeface="Calibri"/>
              </a:rPr>
              <a:t>An</a:t>
            </a:r>
            <a:r>
              <a:rPr b="0" lang="en-US" sz="8000" spc="-1" strike="noStrike">
                <a:solidFill>
                  <a:srgbClr val="ffffff"/>
                </a:solidFill>
                <a:latin typeface="Calibri Light"/>
                <a:ea typeface="Calibri"/>
              </a:rPr>
              <a:t>aly</a:t>
            </a:r>
            <a:r>
              <a:rPr b="0" lang="en-US" sz="8000" spc="-1" strike="noStrike">
                <a:solidFill>
                  <a:srgbClr val="ffffff"/>
                </a:solidFill>
                <a:latin typeface="Calibri Light"/>
                <a:ea typeface="Calibri"/>
              </a:rPr>
              <a:t>sis</a:t>
            </a:r>
            <a:endParaRPr b="0" lang="en-US" sz="8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467280" y="1190880"/>
            <a:ext cx="3024360" cy="923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4000" spc="-1" strike="noStrike">
                <a:solidFill>
                  <a:srgbClr val="3055da"/>
                </a:solidFill>
                <a:latin typeface="Calibri"/>
                <a:ea typeface="Calibri"/>
              </a:rPr>
              <a:t>C</a:t>
            </a:r>
            <a:r>
              <a:rPr b="1" lang="en-US" sz="4000" spc="-1" strike="noStrike">
                <a:solidFill>
                  <a:srgbClr val="3055da"/>
                </a:solidFill>
                <a:latin typeface="Calibri"/>
                <a:ea typeface="Calibri"/>
              </a:rPr>
              <a:t>o</a:t>
            </a:r>
            <a:r>
              <a:rPr b="1" lang="en-US" sz="4000" spc="-1" strike="noStrike">
                <a:solidFill>
                  <a:srgbClr val="3055da"/>
                </a:solidFill>
                <a:latin typeface="Calibri"/>
                <a:ea typeface="Calibri"/>
              </a:rPr>
              <a:t>n</a:t>
            </a:r>
            <a:r>
              <a:rPr b="1" lang="en-US" sz="4000" spc="-1" strike="noStrike">
                <a:solidFill>
                  <a:srgbClr val="3055da"/>
                </a:solidFill>
                <a:latin typeface="Calibri"/>
                <a:ea typeface="Calibri"/>
              </a:rPr>
              <a:t>t</a:t>
            </a:r>
            <a:r>
              <a:rPr b="1" lang="en-US" sz="4000" spc="-1" strike="noStrike">
                <a:solidFill>
                  <a:srgbClr val="3055da"/>
                </a:solidFill>
                <a:latin typeface="Calibri"/>
                <a:ea typeface="Calibri"/>
              </a:rPr>
              <a:t>e</a:t>
            </a:r>
            <a:r>
              <a:rPr b="1" lang="en-US" sz="4000" spc="-1" strike="noStrike">
                <a:solidFill>
                  <a:srgbClr val="3055da"/>
                </a:solidFill>
                <a:latin typeface="Calibri"/>
                <a:ea typeface="Calibri"/>
              </a:rPr>
              <a:t>n</a:t>
            </a:r>
            <a:r>
              <a:rPr b="1" lang="en-US" sz="4000" spc="-1" strike="noStrike">
                <a:solidFill>
                  <a:srgbClr val="3055da"/>
                </a:solidFill>
                <a:latin typeface="Calibri"/>
                <a:ea typeface="Calibri"/>
              </a:rPr>
              <a:t>t</a:t>
            </a:r>
            <a:r>
              <a:rPr b="1" lang="en-US" sz="4000" spc="-1" strike="noStrike">
                <a:solidFill>
                  <a:srgbClr val="3055da"/>
                </a:solidFill>
                <a:latin typeface="Calibri"/>
                <a:ea typeface="Calibri"/>
              </a:rPr>
              <a:t>s</a:t>
            </a:r>
            <a:endParaRPr b="0" lang="en-US" sz="4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/>
          </p:nvPr>
        </p:nvSpPr>
        <p:spPr>
          <a:xfrm>
            <a:off x="4324320" y="1521360"/>
            <a:ext cx="498600" cy="321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01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/>
          </p:nvPr>
        </p:nvSpPr>
        <p:spPr>
          <a:xfrm>
            <a:off x="4324320" y="2214360"/>
            <a:ext cx="498600" cy="321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02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3" name="PlaceHolder 4"/>
          <p:cNvSpPr>
            <a:spLocks noGrp="1"/>
          </p:cNvSpPr>
          <p:nvPr>
            <p:ph/>
          </p:nvPr>
        </p:nvSpPr>
        <p:spPr>
          <a:xfrm>
            <a:off x="4324320" y="2897280"/>
            <a:ext cx="498600" cy="321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03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4" name="PlaceHolder 5"/>
          <p:cNvSpPr>
            <a:spLocks noGrp="1"/>
          </p:cNvSpPr>
          <p:nvPr>
            <p:ph/>
          </p:nvPr>
        </p:nvSpPr>
        <p:spPr>
          <a:xfrm>
            <a:off x="4324320" y="3590280"/>
            <a:ext cx="498600" cy="321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04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5" name="PlaceHolder 6"/>
          <p:cNvSpPr>
            <a:spLocks noGrp="1"/>
          </p:cNvSpPr>
          <p:nvPr>
            <p:ph/>
          </p:nvPr>
        </p:nvSpPr>
        <p:spPr>
          <a:xfrm>
            <a:off x="4324320" y="4273200"/>
            <a:ext cx="498600" cy="321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05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6" name="PlaceHolder 7"/>
          <p:cNvSpPr>
            <a:spLocks noGrp="1"/>
          </p:cNvSpPr>
          <p:nvPr>
            <p:ph/>
          </p:nvPr>
        </p:nvSpPr>
        <p:spPr>
          <a:xfrm>
            <a:off x="4324320" y="4956120"/>
            <a:ext cx="498600" cy="321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06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7" name="PlaceHolder 8"/>
          <p:cNvSpPr>
            <a:spLocks noGrp="1"/>
          </p:cNvSpPr>
          <p:nvPr>
            <p:ph/>
          </p:nvPr>
        </p:nvSpPr>
        <p:spPr>
          <a:xfrm>
            <a:off x="5056560" y="1521360"/>
            <a:ext cx="4554000" cy="321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Snapshot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8" name="PlaceHolder 9"/>
          <p:cNvSpPr>
            <a:spLocks noGrp="1"/>
          </p:cNvSpPr>
          <p:nvPr>
            <p:ph/>
          </p:nvPr>
        </p:nvSpPr>
        <p:spPr>
          <a:xfrm>
            <a:off x="5056560" y="2214360"/>
            <a:ext cx="4554000" cy="321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Seeds → reality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9" name="PlaceHolder 10"/>
          <p:cNvSpPr>
            <a:spLocks noGrp="1"/>
          </p:cNvSpPr>
          <p:nvPr>
            <p:ph/>
          </p:nvPr>
        </p:nvSpPr>
        <p:spPr>
          <a:xfrm>
            <a:off x="5056560" y="2897280"/>
            <a:ext cx="4554000" cy="321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Banking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0" name="PlaceHolder 11"/>
          <p:cNvSpPr>
            <a:spLocks noGrp="1"/>
          </p:cNvSpPr>
          <p:nvPr>
            <p:ph/>
          </p:nvPr>
        </p:nvSpPr>
        <p:spPr>
          <a:xfrm>
            <a:off x="5056560" y="3590280"/>
            <a:ext cx="4554000" cy="321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Healthcare &amp; payroll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1" name="PlaceHolder 12"/>
          <p:cNvSpPr>
            <a:spLocks noGrp="1"/>
          </p:cNvSpPr>
          <p:nvPr>
            <p:ph/>
          </p:nvPr>
        </p:nvSpPr>
        <p:spPr>
          <a:xfrm>
            <a:off x="5056560" y="4273200"/>
            <a:ext cx="4554000" cy="321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DMS / eRx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2" name="PlaceHolder 13"/>
          <p:cNvSpPr>
            <a:spLocks noGrp="1"/>
          </p:cNvSpPr>
          <p:nvPr>
            <p:ph/>
          </p:nvPr>
        </p:nvSpPr>
        <p:spPr>
          <a:xfrm>
            <a:off x="5056560" y="4956120"/>
            <a:ext cx="4554000" cy="321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Mechanism &amp; handoff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000000"/>
                </a:solidFill>
                <a:latin typeface="Calibri"/>
                <a:ea typeface="Calibri"/>
              </a:rPr>
              <a:t>Snapshot</a:t>
            </a:r>
            <a:endParaRPr b="0" lang="en-US" sz="2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4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361152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1000" spc="299" strike="noStrike" cap="all">
                <a:solidFill>
                  <a:srgbClr val="000000"/>
                </a:solidFill>
                <a:latin typeface="Calibri"/>
                <a:ea typeface="Calibri"/>
              </a:rPr>
              <a:t>13 SEEDS · 19 OBJECTS · +46%</a:t>
            </a:r>
            <a:endParaRPr b="0" lang="en-US" sz="1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5" name="ContentArea"/>
          <p:cNvSpPr/>
          <p:nvPr/>
        </p:nvSpPr>
        <p:spPr>
          <a:xfrm>
            <a:off x="457200" y="1463040"/>
            <a:ext cx="11063880" cy="4663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6" name="c_1_BlockGrid:0:c_1_Block:container"/>
          <p:cNvSpPr/>
          <p:nvPr/>
        </p:nvSpPr>
        <p:spPr>
          <a:xfrm>
            <a:off x="457200" y="1463040"/>
            <a:ext cx="2139480" cy="1828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7" name="c_1_BlockGrid:0:c_1_Block:metric"/>
          <p:cNvSpPr/>
          <p:nvPr/>
        </p:nvSpPr>
        <p:spPr>
          <a:xfrm>
            <a:off x="1279440" y="1600200"/>
            <a:ext cx="495000" cy="4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0047ff"/>
                </a:solidFill>
                <a:latin typeface="Calibri"/>
              </a:rPr>
              <a:t>19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158" name="c_1_BlockGrid:0:c_1_Block:content"/>
          <p:cNvSpPr/>
          <p:nvPr/>
        </p:nvSpPr>
        <p:spPr>
          <a:xfrm>
            <a:off x="640080" y="2077560"/>
            <a:ext cx="177372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objects · 16 PROG + 3 FUGR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59" name="c_1_BlockGrid:1:c_2_Block:container"/>
          <p:cNvSpPr/>
          <p:nvPr/>
        </p:nvSpPr>
        <p:spPr>
          <a:xfrm>
            <a:off x="2688480" y="1463040"/>
            <a:ext cx="2139480" cy="1828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0" name="c_1_BlockGrid:1:c_2_Block:metric"/>
          <p:cNvSpPr/>
          <p:nvPr/>
        </p:nvSpPr>
        <p:spPr>
          <a:xfrm>
            <a:off x="3510720" y="1600200"/>
            <a:ext cx="495000" cy="4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107e8d"/>
                </a:solidFill>
                <a:latin typeface="Calibri"/>
              </a:rPr>
              <a:t>11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161" name="c_1_BlockGrid:1:c_2_Block:content"/>
          <p:cNvSpPr/>
          <p:nvPr/>
        </p:nvSpPr>
        <p:spPr>
          <a:xfrm>
            <a:off x="2871360" y="2077560"/>
            <a:ext cx="177372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distinct SM69 commands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62" name="c_1_BlockGrid:2:c_3_Block:container"/>
          <p:cNvSpPr/>
          <p:nvPr/>
        </p:nvSpPr>
        <p:spPr>
          <a:xfrm>
            <a:off x="4919400" y="1463040"/>
            <a:ext cx="2139480" cy="1828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3" name="c_1_BlockGrid:2:c_3_Block:metric"/>
          <p:cNvSpPr/>
          <p:nvPr/>
        </p:nvSpPr>
        <p:spPr>
          <a:xfrm>
            <a:off x="5865120" y="1600200"/>
            <a:ext cx="248040" cy="4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e06c00"/>
                </a:solidFill>
                <a:latin typeface="Calibri"/>
              </a:rPr>
              <a:t>8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164" name="c_1_BlockGrid:2:c_3_Block:content"/>
          <p:cNvSpPr/>
          <p:nvPr/>
        </p:nvSpPr>
        <p:spPr>
          <a:xfrm>
            <a:off x="5102280" y="2077560"/>
            <a:ext cx="177372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counter-party endpoints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65" name="c_1_BlockGrid:3:c_4_Block:container"/>
          <p:cNvSpPr/>
          <p:nvPr/>
        </p:nvSpPr>
        <p:spPr>
          <a:xfrm>
            <a:off x="7150680" y="1463040"/>
            <a:ext cx="2139480" cy="1828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6" name="c_1_BlockGrid:3:c_4_Block:metric"/>
          <p:cNvSpPr/>
          <p:nvPr/>
        </p:nvSpPr>
        <p:spPr>
          <a:xfrm>
            <a:off x="8096400" y="1600200"/>
            <a:ext cx="248040" cy="4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e614eb"/>
                </a:solidFill>
                <a:latin typeface="Calibri"/>
              </a:rPr>
              <a:t>2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167" name="c_1_BlockGrid:3:c_4_Block:content"/>
          <p:cNvSpPr/>
          <p:nvPr/>
        </p:nvSpPr>
        <p:spPr>
          <a:xfrm>
            <a:off x="7333560" y="2077560"/>
            <a:ext cx="177372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auth modes · key + password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68" name="c_1_BlockGrid:4:c_5_Block:container"/>
          <p:cNvSpPr/>
          <p:nvPr/>
        </p:nvSpPr>
        <p:spPr>
          <a:xfrm>
            <a:off x="9381600" y="1463040"/>
            <a:ext cx="2139480" cy="1828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9" name="c_1_BlockGrid:4:c_5_Block:metric"/>
          <p:cNvSpPr/>
          <p:nvPr/>
        </p:nvSpPr>
        <p:spPr>
          <a:xfrm>
            <a:off x="9892800" y="1600200"/>
            <a:ext cx="1116720" cy="4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898989"/>
                </a:solidFill>
                <a:latin typeface="Calibri"/>
              </a:rPr>
              <a:t>6 min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170" name="c_1_BlockGrid:4:c_5_Block:content"/>
          <p:cNvSpPr/>
          <p:nvPr/>
        </p:nvSpPr>
        <p:spPr>
          <a:xfrm>
            <a:off x="9564480" y="2077560"/>
            <a:ext cx="177372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wall-clock for whole run</a:t>
            </a:r>
            <a:endParaRPr b="0" lang="en-US" sz="1400" spc="-1" strike="noStrike">
              <a:latin typeface="Arial"/>
            </a:endParaRPr>
          </a:p>
        </p:txBody>
      </p:sp>
      <p:graphicFrame>
        <p:nvGraphicFramePr>
          <p:cNvPr id="171" name="c_6_Block"/>
          <p:cNvGraphicFramePr/>
          <p:nvPr/>
        </p:nvGraphicFramePr>
        <p:xfrm>
          <a:off x="457200" y="5029200"/>
          <a:ext cx="11063880" cy="1096920"/>
        </p:xfrm>
        <a:graphic>
          <a:graphicData uri="http://schemas.openxmlformats.org/drawingml/2006/table">
            <a:tbl>
              <a:tblPr/>
              <a:tblGrid>
                <a:gridCol w="11064240"/>
              </a:tblGrid>
              <a:tr h="1097280">
                <a:tc>
                  <a:txBody>
                    <a:bodyPr lIns="179640" rIns="182880" tIns="73080" bIns="13716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One underlying mechanism: SXPG_COMMAND_EXECUTE → SM69 entry → OS sftp/scp on the SAP application server.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anchor="t" marL="179640" marR="182880">
                    <a:lnL w="72720">
                      <a:solidFill>
                        <a:srgbClr val="e06c00"/>
                      </a:solidFill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000000"/>
                </a:solidFill>
                <a:latin typeface="Calibri"/>
                <a:ea typeface="Calibri"/>
              </a:rPr>
              <a:t>Seeds → reality</a:t>
            </a:r>
            <a:endParaRPr b="0" lang="en-US" sz="2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3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361152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1000" spc="299" strike="noStrike" cap="all">
                <a:solidFill>
                  <a:srgbClr val="000000"/>
                </a:solidFill>
                <a:latin typeface="Calibri"/>
                <a:ea typeface="Calibri"/>
              </a:rPr>
              <a:t>8 YES · 5 NO · +11 DISCOVERED</a:t>
            </a:r>
            <a:endParaRPr b="0" lang="en-US" sz="1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4" name="ContentArea"/>
          <p:cNvSpPr/>
          <p:nvPr/>
        </p:nvSpPr>
        <p:spPr>
          <a:xfrm>
            <a:off x="457200" y="1463040"/>
            <a:ext cx="11063880" cy="4663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5" name="c_1_BlockGrid:0:c_1_Block"/>
          <p:cNvSpPr/>
          <p:nvPr/>
        </p:nvSpPr>
        <p:spPr>
          <a:xfrm>
            <a:off x="457200" y="1463040"/>
            <a:ext cx="5440320" cy="4663080"/>
          </a:xfrm>
          <a:prstGeom prst="rect">
            <a:avLst/>
          </a:prstGeom>
          <a:gradFill rotWithShape="0">
            <a:gsLst>
              <a:gs pos="0">
                <a:srgbClr val="7c7c7c"/>
              </a:gs>
              <a:gs pos="100000">
                <a:srgbClr val="959595"/>
              </a:gs>
            </a:gsLst>
            <a:lin ang="1620000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200" spc="-1" strike="noStrike">
                <a:solidFill>
                  <a:srgbClr val="000000"/>
                </a:solidFill>
                <a:latin typeface="Calibri"/>
              </a:rPr>
              <a:t>13 seed verdicts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07e8d"/>
                </a:solidFill>
                <a:latin typeface="Calibri"/>
              </a:rPr>
              <a:t>OK </a:t>
            </a: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ZSFTP_CAPARIO_PULL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  ·  ZFTP_EOB_PULL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07e8d"/>
                </a:solidFill>
                <a:latin typeface="Calibri"/>
              </a:rPr>
              <a:t>OK </a:t>
            </a: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ZSFTP_BNP_PARIBAS_PULL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  ·  ZFTP_BNPP_PULL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07e8d"/>
                </a:solidFill>
                <a:latin typeface="Calibri"/>
              </a:rPr>
              <a:t>OK </a:t>
            </a: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ZSFTP_PATIENTCO_PULL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  ·  ZSFTP_PATCO_PULL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07e8d"/>
                </a:solidFill>
                <a:latin typeface="Calibri"/>
              </a:rPr>
              <a:t>OK </a:t>
            </a: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ZSFTP_CAPARIO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  ·  ZFTP_837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07e8d"/>
                </a:solidFill>
                <a:latin typeface="Calibri"/>
              </a:rPr>
              <a:t>OK </a:t>
            </a: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ZFFIU_ACC_POST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  ·  ZSFTP_CERIDIAN_GET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07e8d"/>
                </a:solidFill>
                <a:latin typeface="Calibri"/>
              </a:rPr>
              <a:t>OK </a:t>
            </a: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ZDMS_UPLOAD_FILES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  ·  ZSFTP_DMS_GET / PUT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07e8d"/>
                </a:solidFill>
                <a:latin typeface="Calibri"/>
              </a:rPr>
              <a:t>OK </a:t>
            </a: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ZSD_MEDICARE_PDF_PROCESS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  ·  ZMEDI_* wrapper FMs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07e8d"/>
                </a:solidFill>
                <a:latin typeface="Calibri"/>
              </a:rPr>
              <a:t>OK </a:t>
            </a: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ZSFTP_CITI_PULL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  ·  ZSFTP_CITI_PULL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898989"/>
                </a:solidFill>
                <a:latin typeface="Calibri"/>
              </a:rPr>
              <a:t>NO </a:t>
            </a: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/VERTEX/SPOT_VAT_OUTPUT_COMPL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  ·  local file I/O only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898989"/>
                </a:solidFill>
                <a:latin typeface="Calibri"/>
              </a:rPr>
              <a:t>NO </a:t>
            </a: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/VERTEX/SPOT_VAT_INPUT_COMPL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  ·  local file I/O only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898989"/>
                </a:solidFill>
                <a:latin typeface="Calibri"/>
              </a:rPr>
              <a:t>NO </a:t>
            </a: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ZEDI_835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  ·  OPEN DATASET / GUI_UPLOAD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898989"/>
                </a:solidFill>
                <a:latin typeface="Calibri"/>
              </a:rPr>
              <a:t>NO </a:t>
            </a: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ZFI_BANK_STMT_LOAD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  ·  local include processing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898989"/>
                </a:solidFill>
                <a:latin typeface="Calibri"/>
              </a:rPr>
              <a:t>NO </a:t>
            </a: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ZEDI_835_JPM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  ·  local file I/O only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76" name="c_1_BlockGrid:1:c_2_Block"/>
          <p:cNvSpPr/>
          <p:nvPr/>
        </p:nvSpPr>
        <p:spPr>
          <a:xfrm>
            <a:off x="6080760" y="1463040"/>
            <a:ext cx="5440320" cy="4663080"/>
          </a:xfrm>
          <a:prstGeom prst="rect">
            <a:avLst/>
          </a:prstGeom>
          <a:gradFill rotWithShape="0">
            <a:gsLst>
              <a:gs pos="0">
                <a:srgbClr val="7c7c7c"/>
              </a:gs>
              <a:gs pos="100000">
                <a:srgbClr val="959595"/>
              </a:gs>
            </a:gsLst>
            <a:lin ang="1620000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200" spc="-1" strike="noStrike">
                <a:solidFill>
                  <a:srgbClr val="000000"/>
                </a:solidFill>
                <a:latin typeface="Calibri"/>
              </a:rPr>
              <a:t>+11 discovered beyond seeds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e06c00"/>
                </a:solidFill>
                <a:latin typeface="Calibri"/>
              </a:rPr>
              <a:t>+ 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ZSFTP_BNP_PARIBAS · password-auth variant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e06c00"/>
                </a:solidFill>
                <a:latin typeface="Calibri"/>
              </a:rPr>
              <a:t>+ 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ZSFTP_BNP_PARIBAS_WITH_PGP · PGP push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e06c00"/>
                </a:solidFill>
                <a:latin typeface="Calibri"/>
              </a:rPr>
              <a:t>+ 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ZSFTP_CERIDIAN_PULL · operator duplicate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e06c00"/>
                </a:solidFill>
                <a:latin typeface="Calibri"/>
              </a:rPr>
              <a:t>+ 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ZSFTP_CITI_SEND · Citi outbound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e06c00"/>
                </a:solidFill>
                <a:latin typeface="Calibri"/>
              </a:rPr>
              <a:t>+ 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ZSFTP_JPM · JPMorgan outbound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e06c00"/>
                </a:solidFill>
                <a:latin typeface="Calibri"/>
              </a:rPr>
              <a:t>+ 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ZSFTP_JPM_PULL · JPMorgan inbound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e06c00"/>
                </a:solidFill>
                <a:latin typeface="Calibri"/>
              </a:rPr>
              <a:t>+ 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ZDMS_REPLACE_FILES · shares DMS SM69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e06c00"/>
                </a:solidFill>
                <a:latin typeface="Calibri"/>
              </a:rPr>
              <a:t>+ 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ZSD_ERX_DMS_FILE_PROCESS · via ZERX wrapper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e06c00"/>
                </a:solidFill>
                <a:latin typeface="Calibri"/>
              </a:rPr>
              <a:t>+ 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ZMEDICARE · wrapper FUGR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e06c00"/>
                </a:solidFill>
                <a:latin typeface="Calibri"/>
              </a:rPr>
              <a:t>+ 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ZERX · wrapper FUGR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e06c00"/>
                </a:solidFill>
                <a:latin typeface="Calibri"/>
              </a:rPr>
              <a:t>+ 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ZDMS_SEND_FILE · 0 literal callers (verify)</a:t>
            </a:r>
            <a:endParaRPr b="0" lang="en-US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000000"/>
                </a:solidFill>
                <a:latin typeface="Calibri"/>
                <a:ea typeface="Calibri"/>
              </a:rPr>
              <a:t>Banking · 7 reports</a:t>
            </a:r>
            <a:endParaRPr b="0" lang="en-US" sz="2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361152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1000" spc="299" strike="noStrike" cap="all">
                <a:solidFill>
                  <a:srgbClr val="000000"/>
                </a:solidFill>
                <a:latin typeface="Calibri"/>
                <a:ea typeface="Calibri"/>
              </a:rPr>
              <a:t>BNP PARIBAS · CITI · JPMORGAN</a:t>
            </a:r>
            <a:endParaRPr b="0" lang="en-US" sz="1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9" name="ContentArea"/>
          <p:cNvSpPr/>
          <p:nvPr/>
        </p:nvSpPr>
        <p:spPr>
          <a:xfrm>
            <a:off x="457200" y="1463040"/>
            <a:ext cx="11063880" cy="4663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0" name="c_1_Block"/>
          <p:cNvSpPr/>
          <p:nvPr/>
        </p:nvSpPr>
        <p:spPr>
          <a:xfrm>
            <a:off x="457200" y="1463040"/>
            <a:ext cx="11063880" cy="4663080"/>
          </a:xfrm>
          <a:prstGeom prst="rect">
            <a:avLst/>
          </a:prstGeom>
          <a:gradFill rotWithShape="0">
            <a:gsLst>
              <a:gs pos="0">
                <a:srgbClr val="7c7c7c"/>
              </a:gs>
              <a:gs pos="100000">
                <a:srgbClr val="959595"/>
              </a:gs>
            </a:gsLst>
            <a:lin ang="1620000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Payload: 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MT940 statements (pull) · payments + remittance (push) · PGP layer on BNP push.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07e8d"/>
                </a:solidFill>
                <a:latin typeface="Calibri"/>
              </a:rPr>
              <a:t>• </a:t>
            </a: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ZSFTP_BNP_PARIBAS_PULL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  ·  SM69: ZFTP_BNPP_PULL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  ·  pull  ·  hybrid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e06c00"/>
                </a:solidFill>
                <a:latin typeface="Calibri"/>
              </a:rPr>
              <a:t>+ </a:t>
            </a: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ZSFTP_BNP_PARIBAS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  ·  SM69: ZFTP_BNPP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  ·  push  ·  password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e06c00"/>
                </a:solidFill>
                <a:latin typeface="Calibri"/>
              </a:rPr>
              <a:t>+ </a:t>
            </a: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ZSFTP_BNP_PARIBAS_WITH_PGP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  ·  SM69: ZFTP_BNPP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  ·  push + PGP  ·  key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07e8d"/>
                </a:solidFill>
                <a:latin typeface="Calibri"/>
              </a:rPr>
              <a:t>• </a:t>
            </a: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ZSFTP_CITI_PULL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  ·  SM69: ZSFTP_CITI_PULL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  ·  pull  ·  key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e06c00"/>
                </a:solidFill>
                <a:latin typeface="Calibri"/>
              </a:rPr>
              <a:t>+ </a:t>
            </a: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ZSFTP_CITI_SEND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  ·  SM69: ZSFTP_CITI_SEND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  ·  push  ·  key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e06c00"/>
                </a:solidFill>
                <a:latin typeface="Calibri"/>
              </a:rPr>
              <a:t>+ </a:t>
            </a: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ZSFTP_JPM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  ·  SM69: ZFTP_JPM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  ·  push  ·  key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e06c00"/>
                </a:solidFill>
                <a:latin typeface="Calibri"/>
              </a:rPr>
              <a:t>+ </a:t>
            </a: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ZSFTP_JPM_PULL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  ·  SM69: ZFTP_JPM_PULL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  ·  pull  ·  key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e06c00"/>
                </a:solidFill>
                <a:latin typeface="Calibri"/>
              </a:rPr>
              <a:t>! </a:t>
            </a: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ZFTP_BNPP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 reused across password &amp; key+PGP variants — migration risk to verify.</a:t>
            </a:r>
            <a:endParaRPr b="0" lang="en-US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000000"/>
                </a:solidFill>
                <a:latin typeface="Calibri"/>
                <a:ea typeface="Calibri"/>
              </a:rPr>
              <a:t>Healthcare claims &amp; payroll · 5 reports</a:t>
            </a:r>
            <a:endParaRPr b="0" lang="en-US" sz="2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2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361152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1000" spc="299" strike="noStrike" cap="all">
                <a:solidFill>
                  <a:srgbClr val="000000"/>
                </a:solidFill>
                <a:latin typeface="Calibri"/>
                <a:ea typeface="Calibri"/>
              </a:rPr>
              <a:t>CAPARIO · PATIENTCO · CERIDIAN</a:t>
            </a:r>
            <a:endParaRPr b="0" lang="en-US" sz="1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3" name="ContentArea"/>
          <p:cNvSpPr/>
          <p:nvPr/>
        </p:nvSpPr>
        <p:spPr>
          <a:xfrm>
            <a:off x="457200" y="1463040"/>
            <a:ext cx="11063880" cy="4663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4" name="c_1_Block"/>
          <p:cNvSpPr/>
          <p:nvPr/>
        </p:nvSpPr>
        <p:spPr>
          <a:xfrm>
            <a:off x="457200" y="1463040"/>
            <a:ext cx="11063880" cy="4663080"/>
          </a:xfrm>
          <a:prstGeom prst="rect">
            <a:avLst/>
          </a:prstGeom>
          <a:gradFill rotWithShape="0">
            <a:gsLst>
              <a:gs pos="0">
                <a:srgbClr val="7c7c7c"/>
              </a:gs>
              <a:gs pos="100000">
                <a:srgbClr val="959595"/>
              </a:gs>
            </a:gsLst>
            <a:lin ang="1620000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Payload: 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EDI 837 claims out / 835 ERA in · payroll postings into FI.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07e8d"/>
                </a:solidFill>
                <a:latin typeface="Calibri"/>
              </a:rPr>
              <a:t>• </a:t>
            </a: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ZSFTP_CAPARIO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  ·  SM69: ZFTP_837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  ·  push (EDI 837)  ·  key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07e8d"/>
                </a:solidFill>
                <a:latin typeface="Calibri"/>
              </a:rPr>
              <a:t>• </a:t>
            </a: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ZSFTP_CAPARIO_PULL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  ·  SM69: ZFTP_EOB_PULL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  ·  pull (EOB)  ·  key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07e8d"/>
                </a:solidFill>
                <a:latin typeface="Calibri"/>
              </a:rPr>
              <a:t>• </a:t>
            </a: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ZSFTP_PATIENTCO_PULL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  ·  SM69: ZSFTP_PATCO_PULL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  ·  pull  ·  key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07e8d"/>
                </a:solidFill>
                <a:latin typeface="Calibri"/>
              </a:rPr>
              <a:t>• </a:t>
            </a: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ZFFIU_ACC_POST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  ·  SM69: ZSFTP_CERIDIAN_GET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  ·  pull  ·  key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e06c00"/>
                </a:solidFill>
                <a:latin typeface="Calibri"/>
              </a:rPr>
              <a:t>+ </a:t>
            </a: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ZSFTP_CERIDIAN_PULL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  ·  SM69: ZSFTP_CERIDIAN_GET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  ·  pull  ·  key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e06c00"/>
                </a:solidFill>
                <a:latin typeface="Calibri"/>
              </a:rPr>
              <a:t>! </a:t>
            </a: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ZSFTP_CERIDIAN_GET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 reused by two reports — consider consolidating to one entry point.</a:t>
            </a:r>
            <a:endParaRPr b="0" lang="en-US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000000"/>
                </a:solidFill>
                <a:latin typeface="Calibri"/>
                <a:ea typeface="Calibri"/>
              </a:rPr>
              <a:t>DMS &amp; eRx · 4 reports + 3 wrapper FUGRs</a:t>
            </a:r>
            <a:endParaRPr b="0" lang="en-US" sz="2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6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361152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1000" spc="299" strike="noStrike" cap="all">
                <a:solidFill>
                  <a:srgbClr val="000000"/>
                </a:solidFill>
                <a:latin typeface="Calibri"/>
                <a:ea typeface="Calibri"/>
              </a:rPr>
              <a:t>INTERNAL DOCUMENT MANAGEMENT</a:t>
            </a:r>
            <a:endParaRPr b="0" lang="en-US" sz="1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7" name="ContentArea"/>
          <p:cNvSpPr/>
          <p:nvPr/>
        </p:nvSpPr>
        <p:spPr>
          <a:xfrm>
            <a:off x="457200" y="1463040"/>
            <a:ext cx="11063880" cy="4663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8" name="c_1_Block"/>
          <p:cNvSpPr/>
          <p:nvPr/>
        </p:nvSpPr>
        <p:spPr>
          <a:xfrm>
            <a:off x="457200" y="1463040"/>
            <a:ext cx="11063880" cy="4663080"/>
          </a:xfrm>
          <a:prstGeom prst="rect">
            <a:avLst/>
          </a:prstGeom>
          <a:gradFill rotWithShape="0">
            <a:gsLst>
              <a:gs pos="0">
                <a:srgbClr val="7c7c7c"/>
              </a:gs>
              <a:gs pos="100000">
                <a:srgbClr val="959595"/>
              </a:gs>
            </a:gsLst>
            <a:lin ang="1620000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Payload: 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DMS documents in both directions · Medicare/eRx PDFs via wrapper FMs.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07e8d"/>
                </a:solidFill>
                <a:latin typeface="Calibri"/>
              </a:rPr>
              <a:t>• </a:t>
            </a: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ZDMS_UPLOAD_FILES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  ·  SM69: ZSFTP_DMS_GET / PUT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  ·  both  ·  key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e06c00"/>
                </a:solidFill>
                <a:latin typeface="Calibri"/>
              </a:rPr>
              <a:t>+ </a:t>
            </a: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ZDMS_REPLACE_FILES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  ·  SM69: ZSFTP_DMS_GET / PUT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  ·  both  ·  key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07e8d"/>
                </a:solidFill>
                <a:latin typeface="Calibri"/>
              </a:rPr>
              <a:t>• </a:t>
            </a: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ZSD_MEDICARE_PDF_PROCESS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  ·  SM69: ZMEDI_* wrapper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  ·  both  ·  key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e06c00"/>
                </a:solidFill>
                <a:latin typeface="Calibri"/>
              </a:rPr>
              <a:t>+ </a:t>
            </a: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ZSD_ERX_DMS_FILE_PROCESS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  ·  SM69: ZERX_* wrapper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  ·  both  ·  key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Wrapper FUGRs: 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ZMEDICARE · ZERX · ZDMS_SEND_FILE 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(ZDMS_SEND_FILE — 0 literal callers; verify dynamic call or dead code).</a:t>
            </a:r>
            <a:endParaRPr b="0" lang="en-US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c_1_DiagramCanvas"/>
          <p:cNvSpPr/>
          <p:nvPr/>
        </p:nvSpPr>
        <p:spPr>
          <a:xfrm>
            <a:off x="457200" y="1463040"/>
            <a:ext cx="11063880" cy="4663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000000"/>
                </a:solidFill>
                <a:latin typeface="Calibri"/>
                <a:ea typeface="Calibri"/>
              </a:rPr>
              <a:t>One underlying mechanism · all 19 collapse to it</a:t>
            </a:r>
            <a:endParaRPr b="0" lang="en-US" sz="2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361152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1000" spc="299" strike="noStrike" cap="all">
                <a:solidFill>
                  <a:srgbClr val="000000"/>
                </a:solidFill>
                <a:latin typeface="Calibri"/>
                <a:ea typeface="Calibri"/>
              </a:rPr>
              <a:t>SXPG · SM69 · OS BINARY</a:t>
            </a:r>
            <a:endParaRPr b="0" lang="en-US" sz="1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2" name="ContentArea"/>
          <p:cNvSpPr/>
          <p:nvPr/>
        </p:nvSpPr>
        <p:spPr>
          <a:xfrm>
            <a:off x="457200" y="1463040"/>
            <a:ext cx="11063880" cy="4663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3" name="c_1_DiagramCanvas:node0"/>
          <p:cNvSpPr/>
          <p:nvPr/>
        </p:nvSpPr>
        <p:spPr>
          <a:xfrm>
            <a:off x="4800600" y="1600200"/>
            <a:ext cx="2377080" cy="731160"/>
          </a:xfrm>
          <a:prstGeom prst="roundRect">
            <a:avLst>
              <a:gd name="adj" fmla="val 16667"/>
            </a:avLst>
          </a:prstGeom>
          <a:solidFill>
            <a:srgbClr val="0047ff"/>
          </a:solidFill>
          <a:ln w="9144">
            <a:solidFill>
              <a:srgbClr val="000000"/>
            </a:solidFill>
          </a:ln>
          <a:effectLst>
            <a:outerShdw algn="ctr" blurRad="76320" dir="2700000" dist="37674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report or wrapper FM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94" name="c_1_DiagramCanvas:node1"/>
          <p:cNvSpPr/>
          <p:nvPr/>
        </p:nvSpPr>
        <p:spPr>
          <a:xfrm>
            <a:off x="4800600" y="2514600"/>
            <a:ext cx="2377080" cy="731160"/>
          </a:xfrm>
          <a:prstGeom prst="flowChartMagneticDisk">
            <a:avLst/>
          </a:prstGeom>
          <a:solidFill>
            <a:srgbClr val="898989"/>
          </a:solidFill>
          <a:ln w="9144">
            <a:solidFill>
              <a:srgbClr val="000000"/>
            </a:solidFill>
          </a:ln>
          <a:effectLst>
            <a:outerShdw algn="ctr" blurRad="76320" dir="2700000" dist="37674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000000"/>
                </a:solidFill>
                <a:latin typeface="Calibri"/>
              </a:rPr>
              <a:t>credential bag · 11 entries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95" name="c_1_DiagramCanvas:node2"/>
          <p:cNvSpPr/>
          <p:nvPr/>
        </p:nvSpPr>
        <p:spPr>
          <a:xfrm>
            <a:off x="4800600" y="3429000"/>
            <a:ext cx="2377080" cy="731160"/>
          </a:xfrm>
          <a:prstGeom prst="roundRect">
            <a:avLst>
              <a:gd name="adj" fmla="val 16667"/>
            </a:avLst>
          </a:prstGeom>
          <a:solidFill>
            <a:srgbClr val="e06c00"/>
          </a:solidFill>
          <a:ln w="9144">
            <a:solidFill>
              <a:srgbClr val="000000"/>
            </a:solidFill>
          </a:ln>
          <a:effectLst>
            <a:outerShdw algn="ctr" blurRad="76320" dir="2700000" dist="37674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000000"/>
                </a:solidFill>
                <a:latin typeface="Calibri"/>
              </a:rPr>
              <a:t>ABAP-side single point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96" name="c_1_DiagramCanvas:node3"/>
          <p:cNvSpPr/>
          <p:nvPr/>
        </p:nvSpPr>
        <p:spPr>
          <a:xfrm>
            <a:off x="4800600" y="4343400"/>
            <a:ext cx="2377080" cy="731160"/>
          </a:xfrm>
          <a:prstGeom prst="roundRect">
            <a:avLst>
              <a:gd name="adj" fmla="val 16667"/>
            </a:avLst>
          </a:prstGeom>
          <a:solidFill>
            <a:srgbClr val="e614eb"/>
          </a:solidFill>
          <a:ln w="9144">
            <a:solidFill>
              <a:srgbClr val="000000"/>
            </a:solidFill>
          </a:ln>
          <a:effectLst>
            <a:outerShdw algn="ctr" blurRad="76320" dir="2700000" dist="37674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11 Z-prefixed commands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97" name="c_1_DiagramCanvas:node4"/>
          <p:cNvSpPr/>
          <p:nvPr/>
        </p:nvSpPr>
        <p:spPr>
          <a:xfrm>
            <a:off x="4800600" y="5257800"/>
            <a:ext cx="2377080" cy="731160"/>
          </a:xfrm>
          <a:prstGeom prst="roundRect">
            <a:avLst>
              <a:gd name="adj" fmla="val 16667"/>
            </a:avLst>
          </a:prstGeom>
          <a:solidFill>
            <a:srgbClr val="e80202"/>
          </a:solidFill>
          <a:ln w="9144">
            <a:solidFill>
              <a:srgbClr val="000000"/>
            </a:solidFill>
          </a:ln>
          <a:effectLst>
            <a:outerShdw algn="ctr" blurRad="76320" dir="2700000" dist="37674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-&gt; 8 remote endpoints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98" name="c_1_DiagramCanvas:conn0"/>
          <p:cNvSpPr/>
          <p:nvPr/>
        </p:nvSpPr>
        <p:spPr>
          <a:xfrm flipV="1">
            <a:off x="5989320" y="2331000"/>
            <a:ext cx="360" cy="182520"/>
          </a:xfrm>
          <a:prstGeom prst="bentConnector3">
            <a:avLst>
              <a:gd name="adj1" fmla="val 50000"/>
            </a:avLst>
          </a:prstGeom>
          <a:noFill/>
          <a:ln w="9144">
            <a:solidFill>
              <a:srgbClr val="000000"/>
            </a:solidFill>
            <a:prstDash val="dash"/>
            <a:tailEnd len="med"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199" name="c_1_DiagramCanvas:conn0:text"/>
          <p:cNvSpPr/>
          <p:nvPr/>
        </p:nvSpPr>
        <p:spPr>
          <a:xfrm>
            <a:off x="5592960" y="2283120"/>
            <a:ext cx="792360" cy="2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</a:rPr>
              <a:t>read keys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00" name="c_1_DiagramCanvas:conn1"/>
          <p:cNvSpPr/>
          <p:nvPr/>
        </p:nvSpPr>
        <p:spPr>
          <a:xfrm>
            <a:off x="5989320" y="2331720"/>
            <a:ext cx="360" cy="1097280"/>
          </a:xfrm>
          <a:prstGeom prst="line">
            <a:avLst/>
          </a:prstGeom>
          <a:ln w="9144">
            <a:solidFill>
              <a:srgbClr val="000000"/>
            </a:solidFill>
            <a:tailEnd len="med"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201" name="c_1_DiagramCanvas:conn2"/>
          <p:cNvSpPr/>
          <p:nvPr/>
        </p:nvSpPr>
        <p:spPr>
          <a:xfrm>
            <a:off x="5989320" y="4160520"/>
            <a:ext cx="360" cy="182880"/>
          </a:xfrm>
          <a:prstGeom prst="line">
            <a:avLst/>
          </a:prstGeom>
          <a:ln w="9144">
            <a:solidFill>
              <a:srgbClr val="000000"/>
            </a:solidFill>
            <a:tailEnd len="med"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202" name="c_1_DiagramCanvas:conn2:text"/>
          <p:cNvSpPr/>
          <p:nvPr/>
        </p:nvSpPr>
        <p:spPr>
          <a:xfrm>
            <a:off x="5392080" y="4101480"/>
            <a:ext cx="1173240" cy="2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</a:rPr>
              <a:t>commandname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03" name="c_1_DiagramCanvas:conn3"/>
          <p:cNvSpPr/>
          <p:nvPr/>
        </p:nvSpPr>
        <p:spPr>
          <a:xfrm>
            <a:off x="5989320" y="5074920"/>
            <a:ext cx="360" cy="182880"/>
          </a:xfrm>
          <a:prstGeom prst="line">
            <a:avLst/>
          </a:prstGeom>
          <a:ln w="9144">
            <a:solidFill>
              <a:srgbClr val="000000"/>
            </a:solidFill>
            <a:tailEnd len="med"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000000"/>
                </a:solidFill>
                <a:latin typeface="Calibri"/>
                <a:ea typeface="Calibri"/>
              </a:rPr>
              <a:t>What the new SFTP layer must do · retro</a:t>
            </a:r>
            <a:endParaRPr b="0" lang="en-US" sz="2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5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361152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1000" spc="299" strike="noStrike" cap="all">
                <a:solidFill>
                  <a:srgbClr val="000000"/>
                </a:solidFill>
                <a:latin typeface="Calibri"/>
                <a:ea typeface="Calibri"/>
              </a:rPr>
              <a:t>HANDOFF · LESSONS</a:t>
            </a:r>
            <a:endParaRPr b="0" lang="en-US" sz="1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6" name="ContentArea"/>
          <p:cNvSpPr/>
          <p:nvPr/>
        </p:nvSpPr>
        <p:spPr>
          <a:xfrm>
            <a:off x="457200" y="1463040"/>
            <a:ext cx="11063880" cy="4663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7" name="c_1_BlockGrid:0:c_1_Block"/>
          <p:cNvSpPr/>
          <p:nvPr/>
        </p:nvSpPr>
        <p:spPr>
          <a:xfrm>
            <a:off x="457200" y="1463040"/>
            <a:ext cx="3565800" cy="2011320"/>
          </a:xfrm>
          <a:prstGeom prst="rect">
            <a:avLst/>
          </a:prstGeom>
          <a:gradFill rotWithShape="0">
            <a:gsLst>
              <a:gs pos="0">
                <a:srgbClr val="003fe5"/>
              </a:gs>
              <a:gs pos="100000">
                <a:srgbClr val="1959ff"/>
              </a:gs>
            </a:gsLst>
            <a:lin ang="1620000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Auth &amp; direction</a:t>
            </a:r>
            <a:endParaRPr b="0" lang="en-US" sz="1400" spc="-1" strike="noStrike">
              <a:latin typeface="Arial"/>
            </a:endParaRPr>
          </a:p>
          <a:p>
            <a:pPr marL="228600" indent="-18288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</a:rPr>
              <a:t>Key-based AND password-based.</a:t>
            </a:r>
            <a:endParaRPr b="0" lang="en-US" sz="1100" spc="-1" strike="noStrike">
              <a:latin typeface="Arial"/>
            </a:endParaRPr>
          </a:p>
          <a:p>
            <a:pPr marL="228600" indent="-18288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</a:rPr>
              <a:t>Pull · push · both.</a:t>
            </a:r>
            <a:endParaRPr b="0" lang="en-US" sz="1100" spc="-1" strike="noStrike">
              <a:latin typeface="Arial"/>
            </a:endParaRPr>
          </a:p>
          <a:p>
            <a:pPr marL="228600" indent="-18288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</a:rPr>
              <a:t>PGP layer for BNP push.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208" name="c_1_BlockGrid:1:c_2_Block"/>
          <p:cNvSpPr/>
          <p:nvPr/>
        </p:nvSpPr>
        <p:spPr>
          <a:xfrm>
            <a:off x="4206240" y="1463040"/>
            <a:ext cx="3565800" cy="2011320"/>
          </a:xfrm>
          <a:prstGeom prst="rect">
            <a:avLst/>
          </a:prstGeom>
          <a:gradFill rotWithShape="0">
            <a:gsLst>
              <a:gs pos="0">
                <a:srgbClr val="0d6976"/>
              </a:gs>
              <a:gs pos="100000">
                <a:srgbClr val="1292a3"/>
              </a:gs>
            </a:gsLst>
            <a:lin ang="16200000"/>
          </a:gradFill>
          <a:ln w="3175">
            <a:solidFill>
              <a:srgbClr val="303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Surface to keep</a:t>
            </a:r>
            <a:endParaRPr b="0" lang="en-US" sz="1400" spc="-1" strike="noStrike">
              <a:latin typeface="Arial"/>
            </a:endParaRPr>
          </a:p>
          <a:p>
            <a:pPr marL="228600" indent="-18288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</a:rPr>
              <a:t>zfi_constants stays or 1:1 shim.</a:t>
            </a:r>
            <a:endParaRPr b="0" lang="en-US" sz="1100" spc="-1" strike="noStrike">
              <a:latin typeface="Arial"/>
            </a:endParaRPr>
          </a:p>
          <a:p>
            <a:pPr marL="228600" indent="-18288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</a:rPr>
              <a:t>11 SM69 endpoints · 1 per host.</a:t>
            </a:r>
            <a:endParaRPr b="0" lang="en-US" sz="1100" spc="-1" strike="noStrike">
              <a:latin typeface="Arial"/>
            </a:endParaRPr>
          </a:p>
          <a:p>
            <a:pPr marL="228600" indent="-18288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</a:rPr>
              <a:t>exitcode + exec_protocol semantics.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209" name="c_1_BlockGrid:2:c_3_Block"/>
          <p:cNvSpPr/>
          <p:nvPr/>
        </p:nvSpPr>
        <p:spPr>
          <a:xfrm>
            <a:off x="7955280" y="1463040"/>
            <a:ext cx="3565800" cy="2011320"/>
          </a:xfrm>
          <a:prstGeom prst="rect">
            <a:avLst/>
          </a:prstGeom>
          <a:gradFill rotWithShape="0">
            <a:gsLst>
              <a:gs pos="0">
                <a:srgbClr val="c65f00"/>
              </a:gs>
              <a:gs pos="100000">
                <a:srgbClr val="f97800"/>
              </a:gs>
            </a:gsLst>
            <a:lin ang="1620000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Unknown to resolve</a:t>
            </a:r>
            <a:endParaRPr b="0" lang="en-US" sz="1400" spc="-1" strike="noStrike">
              <a:latin typeface="Arial"/>
            </a:endParaRPr>
          </a:p>
          <a:p>
            <a:pPr marL="228600" indent="-18288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000000"/>
                </a:solidFill>
                <a:latin typeface="Calibri"/>
              </a:rPr>
              <a:t>OS-side script per SM69 · needs Basis.</a:t>
            </a:r>
            <a:endParaRPr b="0" lang="en-US" sz="1100" spc="-1" strike="noStrike">
              <a:latin typeface="Arial"/>
            </a:endParaRPr>
          </a:p>
          <a:p>
            <a:pPr marL="228600" indent="-18288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000000"/>
                </a:solidFill>
                <a:latin typeface="Calibri"/>
              </a:rPr>
              <a:t>FTP_PORT customizing · non-defaults.</a:t>
            </a:r>
            <a:endParaRPr b="0" lang="en-US" sz="1100" spc="-1" strike="noStrike">
              <a:latin typeface="Arial"/>
            </a:endParaRPr>
          </a:p>
          <a:p>
            <a:pPr marL="228600" indent="-18288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000000"/>
                </a:solidFill>
                <a:latin typeface="Calibri"/>
              </a:rPr>
              <a:t>ZDMS_SEND_FILE · zero callers.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210" name="c_2_BlockGrid:0:c_4_Block"/>
          <p:cNvSpPr/>
          <p:nvPr/>
        </p:nvSpPr>
        <p:spPr>
          <a:xfrm>
            <a:off x="457200" y="3657600"/>
            <a:ext cx="5440320" cy="2468520"/>
          </a:xfrm>
          <a:prstGeom prst="rect">
            <a:avLst/>
          </a:prstGeom>
          <a:gradFill rotWithShape="0">
            <a:gsLst>
              <a:gs pos="0">
                <a:srgbClr val="0d6976"/>
              </a:gs>
              <a:gs pos="100000">
                <a:srgbClr val="1292a3"/>
              </a:gs>
            </a:gsLst>
            <a:lin ang="16200000"/>
          </a:gradFill>
          <a:ln w="3175">
            <a:solidFill>
              <a:srgbClr val="303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What worked</a:t>
            </a:r>
            <a:endParaRPr b="0" lang="en-US" sz="1400" spc="-1" strike="noStrike">
              <a:latin typeface="Arial"/>
            </a:endParaRPr>
          </a:p>
          <a:p>
            <a:pPr marL="228600" indent="-18288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</a:rPr>
              <a:t>3-marker sweep (PRIVATE_KEY_PATH / FTP_PSWD / _FROM_SFTP) found +11 beyond seeds.</a:t>
            </a:r>
            <a:endParaRPr b="0" lang="en-US" sz="1100" spc="-1" strike="noStrike">
              <a:latin typeface="Arial"/>
            </a:endParaRPr>
          </a:p>
          <a:p>
            <a:pPr marL="228600" indent="-18288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</a:rPr>
              <a:t>Sequential single-keyword scans completed where AND-shape queries timed out.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211" name="c_2_BlockGrid:1:c_5_Block"/>
          <p:cNvSpPr/>
          <p:nvPr/>
        </p:nvSpPr>
        <p:spPr>
          <a:xfrm>
            <a:off x="6080760" y="3657600"/>
            <a:ext cx="5440320" cy="2468520"/>
          </a:xfrm>
          <a:prstGeom prst="rect">
            <a:avLst/>
          </a:prstGeom>
          <a:gradFill rotWithShape="0">
            <a:gsLst>
              <a:gs pos="0">
                <a:srgbClr val="7c7c7c"/>
              </a:gs>
              <a:gs pos="100000">
                <a:srgbClr val="959595"/>
              </a:gs>
            </a:gsLst>
            <a:lin ang="1620000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What to improve</a:t>
            </a:r>
            <a:endParaRPr b="0" lang="en-US" sz="1400" spc="-1" strike="noStrike">
              <a:latin typeface="Arial"/>
            </a:endParaRPr>
          </a:p>
          <a:p>
            <a:pPr marL="228600" indent="-18288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000000"/>
                </a:solidFill>
                <a:latin typeface="Calibri"/>
              </a:rPr>
              <a:t>FUGR full-source read limited · enumerate FMs by name as workaround.</a:t>
            </a:r>
            <a:endParaRPr b="0" lang="en-US" sz="1100" spc="-1" strike="noStrike">
              <a:latin typeface="Arial"/>
            </a:endParaRPr>
          </a:p>
          <a:p>
            <a:pPr marL="228600" indent="-18288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000000"/>
                </a:solidFill>
                <a:latin typeface="Calibri"/>
              </a:rPr>
              <a:t>Hardcoded SFTP without zfi_constants would slip past marker scan.</a:t>
            </a: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a0a0a0"/>
      </a:dk2>
      <a:lt2>
        <a:srgbClr val="fbfafa"/>
      </a:lt2>
      <a:accent1>
        <a:srgbClr val="060606"/>
      </a:accent1>
      <a:accent2>
        <a:srgbClr val="418dff"/>
      </a:accent2>
      <a:accent3>
        <a:srgbClr val="107e8d"/>
      </a:accent3>
      <a:accent4>
        <a:srgbClr val="8353d2"/>
      </a:accent4>
      <a:accent5>
        <a:srgbClr val="3055da"/>
      </a:accent5>
      <a:accent6>
        <a:srgbClr val="009cbe"/>
      </a:accent6>
      <a:hlink>
        <a:srgbClr val="61e2bb"/>
      </a:hlink>
      <a:folHlink>
        <a:srgbClr val="03815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a0a0a0"/>
      </a:dk2>
      <a:lt2>
        <a:srgbClr val="fbfafa"/>
      </a:lt2>
      <a:accent1>
        <a:srgbClr val="060606"/>
      </a:accent1>
      <a:accent2>
        <a:srgbClr val="418dff"/>
      </a:accent2>
      <a:accent3>
        <a:srgbClr val="107e8d"/>
      </a:accent3>
      <a:accent4>
        <a:srgbClr val="8353d2"/>
      </a:accent4>
      <a:accent5>
        <a:srgbClr val="3055da"/>
      </a:accent5>
      <a:accent6>
        <a:srgbClr val="009cbe"/>
      </a:accent6>
      <a:hlink>
        <a:srgbClr val="61e2bb"/>
      </a:hlink>
      <a:folHlink>
        <a:srgbClr val="03815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a0a0a0"/>
      </a:dk2>
      <a:lt2>
        <a:srgbClr val="fbfafa"/>
      </a:lt2>
      <a:accent1>
        <a:srgbClr val="060606"/>
      </a:accent1>
      <a:accent2>
        <a:srgbClr val="418dff"/>
      </a:accent2>
      <a:accent3>
        <a:srgbClr val="107e8d"/>
      </a:accent3>
      <a:accent4>
        <a:srgbClr val="8353d2"/>
      </a:accent4>
      <a:accent5>
        <a:srgbClr val="3055da"/>
      </a:accent5>
      <a:accent6>
        <a:srgbClr val="009cbe"/>
      </a:accent6>
      <a:hlink>
        <a:srgbClr val="61e2bb"/>
      </a:hlink>
      <a:folHlink>
        <a:srgbClr val="03815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customXml/_rels/item1.xml.rels><?xml version="1.0" encoding="UTF-8"?>
<Relationships xmlns="http://schemas.openxmlformats.org/package/2006/relationships"><Relationship Id="rId1" Type="http://schemas.openxmlformats.org/officeDocument/2006/relationships/customXmlProps" Target="itemProps1.xml"/>
</Relationships>
</file>

<file path=customXml/_rels/item2.xml.rels><?xml version="1.0" encoding="UTF-8"?>
<Relationships xmlns="http://schemas.openxmlformats.org/package/2006/relationships"><Relationship Id="rId1" Type="http://schemas.openxmlformats.org/officeDocument/2006/relationships/customXmlProps" Target="itemProps2.xml"/>
</Relationships>
</file>

<file path=customXml/_rels/item3.xml.rels><?xml version="1.0" encoding="UTF-8"?>
<Relationships xmlns="http://schemas.openxmlformats.org/package/2006/relationships"><Relationship Id="rId1" Type="http://schemas.openxmlformats.org/officeDocument/2006/relationships/customXmlProps" Target="itemProps3.xml"/>
</Relationships>
</file>

<file path=customXml/_rels/item4.xml.rels><?xml version="1.0" encoding="UTF-8"?>
<Relationships xmlns="http://schemas.openxmlformats.org/package/2006/relationships"><Relationship Id="rId1" Type="http://schemas.openxmlformats.org/officeDocument/2006/relationships/customXmlProps" Target="itemProps4.xml"/>
</Relationships>
</file>

<file path=customXml/item1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f45da436-b9c0-45a6-9ecc-c0655a249673">
      <Value>1635</Value>
      <Value>116</Value>
      <Value>72</Value>
      <Value>1</Value>
      <Value>3444</Value>
    </TaxCatchAll>
    <LikesCount xmlns="http://schemas.microsoft.com/sharepoint/v3">37</LikesCount>
    <ica38aae1f42489fb9720caef7617fcd xmlns="f45da436-b9c0-45a6-9ecc-c0655a249673">
      <Terms xmlns="http://schemas.microsoft.com/office/infopath/2007/PartnerControls">
        <TermInfo>
          <TermName>General Decks:About EPAM</TermName>
          <TermId>1bb3a607-45a4-4116-99d9-b95075743ae1</TermId>
        </TermInfo>
      </Terms>
    </ica38aae1f42489fb9720caef7617fcd>
    <StoryOwner xmlns="f45da436-b9c0-45a6-9ecc-c0655a249673">
      <UserInfo>
        <DisplayName>c:0t.c|tenant|5250c590-249d-4ccd-91b6-76bf54384662</DisplayName>
        <AccountId>15</AccountId>
        <AccountType/>
      </UserInfo>
      <UserInfo>
        <DisplayName>i:0#.f|membership|viktar_dvorkin@epam.com,#i:0#.f|membership|viktar_dvorkin@epam.com,#Viktar_Dvorkin@epam.com,#Viktar_Dvorkin@epam.com,#Viktar Dvorkin,#,#GDO Office,#SVP, Global Head of Advanced Engineering, Cloud and Enterprise Platforms</DisplayName>
        <AccountId>1450</AccountId>
        <AccountType/>
      </UserInfo>
    </StoryOwner>
    <StoryVideoLink xmlns="f45da436-b9c0-45a6-9ecc-c0655a249673">
      <Url>https://videoportal.epam.com/video/2JwbXbYM</Url>
      <Description>https://videoportal.epam.com/video/2JwbXbYM</Description>
    </StoryVideoLink>
    <a6a6423fd38e469e9a7567459672989e xmlns="f45da436-b9c0-45a6-9ecc-c0655a249673">
      <Terms xmlns="http://schemas.microsoft.com/office/infopath/2007/PartnerControls">
        <TermInfo>
          <TermName>Continuum</TermName>
          <TermId>036b37b0-418a-48a3-ad40-f27762061154</TermId>
        </TermInfo>
        <TermInfo>
          <TermName>About EPAM</TermName>
          <TermId>e35b7162-8377-4ac0-bb47-f30ed6f0902e</TermId>
        </TermInfo>
      </Terms>
    </a6a6423fd38e469e9a7567459672989e>
    <ExpirationDate xmlns="f45da436-b9c0-45a6-9ecc-c0655a249673">2025-11-20T00:00:00+00:00</ExpirationDate>
    <_dlc_DocId xmlns="f45da436-b9c0-45a6-9ecc-c0655a249673">EPAMSTORY-1389392072-5</_dlc_DocId>
    <_dlc_DocIdUrl xmlns="f45da436-b9c0-45a6-9ecc-c0655a249673">
      <Url>https://epam.sharepoint.com/sites/EPAMPresalesStories/_layouts/15/DocIdRedir.aspx?ID=EPAMSTORY-1389392072-5</Url>
      <Description>EPAMSTORY-1389392072-5</Description>
    </_dlc_DocIdUrl>
    <ExpirationStatus xmlns="cce964ea-0c98-4d20-81b3-11b96e0098eb">ok</ExpirationStatus>
    <ConfigNotes xmlns="http://schemas.microsoft.com/sharepoint/v3" xsi:nil="true"/>
    <o10324d9d8f24f3d87174cfdfd74b2e5 xmlns="f45da436-b9c0-45a6-9ecc-c0655a249673">
      <Terms xmlns="http://schemas.microsoft.com/office/infopath/2007/PartnerControls">
        <TermInfo>
          <TermName>About EPAM</TermName>
          <TermId>5e1ed0a0-89ac-446a-837d-6ea8b9460059</TermId>
        </TermInfo>
      </Terms>
    </o10324d9d8f24f3d87174cfdfd74b2e5>
    <Contributors xmlns="cce964ea-0c98-4d20-81b3-11b96e0098eb">
      <UserInfo>
        <DisplayName/>
        <AccountId xsi:nil="true"/>
        <AccountType/>
      </UserInfo>
    </Contributors>
    <Part_x0020_of_x0020_Story xmlns="f45da436-b9c0-45a6-9ecc-c0655a249673" xsi:nil="true"/>
    <SharedWithUsers xmlns="f45da436-b9c0-45a6-9ecc-c0655a249673">
      <UserInfo>
        <DisplayName/>
        <AccountId xsi:nil="true"/>
        <AccountType/>
      </UserInfo>
    </SharedWithUsers>
    <TaxCatchAllLabel xmlns="f45da436-b9c0-45a6-9ecc-c0655a249673" xsi:nil="true"/>
    <_dlc_DocIdPersistId xmlns="f45da436-b9c0-45a6-9ecc-c0655a249673" xsi:nil="true"/>
    <h557d92785684d7cbabbc42229493ceb xmlns="f45da436-b9c0-45a6-9ecc-c0655a249673">
      <Terms xmlns="http://schemas.microsoft.com/office/infopath/2007/PartnerControls">
        <TermInfo>
          <TermName>Confidential: NDA Required</TermName>
          <TermId>1078c1ca-8558-4f4e-bb3a-506201fcb43c</TermId>
        </TermInfo>
      </Terms>
    </h557d92785684d7cbabbc42229493ceb>
    <d0b4fb09d84842999ca30d5dd3a1ca39 xmlns="f45da436-b9c0-45a6-9ecc-c0655a249673">
      <Terms xmlns="http://schemas.microsoft.com/office/infopath/2007/PartnerControls"/>
    </d0b4fb09d84842999ca30d5dd3a1ca39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EPAM Story" ma:contentTypeID="0x0101009D00C2DDB7BE0A4F95197A46FA9E762A002B352ACE8C7DF74FABD5BBBE23F6FD6F" ma:contentTypeVersion="24" ma:contentTypeDescription="Create a new EPAM Story" ma:contentTypeScope="" ma:versionID="6c7ad0fab38022b33ef4691436c7fb7a">
  <xsd:schema xmlns:xsd="http://www.w3.org/2001/XMLSchema" xmlns:xs="http://www.w3.org/2001/XMLSchema" xmlns:p="http://schemas.microsoft.com/office/2006/metadata/properties" xmlns:ns1="http://schemas.microsoft.com/sharepoint/v3" xmlns:ns2="f45da436-b9c0-45a6-9ecc-c0655a249673" xmlns:ns3="cce964ea-0c98-4d20-81b3-11b96e0098eb" targetNamespace="http://schemas.microsoft.com/office/2006/metadata/properties" ma:root="true" ma:fieldsID="aef5d73f16a20ab942390f9d63fc4095" ns1:_="" ns2:_="" ns3:_="">
    <xsd:import namespace="http://schemas.microsoft.com/sharepoint/v3"/>
    <xsd:import namespace="f45da436-b9c0-45a6-9ecc-c0655a249673"/>
    <xsd:import namespace="cce964ea-0c98-4d20-81b3-11b96e0098eb"/>
    <xsd:element name="properties">
      <xsd:complexType>
        <xsd:sequence>
          <xsd:element name="documentManagement">
            <xsd:complexType>
              <xsd:all>
                <xsd:element ref="ns2:ExpirationDate"/>
                <xsd:element ref="ns2:StoryOwner"/>
                <xsd:element ref="ns3:Contributors" minOccurs="0"/>
                <xsd:element ref="ns3:ExpirationStatus" minOccurs="0"/>
                <xsd:element ref="ns2:Part_x0020_of_x0020_Story" minOccurs="0"/>
                <xsd:element ref="ns2:StoryVideoLink" minOccurs="0"/>
                <xsd:element ref="ns1:ConfigNotes" minOccurs="0"/>
                <xsd:element ref="ns2:_dlc_DocIdUrl" minOccurs="0"/>
                <xsd:element ref="ns2:a6a6423fd38e469e9a7567459672989e" minOccurs="0"/>
                <xsd:element ref="ns1:LikesCount" minOccurs="0"/>
                <xsd:element ref="ns2:SharedWithUsers" minOccurs="0"/>
                <xsd:element ref="ns2:SharedWithDetails" minOccurs="0"/>
                <xsd:element ref="ns2:ica38aae1f42489fb9720caef7617fcd" minOccurs="0"/>
                <xsd:element ref="ns2:_dlc_DocId" minOccurs="0"/>
                <xsd:element ref="ns2:o10324d9d8f24f3d87174cfdfd74b2e5" minOccurs="0"/>
                <xsd:element ref="ns2:_dlc_DocIdPersistId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2:h557d92785684d7cbabbc42229493ceb" minOccurs="0"/>
                <xsd:element ref="ns3:MediaServiceBillingMetadata" minOccurs="0"/>
                <xsd:element ref="ns2:d0b4fb09d84842999ca30d5dd3a1ca39" minOccurs="0"/>
                <xsd:element ref="ns2:TaxCatchAllLabel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ConfigNotes" ma:index="11" nillable="true" ma:displayName="Notes" ma:internalName="ConfigNotes" ma:readOnly="false">
      <xsd:simpleType>
        <xsd:restriction base="dms:Note">
          <xsd:maxLength value="255"/>
        </xsd:restriction>
      </xsd:simpleType>
    </xsd:element>
    <xsd:element name="LikesCount" ma:index="19" nillable="true" ma:displayName="Number of Likes" ma:hidden="true" ma:internalName="LikesCount" ma:readOnly="fals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45da436-b9c0-45a6-9ecc-c0655a249673" elementFormDefault="qualified">
    <xsd:import namespace="http://schemas.microsoft.com/office/2006/documentManagement/types"/>
    <xsd:import namespace="http://schemas.microsoft.com/office/infopath/2007/PartnerControls"/>
    <xsd:element name="ExpirationDate" ma:index="4" ma:displayName="Review Date" ma:default="[today]" ma:format="DateOnly" ma:internalName="ExpirationDate" ma:readOnly="false">
      <xsd:simpleType>
        <xsd:restriction base="dms:DateTime"/>
      </xsd:simpleType>
    </xsd:element>
    <xsd:element name="StoryOwner" ma:index="5" ma:displayName="StoryOwner" ma:list="UserInfo" ma:SearchPeopleOnly="false" ma:SharePointGroup="0" ma:internalName="StoryOwner" ma:readOnly="fals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Part_x0020_of_x0020_Story" ma:index="9" nillable="true" ma:displayName="Part of Collection" ma:list="{caf6492b-c3a1-41e6-9ddd-75f5bc3198ae}" ma:internalName="Part_x0020_of_x0020_Story" ma:readOnly="false" ma:showField="Title" ma:web="f45da436-b9c0-45a6-9ecc-c0655a24967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toryVideoLink" ma:index="10" nillable="true" ma:displayName="StoryVideoLink" ma:description="Link to video on EPAM VideoPortal about this story" ma:format="Hyperlink" ma:internalName="StoryVideoLink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Url" ma:index="14" nillable="true" ma:displayName="Document ID" ma:description="Permanent link to this document." ma:hidden="true" ma:internalName="_dlc_DocIdUrl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a6a6423fd38e469e9a7567459672989e" ma:index="17" nillable="true" ma:taxonomy="true" ma:internalName="a6a6423fd38e469e9a7567459672989e" ma:taxonomyFieldName="StoryTags" ma:displayName="StoryTags" ma:readOnly="false" ma:default="" ma:fieldId="{a6a6423f-d38e-469e-9a75-67459672989e}" ma:taxonomyMulti="true" ma:sspId="debda6a7-6b37-4000-ac6c-4fd0a963898e" ma:termSetId="f1da140d-ef9e-4ced-9281-d8ea40222c81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SharedWithUsers" ma:index="21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Shared With Details" ma:hidden="true" ma:internalName="SharedWithDetails" ma:readOnly="true">
      <xsd:simpleType>
        <xsd:restriction base="dms:Note"/>
      </xsd:simpleType>
    </xsd:element>
    <xsd:element name="ica38aae1f42489fb9720caef7617fcd" ma:index="23" ma:taxonomy="true" ma:internalName="ica38aae1f42489fb9720caef7617fcd" ma:taxonomyFieldName="Story" ma:displayName="Taxonomy" ma:readOnly="false" ma:default="" ma:fieldId="{2ca38aae-1f42-489f-b972-0caef7617fcd}" ma:taxonomyMulti="true" ma:sspId="debda6a7-6b37-4000-ac6c-4fd0a963898e" ma:termSetId="d72849a2-9b0d-48bf-bf08-492c9dccb842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_dlc_DocId" ma:index="24" nillable="true" ma:displayName="Document ID Value" ma:description="The value of the document ID assigned to this item." ma:hidden="true" ma:indexed="true" ma:internalName="_dlc_DocId" ma:readOnly="true">
      <xsd:simpleType>
        <xsd:restriction base="dms:Text"/>
      </xsd:simpleType>
    </xsd:element>
    <xsd:element name="o10324d9d8f24f3d87174cfdfd74b2e5" ma:index="25" ma:taxonomy="true" ma:internalName="o10324d9d8f24f3d87174cfdfd74b2e5" ma:taxonomyFieldName="StoryCategories" ma:displayName="StoryCategories" ma:readOnly="false" ma:default="1628;#Capability|437677bb-e3a5-4872-945b-ba4270c6cbb4" ma:fieldId="{810324d9-d8f2-4f3d-8717-4cfdfd74b2e5}" ma:taxonomyMulti="true" ma:sspId="debda6a7-6b37-4000-ac6c-4fd0a963898e" ma:termSetId="ddcebb0a-3fca-4e23-b6a5-f1f8550db231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_dlc_DocIdPersistId" ma:index="27" nillable="true" ma:displayName="Persist ID" ma:description="Keep ID on add." ma:hidden="true" ma:internalName="_dlc_DocIdPersistId" ma:readOnly="false">
      <xsd:simpleType>
        <xsd:restriction base="dms:Boolean"/>
      </xsd:simpleType>
    </xsd:element>
    <xsd:element name="TaxCatchAll" ma:index="28" nillable="true" ma:displayName="Taxonomy Catch All Column" ma:hidden="true" ma:list="{f4ef9fac-c5ce-424a-9df9-4a92c932d921}" ma:internalName="TaxCatchAll" ma:readOnly="false" ma:showField="CatchAllData" ma:web="f45da436-b9c0-45a6-9ecc-c0655a24967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h557d92785684d7cbabbc42229493ceb" ma:index="31" ma:taxonomy="true" ma:internalName="h557d92785684d7cbabbc42229493ceb" ma:taxonomyFieldName="UsagePermission" ma:displayName="UsagePermission" ma:readOnly="false" ma:default="3444;#Confidential: NDA Required|1078c1ca-8558-4f4e-bb3a-506201fcb43c" ma:fieldId="{1557d927-8568-4d7c-babb-c42229493ceb}" ma:sspId="debda6a7-6b37-4000-ac6c-4fd0a963898e" ma:termSetId="8fdd4e80-0ab9-4356-9b99-f53e66d4630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d0b4fb09d84842999ca30d5dd3a1ca39" ma:index="34" nillable="true" ma:taxonomy="true" ma:internalName="d0b4fb09d84842999ca30d5dd3a1ca39" ma:taxonomyFieldName="VCN" ma:displayName="VCN" ma:readOnly="false" ma:default="" ma:fieldId="{d0b4fb09-d848-4299-9ca3-0d5dd3a1ca39}" ma:taxonomyMulti="true" ma:sspId="debda6a7-6b37-4000-ac6c-4fd0a963898e" ma:termSetId="983cafd6-05e4-4154-90f9-0772cf21af68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Label" ma:index="35" nillable="true" ma:displayName="Taxonomy Catch All Column1" ma:hidden="true" ma:list="{f4ef9fac-c5ce-424a-9df9-4a92c932d921}" ma:internalName="TaxCatchAllLabel" ma:readOnly="false" ma:showField="CatchAllDataLabel" ma:web="f45da436-b9c0-45a6-9ecc-c0655a24967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ce964ea-0c98-4d20-81b3-11b96e0098eb" elementFormDefault="qualified">
    <xsd:import namespace="http://schemas.microsoft.com/office/2006/documentManagement/types"/>
    <xsd:import namespace="http://schemas.microsoft.com/office/infopath/2007/PartnerControls"/>
    <xsd:element name="Contributors" ma:index="6" nillable="true" ma:displayName="Contributors" ma:format="Dropdown" ma:list="UserInfo" ma:SharePointGroup="0" ma:internalName="Contributors" ma:readOnly="fals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xpirationStatus" ma:index="7" nillable="true" ma:displayName="ExpirationStatus" ma:internalName="ExpirationStatus" ma:readOnly="false">
      <xsd:simpleType>
        <xsd:restriction base="dms:Text">
          <xsd:maxLength value="255"/>
        </xsd:restriction>
      </xsd:simpleType>
    </xsd:element>
    <xsd:element name="MediaServiceObjectDetectorVersions" ma:index="2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3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GenerationTime" ma:index="3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0CB216C-B8AE-4FE7-A9EB-F5691280A8C7}">
  <ds:schemaRefs>
    <ds:schemaRef ds:uri="http://schemas.microsoft.com/sharepoint/events"/>
  </ds:schemaRefs>
</ds:datastoreItem>
</file>

<file path=customXml/itemProps2.xml><?xml version="1.0" encoding="utf-8"?>
<ds:datastoreItem xmlns:ds="http://schemas.openxmlformats.org/officeDocument/2006/customXml" ds:itemID="{D5483322-9D94-4891-9E64-C985B1D86A41}">
  <ds:schemaRefs>
    <ds:schemaRef ds:uri="f45da436-b9c0-45a6-9ecc-c0655a249673"/>
    <ds:schemaRef ds:uri="http://purl.org/dc/dcmitype/"/>
    <ds:schemaRef ds:uri="http://purl.org/dc/terms/"/>
    <ds:schemaRef ds:uri="http://purl.org/dc/elements/1.1/"/>
    <ds:schemaRef ds:uri="http://schemas.microsoft.com/sharepoint/v3"/>
    <ds:schemaRef ds:uri="http://schemas.microsoft.com/office/2006/documentManagement/types"/>
    <ds:schemaRef ds:uri="http://www.w3.org/XML/1998/namespace"/>
    <ds:schemaRef ds:uri="cce964ea-0c98-4d20-81b3-11b96e0098eb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9BE67F4B-6A2F-473F-80F8-05CE7721E7A5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223FEB0C-CC02-4177-8430-04E42C5C0C3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f45da436-b9c0-45a6-9ecc-c0655a249673"/>
    <ds:schemaRef ds:uri="cce964ea-0c98-4d20-81b3-11b96e0098e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Covers</Template>
  <TotalTime>1267</TotalTime>
  <Application>LibreOffice/7.3.7.2$Linux_X86_64 LibreOffice_project/30$Build-2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2018-01-26T19:23:30Z</dcterms:created>
  <dc:creator>Jennifer Markowitz</dc:creator>
  <dc:description/>
  <dc:language>en-US</dc:language>
  <cp:lastModifiedBy/>
  <dcterms:modified xsi:type="dcterms:W3CDTF">2026-05-21T11:40:22Z</dcterms:modified>
  <cp:revision>5</cp:revision>
  <dc:subject/>
  <dc:title>EPAM Overview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0x0101009D00C2DDB7BE0A4F95197A46FA9E762A002B352ACE8C7DF74FABD5BBBE23F6FD6F</vt:lpwstr>
  </property>
  <property fmtid="{D5CDD505-2E9C-101B-9397-08002B2CF9AE}" pid="3" name="ImportRevision">
    <vt:lpwstr>636751944040000000</vt:lpwstr>
  </property>
  <property fmtid="{D5CDD505-2E9C-101B-9397-08002B2CF9AE}" pid="4" name="LikedBy">
    <vt:lpwstr>17;#Palina Vilava;#78;#Martin Asencio;#39;#Sergey Levchenko;#970;#Jesal Panchal;#5014;#Yury Slobodski;#243;#Esmy Jensen;#2461;#David Aldrich;#36;#Yuliya Ziaziulina;#899;#Markus Eriksson;#1694;#David Guerri;#7200;#Anand Topu;#219;#Sofia Odintseva;#22949;#Andrew Macey;#9941;#Ilya Kuntsevich;#22597;#Claudia Gorham1;#23522;#Volodymyr Stepanets (Contractor);#24069;#Deborah Regal;#24283;#Vladimir Grevtsev;#27435;#Ryan Ahmed;#20380;#Karan Bhardwaj;#27681;#Caroline Prenn;#24469;#Maneesh Khare;#30037;#CLAUDIA GIANFELICE;#418;#Gary Thomson;#863;#Ghislain Siewe;#7315;#Vivek Agarwal;#31715;#Mahesh Aluvala;#32105;#Alexa Robinson;#32214;#Ted Slater;#22485;#Giuseppe Riefoli;#33929;#Trinh Nguyen;#3914;#Bogdan Jurjevich;#2215;#Taryn Hess;#35911;#Kiryl Domnitch;#16039;#Quentin Odier;#15333;#Jack Maher;#29060;#i:0#.f|membership|marius_constantinescu@epam.com</vt:lpwstr>
  </property>
  <property fmtid="{D5CDD505-2E9C-101B-9397-08002B2CF9AE}" pid="5" name="MSIP_Label_2a535040-0af2-483f-adc3-a132c21e3e2b_ActionId">
    <vt:lpwstr>6de4626a-a598-4337-88df-2d099c6d2fce</vt:lpwstr>
  </property>
  <property fmtid="{D5CDD505-2E9C-101B-9397-08002B2CF9AE}" pid="6" name="MSIP_Label_2a535040-0af2-483f-adc3-a132c21e3e2b_ContentBits">
    <vt:lpwstr>0</vt:lpwstr>
  </property>
  <property fmtid="{D5CDD505-2E9C-101B-9397-08002B2CF9AE}" pid="7" name="MSIP_Label_2a535040-0af2-483f-adc3-a132c21e3e2b_Enabled">
    <vt:lpwstr>true</vt:lpwstr>
  </property>
  <property fmtid="{D5CDD505-2E9C-101B-9397-08002B2CF9AE}" pid="8" name="MSIP_Label_2a535040-0af2-483f-adc3-a132c21e3e2b_Method">
    <vt:lpwstr>Standard</vt:lpwstr>
  </property>
  <property fmtid="{D5CDD505-2E9C-101B-9397-08002B2CF9AE}" pid="9" name="MSIP_Label_2a535040-0af2-483f-adc3-a132c21e3e2b_Name">
    <vt:lpwstr>EPAM_Confidential</vt:lpwstr>
  </property>
  <property fmtid="{D5CDD505-2E9C-101B-9397-08002B2CF9AE}" pid="10" name="MSIP_Label_2a535040-0af2-483f-adc3-a132c21e3e2b_SetDate">
    <vt:lpwstr>2026-01-27T08:34:32Z</vt:lpwstr>
  </property>
  <property fmtid="{D5CDD505-2E9C-101B-9397-08002B2CF9AE}" pid="11" name="MSIP_Label_2a535040-0af2-483f-adc3-a132c21e3e2b_SiteId">
    <vt:lpwstr>b41b72d0-4e9f-4c26-8a69-f949f367c91d</vt:lpwstr>
  </property>
  <property fmtid="{D5CDD505-2E9C-101B-9397-08002B2CF9AE}" pid="12" name="MSIP_Label_2a535040-0af2-483f-adc3-a132c21e3e2b_Tag">
    <vt:lpwstr>10, 3, 0, 1</vt:lpwstr>
  </property>
  <property fmtid="{D5CDD505-2E9C-101B-9397-08002B2CF9AE}" pid="13" name="PresentationFormat">
    <vt:lpwstr>Widescreen</vt:lpwstr>
  </property>
  <property fmtid="{D5CDD505-2E9C-101B-9397-08002B2CF9AE}" pid="14" name="Story">
    <vt:lpwstr>1;#General Decks:About EPAM|1bb3a607-45a4-4116-99d9-b95075743ae1</vt:lpwstr>
  </property>
  <property fmtid="{D5CDD505-2E9C-101B-9397-08002B2CF9AE}" pid="15" name="StoryCategories">
    <vt:lpwstr>1635;#About EPAM|5e1ed0a0-89ac-446a-837d-6ea8b9460059</vt:lpwstr>
  </property>
  <property fmtid="{D5CDD505-2E9C-101B-9397-08002B2CF9AE}" pid="16" name="StoryTags">
    <vt:lpwstr>72;#Continuum|036b37b0-418a-48a3-ad40-f27762061154;#116;#About EPAM|e35b7162-8377-4ac0-bb47-f30ed6f0902e</vt:lpwstr>
  </property>
  <property fmtid="{D5CDD505-2E9C-101B-9397-08002B2CF9AE}" pid="17" name="StoryTaxonomy">
    <vt:lpwstr>204;#EPAM Overview|107422c5-c5be-4599-981e-e0bc82e53d69</vt:lpwstr>
  </property>
  <property fmtid="{D5CDD505-2E9C-101B-9397-08002B2CF9AE}" pid="18" name="UsagePermission">
    <vt:lpwstr>3444;#Confidential: NDA Required|1078c1ca-8558-4f4e-bb3a-506201fcb43c</vt:lpwstr>
  </property>
  <property fmtid="{D5CDD505-2E9C-101B-9397-08002B2CF9AE}" pid="19" name="VCN">
    <vt:lpwstr/>
  </property>
  <property fmtid="{D5CDD505-2E9C-101B-9397-08002B2CF9AE}" pid="20" name="_dlc_DocIdItemGuid">
    <vt:lpwstr>041f0451-e7b6-47dd-8915-ddc72a6e399d</vt:lpwstr>
  </property>
  <property fmtid="{D5CDD505-2E9C-101B-9397-08002B2CF9AE}" pid="21" name="h098c32ae4474a2397bbdf9bd347fc14">
    <vt:lpwstr>EPAM Overview|107422c5-c5be-4599-981e-e0bc82e53d69</vt:lpwstr>
  </property>
</Properties>
</file>