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2147480214" r:id="rId21"/>
    <p:sldId id="2147480189" r:id="rId24"/>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10.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SFTP Migration Analysis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Customer Z001 namespace · 13-seed stakeholder list · 19 confirmed SFTP-using objects · +46% scope expansion</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Findings &amp; scope</a:t>
            </a:r>
            <a:br>
              <a:rPr lang="pl-PL">
                <a:latin typeface="Calibri Light"/>
                <a:ea typeface="Calibri"/>
                <a:cs typeface="Calibri Light"/>
              </a:rPr>
            </a:b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
        <p:nvSpPr>
          <p:cNvPr id="6" name="Rectangle 5"/>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39293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Bottom line</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HEADLINE NUMBERS</a:t>
            </a:r>
          </a:p>
          <a:p>
            <a:pPr>
              <a:defRPr sz="1200" b="1">
                <a:solidFill>
                  <a:srgbClr val="161616"/>
                </a:solidFill>
                <a:latin typeface="Calibri"/>
              </a:defRPr>
            </a:pPr>
            <a:r>
              <a:t>Total:</a:t>
            </a:r>
            <a:r>
              <a:rPr sz="1200">
                <a:solidFill>
                  <a:srgbClr val="333333"/>
                </a:solidFill>
                <a:latin typeface="Calibri"/>
              </a:rPr>
              <a:t> 19 objects</a:t>
            </a:r>
          </a:p>
          <a:p>
            <a:pPr>
              <a:defRPr sz="1200" b="1">
                <a:solidFill>
                  <a:srgbClr val="161616"/>
                </a:solidFill>
                <a:latin typeface="Calibri"/>
              </a:defRPr>
            </a:pPr>
            <a:r>
              <a:t>Reports:</a:t>
            </a:r>
            <a:r>
              <a:rPr sz="1200">
                <a:solidFill>
                  <a:srgbClr val="333333"/>
                </a:solidFill>
                <a:latin typeface="Calibri"/>
              </a:rPr>
              <a:t> 16 PROG</a:t>
            </a:r>
          </a:p>
          <a:p>
            <a:pPr>
              <a:defRPr sz="1200" b="1">
                <a:solidFill>
                  <a:srgbClr val="161616"/>
                </a:solidFill>
                <a:latin typeface="Calibri"/>
              </a:defRPr>
            </a:pPr>
            <a:r>
              <a:t>Wrappers:</a:t>
            </a:r>
            <a:r>
              <a:rPr sz="1200">
                <a:solidFill>
                  <a:srgbClr val="333333"/>
                </a:solidFill>
                <a:latin typeface="Calibri"/>
              </a:rPr>
              <a:t> 3 FUGR</a:t>
            </a:r>
          </a:p>
          <a:p>
            <a:pPr>
              <a:defRPr sz="1200" b="1">
                <a:solidFill>
                  <a:srgbClr val="161616"/>
                </a:solidFill>
                <a:latin typeface="Calibri"/>
              </a:defRPr>
            </a:pPr>
            <a:r>
              <a:t>SM69:</a:t>
            </a:r>
            <a:r>
              <a:rPr sz="1200">
                <a:solidFill>
                  <a:srgbClr val="333333"/>
                </a:solidFill>
                <a:latin typeface="Calibri"/>
              </a:rPr>
              <a:t> 11</a:t>
            </a:r>
          </a:p>
          <a:p>
            <a:pPr>
              <a:defRPr sz="1200" b="1">
                <a:solidFill>
                  <a:srgbClr val="161616"/>
                </a:solidFill>
                <a:latin typeface="Calibri"/>
              </a:defRPr>
            </a:pPr>
            <a:r>
              <a:t>Auth:</a:t>
            </a:r>
            <a:r>
              <a:rPr sz="1200">
                <a:solidFill>
                  <a:srgbClr val="333333"/>
                </a:solidFill>
                <a:latin typeface="Calibri"/>
              </a:rPr>
              <a:t> key + password</a:t>
            </a:r>
          </a:p>
          <a:p>
            <a:pPr>
              <a:defRPr sz="1200" b="1">
                <a:solidFill>
                  <a:srgbClr val="161616"/>
                </a:solidFill>
                <a:latin typeface="Calibri"/>
              </a:defRPr>
            </a:pPr>
            <a:r>
              <a:t>Endpoints:</a:t>
            </a:r>
            <a:r>
              <a:rPr sz="1200">
                <a:solidFill>
                  <a:srgbClr val="333333"/>
                </a:solidFill>
                <a:latin typeface="Calibri"/>
              </a:rPr>
              <a:t> 8</a:t>
            </a:r>
          </a:p>
          <a:p>
            <a:pPr>
              <a:defRPr sz="1100">
                <a:solidFill>
                  <a:srgbClr val="333333"/>
                </a:solidFill>
                <a:latin typeface="Calibri"/>
              </a:defRPr>
            </a:pPr>
          </a:p>
          <a:p>
            <a:pPr>
              <a:defRPr sz="1100">
                <a:solidFill>
                  <a:srgbClr val="333333"/>
                </a:solidFill>
                <a:latin typeface="Calibri"/>
              </a:defRPr>
            </a:pPr>
            <a:r>
              <a:t>SCOPE EXPANSION</a:t>
            </a:r>
          </a:p>
          <a:p>
            <a:pPr>
              <a:defRPr sz="1100">
                <a:solidFill>
                  <a:srgbClr val="333333"/>
                </a:solidFill>
                <a:latin typeface="Calibri"/>
              </a:defRPr>
            </a:pPr>
            <a:r>
              <a:t>+46% vs seed list</a:t>
            </a:r>
          </a:p>
        </p:txBody>
      </p:sp>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19</a:t>
            </a:r>
          </a:p>
          <a:p>
            <a:pPr algn="ctr">
              <a:defRPr sz="1100">
                <a:solidFill>
                  <a:srgbClr val="FFFFFF"/>
                </a:solidFill>
                <a:latin typeface="Calibri"/>
              </a:defRPr>
            </a:pPr>
            <a:r>
              <a:t>ABAP objects</a:t>
            </a:r>
          </a:p>
        </p:txBody>
      </p:sp>
      <p:sp>
        <p:nvSpPr>
          <p:cNvPr id="51" name="Rectangle 50"/>
          <p:cNvSpPr/>
          <p:nvPr/>
        </p:nvSpPr>
        <p:spPr>
          <a:xfrm>
            <a:off x="6309360" y="731520"/>
            <a:ext cx="2697480" cy="1463040"/>
          </a:xfrm>
          <a:prstGeom prst="rect">
            <a:avLst/>
          </a:prstGeom>
          <a:solidFill>
            <a:srgbClr val="00B4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a:t>
            </a:r>
          </a:p>
          <a:p>
            <a:pPr algn="ctr">
              <a:defRPr sz="1100">
                <a:solidFill>
                  <a:srgbClr val="FFFFFF"/>
                </a:solidFill>
                <a:latin typeface="Calibri"/>
              </a:defRPr>
            </a:pPr>
            <a:r>
              <a:t>mechanism</a:t>
            </a:r>
            <a:br/>
            <a:r>
              <a:t>SXPG→SM69→OS sftp</a:t>
            </a:r>
          </a:p>
        </p:txBody>
      </p:sp>
      <p:sp>
        <p:nvSpPr>
          <p:cNvPr id="52" name="Rectangle 51"/>
          <p:cNvSpPr/>
          <p:nvPr/>
        </p:nvSpPr>
        <p:spPr>
          <a:xfrm>
            <a:off x="9144000" y="731520"/>
            <a:ext cx="2697480" cy="1463040"/>
          </a:xfrm>
          <a:prstGeom prst="rect">
            <a:avLst/>
          </a:prstGeom>
          <a:solidFill>
            <a:srgbClr val="418D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+46%</a:t>
            </a:r>
          </a:p>
          <a:p>
            <a:pPr algn="ctr">
              <a:defRPr sz="1100">
                <a:solidFill>
                  <a:srgbClr val="FFFFFF"/>
                </a:solidFill>
                <a:latin typeface="Calibri"/>
              </a:defRPr>
            </a:pPr>
            <a:r>
              <a:t>scope expansion</a:t>
            </a:r>
          </a:p>
        </p:txBody>
      </p:sp>
      <p:sp>
        <p:nvSpPr>
          <p:cNvPr id="53" name="TextBox 52"/>
          <p:cNvSpPr txBox="1"/>
          <p:nvPr/>
        </p:nvSpPr>
        <p:spPr>
          <a:xfrm>
            <a:off x="3474720" y="2468880"/>
            <a:ext cx="8412480" cy="3657600"/>
          </a:xfrm>
          <a:prstGeom prst="rect">
            <a:avLst/>
          </a:prstGeom>
          <a:noFill/>
        </p:spPr>
        <p:txBody>
          <a:bodyPr wrap="square">
            <a:spAutoFit/>
          </a:bodyPr>
          <a:lstStyle/>
          <a:p>
            <a:pPr>
              <a:defRPr sz="1200" b="0">
                <a:solidFill>
                  <a:srgbClr val="333333"/>
                </a:solidFill>
                <a:latin typeface="Calibri"/>
              </a:defRPr>
            </a:pPr>
            <a:r>
              <a:t>• 16 ABAP reports (PROG) call SFTP — 14 directly via SXPG_COMMAND_EXECUTE, 2 via Z wrapper FMs.</a:t>
            </a:r>
          </a:p>
          <a:p>
            <a:pPr>
              <a:defRPr sz="1200" b="0">
                <a:solidFill>
                  <a:srgbClr val="333333"/>
                </a:solidFill>
                <a:latin typeface="Calibri"/>
              </a:defRPr>
            </a:pPr>
            <a:r>
              <a:t>• 3 wrapper function groups (ZMEDICARE, ZERX, ZDMS_SEND_FILE) wrap the same SXPG call.</a:t>
            </a:r>
          </a:p>
          <a:p>
            <a:pPr>
              <a:defRPr sz="1200" b="0">
                <a:solidFill>
                  <a:srgbClr val="333333"/>
                </a:solidFill>
                <a:latin typeface="Calibri"/>
              </a:defRPr>
            </a:pPr>
            <a:r>
              <a:t>• 11 distinct SM69 commands (3 shared by ≥2 callers) — coordinate cutover.</a:t>
            </a:r>
          </a:p>
          <a:p>
            <a:pPr>
              <a:defRPr sz="1200" b="0">
                <a:solidFill>
                  <a:srgbClr val="333333"/>
                </a:solidFill>
                <a:latin typeface="Calibri"/>
              </a:defRPr>
            </a:pPr>
            <a:r>
              <a:t>• 2 auth modes the new layer must support: key-based (PRIVATE_KEY_PATH) and password-based (FTP_PSWD).</a:t>
            </a:r>
          </a:p>
          <a:p>
            <a:pPr>
              <a:defRPr sz="1200" b="0">
                <a:solidFill>
                  <a:srgbClr val="333333"/>
                </a:solidFill>
                <a:latin typeface="Calibri"/>
              </a:defRPr>
            </a:pPr>
            <a:r>
              <a:t>• 8 counter-party endpoints: BNP Paribas, Citi, JPMorgan, Caparío, Patientco, Ceridian, internal DMS, internal eRx/Medicare.</a:t>
            </a:r>
          </a:p>
          <a:p>
            <a:pPr>
              <a:defRPr sz="1200" b="0">
                <a:solidFill>
                  <a:srgbClr val="333333"/>
                </a:solidFill>
                <a:latin typeface="Calibri"/>
              </a:defRPr>
            </a:pPr>
            <a:r>
              <a:t>• Completeness ≈ 97% (7 independent SearchSource scans, no truncation).</a:t>
            </a:r>
          </a:p>
        </p:txBody>
      </p:sp>
    </p:spTree>
    <p:extLst>
      <p:ext uri="{BB962C8B-B14F-4D97-AF65-F5344CB8AC3E}">
        <p14:creationId xmlns:p14="http://schemas.microsoft.com/office/powerpoint/2010/main" val="776662744"/>
      </p:ext>
    </p:extLst>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Consumers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BY DOMAIN</a:t>
            </a:r>
          </a:p>
          <a:p>
            <a:pPr>
              <a:defRPr sz="1200" b="1">
                <a:solidFill>
                  <a:srgbClr val="161616"/>
                </a:solidFill>
                <a:latin typeface="Calibri"/>
              </a:defRPr>
            </a:pPr>
            <a:r>
              <a:t>Banking:</a:t>
            </a:r>
            <a:r>
              <a:rPr sz="1200">
                <a:solidFill>
                  <a:srgbClr val="333333"/>
                </a:solidFill>
                <a:latin typeface="Calibri"/>
              </a:rPr>
              <a:t> 7</a:t>
            </a:r>
          </a:p>
          <a:p>
            <a:pPr>
              <a:defRPr sz="1200" b="1">
                <a:solidFill>
                  <a:srgbClr val="161616"/>
                </a:solidFill>
                <a:latin typeface="Calibri"/>
              </a:defRPr>
            </a:pPr>
            <a:r>
              <a:t>Healthcare:</a:t>
            </a:r>
            <a:r>
              <a:rPr sz="1200">
                <a:solidFill>
                  <a:srgbClr val="333333"/>
                </a:solidFill>
                <a:latin typeface="Calibri"/>
              </a:rPr>
              <a:t> 3</a:t>
            </a:r>
          </a:p>
          <a:p>
            <a:pPr>
              <a:defRPr sz="1200" b="1">
                <a:solidFill>
                  <a:srgbClr val="161616"/>
                </a:solidFill>
                <a:latin typeface="Calibri"/>
              </a:defRPr>
            </a:pPr>
            <a:r>
              <a:t>Payroll:</a:t>
            </a:r>
            <a:r>
              <a:rPr sz="1200">
                <a:solidFill>
                  <a:srgbClr val="333333"/>
                </a:solidFill>
                <a:latin typeface="Calibri"/>
              </a:rPr>
              <a:t> 2</a:t>
            </a:r>
          </a:p>
          <a:p>
            <a:pPr>
              <a:defRPr sz="1200" b="1">
                <a:solidFill>
                  <a:srgbClr val="161616"/>
                </a:solidFill>
                <a:latin typeface="Calibri"/>
              </a:defRPr>
            </a:pPr>
            <a:r>
              <a:t>DMS:</a:t>
            </a:r>
            <a:r>
              <a:rPr sz="1200">
                <a:solidFill>
                  <a:srgbClr val="333333"/>
                </a:solidFill>
                <a:latin typeface="Calibri"/>
              </a:rPr>
              <a:t> 2</a:t>
            </a:r>
          </a:p>
          <a:p>
            <a:pPr>
              <a:defRPr sz="1200" b="1">
                <a:solidFill>
                  <a:srgbClr val="161616"/>
                </a:solidFill>
                <a:latin typeface="Calibri"/>
              </a:defRPr>
            </a:pPr>
            <a:r>
              <a:t>Medicare:</a:t>
            </a:r>
            <a:r>
              <a:rPr sz="1200">
                <a:solidFill>
                  <a:srgbClr val="333333"/>
                </a:solidFill>
                <a:latin typeface="Calibri"/>
              </a:rPr>
              <a:t> 1</a:t>
            </a:r>
          </a:p>
          <a:p>
            <a:pPr>
              <a:defRPr sz="1200" b="1">
                <a:solidFill>
                  <a:srgbClr val="161616"/>
                </a:solidFill>
                <a:latin typeface="Calibri"/>
              </a:defRPr>
            </a:pPr>
            <a:r>
              <a:t>eRx/DMS:</a:t>
            </a:r>
            <a:r>
              <a:rPr sz="120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TOTAL</a:t>
            </a:r>
          </a:p>
          <a:p>
            <a:pPr>
              <a:defRPr sz="1100">
                <a:solidFill>
                  <a:srgbClr val="333333"/>
                </a:solidFill>
                <a:latin typeface="Calibri"/>
              </a:defRPr>
            </a:pPr>
            <a:r>
              <a:t>16 reports</a:t>
            </a:r>
          </a:p>
        </p:txBody>
      </p:sp>
      <p:graphicFrame>
        <p:nvGraphicFramePr>
          <p:cNvPr id="50" name="Table 49"/>
          <p:cNvGraphicFramePr>
            <a:graphicFrameLocks noGrp="1"/>
          </p:cNvGraphicFramePr>
          <p:nvPr/>
        </p:nvGraphicFramePr>
        <p:xfrm>
          <a:off x="3474720" y="731520"/>
          <a:ext cx="7863840" cy="5394960"/>
        </p:xfrm>
        <a:graphic>
          <a:graphicData uri="http://schemas.openxmlformats.org/drawingml/2006/table">
            <a:tbl>
              <a:tblPr firstRow="1" bandRow="1">
                <a:tableStyleId>{5C22544A-7EE6-4342-B048-85BDC9FD1C3A}</a:tableStyleId>
              </a:tblPr>
              <a:tblGrid>
                <a:gridCol w="914400"/>
                <a:gridCol w="2377440"/>
                <a:gridCol w="2926080"/>
                <a:gridCol w="731520"/>
                <a:gridCol w="914400"/>
              </a:tblGrid>
              <a:tr h="365760">
                <a:tc>
                  <a:txBody>
                    <a:bodyPr/>
                    <a:lstStyle/>
                    <a:p>
                      <a:pPr>
                        <a:defRPr sz="1000" b="1">
                          <a:solidFill>
                            <a:srgbClr val="FFFFFF"/>
                          </a:solidFill>
                          <a:latin typeface="Calibri"/>
                        </a:defRPr>
                      </a:pPr>
                      <a:r>
                        <a:t>Domain</a:t>
                      </a:r>
                    </a:p>
                  </a:txBody>
                  <a:tcPr>
                    <a:solidFill>
                      <a:srgbClr val="161616"/>
                    </a:solidFill>
                  </a:tcPr>
                </a:tc>
                <a:tc>
                  <a:txBody>
                    <a:bodyPr/>
                    <a:lstStyle/>
                    <a:p>
                      <a:pPr>
                        <a:defRPr sz="1000" b="1">
                          <a:solidFill>
                            <a:srgbClr val="FFFFFF"/>
                          </a:solidFill>
                          <a:latin typeface="Calibri"/>
                        </a:defRPr>
                      </a:pPr>
                      <a:r>
                        <a:t>Report</a:t>
                      </a:r>
                    </a:p>
                  </a:txBody>
                  <a:tcPr>
                    <a:solidFill>
                      <a:srgbClr val="161616"/>
                    </a:solidFill>
                  </a:tcPr>
                </a:tc>
                <a:tc>
                  <a:txBody>
                    <a:bodyPr/>
                    <a:lstStyle/>
                    <a:p>
                      <a:pPr>
                        <a:defRPr sz="1000" b="1">
                          <a:solidFill>
                            <a:srgbClr val="FFFFFF"/>
                          </a:solidFill>
                          <a:latin typeface="Calibri"/>
                        </a:defRPr>
                      </a:pPr>
                      <a:r>
                        <a:t>SM69 / wrapper</a:t>
                      </a:r>
                    </a:p>
                  </a:txBody>
                  <a:tcPr>
                    <a:solidFill>
                      <a:srgbClr val="161616"/>
                    </a:solidFill>
                  </a:tcPr>
                </a:tc>
                <a:tc>
                  <a:txBody>
                    <a:bodyPr/>
                    <a:lstStyle/>
                    <a:p>
                      <a:pPr>
                        <a:defRPr sz="1000" b="1">
                          <a:solidFill>
                            <a:srgbClr val="FFFFFF"/>
                          </a:solidFill>
                          <a:latin typeface="Calibri"/>
                        </a:defRPr>
                      </a:pPr>
                      <a:r>
                        <a:t>Dir</a:t>
                      </a:r>
                    </a:p>
                  </a:txBody>
                  <a:tcPr>
                    <a:solidFill>
                      <a:srgbClr val="161616"/>
                    </a:solidFill>
                  </a:tcPr>
                </a:tc>
                <a:tc>
                  <a:txBody>
                    <a:bodyPr/>
                    <a:lstStyle/>
                    <a:p>
                      <a:pPr>
                        <a:defRPr sz="1000" b="1">
                          <a:solidFill>
                            <a:srgbClr val="FFFFFF"/>
                          </a:solidFill>
                          <a:latin typeface="Calibri"/>
                        </a:defRPr>
                      </a:pPr>
                      <a:r>
                        <a:t>Auth</a:t>
                      </a:r>
                    </a:p>
                  </a:txBody>
                  <a:tcPr>
                    <a:solidFill>
                      <a:srgbClr val="161616"/>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ZSFTP_BNP_PARIBAS_PULL</a:t>
                      </a:r>
                    </a:p>
                  </a:txBody>
                  <a:tcPr>
                    <a:solidFill>
                      <a:srgbClr val="FFFFFF"/>
                    </a:solidFill>
                  </a:tcPr>
                </a:tc>
                <a:tc>
                  <a:txBody>
                    <a:bodyPr/>
                    <a:lstStyle/>
                    <a:p>
                      <a:pPr>
                        <a:defRPr sz="800">
                          <a:solidFill>
                            <a:srgbClr val="333333"/>
                          </a:solidFill>
                          <a:latin typeface="Calibri"/>
                        </a:defRPr>
                      </a:pPr>
                      <a:r>
                        <a:t>ZFTP_BNPP_PULL</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hybrid</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ZSFTP_BNP_PARIBAS</a:t>
                      </a:r>
                    </a:p>
                  </a:txBody>
                  <a:tcPr>
                    <a:solidFill>
                      <a:srgbClr val="F5F5F5"/>
                    </a:solidFill>
                  </a:tcPr>
                </a:tc>
                <a:tc>
                  <a:txBody>
                    <a:bodyPr/>
                    <a:lstStyle/>
                    <a:p>
                      <a:pPr>
                        <a:defRPr sz="800">
                          <a:solidFill>
                            <a:srgbClr val="333333"/>
                          </a:solidFill>
                          <a:latin typeface="Calibri"/>
                        </a:defRPr>
                      </a:pPr>
                      <a:r>
                        <a:t>ZFTP_BNPP</a:t>
                      </a:r>
                    </a:p>
                  </a:txBody>
                  <a:tcPr>
                    <a:solidFill>
                      <a:srgbClr val="F5F5F5"/>
                    </a:solidFill>
                  </a:tcPr>
                </a:tc>
                <a:tc>
                  <a:txBody>
                    <a:bodyPr/>
                    <a:lstStyle/>
                    <a:p>
                      <a:pPr>
                        <a:defRPr sz="800">
                          <a:solidFill>
                            <a:srgbClr val="333333"/>
                          </a:solidFill>
                          <a:latin typeface="Calibri"/>
                        </a:defRPr>
                      </a:pPr>
                      <a:r>
                        <a:t>push</a:t>
                      </a:r>
                    </a:p>
                  </a:txBody>
                  <a:tcPr>
                    <a:solidFill>
                      <a:srgbClr val="F5F5F5"/>
                    </a:solidFill>
                  </a:tcPr>
                </a:tc>
                <a:tc>
                  <a:txBody>
                    <a:bodyPr/>
                    <a:lstStyle/>
                    <a:p>
                      <a:pPr>
                        <a:defRPr sz="800">
                          <a:solidFill>
                            <a:srgbClr val="333333"/>
                          </a:solidFill>
                          <a:latin typeface="Calibri"/>
                        </a:defRPr>
                      </a:pPr>
                      <a:r>
                        <a:t>password</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ZSFTP_BNP_PARIBAS_WITH_PGP</a:t>
                      </a:r>
                    </a:p>
                  </a:txBody>
                  <a:tcPr>
                    <a:solidFill>
                      <a:srgbClr val="FFFFFF"/>
                    </a:solidFill>
                  </a:tcPr>
                </a:tc>
                <a:tc>
                  <a:txBody>
                    <a:bodyPr/>
                    <a:lstStyle/>
                    <a:p>
                      <a:pPr>
                        <a:defRPr sz="800">
                          <a:solidFill>
                            <a:srgbClr val="333333"/>
                          </a:solidFill>
                          <a:latin typeface="Calibri"/>
                        </a:defRPr>
                      </a:pPr>
                      <a:r>
                        <a:t>ZFTP_BNPP (PGP)</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ZSFTP_CITI_PULL</a:t>
                      </a:r>
                    </a:p>
                  </a:txBody>
                  <a:tcPr>
                    <a:solidFill>
                      <a:srgbClr val="F5F5F5"/>
                    </a:solidFill>
                  </a:tcPr>
                </a:tc>
                <a:tc>
                  <a:txBody>
                    <a:bodyPr/>
                    <a:lstStyle/>
                    <a:p>
                      <a:pPr>
                        <a:defRPr sz="800">
                          <a:solidFill>
                            <a:srgbClr val="333333"/>
                          </a:solidFill>
                          <a:latin typeface="Calibri"/>
                        </a:defRPr>
                      </a:pPr>
                      <a:r>
                        <a:t>ZSFTP_CITI_PULL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ZSFTP_CITI_SEND</a:t>
                      </a:r>
                    </a:p>
                  </a:txBody>
                  <a:tcPr>
                    <a:solidFill>
                      <a:srgbClr val="FFFFFF"/>
                    </a:solidFill>
                  </a:tcPr>
                </a:tc>
                <a:tc>
                  <a:txBody>
                    <a:bodyPr/>
                    <a:lstStyle/>
                    <a:p>
                      <a:pPr>
                        <a:defRPr sz="800">
                          <a:solidFill>
                            <a:srgbClr val="333333"/>
                          </a:solidFill>
                          <a:latin typeface="Calibri"/>
                        </a:defRPr>
                      </a:pPr>
                      <a:r>
                        <a:t>ZSFTP_CITI_SEND</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ZSFTP_JPM</a:t>
                      </a:r>
                    </a:p>
                  </a:txBody>
                  <a:tcPr>
                    <a:solidFill>
                      <a:srgbClr val="F5F5F5"/>
                    </a:solidFill>
                  </a:tcPr>
                </a:tc>
                <a:tc>
                  <a:txBody>
                    <a:bodyPr/>
                    <a:lstStyle/>
                    <a:p>
                      <a:pPr>
                        <a:defRPr sz="800">
                          <a:solidFill>
                            <a:srgbClr val="333333"/>
                          </a:solidFill>
                          <a:latin typeface="Calibri"/>
                        </a:defRPr>
                      </a:pPr>
                      <a:r>
                        <a:t>ZFTP_JPM</a:t>
                      </a:r>
                    </a:p>
                  </a:txBody>
                  <a:tcPr>
                    <a:solidFill>
                      <a:srgbClr val="F5F5F5"/>
                    </a:solidFill>
                  </a:tcPr>
                </a:tc>
                <a:tc>
                  <a:txBody>
                    <a:bodyPr/>
                    <a:lstStyle/>
                    <a:p>
                      <a:pPr>
                        <a:defRPr sz="800">
                          <a:solidFill>
                            <a:srgbClr val="333333"/>
                          </a:solidFill>
                          <a:latin typeface="Calibri"/>
                        </a:defRPr>
                      </a:pPr>
                      <a:r>
                        <a:t>push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ZSFTP_JPM_PULL</a:t>
                      </a:r>
                    </a:p>
                  </a:txBody>
                  <a:tcPr>
                    <a:solidFill>
                      <a:srgbClr val="FFFFFF"/>
                    </a:solidFill>
                  </a:tcPr>
                </a:tc>
                <a:tc>
                  <a:txBody>
                    <a:bodyPr/>
                    <a:lstStyle/>
                    <a:p>
                      <a:pPr>
                        <a:defRPr sz="800">
                          <a:solidFill>
                            <a:srgbClr val="333333"/>
                          </a:solidFill>
                          <a:latin typeface="Calibri"/>
                        </a:defRPr>
                      </a:pPr>
                      <a:r>
                        <a:t>ZFTP_JPM_PULL</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Healthcare</a:t>
                      </a:r>
                    </a:p>
                  </a:txBody>
                  <a:tcPr>
                    <a:solidFill>
                      <a:srgbClr val="F5F5F5"/>
                    </a:solidFill>
                  </a:tcPr>
                </a:tc>
                <a:tc>
                  <a:txBody>
                    <a:bodyPr/>
                    <a:lstStyle/>
                    <a:p>
                      <a:pPr>
                        <a:defRPr sz="800">
                          <a:solidFill>
                            <a:srgbClr val="333333"/>
                          </a:solidFill>
                          <a:latin typeface="Calibri"/>
                        </a:defRPr>
                      </a:pPr>
                      <a:r>
                        <a:t>ZSFTP_CAPARIO_PULL</a:t>
                      </a:r>
                    </a:p>
                  </a:txBody>
                  <a:tcPr>
                    <a:solidFill>
                      <a:srgbClr val="F5F5F5"/>
                    </a:solidFill>
                  </a:tcPr>
                </a:tc>
                <a:tc>
                  <a:txBody>
                    <a:bodyPr/>
                    <a:lstStyle/>
                    <a:p>
                      <a:pPr>
                        <a:defRPr sz="800">
                          <a:solidFill>
                            <a:srgbClr val="333333"/>
                          </a:solidFill>
                          <a:latin typeface="Calibri"/>
                        </a:defRPr>
                      </a:pPr>
                      <a:r>
                        <a:t>ZFTP_EOB_PULL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Healthcare</a:t>
                      </a:r>
                    </a:p>
                  </a:txBody>
                  <a:tcPr>
                    <a:solidFill>
                      <a:srgbClr val="FFFFFF"/>
                    </a:solidFill>
                  </a:tcPr>
                </a:tc>
                <a:tc>
                  <a:txBody>
                    <a:bodyPr/>
                    <a:lstStyle/>
                    <a:p>
                      <a:pPr>
                        <a:defRPr sz="800">
                          <a:solidFill>
                            <a:srgbClr val="333333"/>
                          </a:solidFill>
                          <a:latin typeface="Calibri"/>
                        </a:defRPr>
                      </a:pPr>
                      <a:r>
                        <a:t>ZSFTP_CAPARIO</a:t>
                      </a:r>
                    </a:p>
                  </a:txBody>
                  <a:tcPr>
                    <a:solidFill>
                      <a:srgbClr val="FFFFFF"/>
                    </a:solidFill>
                  </a:tcPr>
                </a:tc>
                <a:tc>
                  <a:txBody>
                    <a:bodyPr/>
                    <a:lstStyle/>
                    <a:p>
                      <a:pPr>
                        <a:defRPr sz="800">
                          <a:solidFill>
                            <a:srgbClr val="333333"/>
                          </a:solidFill>
                          <a:latin typeface="Calibri"/>
                        </a:defRPr>
                      </a:pPr>
                      <a:r>
                        <a:t>ZFTP_837</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Healthcare</a:t>
                      </a:r>
                    </a:p>
                  </a:txBody>
                  <a:tcPr>
                    <a:solidFill>
                      <a:srgbClr val="F5F5F5"/>
                    </a:solidFill>
                  </a:tcPr>
                </a:tc>
                <a:tc>
                  <a:txBody>
                    <a:bodyPr/>
                    <a:lstStyle/>
                    <a:p>
                      <a:pPr>
                        <a:defRPr sz="800">
                          <a:solidFill>
                            <a:srgbClr val="333333"/>
                          </a:solidFill>
                          <a:latin typeface="Calibri"/>
                        </a:defRPr>
                      </a:pPr>
                      <a:r>
                        <a:t>ZSFTP_PATIENTCO_PULL</a:t>
                      </a:r>
                    </a:p>
                  </a:txBody>
                  <a:tcPr>
                    <a:solidFill>
                      <a:srgbClr val="F5F5F5"/>
                    </a:solidFill>
                  </a:tcPr>
                </a:tc>
                <a:tc>
                  <a:txBody>
                    <a:bodyPr/>
                    <a:lstStyle/>
                    <a:p>
                      <a:pPr>
                        <a:defRPr sz="800">
                          <a:solidFill>
                            <a:srgbClr val="333333"/>
                          </a:solidFill>
                          <a:latin typeface="Calibri"/>
                        </a:defRPr>
                      </a:pPr>
                      <a:r>
                        <a:t>ZSFTP_PATCO_PULL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Payroll</a:t>
                      </a:r>
                    </a:p>
                  </a:txBody>
                  <a:tcPr>
                    <a:solidFill>
                      <a:srgbClr val="FFFFFF"/>
                    </a:solidFill>
                  </a:tcPr>
                </a:tc>
                <a:tc>
                  <a:txBody>
                    <a:bodyPr/>
                    <a:lstStyle/>
                    <a:p>
                      <a:pPr>
                        <a:defRPr sz="800">
                          <a:solidFill>
                            <a:srgbClr val="333333"/>
                          </a:solidFill>
                          <a:latin typeface="Calibri"/>
                        </a:defRPr>
                      </a:pPr>
                      <a:r>
                        <a:t>ZFFIU_ACC_POST</a:t>
                      </a:r>
                    </a:p>
                  </a:txBody>
                  <a:tcPr>
                    <a:solidFill>
                      <a:srgbClr val="FFFFFF"/>
                    </a:solidFill>
                  </a:tcPr>
                </a:tc>
                <a:tc>
                  <a:txBody>
                    <a:bodyPr/>
                    <a:lstStyle/>
                    <a:p>
                      <a:pPr>
                        <a:defRPr sz="800">
                          <a:solidFill>
                            <a:srgbClr val="333333"/>
                          </a:solidFill>
                          <a:latin typeface="Calibri"/>
                        </a:defRPr>
                      </a:pPr>
                      <a:r>
                        <a:t>ZSFTP_CERIDIAN_GET (shared)</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Payroll</a:t>
                      </a:r>
                    </a:p>
                  </a:txBody>
                  <a:tcPr>
                    <a:solidFill>
                      <a:srgbClr val="F5F5F5"/>
                    </a:solidFill>
                  </a:tcPr>
                </a:tc>
                <a:tc>
                  <a:txBody>
                    <a:bodyPr/>
                    <a:lstStyle/>
                    <a:p>
                      <a:pPr>
                        <a:defRPr sz="800">
                          <a:solidFill>
                            <a:srgbClr val="333333"/>
                          </a:solidFill>
                          <a:latin typeface="Calibri"/>
                        </a:defRPr>
                      </a:pPr>
                      <a:r>
                        <a:t>ZSFTP_CERIDIAN_PULL</a:t>
                      </a:r>
                    </a:p>
                  </a:txBody>
                  <a:tcPr>
                    <a:solidFill>
                      <a:srgbClr val="F5F5F5"/>
                    </a:solidFill>
                  </a:tcPr>
                </a:tc>
                <a:tc>
                  <a:txBody>
                    <a:bodyPr/>
                    <a:lstStyle/>
                    <a:p>
                      <a:pPr>
                        <a:defRPr sz="800">
                          <a:solidFill>
                            <a:srgbClr val="333333"/>
                          </a:solidFill>
                          <a:latin typeface="Calibri"/>
                        </a:defRPr>
                      </a:pPr>
                      <a:r>
                        <a:t>ZSFTP_CERIDIAN_GET (shared)</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DMS</a:t>
                      </a:r>
                    </a:p>
                  </a:txBody>
                  <a:tcPr>
                    <a:solidFill>
                      <a:srgbClr val="FFFFFF"/>
                    </a:solidFill>
                  </a:tcPr>
                </a:tc>
                <a:tc>
                  <a:txBody>
                    <a:bodyPr/>
                    <a:lstStyle/>
                    <a:p>
                      <a:pPr>
                        <a:defRPr sz="800">
                          <a:solidFill>
                            <a:srgbClr val="333333"/>
                          </a:solidFill>
                          <a:latin typeface="Calibri"/>
                        </a:defRPr>
                      </a:pPr>
                      <a:r>
                        <a:t>ZDMS_UPLOAD_FILES</a:t>
                      </a:r>
                    </a:p>
                  </a:txBody>
                  <a:tcPr>
                    <a:solidFill>
                      <a:srgbClr val="FFFFFF"/>
                    </a:solidFill>
                  </a:tcPr>
                </a:tc>
                <a:tc>
                  <a:txBody>
                    <a:bodyPr/>
                    <a:lstStyle/>
                    <a:p>
                      <a:pPr>
                        <a:defRPr sz="800">
                          <a:solidFill>
                            <a:srgbClr val="333333"/>
                          </a:solidFill>
                          <a:latin typeface="Calibri"/>
                        </a:defRPr>
                      </a:pPr>
                      <a:r>
                        <a:t>ZSFTP_DMS_GET + _PUT</a:t>
                      </a:r>
                    </a:p>
                  </a:txBody>
                  <a:tcPr>
                    <a:solidFill>
                      <a:srgbClr val="FFFFFF"/>
                    </a:solidFill>
                  </a:tcPr>
                </a:tc>
                <a:tc>
                  <a:txBody>
                    <a:bodyPr/>
                    <a:lstStyle/>
                    <a:p>
                      <a:pPr>
                        <a:defRPr sz="800">
                          <a:solidFill>
                            <a:srgbClr val="333333"/>
                          </a:solidFill>
                          <a:latin typeface="Calibri"/>
                        </a:defRPr>
                      </a:pPr>
                      <a:r>
                        <a:t>both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DMS</a:t>
                      </a:r>
                    </a:p>
                  </a:txBody>
                  <a:tcPr>
                    <a:solidFill>
                      <a:srgbClr val="F5F5F5"/>
                    </a:solidFill>
                  </a:tcPr>
                </a:tc>
                <a:tc>
                  <a:txBody>
                    <a:bodyPr/>
                    <a:lstStyle/>
                    <a:p>
                      <a:pPr>
                        <a:defRPr sz="800">
                          <a:solidFill>
                            <a:srgbClr val="333333"/>
                          </a:solidFill>
                          <a:latin typeface="Calibri"/>
                        </a:defRPr>
                      </a:pPr>
                      <a:r>
                        <a:t>ZDMS_REPLACE_FILES</a:t>
                      </a:r>
                    </a:p>
                  </a:txBody>
                  <a:tcPr>
                    <a:solidFill>
                      <a:srgbClr val="F5F5F5"/>
                    </a:solidFill>
                  </a:tcPr>
                </a:tc>
                <a:tc>
                  <a:txBody>
                    <a:bodyPr/>
                    <a:lstStyle/>
                    <a:p>
                      <a:pPr>
                        <a:defRPr sz="800">
                          <a:solidFill>
                            <a:srgbClr val="333333"/>
                          </a:solidFill>
                          <a:latin typeface="Calibri"/>
                        </a:defRPr>
                      </a:pPr>
                      <a:r>
                        <a:t>ZSFTP_DMS_GET + _PUT (shared)</a:t>
                      </a:r>
                    </a:p>
                  </a:txBody>
                  <a:tcPr>
                    <a:solidFill>
                      <a:srgbClr val="F5F5F5"/>
                    </a:solidFill>
                  </a:tcPr>
                </a:tc>
                <a:tc>
                  <a:txBody>
                    <a:bodyPr/>
                    <a:lstStyle/>
                    <a:p>
                      <a:pPr>
                        <a:defRPr sz="800">
                          <a:solidFill>
                            <a:srgbClr val="333333"/>
                          </a:solidFill>
                          <a:latin typeface="Calibri"/>
                        </a:defRPr>
                      </a:pPr>
                      <a:r>
                        <a:t>both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Medicare</a:t>
                      </a:r>
                    </a:p>
                  </a:txBody>
                  <a:tcPr>
                    <a:solidFill>
                      <a:srgbClr val="FFFFFF"/>
                    </a:solidFill>
                  </a:tcPr>
                </a:tc>
                <a:tc>
                  <a:txBody>
                    <a:bodyPr/>
                    <a:lstStyle/>
                    <a:p>
                      <a:pPr>
                        <a:defRPr sz="800">
                          <a:solidFill>
                            <a:srgbClr val="333333"/>
                          </a:solidFill>
                          <a:latin typeface="Calibri"/>
                        </a:defRPr>
                      </a:pPr>
                      <a:r>
                        <a:t>ZSD_MEDICARE_PDF_PROCESS</a:t>
                      </a:r>
                    </a:p>
                  </a:txBody>
                  <a:tcPr>
                    <a:solidFill>
                      <a:srgbClr val="FFFFFF"/>
                    </a:solidFill>
                  </a:tcPr>
                </a:tc>
                <a:tc>
                  <a:txBody>
                    <a:bodyPr/>
                    <a:lstStyle/>
                    <a:p>
                      <a:pPr>
                        <a:defRPr sz="800">
                          <a:solidFill>
                            <a:srgbClr val="333333"/>
                          </a:solidFill>
                          <a:latin typeface="Calibri"/>
                        </a:defRPr>
                      </a:pPr>
                      <a:r>
                        <a:t>ZMEDI_GET/PUT_FROM_SFTP (FM)</a:t>
                      </a:r>
                    </a:p>
                  </a:txBody>
                  <a:tcPr>
                    <a:solidFill>
                      <a:srgbClr val="FFFFFF"/>
                    </a:solidFill>
                  </a:tcPr>
                </a:tc>
                <a:tc>
                  <a:txBody>
                    <a:bodyPr/>
                    <a:lstStyle/>
                    <a:p>
                      <a:pPr>
                        <a:defRPr sz="800">
                          <a:solidFill>
                            <a:srgbClr val="333333"/>
                          </a:solidFill>
                          <a:latin typeface="Calibri"/>
                        </a:defRPr>
                      </a:pPr>
                      <a:r>
                        <a:t>both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eRx/DMS</a:t>
                      </a:r>
                    </a:p>
                  </a:txBody>
                  <a:tcPr>
                    <a:solidFill>
                      <a:srgbClr val="F5F5F5"/>
                    </a:solidFill>
                  </a:tcPr>
                </a:tc>
                <a:tc>
                  <a:txBody>
                    <a:bodyPr/>
                    <a:lstStyle/>
                    <a:p>
                      <a:pPr>
                        <a:defRPr sz="800">
                          <a:solidFill>
                            <a:srgbClr val="333333"/>
                          </a:solidFill>
                          <a:latin typeface="Calibri"/>
                        </a:defRPr>
                      </a:pPr>
                      <a:r>
                        <a:t>ZSD_ERX_DMS_FILE_PROCESS</a:t>
                      </a:r>
                    </a:p>
                  </a:txBody>
                  <a:tcPr>
                    <a:solidFill>
                      <a:srgbClr val="F5F5F5"/>
                    </a:solidFill>
                  </a:tcPr>
                </a:tc>
                <a:tc>
                  <a:txBody>
                    <a:bodyPr/>
                    <a:lstStyle/>
                    <a:p>
                      <a:pPr>
                        <a:defRPr sz="800">
                          <a:solidFill>
                            <a:srgbClr val="333333"/>
                          </a:solidFill>
                          <a:latin typeface="Calibri"/>
                        </a:defRPr>
                      </a:pPr>
                      <a:r>
                        <a:t>ZERX_GET/PUT_FROM_SFTP (FM)</a:t>
                      </a:r>
                    </a:p>
                  </a:txBody>
                  <a:tcPr>
                    <a:solidFill>
                      <a:srgbClr val="F5F5F5"/>
                    </a:solidFill>
                  </a:tcPr>
                </a:tc>
                <a:tc>
                  <a:txBody>
                    <a:bodyPr/>
                    <a:lstStyle/>
                    <a:p>
                      <a:pPr>
                        <a:defRPr sz="800">
                          <a:solidFill>
                            <a:srgbClr val="333333"/>
                          </a:solidFill>
                          <a:latin typeface="Calibri"/>
                        </a:defRPr>
                      </a:pPr>
                      <a:r>
                        <a:t>both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bl>
          </a:graphicData>
        </a:graphic>
      </p:graphicFrame>
      <p:sp>
        <p:nvSpPr>
          <p:cNvPr id="51" name="TextBox 50"/>
          <p:cNvSpPr txBox="1"/>
          <p:nvPr/>
        </p:nvSpPr>
        <p:spPr>
          <a:xfrm>
            <a:off x="3474720" y="6263640"/>
            <a:ext cx="8412480" cy="274320"/>
          </a:xfrm>
          <a:prstGeom prst="rect">
            <a:avLst/>
          </a:prstGeom>
          <a:noFill/>
        </p:spPr>
        <p:txBody>
          <a:bodyPr wrap="square">
            <a:spAutoFit/>
          </a:bodyPr>
          <a:lstStyle/>
          <a:p>
            <a:pPr>
              <a:defRPr sz="800" b="0">
                <a:solidFill>
                  <a:srgbClr val="333333"/>
                </a:solidFill>
                <a:latin typeface="Calibri"/>
              </a:defRPr>
            </a:pPr>
            <a:r>
              <a:t>Source: SM69 names from literal `PARAMETERS p_comm ... DEFAULT '...'` or `lv_comm = '...'` in each report's main source.</a:t>
            </a:r>
          </a:p>
        </p:txBody>
      </p:sp>
    </p:spTree>
    <p:extLst>
      <p:ext uri="{BB962C8B-B14F-4D97-AF65-F5344CB8AC3E}">
        <p14:creationId xmlns:p14="http://schemas.microsoft.com/office/powerpoint/2010/main" val="2620996960"/>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Parameters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MATRIX</a:t>
            </a:r>
          </a:p>
          <a:p>
            <a:pPr>
              <a:defRPr sz="1200" b="1">
                <a:solidFill>
                  <a:srgbClr val="161616"/>
                </a:solidFill>
                <a:latin typeface="Calibri"/>
              </a:defRPr>
            </a:pPr>
            <a:r>
              <a:t>Reports rows:</a:t>
            </a:r>
            <a:r>
              <a:rPr sz="1200">
                <a:solidFill>
                  <a:srgbClr val="333333"/>
                </a:solidFill>
                <a:latin typeface="Calibri"/>
              </a:rPr>
              <a:t> 13</a:t>
            </a:r>
          </a:p>
          <a:p>
            <a:pPr>
              <a:defRPr sz="1200" b="1">
                <a:solidFill>
                  <a:srgbClr val="161616"/>
                </a:solidFill>
                <a:latin typeface="Calibri"/>
              </a:defRPr>
            </a:pPr>
            <a:r>
              <a:t>fnam columns:</a:t>
            </a:r>
            <a:r>
              <a:rPr sz="1200">
                <a:solidFill>
                  <a:srgbClr val="333333"/>
                </a:solidFill>
                <a:latin typeface="Calibri"/>
              </a:rPr>
              <a:t> 8</a:t>
            </a:r>
          </a:p>
          <a:p>
            <a:pPr>
              <a:defRPr sz="1100">
                <a:solidFill>
                  <a:srgbClr val="333333"/>
                </a:solidFill>
                <a:latin typeface="Calibri"/>
              </a:defRPr>
            </a:pPr>
          </a:p>
          <a:p>
            <a:pPr>
              <a:defRPr sz="1100">
                <a:solidFill>
                  <a:srgbClr val="333333"/>
                </a:solidFill>
                <a:latin typeface="Calibri"/>
              </a:defRPr>
            </a:pPr>
            <a:r>
              <a:t>KEY AUTH</a:t>
            </a:r>
          </a:p>
          <a:p>
            <a:pPr>
              <a:defRPr sz="1100">
                <a:solidFill>
                  <a:srgbClr val="333333"/>
                </a:solidFill>
                <a:latin typeface="Calibri"/>
              </a:defRPr>
            </a:pPr>
            <a:r>
              <a:t>12 reports</a:t>
            </a:r>
          </a:p>
          <a:p>
            <a:pPr>
              <a:defRPr sz="1100">
                <a:solidFill>
                  <a:srgbClr val="333333"/>
                </a:solidFill>
                <a:latin typeface="Calibri"/>
              </a:defRPr>
            </a:pPr>
          </a:p>
          <a:p>
            <a:pPr>
              <a:defRPr sz="1100">
                <a:solidFill>
                  <a:srgbClr val="333333"/>
                </a:solidFill>
                <a:latin typeface="Calibri"/>
              </a:defRPr>
            </a:pPr>
            <a:r>
              <a:t>PASSWORD AUTH</a:t>
            </a:r>
          </a:p>
          <a:p>
            <a:pPr>
              <a:defRPr sz="1100">
                <a:solidFill>
                  <a:srgbClr val="333333"/>
                </a:solidFill>
                <a:latin typeface="Calibri"/>
              </a:defRPr>
            </a:pPr>
            <a:r>
              <a:t>1 report (BNP)</a:t>
            </a:r>
          </a:p>
          <a:p>
            <a:pPr>
              <a:defRPr sz="1100">
                <a:solidFill>
                  <a:srgbClr val="333333"/>
                </a:solidFill>
                <a:latin typeface="Calibri"/>
              </a:defRPr>
            </a:pPr>
          </a:p>
          <a:p>
            <a:pPr>
              <a:defRPr sz="1100">
                <a:solidFill>
                  <a:srgbClr val="333333"/>
                </a:solidFill>
                <a:latin typeface="Calibri"/>
              </a:defRPr>
            </a:pPr>
            <a:r>
              <a:t>HYBRID</a:t>
            </a:r>
          </a:p>
          <a:p>
            <a:pPr>
              <a:defRPr sz="1100">
                <a:solidFill>
                  <a:srgbClr val="333333"/>
                </a:solidFill>
                <a:latin typeface="Calibri"/>
              </a:defRPr>
            </a:pPr>
            <a:r>
              <a:t>several read both</a:t>
            </a:r>
          </a:p>
        </p:txBody>
      </p:sp>
      <p:sp>
        <p:nvSpPr>
          <p:cNvPr id="50" name="TextBox 49"/>
          <p:cNvSpPr txBox="1"/>
          <p:nvPr/>
        </p:nvSpPr>
        <p:spPr>
          <a:xfrm>
            <a:off x="3474720" y="457200"/>
            <a:ext cx="8412480" cy="365760"/>
          </a:xfrm>
          <a:prstGeom prst="rect">
            <a:avLst/>
          </a:prstGeom>
          <a:noFill/>
        </p:spPr>
        <p:txBody>
          <a:bodyPr wrap="square">
            <a:spAutoFit/>
          </a:bodyPr>
          <a:lstStyle/>
          <a:p>
            <a:pPr>
              <a:defRPr sz="900" b="0">
                <a:solidFill>
                  <a:srgbClr val="333333"/>
                </a:solidFill>
                <a:latin typeface="Calibri"/>
              </a:defRPr>
            </a:pPr>
            <a:r>
              <a:t>✓ = `READ TABLE i_constants WITH KEY fnam = '...'` after `SELECT FROM zfi_constants WHERE pname = '&lt;consumer pname&gt;'`</a:t>
            </a:r>
          </a:p>
        </p:txBody>
      </p:sp>
      <p:graphicFrame>
        <p:nvGraphicFramePr>
          <p:cNvPr id="51" name="Table 50"/>
          <p:cNvGraphicFramePr>
            <a:graphicFrameLocks noGrp="1"/>
          </p:cNvGraphicFramePr>
          <p:nvPr/>
        </p:nvGraphicFramePr>
        <p:xfrm>
          <a:off x="3474720" y="1005840"/>
          <a:ext cx="8503920" cy="5029198"/>
        </p:xfrm>
        <a:graphic>
          <a:graphicData uri="http://schemas.openxmlformats.org/drawingml/2006/table">
            <a:tbl>
              <a:tblPr firstRow="1" bandRow="1">
                <a:tableStyleId>{5C22544A-7EE6-4342-B048-85BDC9FD1C3A}</a:tableStyleId>
              </a:tblPr>
              <a:tblGrid>
                <a:gridCol w="2194560"/>
                <a:gridCol w="502920"/>
                <a:gridCol w="502920"/>
                <a:gridCol w="640080"/>
                <a:gridCol w="457200"/>
                <a:gridCol w="457200"/>
                <a:gridCol w="777240"/>
                <a:gridCol w="502920"/>
                <a:gridCol w="2468880"/>
              </a:tblGrid>
              <a:tr h="365760">
                <a:tc>
                  <a:txBody>
                    <a:bodyPr/>
                    <a:lstStyle/>
                    <a:p>
                      <a:pPr>
                        <a:defRPr sz="900" b="1">
                          <a:solidFill>
                            <a:srgbClr val="FFFFFF"/>
                          </a:solidFill>
                          <a:latin typeface="Calibri"/>
                        </a:defRPr>
                      </a:pPr>
                      <a:r>
                        <a:t>Report</a:t>
                      </a:r>
                    </a:p>
                  </a:txBody>
                  <a:tcPr>
                    <a:solidFill>
                      <a:srgbClr val="161616"/>
                    </a:solidFill>
                  </a:tcPr>
                </a:tc>
                <a:tc>
                  <a:txBody>
                    <a:bodyPr/>
                    <a:lstStyle/>
                    <a:p>
                      <a:pPr>
                        <a:defRPr sz="900" b="1">
                          <a:solidFill>
                            <a:srgbClr val="FFFFFF"/>
                          </a:solidFill>
                          <a:latin typeface="Calibri"/>
                        </a:defRPr>
                      </a:pPr>
                      <a:r>
                        <a:t>USER</a:t>
                      </a:r>
                    </a:p>
                  </a:txBody>
                  <a:tcPr>
                    <a:solidFill>
                      <a:srgbClr val="161616"/>
                    </a:solidFill>
                  </a:tcPr>
                </a:tc>
                <a:tc>
                  <a:txBody>
                    <a:bodyPr/>
                    <a:lstStyle/>
                    <a:p>
                      <a:pPr>
                        <a:defRPr sz="900" b="1">
                          <a:solidFill>
                            <a:srgbClr val="FFFFFF"/>
                          </a:solidFill>
                          <a:latin typeface="Calibri"/>
                        </a:defRPr>
                      </a:pPr>
                      <a:r>
                        <a:t>PSWD</a:t>
                      </a:r>
                    </a:p>
                  </a:txBody>
                  <a:tcPr>
                    <a:solidFill>
                      <a:srgbClr val="161616"/>
                    </a:solidFill>
                  </a:tcPr>
                </a:tc>
                <a:tc>
                  <a:txBody>
                    <a:bodyPr/>
                    <a:lstStyle/>
                    <a:p>
                      <a:pPr>
                        <a:defRPr sz="900" b="1">
                          <a:solidFill>
                            <a:srgbClr val="FFFFFF"/>
                          </a:solidFill>
                          <a:latin typeface="Calibri"/>
                        </a:defRPr>
                      </a:pPr>
                      <a:r>
                        <a:t>DOMAIN</a:t>
                      </a:r>
                    </a:p>
                  </a:txBody>
                  <a:tcPr>
                    <a:solidFill>
                      <a:srgbClr val="161616"/>
                    </a:solidFill>
                  </a:tcPr>
                </a:tc>
                <a:tc>
                  <a:txBody>
                    <a:bodyPr/>
                    <a:lstStyle/>
                    <a:p>
                      <a:pPr>
                        <a:defRPr sz="900" b="1">
                          <a:solidFill>
                            <a:srgbClr val="FFFFFF"/>
                          </a:solidFill>
                          <a:latin typeface="Calibri"/>
                        </a:defRPr>
                      </a:pPr>
                      <a:r>
                        <a:t>PORT</a:t>
                      </a:r>
                    </a:p>
                  </a:txBody>
                  <a:tcPr>
                    <a:solidFill>
                      <a:srgbClr val="161616"/>
                    </a:solidFill>
                  </a:tcPr>
                </a:tc>
                <a:tc>
                  <a:txBody>
                    <a:bodyPr/>
                    <a:lstStyle/>
                    <a:p>
                      <a:pPr>
                        <a:defRPr sz="900" b="1">
                          <a:solidFill>
                            <a:srgbClr val="FFFFFF"/>
                          </a:solidFill>
                          <a:latin typeface="Calibri"/>
                        </a:defRPr>
                      </a:pPr>
                      <a:r>
                        <a:t>KEY</a:t>
                      </a:r>
                    </a:p>
                  </a:txBody>
                  <a:tcPr>
                    <a:solidFill>
                      <a:srgbClr val="161616"/>
                    </a:solidFill>
                  </a:tcPr>
                </a:tc>
                <a:tc>
                  <a:txBody>
                    <a:bodyPr/>
                    <a:lstStyle/>
                    <a:p>
                      <a:pPr>
                        <a:defRPr sz="900" b="1">
                          <a:solidFill>
                            <a:srgbClr val="FFFFFF"/>
                          </a:solidFill>
                          <a:latin typeface="Calibri"/>
                        </a:defRPr>
                      </a:pPr>
                      <a:r>
                        <a:t>PRIV_KEY</a:t>
                      </a:r>
                    </a:p>
                  </a:txBody>
                  <a:tcPr>
                    <a:solidFill>
                      <a:srgbClr val="161616"/>
                    </a:solidFill>
                  </a:tcPr>
                </a:tc>
                <a:tc>
                  <a:txBody>
                    <a:bodyPr/>
                    <a:lstStyle/>
                    <a:p>
                      <a:pPr>
                        <a:defRPr sz="900" b="1">
                          <a:solidFill>
                            <a:srgbClr val="FFFFFF"/>
                          </a:solidFill>
                          <a:latin typeface="Calibri"/>
                        </a:defRPr>
                      </a:pPr>
                      <a:r>
                        <a:t>PASS</a:t>
                      </a:r>
                    </a:p>
                  </a:txBody>
                  <a:tcPr>
                    <a:solidFill>
                      <a:srgbClr val="161616"/>
                    </a:solidFill>
                  </a:tcPr>
                </a:tc>
                <a:tc>
                  <a:txBody>
                    <a:bodyPr/>
                    <a:lstStyle/>
                    <a:p>
                      <a:pPr>
                        <a:defRPr sz="900" b="1">
                          <a:solidFill>
                            <a:srgbClr val="FFFFFF"/>
                          </a:solidFill>
                          <a:latin typeface="Calibri"/>
                        </a:defRPr>
                      </a:pPr>
                      <a:r>
                        <a:t>Other</a:t>
                      </a:r>
                    </a:p>
                  </a:txBody>
                  <a:tcPr>
                    <a:solidFill>
                      <a:srgbClr val="161616"/>
                    </a:solidFill>
                  </a:tcPr>
                </a:tc>
              </a:tr>
              <a:tr h="358726">
                <a:tc>
                  <a:txBody>
                    <a:bodyPr/>
                    <a:lstStyle/>
                    <a:p>
                      <a:pPr>
                        <a:defRPr sz="800">
                          <a:solidFill>
                            <a:srgbClr val="333333"/>
                          </a:solidFill>
                          <a:latin typeface="Calibri"/>
                        </a:defRPr>
                      </a:pPr>
                      <a:r>
                        <a:t>ZSFTP_CITI_PULL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SRC_FOLDER</a:t>
                      </a:r>
                    </a:p>
                  </a:txBody>
                  <a:tcPr>
                    <a:solidFill>
                      <a:srgbClr val="FFFFFF"/>
                    </a:solidFill>
                  </a:tcPr>
                </a:tc>
              </a:tr>
              <a:tr h="358726">
                <a:tc>
                  <a:txBody>
                    <a:bodyPr/>
                    <a:lstStyle/>
                    <a:p>
                      <a:pPr>
                        <a:defRPr sz="800">
                          <a:solidFill>
                            <a:srgbClr val="333333"/>
                          </a:solidFill>
                          <a:latin typeface="Calibri"/>
                        </a:defRPr>
                      </a:pPr>
                      <a:r>
                        <a:t>ZSFTP_CITI_SEND</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ZSFTP_BNP_PARIBAS_PULL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ZSFTP_BNP_PARIBAS (pswd)</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ZSFTP_BNP_PARIBAS_WITH_PGP</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ZSFTP_CAPARIO_PULL</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FOLDER_PATH</a:t>
                      </a:r>
                    </a:p>
                  </a:txBody>
                  <a:tcPr>
                    <a:solidFill>
                      <a:srgbClr val="F5F5F5"/>
                    </a:solidFill>
                  </a:tcPr>
                </a:tc>
              </a:tr>
              <a:tr h="358726">
                <a:tc>
                  <a:txBody>
                    <a:bodyPr/>
                    <a:lstStyle/>
                    <a:p>
                      <a:pPr>
                        <a:defRPr sz="800">
                          <a:solidFill>
                            <a:srgbClr val="333333"/>
                          </a:solidFill>
                          <a:latin typeface="Calibri"/>
                        </a:defRPr>
                      </a:pPr>
                      <a:r>
                        <a:t>ZSFTP_CAPARIO</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ZSFTP_PATIENTCO_PULL</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ZSFTP_JPM / 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ZFFIU_ACC_POST / CERIDIAN</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SRC_FOLDER</a:t>
                      </a:r>
                    </a:p>
                  </a:txBody>
                  <a:tcPr>
                    <a:solidFill>
                      <a:srgbClr val="F5F5F5"/>
                    </a:solidFill>
                  </a:tcPr>
                </a:tc>
              </a:tr>
              <a:tr h="358726">
                <a:tc>
                  <a:txBody>
                    <a:bodyPr/>
                    <a:lstStyle/>
                    <a:p>
                      <a:pPr>
                        <a:defRPr sz="800">
                          <a:solidFill>
                            <a:srgbClr val="333333"/>
                          </a:solidFill>
                          <a:latin typeface="Calibri"/>
                        </a:defRPr>
                      </a:pPr>
                      <a:r>
                        <a:t>ZDMS_UPLOAD / REPLACE</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SRC+ZDEST</a:t>
                      </a:r>
                    </a:p>
                  </a:txBody>
                  <a:tcPr>
                    <a:solidFill>
                      <a:srgbClr val="FFFFFF"/>
                    </a:solidFill>
                  </a:tcPr>
                </a:tc>
              </a:tr>
              <a:tr h="358726">
                <a:tc>
                  <a:txBody>
                    <a:bodyPr/>
                    <a:lstStyle/>
                    <a:p>
                      <a:pPr>
                        <a:defRPr sz="800">
                          <a:solidFill>
                            <a:srgbClr val="333333"/>
                          </a:solidFill>
                          <a:latin typeface="Calibri"/>
                        </a:defRPr>
                      </a:pPr>
                      <a:r>
                        <a:t>ZSD_MEDICARE (ZMEDI FM)</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SRC_PATH+ZDEST</a:t>
                      </a:r>
                    </a:p>
                  </a:txBody>
                  <a:tcPr>
                    <a:solidFill>
                      <a:srgbClr val="F5F5F5"/>
                    </a:solidFill>
                  </a:tcPr>
                </a:tc>
              </a:tr>
              <a:tr h="358726">
                <a:tc>
                  <a:txBody>
                    <a:bodyPr/>
                    <a:lstStyle/>
                    <a:p>
                      <a:pPr>
                        <a:defRPr sz="800">
                          <a:solidFill>
                            <a:srgbClr val="333333"/>
                          </a:solidFill>
                          <a:latin typeface="Calibri"/>
                        </a:defRPr>
                      </a:pPr>
                      <a:r>
                        <a:t>ZSD_ERX_DMS (ZERX FM)</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via wrapper</a:t>
                      </a:r>
                    </a:p>
                  </a:txBody>
                  <a:tcPr>
                    <a:solidFill>
                      <a:srgbClr val="FFFFFF"/>
                    </a:solidFill>
                  </a:tcPr>
                </a:tc>
              </a:tr>
            </a:tbl>
          </a:graphicData>
        </a:graphic>
      </p:graphicFrame>
      <p:sp>
        <p:nvSpPr>
          <p:cNvPr id="52" name="TextBox 51"/>
          <p:cNvSpPr txBox="1"/>
          <p:nvPr/>
        </p:nvSpPr>
        <p:spPr>
          <a:xfrm>
            <a:off x="3474720" y="6126480"/>
            <a:ext cx="8412480" cy="365760"/>
          </a:xfrm>
          <a:prstGeom prst="rect">
            <a:avLst/>
          </a:prstGeom>
          <a:noFill/>
        </p:spPr>
        <p:txBody>
          <a:bodyPr wrap="square">
            <a:spAutoFit/>
          </a:bodyPr>
          <a:lstStyle/>
          <a:p>
            <a:pPr>
              <a:defRPr sz="900" b="1">
                <a:solidFill>
                  <a:srgbClr val="00B4C8"/>
                </a:solidFill>
                <a:latin typeface="Calibri"/>
              </a:defRPr>
            </a:pPr>
            <a:r>
              <a:t>1 of 16 uses pure password auth (ZSFTP_BNP_PARIBAS); rest are key or hybrid. New layer must support both.</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Where values live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SQL SHAPE</a:t>
            </a:r>
          </a:p>
          <a:p>
            <a:pPr>
              <a:defRPr sz="1200" b="1">
                <a:solidFill>
                  <a:srgbClr val="161616"/>
                </a:solidFill>
                <a:latin typeface="Calibri"/>
              </a:defRPr>
            </a:pPr>
            <a:r>
              <a:t>Table:</a:t>
            </a:r>
            <a:r>
              <a:rPr sz="1200">
                <a:solidFill>
                  <a:srgbClr val="333333"/>
                </a:solidFill>
                <a:latin typeface="Calibri"/>
              </a:rPr>
              <a:t> zfi_constants</a:t>
            </a:r>
          </a:p>
          <a:p>
            <a:pPr>
              <a:defRPr sz="1200" b="1">
                <a:solidFill>
                  <a:srgbClr val="161616"/>
                </a:solidFill>
                <a:latin typeface="Calibri"/>
              </a:defRPr>
            </a:pPr>
            <a:r>
              <a:t>Columns:</a:t>
            </a:r>
            <a:r>
              <a:rPr sz="1200">
                <a:solidFill>
                  <a:srgbClr val="333333"/>
                </a:solidFill>
                <a:latin typeface="Calibri"/>
              </a:rPr>
              <a:t> PNAME, FNAM, FVAL</a:t>
            </a:r>
          </a:p>
          <a:p>
            <a:pPr>
              <a:defRPr sz="1100">
                <a:solidFill>
                  <a:srgbClr val="333333"/>
                </a:solidFill>
                <a:latin typeface="Calibri"/>
              </a:defRPr>
            </a:pPr>
          </a:p>
          <a:p>
            <a:pPr>
              <a:defRPr sz="1100">
                <a:solidFill>
                  <a:srgbClr val="333333"/>
                </a:solidFill>
                <a:latin typeface="Calibri"/>
              </a:defRPr>
            </a:pPr>
            <a:r>
              <a:t>ACCESS PATTERN</a:t>
            </a:r>
          </a:p>
          <a:p>
            <a:pPr>
              <a:defRPr sz="1100">
                <a:solidFill>
                  <a:srgbClr val="333333"/>
                </a:solidFill>
                <a:latin typeface="Calibri"/>
              </a:defRPr>
            </a:pPr>
            <a:r>
              <a:t>SELECT by pname</a:t>
            </a:r>
          </a:p>
          <a:p>
            <a:pPr>
              <a:defRPr sz="1100">
                <a:solidFill>
                  <a:srgbClr val="333333"/>
                </a:solidFill>
                <a:latin typeface="Calibri"/>
              </a:defRPr>
            </a:pPr>
            <a:r>
              <a:t>READ TABLE by fnam</a:t>
            </a:r>
          </a:p>
          <a:p>
            <a:pPr>
              <a:defRPr sz="1100">
                <a:solidFill>
                  <a:srgbClr val="333333"/>
                </a:solidFill>
                <a:latin typeface="Calibri"/>
              </a:defRPr>
            </a:pPr>
          </a:p>
          <a:p>
            <a:pPr>
              <a:defRPr sz="1100">
                <a:solidFill>
                  <a:srgbClr val="333333"/>
                </a:solidFill>
                <a:latin typeface="Calibri"/>
              </a:defRPr>
            </a:pPr>
            <a:r>
              <a:t>VALUE STORAGE</a:t>
            </a:r>
          </a:p>
          <a:p>
            <a:pPr>
              <a:defRPr sz="1100">
                <a:solidFill>
                  <a:srgbClr val="333333"/>
                </a:solidFill>
                <a:latin typeface="Calibri"/>
              </a:defRPr>
            </a:pPr>
            <a:r>
              <a:t>Not in git — SE16 / SecureStorage on SAP system</a:t>
            </a:r>
          </a:p>
        </p:txBody>
      </p:sp>
      <p:sp>
        <p:nvSpPr>
          <p:cNvPr id="50" name="TextBox 49"/>
          <p:cNvSpPr txBox="1"/>
          <p:nvPr/>
        </p:nvSpPr>
        <p:spPr>
          <a:xfrm>
            <a:off x="3474720" y="457200"/>
            <a:ext cx="8412480" cy="365760"/>
          </a:xfrm>
          <a:prstGeom prst="rect">
            <a:avLst/>
          </a:prstGeom>
          <a:noFill/>
        </p:spPr>
        <p:txBody>
          <a:bodyPr wrap="square">
            <a:spAutoFit/>
          </a:bodyPr>
          <a:lstStyle/>
          <a:p>
            <a:pPr>
              <a:defRPr sz="1100" b="0">
                <a:solidFill>
                  <a:srgbClr val="333333"/>
                </a:solidFill>
                <a:latin typeface="Calibri"/>
              </a:defRPr>
            </a:pPr>
            <a:r>
              <a:t>Every consumer follows this shape — pname literal changes per endpoint:</a:t>
            </a:r>
          </a:p>
        </p:txBody>
      </p:sp>
      <p:sp>
        <p:nvSpPr>
          <p:cNvPr id="51" name="TextBox 50"/>
          <p:cNvSpPr txBox="1"/>
          <p:nvPr/>
        </p:nvSpPr>
        <p:spPr>
          <a:xfrm>
            <a:off x="3474720" y="914400"/>
            <a:ext cx="8412480" cy="1371600"/>
          </a:xfrm>
          <a:prstGeom prst="rect">
            <a:avLst/>
          </a:prstGeom>
          <a:solidFill>
            <a:srgbClr val="F5F5F5"/>
          </a:solidFill>
        </p:spPr>
        <p:txBody>
          <a:bodyPr wrap="square">
            <a:spAutoFit/>
          </a:bodyPr>
          <a:lstStyle/>
          <a:p>
            <a:pPr>
              <a:defRPr sz="1100" b="0">
                <a:solidFill>
                  <a:srgbClr val="333333"/>
                </a:solidFill>
                <a:latin typeface="Consolas"/>
              </a:defRPr>
            </a:pPr>
            <a:r>
              <a:t>SELECT * FROM zfi_constants INTO TABLE i_constants</a:t>
            </a:r>
          </a:p>
          <a:p>
            <a:pPr>
              <a:defRPr sz="1100" b="0">
                <a:solidFill>
                  <a:srgbClr val="333333"/>
                </a:solidFill>
                <a:latin typeface="Consolas"/>
              </a:defRPr>
            </a:pPr>
            <a:r>
              <a:t>  WHERE pname = '&lt;consumer-specific pname&gt;'.</a:t>
            </a:r>
          </a:p>
          <a:p>
            <a:pPr>
              <a:defRPr sz="1100" b="0">
                <a:solidFill>
                  <a:srgbClr val="333333"/>
                </a:solidFill>
                <a:latin typeface="Consolas"/>
              </a:defRPr>
            </a:pPr>
          </a:p>
          <a:p>
            <a:pPr>
              <a:defRPr sz="1100" b="0">
                <a:solidFill>
                  <a:srgbClr val="333333"/>
                </a:solidFill>
                <a:latin typeface="Consolas"/>
              </a:defRPr>
            </a:pPr>
            <a:r>
              <a:t>READ TABLE i_constants WITH KEY fnam = 'FTP_USER'.       " then 'FTP_DOMAIN', 'HOST_KEY'...</a:t>
            </a:r>
          </a:p>
        </p:txBody>
      </p:sp>
      <p:graphicFrame>
        <p:nvGraphicFramePr>
          <p:cNvPr id="52" name="Table 51"/>
          <p:cNvGraphicFramePr>
            <a:graphicFrameLocks noGrp="1"/>
          </p:cNvGraphicFramePr>
          <p:nvPr/>
        </p:nvGraphicFramePr>
        <p:xfrm>
          <a:off x="3474720" y="2560320"/>
          <a:ext cx="8412480" cy="3474720"/>
        </p:xfrm>
        <a:graphic>
          <a:graphicData uri="http://schemas.openxmlformats.org/drawingml/2006/table">
            <a:tbl>
              <a:tblPr firstRow="1" bandRow="1">
                <a:tableStyleId>{5C22544A-7EE6-4342-B048-85BDC9FD1C3A}</a:tableStyleId>
              </a:tblPr>
              <a:tblGrid>
                <a:gridCol w="2468880"/>
                <a:gridCol w="2468880"/>
                <a:gridCol w="3474720"/>
              </a:tblGrid>
              <a:tr h="365760">
                <a:tc>
                  <a:txBody>
                    <a:bodyPr/>
                    <a:lstStyle/>
                    <a:p>
                      <a:pPr>
                        <a:defRPr sz="1000" b="1">
                          <a:solidFill>
                            <a:srgbClr val="FFFFFF"/>
                          </a:solidFill>
                          <a:latin typeface="Calibri"/>
                        </a:defRPr>
                      </a:pPr>
                      <a:r>
                        <a:t>Consumer</a:t>
                      </a:r>
                    </a:p>
                  </a:txBody>
                  <a:tcPr>
                    <a:solidFill>
                      <a:srgbClr val="161616"/>
                    </a:solidFill>
                  </a:tcPr>
                </a:tc>
                <a:tc>
                  <a:txBody>
                    <a:bodyPr/>
                    <a:lstStyle/>
                    <a:p>
                      <a:pPr>
                        <a:defRPr sz="1000" b="1">
                          <a:solidFill>
                            <a:srgbClr val="FFFFFF"/>
                          </a:solidFill>
                          <a:latin typeface="Calibri"/>
                        </a:defRPr>
                      </a:pPr>
                      <a:r>
                        <a:t>pname literal</a:t>
                      </a:r>
                    </a:p>
                  </a:txBody>
                  <a:tcPr>
                    <a:solidFill>
                      <a:srgbClr val="161616"/>
                    </a:solidFill>
                  </a:tcPr>
                </a:tc>
                <a:tc>
                  <a:txBody>
                    <a:bodyPr/>
                    <a:lstStyle/>
                    <a:p>
                      <a:pPr>
                        <a:defRPr sz="1000" b="1">
                          <a:solidFill>
                            <a:srgbClr val="FFFFFF"/>
                          </a:solidFill>
                          <a:latin typeface="Calibri"/>
                        </a:defRPr>
                      </a:pPr>
                      <a:r>
                        <a:t>fnam keys read</a:t>
                      </a:r>
                    </a:p>
                  </a:txBody>
                  <a:tcPr>
                    <a:solidFill>
                      <a:srgbClr val="161616"/>
                    </a:solidFill>
                  </a:tcPr>
                </a:tc>
              </a:tr>
              <a:tr h="388620">
                <a:tc>
                  <a:txBody>
                    <a:bodyPr/>
                    <a:lstStyle/>
                    <a:p>
                      <a:pPr>
                        <a:defRPr sz="900">
                          <a:solidFill>
                            <a:srgbClr val="333333"/>
                          </a:solidFill>
                          <a:latin typeface="Calibri"/>
                        </a:defRPr>
                      </a:pPr>
                      <a:r>
                        <a:t>ZSFTP_CITI_PULL / SEND</a:t>
                      </a:r>
                    </a:p>
                  </a:txBody>
                  <a:tcPr>
                    <a:solidFill>
                      <a:srgbClr val="FFFFFF"/>
                    </a:solidFill>
                  </a:tcPr>
                </a:tc>
                <a:tc>
                  <a:txBody>
                    <a:bodyPr/>
                    <a:lstStyle/>
                    <a:p>
                      <a:pPr>
                        <a:defRPr sz="900">
                          <a:solidFill>
                            <a:srgbClr val="333333"/>
                          </a:solidFill>
                          <a:latin typeface="Consolas"/>
                        </a:defRPr>
                      </a:pPr>
                      <a:r>
                        <a:t>'ZSFTP_CITI' / 'ZSFTP_CITI_SEND'</a:t>
                      </a:r>
                    </a:p>
                  </a:txBody>
                  <a:tcPr>
                    <a:solidFill>
                      <a:srgbClr val="FFFFFF"/>
                    </a:solidFill>
                  </a:tcPr>
                </a:tc>
                <a:tc>
                  <a:txBody>
                    <a:bodyPr/>
                    <a:lstStyle/>
                    <a:p>
                      <a:pPr>
                        <a:defRPr sz="900">
                          <a:solidFill>
                            <a:srgbClr val="333333"/>
                          </a:solidFill>
                          <a:latin typeface="Calibri"/>
                        </a:defRPr>
                      </a:pPr>
                      <a:r>
                        <a:t>FTP_USER, FTP_DOMAIN, HOST_KEY, PRIVATE_KEY_PATH, PASSPHRASE</a:t>
                      </a:r>
                    </a:p>
                  </a:txBody>
                  <a:tcPr>
                    <a:solidFill>
                      <a:srgbClr val="FFFFFF"/>
                    </a:solidFill>
                  </a:tcPr>
                </a:tc>
              </a:tr>
              <a:tr h="388620">
                <a:tc>
                  <a:txBody>
                    <a:bodyPr/>
                    <a:lstStyle/>
                    <a:p>
                      <a:pPr>
                        <a:defRPr sz="900">
                          <a:solidFill>
                            <a:srgbClr val="333333"/>
                          </a:solidFill>
                          <a:latin typeface="Calibri"/>
                        </a:defRPr>
                      </a:pPr>
                      <a:r>
                        <a:t>ZSFTP_BNP_PARIBAS variants</a:t>
                      </a:r>
                    </a:p>
                  </a:txBody>
                  <a:tcPr>
                    <a:solidFill>
                      <a:srgbClr val="F5F5F5"/>
                    </a:solidFill>
                  </a:tcPr>
                </a:tc>
                <a:tc>
                  <a:txBody>
                    <a:bodyPr/>
                    <a:lstStyle/>
                    <a:p>
                      <a:pPr>
                        <a:defRPr sz="900">
                          <a:solidFill>
                            <a:srgbClr val="333333"/>
                          </a:solidFill>
                          <a:latin typeface="Consolas"/>
                        </a:defRPr>
                      </a:pPr>
                      <a:r>
                        <a:t>'ZSFTP_BNP_PARIBAS'</a:t>
                      </a:r>
                    </a:p>
                  </a:txBody>
                  <a:tcPr>
                    <a:solidFill>
                      <a:srgbClr val="F5F5F5"/>
                    </a:solidFill>
                  </a:tcPr>
                </a:tc>
                <a:tc>
                  <a:txBody>
                    <a:bodyPr/>
                    <a:lstStyle/>
                    <a:p>
                      <a:pPr>
                        <a:defRPr sz="900">
                          <a:solidFill>
                            <a:srgbClr val="333333"/>
                          </a:solidFill>
                          <a:latin typeface="Calibri"/>
                        </a:defRPr>
                      </a:pPr>
                      <a:r>
                        <a:t>FTP_USER, FTP_PSWD/PRIVATE_KEY_PATH, FTP_DOMAIN, FTP_PORT, HOST_KEY</a:t>
                      </a:r>
                    </a:p>
                  </a:txBody>
                  <a:tcPr>
                    <a:solidFill>
                      <a:srgbClr val="F5F5F5"/>
                    </a:solidFill>
                  </a:tcPr>
                </a:tc>
              </a:tr>
              <a:tr h="388620">
                <a:tc>
                  <a:txBody>
                    <a:bodyPr/>
                    <a:lstStyle/>
                    <a:p>
                      <a:pPr>
                        <a:defRPr sz="900">
                          <a:solidFill>
                            <a:srgbClr val="333333"/>
                          </a:solidFill>
                          <a:latin typeface="Calibri"/>
                        </a:defRPr>
                      </a:pPr>
                      <a:r>
                        <a:t>ZSFTP_CAPARIO_PULL / CAPARIO</a:t>
                      </a:r>
                    </a:p>
                  </a:txBody>
                  <a:tcPr>
                    <a:solidFill>
                      <a:srgbClr val="FFFFFF"/>
                    </a:solidFill>
                  </a:tcPr>
                </a:tc>
                <a:tc>
                  <a:txBody>
                    <a:bodyPr/>
                    <a:lstStyle/>
                    <a:p>
                      <a:pPr>
                        <a:defRPr sz="900">
                          <a:solidFill>
                            <a:srgbClr val="333333"/>
                          </a:solidFill>
                          <a:latin typeface="Consolas"/>
                        </a:defRPr>
                      </a:pPr>
                      <a:r>
                        <a:t>'ZSFTP_835_PULL' / 'ZSFTP_837'</a:t>
                      </a:r>
                    </a:p>
                  </a:txBody>
                  <a:tcPr>
                    <a:solidFill>
                      <a:srgbClr val="FFFFFF"/>
                    </a:solidFill>
                  </a:tcPr>
                </a:tc>
                <a:tc>
                  <a:txBody>
                    <a:bodyPr/>
                    <a:lstStyle/>
                    <a:p>
                      <a:pPr>
                        <a:defRPr sz="900">
                          <a:solidFill>
                            <a:srgbClr val="333333"/>
                          </a:solidFill>
                          <a:latin typeface="Calibri"/>
                        </a:defRPr>
                      </a:pPr>
                      <a:r>
                        <a:t>Standard key bundle + FOLDER_PATH</a:t>
                      </a:r>
                    </a:p>
                  </a:txBody>
                  <a:tcPr>
                    <a:solidFill>
                      <a:srgbClr val="FFFFFF"/>
                    </a:solidFill>
                  </a:tcPr>
                </a:tc>
              </a:tr>
              <a:tr h="388620">
                <a:tc>
                  <a:txBody>
                    <a:bodyPr/>
                    <a:lstStyle/>
                    <a:p>
                      <a:pPr>
                        <a:defRPr sz="900">
                          <a:solidFill>
                            <a:srgbClr val="333333"/>
                          </a:solidFill>
                          <a:latin typeface="Calibri"/>
                        </a:defRPr>
                      </a:pPr>
                      <a:r>
                        <a:t>ZSFTP_PATIENTCO_PULL</a:t>
                      </a:r>
                    </a:p>
                  </a:txBody>
                  <a:tcPr>
                    <a:solidFill>
                      <a:srgbClr val="F5F5F5"/>
                    </a:solidFill>
                  </a:tcPr>
                </a:tc>
                <a:tc>
                  <a:txBody>
                    <a:bodyPr/>
                    <a:lstStyle/>
                    <a:p>
                      <a:pPr>
                        <a:defRPr sz="900">
                          <a:solidFill>
                            <a:srgbClr val="333333"/>
                          </a:solidFill>
                          <a:latin typeface="Consolas"/>
                        </a:defRPr>
                      </a:pPr>
                      <a:r>
                        <a:t>'ZSFTP_835_PATIENTCO'</a:t>
                      </a:r>
                    </a:p>
                  </a:txBody>
                  <a:tcPr>
                    <a:solidFill>
                      <a:srgbClr val="F5F5F5"/>
                    </a:solidFill>
                  </a:tcPr>
                </a:tc>
                <a:tc>
                  <a:txBody>
                    <a:bodyPr/>
                    <a:lstStyle/>
                    <a:p>
                      <a:pPr>
                        <a:defRPr sz="900">
                          <a:solidFill>
                            <a:srgbClr val="333333"/>
                          </a:solidFill>
                          <a:latin typeface="Calibri"/>
                        </a:defRPr>
                      </a:pPr>
                      <a:r>
                        <a:t>FTP_USER, FTP_DOMAIN, HOST_KEY, FTP_PSWD, FOLDER_PATH</a:t>
                      </a:r>
                    </a:p>
                  </a:txBody>
                  <a:tcPr>
                    <a:solidFill>
                      <a:srgbClr val="F5F5F5"/>
                    </a:solidFill>
                  </a:tcPr>
                </a:tc>
              </a:tr>
              <a:tr h="388620">
                <a:tc>
                  <a:txBody>
                    <a:bodyPr/>
                    <a:lstStyle/>
                    <a:p>
                      <a:pPr>
                        <a:defRPr sz="900">
                          <a:solidFill>
                            <a:srgbClr val="333333"/>
                          </a:solidFill>
                          <a:latin typeface="Calibri"/>
                        </a:defRPr>
                      </a:pPr>
                      <a:r>
                        <a:t>ZSFTP_JPM / _PULL</a:t>
                      </a:r>
                    </a:p>
                  </a:txBody>
                  <a:tcPr>
                    <a:solidFill>
                      <a:srgbClr val="FFFFFF"/>
                    </a:solidFill>
                  </a:tcPr>
                </a:tc>
                <a:tc>
                  <a:txBody>
                    <a:bodyPr/>
                    <a:lstStyle/>
                    <a:p>
                      <a:pPr>
                        <a:defRPr sz="900">
                          <a:solidFill>
                            <a:srgbClr val="333333"/>
                          </a:solidFill>
                          <a:latin typeface="Consolas"/>
                        </a:defRPr>
                      </a:pPr>
                      <a:r>
                        <a:t>'ZSFTP_JPM'</a:t>
                      </a:r>
                    </a:p>
                  </a:txBody>
                  <a:tcPr>
                    <a:solidFill>
                      <a:srgbClr val="FFFFFF"/>
                    </a:solidFill>
                  </a:tcPr>
                </a:tc>
                <a:tc>
                  <a:txBody>
                    <a:bodyPr/>
                    <a:lstStyle/>
                    <a:p>
                      <a:pPr>
                        <a:defRPr sz="900">
                          <a:solidFill>
                            <a:srgbClr val="333333"/>
                          </a:solidFill>
                          <a:latin typeface="Calibri"/>
                        </a:defRPr>
                      </a:pPr>
                      <a:r>
                        <a:t>Standard key bundle</a:t>
                      </a:r>
                    </a:p>
                  </a:txBody>
                  <a:tcPr>
                    <a:solidFill>
                      <a:srgbClr val="FFFFFF"/>
                    </a:solidFill>
                  </a:tcPr>
                </a:tc>
              </a:tr>
              <a:tr h="388620">
                <a:tc>
                  <a:txBody>
                    <a:bodyPr/>
                    <a:lstStyle/>
                    <a:p>
                      <a:pPr>
                        <a:defRPr sz="900">
                          <a:solidFill>
                            <a:srgbClr val="333333"/>
                          </a:solidFill>
                          <a:latin typeface="Calibri"/>
                        </a:defRPr>
                      </a:pPr>
                      <a:r>
                        <a:t>ZFFIU_ACC_POST / CERIDIAN</a:t>
                      </a:r>
                    </a:p>
                  </a:txBody>
                  <a:tcPr>
                    <a:solidFill>
                      <a:srgbClr val="F5F5F5"/>
                    </a:solidFill>
                  </a:tcPr>
                </a:tc>
                <a:tc>
                  <a:txBody>
                    <a:bodyPr/>
                    <a:lstStyle/>
                    <a:p>
                      <a:pPr>
                        <a:defRPr sz="900">
                          <a:solidFill>
                            <a:srgbClr val="333333"/>
                          </a:solidFill>
                          <a:latin typeface="Consolas"/>
                        </a:defRPr>
                      </a:pPr>
                      <a:r>
                        <a:t>'ZSFTP_CERIDIAN'</a:t>
                      </a:r>
                    </a:p>
                  </a:txBody>
                  <a:tcPr>
                    <a:solidFill>
                      <a:srgbClr val="F5F5F5"/>
                    </a:solidFill>
                  </a:tcPr>
                </a:tc>
                <a:tc>
                  <a:txBody>
                    <a:bodyPr/>
                    <a:lstStyle/>
                    <a:p>
                      <a:pPr>
                        <a:defRPr sz="900">
                          <a:solidFill>
                            <a:srgbClr val="333333"/>
                          </a:solidFill>
                          <a:latin typeface="Calibri"/>
                        </a:defRPr>
                      </a:pPr>
                      <a:r>
                        <a:t>FTP_USER, FTP_DOMAIN, HOST_KEY, PASSPHRASE, SOURCE_FOLDER</a:t>
                      </a:r>
                    </a:p>
                  </a:txBody>
                  <a:tcPr>
                    <a:solidFill>
                      <a:srgbClr val="F5F5F5"/>
                    </a:solidFill>
                  </a:tcPr>
                </a:tc>
              </a:tr>
              <a:tr h="388620">
                <a:tc>
                  <a:txBody>
                    <a:bodyPr/>
                    <a:lstStyle/>
                    <a:p>
                      <a:pPr>
                        <a:defRPr sz="900">
                          <a:solidFill>
                            <a:srgbClr val="333333"/>
                          </a:solidFill>
                          <a:latin typeface="Calibri"/>
                        </a:defRPr>
                      </a:pPr>
                      <a:r>
                        <a:t>ZDMS_UPLOAD / REPLACE</a:t>
                      </a:r>
                    </a:p>
                  </a:txBody>
                  <a:tcPr>
                    <a:solidFill>
                      <a:srgbClr val="FFFFFF"/>
                    </a:solidFill>
                  </a:tcPr>
                </a:tc>
                <a:tc>
                  <a:txBody>
                    <a:bodyPr/>
                    <a:lstStyle/>
                    <a:p>
                      <a:pPr>
                        <a:defRPr sz="900">
                          <a:solidFill>
                            <a:srgbClr val="333333"/>
                          </a:solidFill>
                          <a:latin typeface="Consolas"/>
                        </a:defRPr>
                      </a:pPr>
                      <a:r>
                        <a:t>'ZSFTP_DMS_IN' / 'ZSFTP_DMS_OUT'</a:t>
                      </a:r>
                    </a:p>
                  </a:txBody>
                  <a:tcPr>
                    <a:solidFill>
                      <a:srgbClr val="FFFFFF"/>
                    </a:solidFill>
                  </a:tcPr>
                </a:tc>
                <a:tc>
                  <a:txBody>
                    <a:bodyPr/>
                    <a:lstStyle/>
                    <a:p>
                      <a:pPr>
                        <a:defRPr sz="900">
                          <a:solidFill>
                            <a:srgbClr val="333333"/>
                          </a:solidFill>
                          <a:latin typeface="Calibri"/>
                        </a:defRPr>
                      </a:pPr>
                      <a:r>
                        <a:t>Standard + SOURCE_FOLDER + ZDEST_FOLD</a:t>
                      </a:r>
                    </a:p>
                  </a:txBody>
                  <a:tcPr>
                    <a:solidFill>
                      <a:srgbClr val="FFFFFF"/>
                    </a:solidFill>
                  </a:tcPr>
                </a:tc>
              </a:tr>
              <a:tr h="388620">
                <a:tc>
                  <a:txBody>
                    <a:bodyPr/>
                    <a:lstStyle/>
                    <a:p>
                      <a:pPr>
                        <a:defRPr sz="900">
                          <a:solidFill>
                            <a:srgbClr val="333333"/>
                          </a:solidFill>
                          <a:latin typeface="Calibri"/>
                        </a:defRPr>
                      </a:pPr>
                      <a:r>
                        <a:t>ZSD_MEDICARE (ZMEDI FM)</a:t>
                      </a:r>
                    </a:p>
                  </a:txBody>
                  <a:tcPr>
                    <a:solidFill>
                      <a:srgbClr val="F5F5F5"/>
                    </a:solidFill>
                  </a:tcPr>
                </a:tc>
                <a:tc>
                  <a:txBody>
                    <a:bodyPr/>
                    <a:lstStyle/>
                    <a:p>
                      <a:pPr>
                        <a:defRPr sz="900">
                          <a:solidFill>
                            <a:srgbClr val="333333"/>
                          </a:solidFill>
                          <a:latin typeface="Consolas"/>
                        </a:defRPr>
                      </a:pPr>
                      <a:r>
                        <a:t>'ZSFTP_MEDICARE_IN/OUT'</a:t>
                      </a:r>
                    </a:p>
                  </a:txBody>
                  <a:tcPr>
                    <a:solidFill>
                      <a:srgbClr val="F5F5F5"/>
                    </a:solidFill>
                  </a:tcPr>
                </a:tc>
                <a:tc>
                  <a:txBody>
                    <a:bodyPr/>
                    <a:lstStyle/>
                    <a:p>
                      <a:pPr>
                        <a:defRPr sz="900">
                          <a:solidFill>
                            <a:srgbClr val="333333"/>
                          </a:solidFill>
                          <a:latin typeface="Calibri"/>
                        </a:defRPr>
                      </a:pPr>
                      <a:r>
                        <a:t>Standard + SOURCE_PATH + ZDEST_FOLD</a:t>
                      </a:r>
                    </a:p>
                  </a:txBody>
                  <a:tcPr>
                    <a:solidFill>
                      <a:srgbClr val="F5F5F5"/>
                    </a:solidFill>
                  </a:tcPr>
                </a:tc>
              </a:tr>
            </a:tbl>
          </a:graphicData>
        </a:graphic>
      </p:graphicFrame>
      <p:sp>
        <p:nvSpPr>
          <p:cNvPr id="53" name="TextBox 52"/>
          <p:cNvSpPr txBox="1"/>
          <p:nvPr/>
        </p:nvSpPr>
        <p:spPr>
          <a:xfrm>
            <a:off x="3474720" y="6126480"/>
            <a:ext cx="8412480" cy="365760"/>
          </a:xfrm>
          <a:prstGeom prst="rect">
            <a:avLst/>
          </a:prstGeom>
          <a:noFill/>
        </p:spPr>
        <p:txBody>
          <a:bodyPr wrap="square">
            <a:spAutoFit/>
          </a:bodyPr>
          <a:lstStyle/>
          <a:p>
            <a:pPr>
              <a:defRPr sz="900" b="1">
                <a:solidFill>
                  <a:srgbClr val="418DFF"/>
                </a:solidFill>
                <a:latin typeface="Calibri"/>
              </a:defRPr>
            </a:pPr>
            <a:r>
              <a:t>Migration handoff: extract zfi_constants rows for these pnames via SE16 / SecureStorage — not committed to git.</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Schema</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CREDENTIAL KEYS</a:t>
            </a:r>
          </a:p>
          <a:p>
            <a:pPr>
              <a:defRPr sz="1200" b="1">
                <a:solidFill>
                  <a:srgbClr val="161616"/>
                </a:solidFill>
                <a:latin typeface="Calibri"/>
              </a:defRPr>
            </a:pPr>
            <a:r>
              <a:t>Total keys:</a:t>
            </a:r>
            <a:r>
              <a:rPr sz="1200">
                <a:solidFill>
                  <a:srgbClr val="333333"/>
                </a:solidFill>
                <a:latin typeface="Calibri"/>
              </a:rPr>
              <a:t> 12</a:t>
            </a:r>
          </a:p>
          <a:p>
            <a:pPr>
              <a:defRPr sz="1100">
                <a:solidFill>
                  <a:srgbClr val="333333"/>
                </a:solidFill>
                <a:latin typeface="Calibri"/>
              </a:defRPr>
            </a:pPr>
          </a:p>
          <a:p>
            <a:pPr>
              <a:defRPr sz="1100">
                <a:solidFill>
                  <a:srgbClr val="333333"/>
                </a:solidFill>
                <a:latin typeface="Calibri"/>
              </a:defRPr>
            </a:pPr>
            <a:r>
              <a:t>KEY-AUTH SET</a:t>
            </a:r>
          </a:p>
          <a:p>
            <a:pPr>
              <a:defRPr sz="1100">
                <a:solidFill>
                  <a:srgbClr val="333333"/>
                </a:solidFill>
                <a:latin typeface="Calibri"/>
              </a:defRPr>
            </a:pPr>
            <a:r>
              <a:t>FTP_USER, FTP_DOMAIN,</a:t>
            </a:r>
          </a:p>
          <a:p>
            <a:pPr>
              <a:defRPr sz="1100">
                <a:solidFill>
                  <a:srgbClr val="333333"/>
                </a:solidFill>
                <a:latin typeface="Calibri"/>
              </a:defRPr>
            </a:pPr>
            <a:r>
              <a:t>HOST_KEY, PRIVATE_KEY_PATH,</a:t>
            </a:r>
          </a:p>
          <a:p>
            <a:pPr>
              <a:defRPr sz="1100">
                <a:solidFill>
                  <a:srgbClr val="333333"/>
                </a:solidFill>
                <a:latin typeface="Calibri"/>
              </a:defRPr>
            </a:pPr>
            <a:r>
              <a:t>PASSPHRASE</a:t>
            </a:r>
          </a:p>
          <a:p>
            <a:pPr>
              <a:defRPr sz="1100">
                <a:solidFill>
                  <a:srgbClr val="333333"/>
                </a:solidFill>
                <a:latin typeface="Calibri"/>
              </a:defRPr>
            </a:pPr>
          </a:p>
          <a:p>
            <a:pPr>
              <a:defRPr sz="1100">
                <a:solidFill>
                  <a:srgbClr val="333333"/>
                </a:solidFill>
                <a:latin typeface="Calibri"/>
              </a:defRPr>
            </a:pPr>
            <a:r>
              <a:t>PASSWORD-AUTH SET</a:t>
            </a:r>
          </a:p>
          <a:p>
            <a:pPr>
              <a:defRPr sz="1100">
                <a:solidFill>
                  <a:srgbClr val="333333"/>
                </a:solidFill>
                <a:latin typeface="Calibri"/>
              </a:defRPr>
            </a:pPr>
            <a:r>
              <a:t>FTP_USER, FTP_PSWD,</a:t>
            </a:r>
          </a:p>
          <a:p>
            <a:pPr>
              <a:defRPr sz="1100">
                <a:solidFill>
                  <a:srgbClr val="333333"/>
                </a:solidFill>
                <a:latin typeface="Calibri"/>
              </a:defRPr>
            </a:pPr>
            <a:r>
              <a:t>FTP_DOMAIN, HOST_KEY</a:t>
            </a:r>
          </a:p>
        </p:txBody>
      </p:sp>
      <p:sp>
        <p:nvSpPr>
          <p:cNvPr id="50" name="TextBox 49"/>
          <p:cNvSpPr txBox="1"/>
          <p:nvPr/>
        </p:nvSpPr>
        <p:spPr>
          <a:xfrm>
            <a:off x="3474720" y="457200"/>
            <a:ext cx="8412480" cy="457200"/>
          </a:xfrm>
          <a:prstGeom prst="rect">
            <a:avLst/>
          </a:prstGeom>
          <a:noFill/>
        </p:spPr>
        <p:txBody>
          <a:bodyPr wrap="square">
            <a:spAutoFit/>
          </a:bodyPr>
          <a:lstStyle/>
          <a:p>
            <a:pPr>
              <a:defRPr sz="1000" b="0">
                <a:solidFill>
                  <a:srgbClr val="333333"/>
                </a:solidFill>
                <a:latin typeface="Calibri"/>
              </a:defRPr>
            </a:pPr>
            <a:r>
              <a:t>All values in DDIC table `zfi_constants` (PNAME, FNAM, FVAL). FVAL retrieved via SE16 / SecureStorage.</a:t>
            </a:r>
          </a:p>
        </p:txBody>
      </p:sp>
      <p:graphicFrame>
        <p:nvGraphicFramePr>
          <p:cNvPr id="51" name="Table 50"/>
          <p:cNvGraphicFramePr>
            <a:graphicFrameLocks noGrp="1"/>
          </p:cNvGraphicFramePr>
          <p:nvPr/>
        </p:nvGraphicFramePr>
        <p:xfrm>
          <a:off x="3474720" y="1005840"/>
          <a:ext cx="8412480" cy="5120628"/>
        </p:xfrm>
        <a:graphic>
          <a:graphicData uri="http://schemas.openxmlformats.org/drawingml/2006/table">
            <a:tbl>
              <a:tblPr firstRow="1" bandRow="1">
                <a:tableStyleId>{5C22544A-7EE6-4342-B048-85BDC9FD1C3A}</a:tableStyleId>
              </a:tblPr>
              <a:tblGrid>
                <a:gridCol w="2560320"/>
                <a:gridCol w="2926080"/>
                <a:gridCol w="2926080"/>
              </a:tblGrid>
              <a:tr h="365760">
                <a:tc>
                  <a:txBody>
                    <a:bodyPr/>
                    <a:lstStyle/>
                    <a:p>
                      <a:pPr>
                        <a:defRPr sz="1000" b="1">
                          <a:solidFill>
                            <a:srgbClr val="FFFFFF"/>
                          </a:solidFill>
                          <a:latin typeface="Calibri"/>
                        </a:defRPr>
                      </a:pPr>
                      <a:r>
                        <a:t>fnam (literal key)</a:t>
                      </a:r>
                    </a:p>
                  </a:txBody>
                  <a:tcPr>
                    <a:solidFill>
                      <a:srgbClr val="161616"/>
                    </a:solidFill>
                  </a:tcPr>
                </a:tc>
                <a:tc>
                  <a:txBody>
                    <a:bodyPr/>
                    <a:lstStyle/>
                    <a:p>
                      <a:pPr>
                        <a:defRPr sz="1000" b="1">
                          <a:solidFill>
                            <a:srgbClr val="FFFFFF"/>
                          </a:solidFill>
                          <a:latin typeface="Calibri"/>
                        </a:defRPr>
                      </a:pPr>
                      <a:r>
                        <a:t>Holds</a:t>
                      </a:r>
                    </a:p>
                  </a:txBody>
                  <a:tcPr>
                    <a:solidFill>
                      <a:srgbClr val="161616"/>
                    </a:solidFill>
                  </a:tcPr>
                </a:tc>
                <a:tc>
                  <a:txBody>
                    <a:bodyPr/>
                    <a:lstStyle/>
                    <a:p>
                      <a:pPr>
                        <a:defRPr sz="1000" b="1">
                          <a:solidFill>
                            <a:srgbClr val="FFFFFF"/>
                          </a:solidFill>
                          <a:latin typeface="Calibri"/>
                        </a:defRPr>
                      </a:pPr>
                      <a:r>
                        <a:t>Used as</a:t>
                      </a:r>
                    </a:p>
                  </a:txBody>
                  <a:tcPr>
                    <a:solidFill>
                      <a:srgbClr val="161616"/>
                    </a:solidFill>
                  </a:tcPr>
                </a:tc>
              </a:tr>
              <a:tr h="396239">
                <a:tc>
                  <a:txBody>
                    <a:bodyPr/>
                    <a:lstStyle/>
                    <a:p>
                      <a:pPr>
                        <a:defRPr sz="900">
                          <a:solidFill>
                            <a:srgbClr val="333333"/>
                          </a:solidFill>
                          <a:latin typeface="Consolas"/>
                        </a:defRPr>
                      </a:pPr>
                      <a:r>
                        <a:t>'FTP_USER'</a:t>
                      </a:r>
                    </a:p>
                  </a:txBody>
                  <a:tcPr>
                    <a:solidFill>
                      <a:srgbClr val="FFFFFF"/>
                    </a:solidFill>
                  </a:tcPr>
                </a:tc>
                <a:tc>
                  <a:txBody>
                    <a:bodyPr/>
                    <a:lstStyle/>
                    <a:p>
                      <a:pPr>
                        <a:defRPr sz="900">
                          <a:solidFill>
                            <a:srgbClr val="333333"/>
                          </a:solidFill>
                          <a:latin typeface="Calibri"/>
                        </a:defRPr>
                      </a:pPr>
                      <a:r>
                        <a:t>SFTP username</a:t>
                      </a:r>
                    </a:p>
                  </a:txBody>
                  <a:tcPr>
                    <a:solidFill>
                      <a:srgbClr val="FFFFFF"/>
                    </a:solidFill>
                  </a:tcPr>
                </a:tc>
                <a:tc>
                  <a:txBody>
                    <a:bodyPr/>
                    <a:lstStyle/>
                    <a:p>
                      <a:pPr>
                        <a:defRPr sz="900">
                          <a:solidFill>
                            <a:srgbClr val="333333"/>
                          </a:solidFill>
                          <a:latin typeface="Calibri"/>
                        </a:defRPr>
                      </a:pPr>
                      <a:r>
                        <a:t>Login user in sftp/scp command</a:t>
                      </a:r>
                    </a:p>
                  </a:txBody>
                  <a:tcPr>
                    <a:solidFill>
                      <a:srgbClr val="FFFFFF"/>
                    </a:solidFill>
                  </a:tcPr>
                </a:tc>
              </a:tr>
              <a:tr h="396239">
                <a:tc>
                  <a:txBody>
                    <a:bodyPr/>
                    <a:lstStyle/>
                    <a:p>
                      <a:pPr>
                        <a:defRPr sz="900">
                          <a:solidFill>
                            <a:srgbClr val="333333"/>
                          </a:solidFill>
                          <a:latin typeface="Consolas"/>
                        </a:defRPr>
                      </a:pPr>
                      <a:r>
                        <a:t>'FTP_PSWD'</a:t>
                      </a:r>
                    </a:p>
                  </a:txBody>
                  <a:tcPr>
                    <a:solidFill>
                      <a:srgbClr val="F5F5F5"/>
                    </a:solidFill>
                  </a:tcPr>
                </a:tc>
                <a:tc>
                  <a:txBody>
                    <a:bodyPr/>
                    <a:lstStyle/>
                    <a:p>
                      <a:pPr>
                        <a:defRPr sz="900">
                          <a:solidFill>
                            <a:srgbClr val="333333"/>
                          </a:solidFill>
                          <a:latin typeface="Calibri"/>
                        </a:defRPr>
                      </a:pPr>
                      <a:r>
                        <a:t>Password (legacy)</a:t>
                      </a:r>
                    </a:p>
                  </a:txBody>
                  <a:tcPr>
                    <a:solidFill>
                      <a:srgbClr val="F5F5F5"/>
                    </a:solidFill>
                  </a:tcPr>
                </a:tc>
                <a:tc>
                  <a:txBody>
                    <a:bodyPr/>
                    <a:lstStyle/>
                    <a:p>
                      <a:pPr>
                        <a:defRPr sz="900">
                          <a:solidFill>
                            <a:srgbClr val="333333"/>
                          </a:solidFill>
                          <a:latin typeface="Calibri"/>
                        </a:defRPr>
                      </a:pPr>
                      <a:r>
                        <a:t>When key auth not used</a:t>
                      </a:r>
                    </a:p>
                  </a:txBody>
                  <a:tcPr>
                    <a:solidFill>
                      <a:srgbClr val="F5F5F5"/>
                    </a:solidFill>
                  </a:tcPr>
                </a:tc>
              </a:tr>
              <a:tr h="396239">
                <a:tc>
                  <a:txBody>
                    <a:bodyPr/>
                    <a:lstStyle/>
                    <a:p>
                      <a:pPr>
                        <a:defRPr sz="900">
                          <a:solidFill>
                            <a:srgbClr val="333333"/>
                          </a:solidFill>
                          <a:latin typeface="Consolas"/>
                        </a:defRPr>
                      </a:pPr>
                      <a:r>
                        <a:t>'FTP_DOMAIN'</a:t>
                      </a:r>
                    </a:p>
                  </a:txBody>
                  <a:tcPr>
                    <a:solidFill>
                      <a:srgbClr val="FFFFFF"/>
                    </a:solidFill>
                  </a:tcPr>
                </a:tc>
                <a:tc>
                  <a:txBody>
                    <a:bodyPr/>
                    <a:lstStyle/>
                    <a:p>
                      <a:pPr>
                        <a:defRPr sz="900">
                          <a:solidFill>
                            <a:srgbClr val="333333"/>
                          </a:solidFill>
                          <a:latin typeface="Calibri"/>
                        </a:defRPr>
                      </a:pPr>
                      <a:r>
                        <a:t>Remote hostname</a:t>
                      </a:r>
                    </a:p>
                  </a:txBody>
                  <a:tcPr>
                    <a:solidFill>
                      <a:srgbClr val="FFFFFF"/>
                    </a:solidFill>
                  </a:tcPr>
                </a:tc>
                <a:tc>
                  <a:txBody>
                    <a:bodyPr/>
                    <a:lstStyle/>
                    <a:p>
                      <a:pPr>
                        <a:defRPr sz="900">
                          <a:solidFill>
                            <a:srgbClr val="333333"/>
                          </a:solidFill>
                          <a:latin typeface="Calibri"/>
                        </a:defRPr>
                      </a:pPr>
                      <a:r>
                        <a:t>Host portion of user@host[:port]</a:t>
                      </a:r>
                    </a:p>
                  </a:txBody>
                  <a:tcPr>
                    <a:solidFill>
                      <a:srgbClr val="FFFFFF"/>
                    </a:solidFill>
                  </a:tcPr>
                </a:tc>
              </a:tr>
              <a:tr h="396239">
                <a:tc>
                  <a:txBody>
                    <a:bodyPr/>
                    <a:lstStyle/>
                    <a:p>
                      <a:pPr>
                        <a:defRPr sz="900">
                          <a:solidFill>
                            <a:srgbClr val="333333"/>
                          </a:solidFill>
                          <a:latin typeface="Consolas"/>
                        </a:defRPr>
                      </a:pPr>
                      <a:r>
                        <a:t>'FTP_PORT'</a:t>
                      </a:r>
                    </a:p>
                  </a:txBody>
                  <a:tcPr>
                    <a:solidFill>
                      <a:srgbClr val="F5F5F5"/>
                    </a:solidFill>
                  </a:tcPr>
                </a:tc>
                <a:tc>
                  <a:txBody>
                    <a:bodyPr/>
                    <a:lstStyle/>
                    <a:p>
                      <a:pPr>
                        <a:defRPr sz="900">
                          <a:solidFill>
                            <a:srgbClr val="333333"/>
                          </a:solidFill>
                          <a:latin typeface="Calibri"/>
                        </a:defRPr>
                      </a:pPr>
                      <a:r>
                        <a:t>TCP port (default 22)</a:t>
                      </a:r>
                    </a:p>
                  </a:txBody>
                  <a:tcPr>
                    <a:solidFill>
                      <a:srgbClr val="F5F5F5"/>
                    </a:solidFill>
                  </a:tcPr>
                </a:tc>
                <a:tc>
                  <a:txBody>
                    <a:bodyPr/>
                    <a:lstStyle/>
                    <a:p>
                      <a:pPr>
                        <a:defRPr sz="900">
                          <a:solidFill>
                            <a:srgbClr val="333333"/>
                          </a:solidFill>
                          <a:latin typeface="Consolas"/>
                        </a:defRPr>
                      </a:pPr>
                      <a:r>
                        <a:t>':port' suffix after host</a:t>
                      </a:r>
                    </a:p>
                  </a:txBody>
                  <a:tcPr>
                    <a:solidFill>
                      <a:srgbClr val="F5F5F5"/>
                    </a:solidFill>
                  </a:tcPr>
                </a:tc>
              </a:tr>
              <a:tr h="396239">
                <a:tc>
                  <a:txBody>
                    <a:bodyPr/>
                    <a:lstStyle/>
                    <a:p>
                      <a:pPr>
                        <a:defRPr sz="900">
                          <a:solidFill>
                            <a:srgbClr val="333333"/>
                          </a:solidFill>
                          <a:latin typeface="Consolas"/>
                        </a:defRPr>
                      </a:pPr>
                      <a:r>
                        <a:t>'HOST_KEY'</a:t>
                      </a:r>
                    </a:p>
                  </a:txBody>
                  <a:tcPr>
                    <a:solidFill>
                      <a:srgbClr val="FFFFFF"/>
                    </a:solidFill>
                  </a:tcPr>
                </a:tc>
                <a:tc>
                  <a:txBody>
                    <a:bodyPr/>
                    <a:lstStyle/>
                    <a:p>
                      <a:pPr>
                        <a:defRPr sz="900">
                          <a:solidFill>
                            <a:srgbClr val="333333"/>
                          </a:solidFill>
                          <a:latin typeface="Calibri"/>
                        </a:defRPr>
                      </a:pPr>
                      <a:r>
                        <a:t>Server fingerprint</a:t>
                      </a:r>
                    </a:p>
                  </a:txBody>
                  <a:tcPr>
                    <a:solidFill>
                      <a:srgbClr val="FFFFFF"/>
                    </a:solidFill>
                  </a:tcPr>
                </a:tc>
                <a:tc>
                  <a:txBody>
                    <a:bodyPr/>
                    <a:lstStyle/>
                    <a:p>
                      <a:pPr>
                        <a:defRPr sz="900">
                          <a:solidFill>
                            <a:srgbClr val="333333"/>
                          </a:solidFill>
                          <a:latin typeface="Calibri"/>
                        </a:defRPr>
                      </a:pPr>
                      <a:r>
                        <a:t>Identity verification</a:t>
                      </a:r>
                    </a:p>
                  </a:txBody>
                  <a:tcPr>
                    <a:solidFill>
                      <a:srgbClr val="FFFFFF"/>
                    </a:solidFill>
                  </a:tcPr>
                </a:tc>
              </a:tr>
              <a:tr h="396239">
                <a:tc>
                  <a:txBody>
                    <a:bodyPr/>
                    <a:lstStyle/>
                    <a:p>
                      <a:pPr>
                        <a:defRPr sz="900">
                          <a:solidFill>
                            <a:srgbClr val="333333"/>
                          </a:solidFill>
                          <a:latin typeface="Consolas"/>
                        </a:defRPr>
                      </a:pPr>
                      <a:r>
                        <a:t>'PRIVATE_KEY_PATH'</a:t>
                      </a:r>
                    </a:p>
                  </a:txBody>
                  <a:tcPr>
                    <a:solidFill>
                      <a:srgbClr val="F5F5F5"/>
                    </a:solidFill>
                  </a:tcPr>
                </a:tc>
                <a:tc>
                  <a:txBody>
                    <a:bodyPr/>
                    <a:lstStyle/>
                    <a:p>
                      <a:pPr>
                        <a:defRPr sz="900">
                          <a:solidFill>
                            <a:srgbClr val="333333"/>
                          </a:solidFill>
                          <a:latin typeface="Calibri"/>
                        </a:defRPr>
                      </a:pPr>
                      <a:r>
                        <a:t>Path to private key file</a:t>
                      </a:r>
                    </a:p>
                  </a:txBody>
                  <a:tcPr>
                    <a:solidFill>
                      <a:srgbClr val="F5F5F5"/>
                    </a:solidFill>
                  </a:tcPr>
                </a:tc>
                <a:tc>
                  <a:txBody>
                    <a:bodyPr/>
                    <a:lstStyle/>
                    <a:p>
                      <a:pPr>
                        <a:defRPr sz="900">
                          <a:solidFill>
                            <a:srgbClr val="333333"/>
                          </a:solidFill>
                          <a:latin typeface="Consolas"/>
                        </a:defRPr>
                      </a:pPr>
                      <a:r>
                        <a:t>'-i &lt;path&gt;' for sftp</a:t>
                      </a:r>
                    </a:p>
                  </a:txBody>
                  <a:tcPr>
                    <a:solidFill>
                      <a:srgbClr val="F5F5F5"/>
                    </a:solidFill>
                  </a:tcPr>
                </a:tc>
              </a:tr>
              <a:tr h="396239">
                <a:tc>
                  <a:txBody>
                    <a:bodyPr/>
                    <a:lstStyle/>
                    <a:p>
                      <a:pPr>
                        <a:defRPr sz="900">
                          <a:solidFill>
                            <a:srgbClr val="333333"/>
                          </a:solidFill>
                          <a:latin typeface="Consolas"/>
                        </a:defRPr>
                      </a:pPr>
                      <a:r>
                        <a:t>'PASSPHRASE'</a:t>
                      </a:r>
                    </a:p>
                  </a:txBody>
                  <a:tcPr>
                    <a:solidFill>
                      <a:srgbClr val="FFFFFF"/>
                    </a:solidFill>
                  </a:tcPr>
                </a:tc>
                <a:tc>
                  <a:txBody>
                    <a:bodyPr/>
                    <a:lstStyle/>
                    <a:p>
                      <a:pPr>
                        <a:defRPr sz="900">
                          <a:solidFill>
                            <a:srgbClr val="333333"/>
                          </a:solidFill>
                          <a:latin typeface="Calibri"/>
                        </a:defRPr>
                      </a:pPr>
                      <a:r>
                        <a:t>Unlocks PRIVATE_KEY_PATH</a:t>
                      </a:r>
                    </a:p>
                  </a:txBody>
                  <a:tcPr>
                    <a:solidFill>
                      <a:srgbClr val="FFFFFF"/>
                    </a:solidFill>
                  </a:tcPr>
                </a:tc>
                <a:tc>
                  <a:txBody>
                    <a:bodyPr/>
                    <a:lstStyle/>
                    <a:p>
                      <a:pPr>
                        <a:defRPr sz="900">
                          <a:solidFill>
                            <a:srgbClr val="333333"/>
                          </a:solidFill>
                          <a:latin typeface="Calibri"/>
                        </a:defRPr>
                      </a:pPr>
                      <a:r>
                        <a:t>Decrypts the key at runtime</a:t>
                      </a:r>
                    </a:p>
                  </a:txBody>
                  <a:tcPr>
                    <a:solidFill>
                      <a:srgbClr val="FFFFFF"/>
                    </a:solidFill>
                  </a:tcPr>
                </a:tc>
              </a:tr>
              <a:tr h="396239">
                <a:tc>
                  <a:txBody>
                    <a:bodyPr/>
                    <a:lstStyle/>
                    <a:p>
                      <a:pPr>
                        <a:defRPr sz="900">
                          <a:solidFill>
                            <a:srgbClr val="333333"/>
                          </a:solidFill>
                          <a:latin typeface="Consolas"/>
                        </a:defRPr>
                      </a:pPr>
                      <a:r>
                        <a:t>'SOURCE_FOLDER' / 'SOURCE_PATH'</a:t>
                      </a:r>
                    </a:p>
                  </a:txBody>
                  <a:tcPr>
                    <a:solidFill>
                      <a:srgbClr val="F5F5F5"/>
                    </a:solidFill>
                  </a:tcPr>
                </a:tc>
                <a:tc>
                  <a:txBody>
                    <a:bodyPr/>
                    <a:lstStyle/>
                    <a:p>
                      <a:pPr>
                        <a:defRPr sz="900">
                          <a:solidFill>
                            <a:srgbClr val="333333"/>
                          </a:solidFill>
                          <a:latin typeface="Calibri"/>
                        </a:defRPr>
                      </a:pPr>
                      <a:r>
                        <a:t>Remote folder to read from</a:t>
                      </a:r>
                    </a:p>
                  </a:txBody>
                  <a:tcPr>
                    <a:solidFill>
                      <a:srgbClr val="F5F5F5"/>
                    </a:solidFill>
                  </a:tcPr>
                </a:tc>
                <a:tc>
                  <a:txBody>
                    <a:bodyPr/>
                    <a:lstStyle/>
                    <a:p>
                      <a:pPr>
                        <a:defRPr sz="900">
                          <a:solidFill>
                            <a:srgbClr val="333333"/>
                          </a:solidFill>
                          <a:latin typeface="Calibri"/>
                        </a:defRPr>
                      </a:pPr>
                      <a:r>
                        <a:t>Source path argument</a:t>
                      </a:r>
                    </a:p>
                  </a:txBody>
                  <a:tcPr>
                    <a:solidFill>
                      <a:srgbClr val="F5F5F5"/>
                    </a:solidFill>
                  </a:tcPr>
                </a:tc>
              </a:tr>
              <a:tr h="396239">
                <a:tc>
                  <a:txBody>
                    <a:bodyPr/>
                    <a:lstStyle/>
                    <a:p>
                      <a:pPr>
                        <a:defRPr sz="900">
                          <a:solidFill>
                            <a:srgbClr val="333333"/>
                          </a:solidFill>
                          <a:latin typeface="Consolas"/>
                        </a:defRPr>
                      </a:pPr>
                      <a:r>
                        <a:t>'FOLDER_PATH'</a:t>
                      </a:r>
                    </a:p>
                  </a:txBody>
                  <a:tcPr>
                    <a:solidFill>
                      <a:srgbClr val="FFFFFF"/>
                    </a:solidFill>
                  </a:tcPr>
                </a:tc>
                <a:tc>
                  <a:txBody>
                    <a:bodyPr/>
                    <a:lstStyle/>
                    <a:p>
                      <a:pPr>
                        <a:defRPr sz="900">
                          <a:solidFill>
                            <a:srgbClr val="333333"/>
                          </a:solidFill>
                          <a:latin typeface="Calibri"/>
                        </a:defRPr>
                      </a:pPr>
                      <a:r>
                        <a:t>Local AL11 folder</a:t>
                      </a:r>
                    </a:p>
                  </a:txBody>
                  <a:tcPr>
                    <a:solidFill>
                      <a:srgbClr val="FFFFFF"/>
                    </a:solidFill>
                  </a:tcPr>
                </a:tc>
                <a:tc>
                  <a:txBody>
                    <a:bodyPr/>
                    <a:lstStyle/>
                    <a:p>
                      <a:pPr>
                        <a:defRPr sz="900">
                          <a:solidFill>
                            <a:srgbClr val="333333"/>
                          </a:solidFill>
                          <a:latin typeface="Calibri"/>
                        </a:defRPr>
                      </a:pPr>
                      <a:r>
                        <a:t>Destination (pull) / source (push)</a:t>
                      </a:r>
                    </a:p>
                  </a:txBody>
                  <a:tcPr>
                    <a:solidFill>
                      <a:srgbClr val="FFFFFF"/>
                    </a:solidFill>
                  </a:tcPr>
                </a:tc>
              </a:tr>
              <a:tr h="396239">
                <a:tc>
                  <a:txBody>
                    <a:bodyPr/>
                    <a:lstStyle/>
                    <a:p>
                      <a:pPr>
                        <a:defRPr sz="900">
                          <a:solidFill>
                            <a:srgbClr val="333333"/>
                          </a:solidFill>
                          <a:latin typeface="Consolas"/>
                        </a:defRPr>
                      </a:pPr>
                      <a:r>
                        <a:t>'FILE_EXT' / 'SFTP_FILE_EXT'</a:t>
                      </a:r>
                    </a:p>
                  </a:txBody>
                  <a:tcPr>
                    <a:solidFill>
                      <a:srgbClr val="F5F5F5"/>
                    </a:solidFill>
                  </a:tcPr>
                </a:tc>
                <a:tc>
                  <a:txBody>
                    <a:bodyPr/>
                    <a:lstStyle/>
                    <a:p>
                      <a:pPr>
                        <a:defRPr sz="900">
                          <a:solidFill>
                            <a:srgbClr val="333333"/>
                          </a:solidFill>
                          <a:latin typeface="Calibri"/>
                        </a:defRPr>
                      </a:pPr>
                      <a:r>
                        <a:t>File-name pattern</a:t>
                      </a:r>
                    </a:p>
                  </a:txBody>
                  <a:tcPr>
                    <a:solidFill>
                      <a:srgbClr val="F5F5F5"/>
                    </a:solidFill>
                  </a:tcPr>
                </a:tc>
                <a:tc>
                  <a:txBody>
                    <a:bodyPr/>
                    <a:lstStyle/>
                    <a:p>
                      <a:pPr>
                        <a:defRPr sz="900">
                          <a:solidFill>
                            <a:srgbClr val="333333"/>
                          </a:solidFill>
                          <a:latin typeface="Calibri"/>
                        </a:defRPr>
                      </a:pPr>
                      <a:r>
                        <a:t>Filter for which files</a:t>
                      </a:r>
                    </a:p>
                  </a:txBody>
                  <a:tcPr>
                    <a:solidFill>
                      <a:srgbClr val="F5F5F5"/>
                    </a:solidFill>
                  </a:tcPr>
                </a:tc>
              </a:tr>
              <a:tr h="396239">
                <a:tc>
                  <a:txBody>
                    <a:bodyPr/>
                    <a:lstStyle/>
                    <a:p>
                      <a:pPr>
                        <a:defRPr sz="900">
                          <a:solidFill>
                            <a:srgbClr val="333333"/>
                          </a:solidFill>
                          <a:latin typeface="Consolas"/>
                        </a:defRPr>
                      </a:pPr>
                      <a:r>
                        <a:t>'ZDEST_FOLD' / 'DESTINATION_FOLDER'</a:t>
                      </a:r>
                    </a:p>
                  </a:txBody>
                  <a:tcPr>
                    <a:solidFill>
                      <a:srgbClr val="FFFFFF"/>
                    </a:solidFill>
                  </a:tcPr>
                </a:tc>
                <a:tc>
                  <a:txBody>
                    <a:bodyPr/>
                    <a:lstStyle/>
                    <a:p>
                      <a:pPr>
                        <a:defRPr sz="900">
                          <a:solidFill>
                            <a:srgbClr val="333333"/>
                          </a:solidFill>
                          <a:latin typeface="Calibri"/>
                        </a:defRPr>
                      </a:pPr>
                      <a:r>
                        <a:t>Remote target folder</a:t>
                      </a:r>
                    </a:p>
                  </a:txBody>
                  <a:tcPr>
                    <a:solidFill>
                      <a:srgbClr val="FFFFFF"/>
                    </a:solidFill>
                  </a:tcPr>
                </a:tc>
                <a:tc>
                  <a:txBody>
                    <a:bodyPr/>
                    <a:lstStyle/>
                    <a:p>
                      <a:pPr>
                        <a:defRPr sz="900">
                          <a:solidFill>
                            <a:srgbClr val="333333"/>
                          </a:solidFill>
                          <a:latin typeface="Calibri"/>
                        </a:defRPr>
                      </a:pPr>
                      <a:r>
                        <a:t>Destination path argument</a:t>
                      </a:r>
                    </a:p>
                  </a:txBody>
                  <a:tcPr>
                    <a:solidFill>
                      <a:srgbClr val="FFFFFF"/>
                    </a:solidFill>
                  </a:tcPr>
                </a:tc>
              </a:tr>
              <a:tr h="396239">
                <a:tc>
                  <a:txBody>
                    <a:bodyPr/>
                    <a:lstStyle/>
                    <a:p>
                      <a:pPr>
                        <a:defRPr sz="900">
                          <a:solidFill>
                            <a:srgbClr val="333333"/>
                          </a:solidFill>
                          <a:latin typeface="Consolas"/>
                        </a:defRPr>
                      </a:pPr>
                      <a:r>
                        <a:t>'PUBLIC_KEY_ID' / 'PRIVATE_KEY_US|NONUS'</a:t>
                      </a:r>
                    </a:p>
                  </a:txBody>
                  <a:tcPr>
                    <a:solidFill>
                      <a:srgbClr val="F5F5F5"/>
                    </a:solidFill>
                  </a:tcPr>
                </a:tc>
                <a:tc>
                  <a:txBody>
                    <a:bodyPr/>
                    <a:lstStyle/>
                    <a:p>
                      <a:pPr>
                        <a:defRPr sz="900">
                          <a:solidFill>
                            <a:srgbClr val="333333"/>
                          </a:solidFill>
                          <a:latin typeface="Calibri"/>
                        </a:defRPr>
                      </a:pPr>
                      <a:r>
                        <a:t>PGP key IDs (BNP only)</a:t>
                      </a:r>
                    </a:p>
                  </a:txBody>
                  <a:tcPr>
                    <a:solidFill>
                      <a:srgbClr val="F5F5F5"/>
                    </a:solidFill>
                  </a:tcPr>
                </a:tc>
                <a:tc>
                  <a:txBody>
                    <a:bodyPr/>
                    <a:lstStyle/>
                    <a:p>
                      <a:pPr>
                        <a:defRPr sz="900">
                          <a:solidFill>
                            <a:srgbClr val="333333"/>
                          </a:solidFill>
                          <a:latin typeface="Calibri"/>
                        </a:defRPr>
                      </a:pPr>
                      <a:r>
                        <a:t>PGP layer atop SFTP</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Migration &amp; code</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sp>
        <p:nvSpPr>
          <p:cNvPr id="7" name="Rectangle 6"/>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50124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Migration proposal</a:t>
            </a: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Z001 SFTP scope</a:t>
            </a:r>
            <a:endParaRPr lang="en-US" sz="1000" dirty="0"/>
          </a:p>
        </p:txBody>
      </p:sp>
      <p:sp>
        <p:nvSpPr>
          <p:cNvPr id="9" name="TextBox 8"/>
          <p:cNvSpPr txBox="1"/>
          <p:nvPr/>
        </p:nvSpPr>
        <p:spPr>
          <a:xfrm>
            <a:off x="3474720" y="457200"/>
            <a:ext cx="8412480" cy="457200"/>
          </a:xfrm>
          <a:prstGeom prst="rect">
            <a:avLst/>
          </a:prstGeom>
          <a:noFill/>
        </p:spPr>
        <p:txBody>
          <a:bodyPr wrap="square">
            <a:spAutoFit/>
          </a:bodyPr>
          <a:lstStyle/>
          <a:p>
            <a:pPr>
              <a:defRPr sz="1200" b="1">
                <a:solidFill>
                  <a:srgbClr val="FFFFFF"/>
                </a:solidFill>
                <a:latin typeface="Calibri"/>
              </a:defRPr>
            </a:pPr>
            <a:r>
              <a:t>Replace CALL FUNCTION 'SXPG_COMMAND_EXECUTE' (with SM69 + OS sftp) with a released ABAP SFTP layer.</a:t>
            </a:r>
          </a:p>
        </p:txBody>
      </p:sp>
      <p:graphicFrame>
        <p:nvGraphicFramePr>
          <p:cNvPr id="10" name="Table 9"/>
          <p:cNvGraphicFramePr>
            <a:graphicFrameLocks noGrp="1"/>
          </p:cNvGraphicFramePr>
          <p:nvPr/>
        </p:nvGraphicFramePr>
        <p:xfrm>
          <a:off x="3474720" y="1097280"/>
          <a:ext cx="8412480" cy="2560320"/>
        </p:xfrm>
        <a:graphic>
          <a:graphicData uri="http://schemas.openxmlformats.org/drawingml/2006/table">
            <a:tbl>
              <a:tblPr firstRow="1" bandRow="1">
                <a:tableStyleId>{5C22544A-7EE6-4342-B048-85BDC9FD1C3A}</a:tableStyleId>
              </a:tblPr>
              <a:tblGrid>
                <a:gridCol w="365760"/>
                <a:gridCol w="2743200"/>
                <a:gridCol w="3291840"/>
                <a:gridCol w="2011680"/>
              </a:tblGrid>
              <a:tr h="640080">
                <a:tc>
                  <a:txBody>
                    <a:bodyPr/>
                    <a:lstStyle/>
                    <a:p>
                      <a:pPr>
                        <a:defRPr sz="1100" b="1">
                          <a:solidFill>
                            <a:srgbClr val="FFFFFF"/>
                          </a:solidFill>
                          <a:latin typeface="Calibri"/>
                        </a:defRPr>
                      </a:pPr>
                      <a:r>
                        <a:t>#</a:t>
                      </a:r>
                    </a:p>
                  </a:txBody>
                  <a:tcPr>
                    <a:solidFill>
                      <a:srgbClr val="333333"/>
                    </a:solidFill>
                  </a:tcPr>
                </a:tc>
                <a:tc>
                  <a:txBody>
                    <a:bodyPr/>
                    <a:lstStyle/>
                    <a:p>
                      <a:pPr>
                        <a:defRPr sz="1100" b="1">
                          <a:solidFill>
                            <a:srgbClr val="FFFFFF"/>
                          </a:solidFill>
                          <a:latin typeface="Calibri"/>
                        </a:defRPr>
                      </a:pPr>
                      <a:r>
                        <a:t>Target replacement</a:t>
                      </a:r>
                    </a:p>
                  </a:txBody>
                  <a:tcPr>
                    <a:solidFill>
                      <a:srgbClr val="333333"/>
                    </a:solidFill>
                  </a:tcPr>
                </a:tc>
                <a:tc>
                  <a:txBody>
                    <a:bodyPr/>
                    <a:lstStyle/>
                    <a:p>
                      <a:pPr>
                        <a:defRPr sz="1100" b="1">
                          <a:solidFill>
                            <a:srgbClr val="FFFFFF"/>
                          </a:solidFill>
                          <a:latin typeface="Calibri"/>
                        </a:defRPr>
                      </a:pPr>
                      <a:r>
                        <a:t>Why</a:t>
                      </a:r>
                    </a:p>
                  </a:txBody>
                  <a:tcPr>
                    <a:solidFill>
                      <a:srgbClr val="333333"/>
                    </a:solidFill>
                  </a:tcPr>
                </a:tc>
                <a:tc>
                  <a:txBody>
                    <a:bodyPr/>
                    <a:lstStyle/>
                    <a:p>
                      <a:pPr>
                        <a:defRPr sz="1100" b="1">
                          <a:solidFill>
                            <a:srgbClr val="FFFFFF"/>
                          </a:solidFill>
                          <a:latin typeface="Calibri"/>
                        </a:defRPr>
                      </a:pPr>
                      <a:r>
                        <a:t>Coverage</a:t>
                      </a:r>
                    </a:p>
                  </a:txBody>
                  <a:tcPr>
                    <a:solidFill>
                      <a:srgbClr val="333333"/>
                    </a:solidFill>
                  </a:tcPr>
                </a:tc>
              </a:tr>
              <a:tr h="640080">
                <a:tc>
                  <a:txBody>
                    <a:bodyPr/>
                    <a:lstStyle/>
                    <a:p>
                      <a:pPr>
                        <a:defRPr sz="1000">
                          <a:solidFill>
                            <a:srgbClr val="FFFFFF"/>
                          </a:solidFill>
                          <a:latin typeface="Calibri"/>
                        </a:defRPr>
                      </a:pPr>
                      <a:r>
                        <a:t>A</a:t>
                      </a:r>
                    </a:p>
                  </a:txBody>
                  <a:tcPr>
                    <a:solidFill>
                      <a:srgbClr val="161616"/>
                    </a:solidFill>
                  </a:tcPr>
                </a:tc>
                <a:tc>
                  <a:txBody>
                    <a:bodyPr/>
                    <a:lstStyle/>
                    <a:p>
                      <a:pPr>
                        <a:defRPr sz="1000">
                          <a:solidFill>
                            <a:srgbClr val="FFFFFF"/>
                          </a:solidFill>
                          <a:latin typeface="Calibri"/>
                        </a:defRPr>
                      </a:pPr>
                      <a:r>
                        <a:t>Native ABAP SSH/SFTP client class</a:t>
                      </a:r>
                    </a:p>
                  </a:txBody>
                  <a:tcPr>
                    <a:solidFill>
                      <a:srgbClr val="161616"/>
                    </a:solidFill>
                  </a:tcPr>
                </a:tc>
                <a:tc>
                  <a:txBody>
                    <a:bodyPr/>
                    <a:lstStyle/>
                    <a:p>
                      <a:pPr>
                        <a:defRPr sz="1000">
                          <a:solidFill>
                            <a:srgbClr val="FFFFFF"/>
                          </a:solidFill>
                          <a:latin typeface="Calibri"/>
                        </a:defRPr>
                      </a:pPr>
                      <a:r>
                        <a:t>Removes OS-script dependency; runs in-ABAP</a:t>
                      </a:r>
                    </a:p>
                  </a:txBody>
                  <a:tcPr>
                    <a:solidFill>
                      <a:srgbClr val="161616"/>
                    </a:solidFill>
                  </a:tcPr>
                </a:tc>
                <a:tc>
                  <a:txBody>
                    <a:bodyPr/>
                    <a:lstStyle/>
                    <a:p>
                      <a:pPr>
                        <a:defRPr sz="1000">
                          <a:solidFill>
                            <a:srgbClr val="FFFFFF"/>
                          </a:solidFill>
                          <a:latin typeface="Calibri"/>
                        </a:defRPr>
                      </a:pPr>
                      <a:r>
                        <a:t>All 16 reports + 3 wrappers</a:t>
                      </a:r>
                    </a:p>
                  </a:txBody>
                  <a:tcPr>
                    <a:solidFill>
                      <a:srgbClr val="161616"/>
                    </a:solidFill>
                  </a:tcPr>
                </a:tc>
              </a:tr>
              <a:tr h="640080">
                <a:tc>
                  <a:txBody>
                    <a:bodyPr/>
                    <a:lstStyle/>
                    <a:p>
                      <a:pPr>
                        <a:defRPr sz="1000">
                          <a:solidFill>
                            <a:srgbClr val="FFFFFF"/>
                          </a:solidFill>
                          <a:latin typeface="Calibri"/>
                        </a:defRPr>
                      </a:pPr>
                      <a:r>
                        <a:t>B</a:t>
                      </a:r>
                    </a:p>
                  </a:txBody>
                  <a:tcPr>
                    <a:solidFill>
                      <a:srgbClr val="222222"/>
                    </a:solidFill>
                  </a:tcPr>
                </a:tc>
                <a:tc>
                  <a:txBody>
                    <a:bodyPr/>
                    <a:lstStyle/>
                    <a:p>
                      <a:pPr>
                        <a:defRPr sz="1000">
                          <a:solidFill>
                            <a:srgbClr val="FFFFFF"/>
                          </a:solidFill>
                          <a:latin typeface="Calibri"/>
                        </a:defRPr>
                      </a:pPr>
                      <a:r>
                        <a:t>BTP Integration Suite SFTP adapter</a:t>
                      </a:r>
                    </a:p>
                  </a:txBody>
                  <a:tcPr>
                    <a:solidFill>
                      <a:srgbClr val="222222"/>
                    </a:solidFill>
                  </a:tcPr>
                </a:tc>
                <a:tc>
                  <a:txBody>
                    <a:bodyPr/>
                    <a:lstStyle/>
                    <a:p>
                      <a:pPr>
                        <a:defRPr sz="1000">
                          <a:solidFill>
                            <a:srgbClr val="FFFFFF"/>
                          </a:solidFill>
                          <a:latin typeface="Calibri"/>
                        </a:defRPr>
                      </a:pPr>
                      <a:r>
                        <a:t>Cleanest separation; aligns with BTP roadmap</a:t>
                      </a:r>
                    </a:p>
                  </a:txBody>
                  <a:tcPr>
                    <a:solidFill>
                      <a:srgbClr val="222222"/>
                    </a:solidFill>
                  </a:tcPr>
                </a:tc>
                <a:tc>
                  <a:txBody>
                    <a:bodyPr/>
                    <a:lstStyle/>
                    <a:p>
                      <a:pPr>
                        <a:defRPr sz="1000">
                          <a:solidFill>
                            <a:srgbClr val="FFFFFF"/>
                          </a:solidFill>
                          <a:latin typeface="Calibri"/>
                        </a:defRPr>
                      </a:pPr>
                      <a:r>
                        <a:t>Same; needs BTP connectivity</a:t>
                      </a:r>
                    </a:p>
                  </a:txBody>
                  <a:tcPr>
                    <a:solidFill>
                      <a:srgbClr val="222222"/>
                    </a:solidFill>
                  </a:tcPr>
                </a:tc>
              </a:tr>
              <a:tr h="640080">
                <a:tc>
                  <a:txBody>
                    <a:bodyPr/>
                    <a:lstStyle/>
                    <a:p>
                      <a:pPr>
                        <a:defRPr sz="1000">
                          <a:solidFill>
                            <a:srgbClr val="FFFFFF"/>
                          </a:solidFill>
                          <a:latin typeface="Calibri"/>
                        </a:defRPr>
                      </a:pPr>
                      <a:r>
                        <a:t>C</a:t>
                      </a:r>
                    </a:p>
                  </a:txBody>
                  <a:tcPr>
                    <a:solidFill>
                      <a:srgbClr val="161616"/>
                    </a:solidFill>
                  </a:tcPr>
                </a:tc>
                <a:tc>
                  <a:txBody>
                    <a:bodyPr/>
                    <a:lstStyle/>
                    <a:p>
                      <a:pPr>
                        <a:defRPr sz="1000">
                          <a:solidFill>
                            <a:srgbClr val="FFFFFF"/>
                          </a:solidFill>
                          <a:latin typeface="Calibri"/>
                        </a:defRPr>
                      </a:pPr>
                      <a:r>
                        <a:t>Keep SXPG, rewrite OS-side script</a:t>
                      </a:r>
                    </a:p>
                  </a:txBody>
                  <a:tcPr>
                    <a:solidFill>
                      <a:srgbClr val="161616"/>
                    </a:solidFill>
                  </a:tcPr>
                </a:tc>
                <a:tc>
                  <a:txBody>
                    <a:bodyPr/>
                    <a:lstStyle/>
                    <a:p>
                      <a:pPr>
                        <a:defRPr sz="1000">
                          <a:solidFill>
                            <a:srgbClr val="FFFFFF"/>
                          </a:solidFill>
                          <a:latin typeface="Calibri"/>
                        </a:defRPr>
                      </a:pPr>
                      <a:r>
                        <a:t>Minimal ABAP change</a:t>
                      </a:r>
                    </a:p>
                  </a:txBody>
                  <a:tcPr>
                    <a:solidFill>
                      <a:srgbClr val="161616"/>
                    </a:solidFill>
                  </a:tcPr>
                </a:tc>
                <a:tc>
                  <a:txBody>
                    <a:bodyPr/>
                    <a:lstStyle/>
                    <a:p>
                      <a:pPr>
                        <a:defRPr sz="1000">
                          <a:solidFill>
                            <a:srgbClr val="FFFFFF"/>
                          </a:solidFill>
                          <a:latin typeface="Calibri"/>
                        </a:defRPr>
                      </a:pPr>
                      <a:r>
                        <a:t>Doesn't remove technical debt</a:t>
                      </a:r>
                    </a:p>
                  </a:txBody>
                  <a:tcPr>
                    <a:solidFill>
                      <a:srgbClr val="161616"/>
                    </a:solidFill>
                  </a:tcPr>
                </a:tc>
              </a:tr>
            </a:tbl>
          </a:graphicData>
        </a:graphic>
      </p:graphicFrame>
      <p:sp>
        <p:nvSpPr>
          <p:cNvPr id="11" name="TextBox 10"/>
          <p:cNvSpPr txBox="1"/>
          <p:nvPr/>
        </p:nvSpPr>
        <p:spPr>
          <a:xfrm>
            <a:off x="3474720" y="3931920"/>
            <a:ext cx="8412480" cy="365760"/>
          </a:xfrm>
          <a:prstGeom prst="rect">
            <a:avLst/>
          </a:prstGeom>
          <a:noFill/>
        </p:spPr>
        <p:txBody>
          <a:bodyPr wrap="square">
            <a:spAutoFit/>
          </a:bodyPr>
          <a:lstStyle/>
          <a:p>
            <a:pPr>
              <a:defRPr sz="1100" b="1">
                <a:solidFill>
                  <a:srgbClr val="00B4C8"/>
                </a:solidFill>
                <a:latin typeface="Calibri"/>
              </a:defRPr>
            </a:pPr>
            <a:r>
              <a:t>Recommended: A or B. Both replace SXPG call site uniformly — same FORM scaffolding, same zfi_constants reads.</a:t>
            </a:r>
          </a:p>
        </p:txBody>
      </p:sp>
      <p:sp>
        <p:nvSpPr>
          <p:cNvPr id="12" name="TextBox 11"/>
          <p:cNvSpPr txBox="1"/>
          <p:nvPr/>
        </p:nvSpPr>
        <p:spPr>
          <a:xfrm>
            <a:off x="3474720" y="4572000"/>
            <a:ext cx="8412480" cy="1828800"/>
          </a:xfrm>
          <a:prstGeom prst="rect">
            <a:avLst/>
          </a:prstGeom>
          <a:noFill/>
        </p:spPr>
        <p:txBody>
          <a:bodyPr wrap="square">
            <a:spAutoFit/>
          </a:bodyPr>
          <a:lstStyle/>
          <a:p>
            <a:pPr>
              <a:defRPr sz="1000" b="0">
                <a:solidFill>
                  <a:srgbClr val="FFFFFF"/>
                </a:solidFill>
                <a:latin typeface="Calibri"/>
              </a:defRPr>
            </a:pPr>
            <a:r>
              <a:t>Acceptance per consumer:</a:t>
            </a:r>
          </a:p>
          <a:p>
            <a:pPr>
              <a:defRPr sz="1000" b="0">
                <a:solidFill>
                  <a:srgbClr val="FFFFFF"/>
                </a:solidFill>
                <a:latin typeface="Calibri"/>
              </a:defRPr>
            </a:pPr>
            <a:r>
              <a:t>  1. Read same zfi_constants rows (pname + fnam) — or 1:1 shim.</a:t>
            </a:r>
          </a:p>
          <a:p>
            <a:pPr>
              <a:defRPr sz="1000" b="0">
                <a:solidFill>
                  <a:srgbClr val="FFFFFF"/>
                </a:solidFill>
                <a:latin typeface="Calibri"/>
              </a:defRPr>
            </a:pPr>
            <a:r>
              <a:t>  2. Reach same host with same credentials.</a:t>
            </a:r>
          </a:p>
          <a:p>
            <a:pPr>
              <a:defRPr sz="1000" b="0">
                <a:solidFill>
                  <a:srgbClr val="FFFFFF"/>
                </a:solidFill>
                <a:latin typeface="Calibri"/>
              </a:defRPr>
            </a:pPr>
            <a:r>
              <a:t>  3. Support both auth modes (key + password).</a:t>
            </a:r>
          </a:p>
          <a:p>
            <a:pPr>
              <a:defRPr sz="1000" b="0">
                <a:solidFill>
                  <a:srgbClr val="FFFFFF"/>
                </a:solidFill>
                <a:latin typeface="Calibri"/>
              </a:defRPr>
            </a:pPr>
            <a:r>
              <a:t>  4. Preserve PGP encryption for ZSFTP_BNP_PARIBAS_WITH_PGP.</a:t>
            </a:r>
          </a:p>
          <a:p>
            <a:pPr>
              <a:defRPr sz="1000" b="0">
                <a:solidFill>
                  <a:srgbClr val="FFFFFF"/>
                </a:solidFill>
                <a:latin typeface="Calibri"/>
              </a:defRPr>
            </a:pPr>
            <a:r>
              <a:t>  5. Coordinate cutover for the 3 shared SM69 entries.</a:t>
            </a:r>
          </a:p>
        </p:txBody>
      </p:sp>
      <p:sp>
        <p:nvSpPr>
          <p:cNvPr id="13" name="Rectangle 12"/>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94579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0" y="731520"/>
            <a:ext cx="8412480" cy="5486400"/>
          </a:xfrm>
          <a:prstGeom prst="rect">
            <a:avLst/>
          </a:prstGeom>
          <a:noFill/>
        </p:spPr>
        <p:txBody>
          <a:bodyPr wrap="square">
            <a:spAutoFit/>
          </a:bodyPr>
          <a:lstStyle/>
          <a:p>
            <a:pPr>
              <a:defRPr sz="1100">
                <a:solidFill>
                  <a:srgbClr val="FFFFFF"/>
                </a:solidFill>
                <a:latin typeface="Calibri"/>
              </a:defRPr>
            </a:pPr>
            <a:r>
              <a:t>Tutorial: docs/tutorials/codebase-analysis/  (5-stage pipeline + skills + worked example)</a:t>
            </a:r>
          </a:p>
          <a:p>
            <a:pPr>
              <a:defRPr sz="1100">
                <a:solidFill>
                  <a:srgbClr val="FFFFFF"/>
                </a:solidFill>
                <a:latin typeface="Calibri"/>
              </a:defRPr>
            </a:pPr>
          </a:p>
          <a:p>
            <a:pPr>
              <a:defRPr sz="1100">
                <a:solidFill>
                  <a:srgbClr val="FFFFFF"/>
                </a:solidFill>
                <a:latin typeface="Calibri"/>
              </a:defRPr>
            </a:pPr>
            <a:r>
              <a:t>Pipeline:</a:t>
            </a:r>
          </a:p>
          <a:p>
            <a:pPr>
              <a:defRPr sz="1100">
                <a:solidFill>
                  <a:srgbClr val="FFFFFF"/>
                </a:solidFill>
                <a:latin typeface="Calibri"/>
              </a:defRPr>
            </a:pPr>
            <a:r>
              <a:t>    Stage 1 — Formalize task (goal, scope, severity scale, tools)</a:t>
            </a:r>
          </a:p>
          <a:p>
            <a:pPr>
              <a:defRPr sz="1100">
                <a:solidFill>
                  <a:srgbClr val="FFFFFF"/>
                </a:solidFill>
                <a:latin typeface="Calibri"/>
              </a:defRPr>
            </a:pPr>
            <a:r>
              <a:t>    Stage 2 — Per-seed verdict with source evidence (02-methods.md)</a:t>
            </a:r>
          </a:p>
          <a:p>
            <a:pPr>
              <a:defRPr sz="1100">
                <a:solidFill>
                  <a:srgbClr val="FFFFFF"/>
                </a:solidFill>
                <a:latin typeface="Calibri"/>
              </a:defRPr>
            </a:pPr>
            <a:r>
              <a:t>    Stage 2b — Open-ended method enumeration per 'yes' seed (02b-methods-deep.md)</a:t>
            </a:r>
          </a:p>
          <a:p>
            <a:pPr>
              <a:defRPr sz="1100">
                <a:solidFill>
                  <a:srgbClr val="FFFFFF"/>
                </a:solidFill>
                <a:latin typeface="Calibri"/>
              </a:defRPr>
            </a:pPr>
            <a:r>
              <a:t>    Stage 2c — Verbatim code per distinct mechanism (02c-code-extracts.md)</a:t>
            </a:r>
          </a:p>
          <a:p>
            <a:pPr>
              <a:defRPr sz="1100">
                <a:solidFill>
                  <a:srgbClr val="FFFFFF"/>
                </a:solidFill>
                <a:latin typeface="Calibri"/>
              </a:defRPr>
            </a:pPr>
            <a:r>
              <a:t>    Stage 3 — Usage map: 7 SearchSource scans across Z001 (03-usage-map.md)</a:t>
            </a:r>
          </a:p>
          <a:p>
            <a:pPr>
              <a:defRPr sz="1100">
                <a:solidFill>
                  <a:srgbClr val="FFFFFF"/>
                </a:solidFill>
                <a:latin typeface="Calibri"/>
              </a:defRPr>
            </a:pPr>
            <a:r>
              <a:t>    Stage 4 — Per-business-domain analysis + completeness (04-analysis.md)</a:t>
            </a:r>
          </a:p>
          <a:p>
            <a:pPr>
              <a:defRPr sz="1100">
                <a:solidFill>
                  <a:srgbClr val="FFFFFF"/>
                </a:solidFill>
                <a:latin typeface="Calibri"/>
              </a:defRPr>
            </a:pPr>
            <a:r>
              <a:t>    Stage 5 — Migration handoff (05-result.md)</a:t>
            </a:r>
          </a:p>
          <a:p>
            <a:pPr>
              <a:defRPr sz="1100">
                <a:solidFill>
                  <a:srgbClr val="FFFFFF"/>
                </a:solidFill>
                <a:latin typeface="Calibri"/>
              </a:defRPr>
            </a:pPr>
          </a:p>
          <a:p>
            <a:pPr>
              <a:defRPr sz="1100">
                <a:solidFill>
                  <a:srgbClr val="FFFFFF"/>
                </a:solidFill>
                <a:latin typeface="Calibri"/>
              </a:defRPr>
            </a:pPr>
            <a:r>
              <a:t>Wall-clock end-to-end: ~2.5 hours.</a:t>
            </a:r>
          </a:p>
          <a:p>
            <a:pPr>
              <a:defRPr sz="1100">
                <a:solidFill>
                  <a:srgbClr val="FFFFFF"/>
                </a:solidFill>
                <a:latin typeface="Calibri"/>
              </a:defRPr>
            </a:pPr>
          </a:p>
          <a:p>
            <a:pPr>
              <a:defRPr sz="1100">
                <a:solidFill>
                  <a:srgbClr val="FFFFFF"/>
                </a:solidFill>
                <a:latin typeface="Calibri"/>
              </a:defRPr>
            </a:pPr>
            <a:r>
              <a:t>Token cost — two layers (sFTP share = 70% of combined session):</a:t>
            </a:r>
          </a:p>
          <a:p>
            <a:pPr>
              <a:defRPr sz="1100">
                <a:solidFill>
                  <a:srgbClr val="FFFFFF"/>
                </a:solidFill>
                <a:latin typeface="Calibri"/>
              </a:defRPr>
            </a:pPr>
            <a:r>
              <a:t>    Executor (cloud-llm-hub, gpt-5.2 + embedder):  ~1,054,000 tokens across 264 requests.</a:t>
            </a:r>
          </a:p>
          <a:p>
            <a:pPr>
              <a:defRPr sz="1100">
                <a:solidFill>
                  <a:srgbClr val="FFFFFF"/>
                </a:solidFill>
                <a:latin typeface="Calibri"/>
              </a:defRPr>
            </a:pPr>
            <a:r>
              <a:t>    Controller (Claude Opus 4.7, this CLI session):  ~363,000 output + ~12.5k input + ~97M cache-read tokens — ≈ $66 of $94.53 combined session.</a:t>
            </a:r>
          </a:p>
          <a:p>
            <a:pPr>
              <a:defRPr sz="1100">
                <a:solidFill>
                  <a:srgbClr val="FFFFFF"/>
                </a:solidFill>
                <a:latin typeface="Calibri"/>
              </a:defRPr>
            </a:pPr>
          </a:p>
          <a:p>
            <a:pPr>
              <a:defRPr sz="1100">
                <a:solidFill>
                  <a:srgbClr val="FFFFFF"/>
                </a:solidFill>
                <a:latin typeface="Calibri"/>
              </a:defRPr>
            </a:pPr>
            <a:r>
              <a:t>Reference: comparable manual UI analysis estimated at 4-12 hours by senior reviewer.</a:t>
            </a:r>
          </a:p>
        </p:txBody>
      </p:sp>
      <p:sp>
        <p:nvSpPr>
          <p:cNvPr id="3" name="Rectangle 2"/>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6727572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Method &amp; cost</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sp>
        <p:nvSpPr>
          <p:cNvPr id="7" name="Rectangle 6"/>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367521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docs/tutorials/codebase-analysis/ — replay or apply to other ABAP packages.</a:t>
            </a:r>
          </a:p>
        </p:txBody>
      </p:sp>
      <p:sp>
        <p:nvSpPr>
          <p:cNvPr id="13" name="Rectangle 12"/>
          <p:cNvSpPr/>
          <p:nvPr/>
        </p:nvSpPr>
        <p:spPr>
          <a:xfrm>
            <a:off x="9601200" y="5394960"/>
            <a:ext cx="2286000" cy="8229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3107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