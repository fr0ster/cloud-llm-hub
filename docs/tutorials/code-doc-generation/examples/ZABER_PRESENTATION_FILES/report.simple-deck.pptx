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8.svg" ContentType="image/svg+xml"/>
  <Override PartName="/ppt/media/image19.svg" ContentType="image/svg+xml"/>
  <Override PartName="/ppt/media/image2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0" r:id="rId5"/>
  </p:sldMasterIdLst>
  <p:notesMasterIdLst>
    <p:notesMasterId r:id="rId6"/>
  </p:notesMasterIdLst>
  <p:handoutMasterIdLst>
    <p:handoutMasterId r:id="rId7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5DA"/>
    <a:srgbClr val="D9D9D9"/>
    <a:srgbClr val="FED143"/>
    <a:srgbClr val="77CED7"/>
    <a:srgbClr val="484749"/>
    <a:srgbClr val="7F993A"/>
    <a:srgbClr val="39C2D7"/>
    <a:srgbClr val="1887BB"/>
    <a:srgbClr val="62A230"/>
    <a:srgbClr val="675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10" autoAdjust="0"/>
  </p:normalViewPr>
  <p:slideViewPr>
    <p:cSldViewPr snapToGrid="0" showGuides="1">
      <p:cViewPr varScale="1">
        <p:scale>
          <a:sx n="83" d="100"/>
          <a:sy n="83" d="100"/>
        </p:scale>
        <p:origin x="1084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emf"/><Relationship Id="rId4" Type="http://schemas.openxmlformats.org/officeDocument/2006/relationships/image" Target="../media/image6.png"/><Relationship Id="rId5" Type="http://schemas.openxmlformats.org/officeDocument/2006/relationships/image" Target="../media/image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ght light in the dark&#10;&#10;Description automatically generated with medium confidence">
            <a:extLst>
              <a:ext uri="{FF2B5EF4-FFF2-40B4-BE49-F238E27FC236}">
                <a16:creationId xmlns:a16="http://schemas.microsoft.com/office/drawing/2014/main" id="{292D94B7-0233-C940-0B7E-BB187340B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C7376-20F0-E0B1-E7D5-414FC5DC35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DE3A7CEE-E1C9-5E29-7BD1-4DC1A1B47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46FBA0-34E7-8BA0-8C70-B6AFD4D64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14" y="748727"/>
            <a:ext cx="1226857" cy="43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0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1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094E5E-6EFF-CE7E-D775-2FA95EEE2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30902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E632B84-D810-D682-26F1-538579099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30902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E6BD730-15BB-8DAE-B807-85A733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5311637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29A6F-36FA-05D5-E223-1581D31CE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7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35001996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7B4F039-C58D-468E-394C-C92CD517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Contents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BDF361-F375-D313-8D06-BDA278278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BC6E842-5D88-CC5C-F1DA-808D61BEE7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37A923-9C8E-6CA3-1F51-1680DBD253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B5EB1A-8556-A82E-AC69-301BA431D9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1E3B50A-6363-7824-DFC1-3035609DF6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3E6F179-1003-654A-7321-F8FE6D12A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A7166E3-13D7-44C2-45BA-F8800FCD1D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2EBD53-BF92-55A6-E85A-50AD5A80A5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1709A76-8AD3-E8A8-447B-E2C8D00A4A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A4DA4A4-AEAC-105E-34C0-12EBA35F10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6DD83F2-9BFD-E0B8-4706-D7200B45D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D94FEEB-2EA8-081B-0B69-F0ED7A8348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CA163-9EEA-54E4-57D2-BFE989F6F9C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0B6ADF-5C55-9945-3F05-7FFC190F1FD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06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49D503E-C57A-9E5B-19CF-94AF46BB63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2BD3FFC-05D4-6AF7-0434-C1AC0298E5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952C60-604F-9F1A-9D20-17D094CE48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164F81-CDD1-C1B4-ED55-A3321E1032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F71D53-1D3F-D8F8-96D5-6DE13F1A9C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2F11AF-BF37-8BBB-B5E7-A8655CF94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2212901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Agenda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04C027E-E5F6-C4D1-7BE4-B87D52F48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B4D0-A39C-FAF6-B1FC-E81380060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0A134C-93F9-0B06-D8F4-9B3C7532A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7B92C4-122A-5377-7B74-D58A2319E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8A167B-CD8D-159B-58DB-AD9C0600F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3238DD8-4A7D-554B-8216-37EA1F02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D58AB5-54CF-F584-79F8-821E69DF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67AC01-84C2-7E8C-3BF8-201856803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B1A9C8-7F43-7DB1-4F91-53075745C4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6C8629B-DFA8-41AA-9C67-96D3D02BED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1CC2B96-A6B1-5232-3AEE-F9B7FDBBC1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00:00 – 00:00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18B250-73F5-69E3-5878-B1D8C984F4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62FE180-ECE1-55D7-0248-053AC1E99B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34F95-D03F-BB17-0BA8-0AB623989FD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0C2139A-0FDA-8116-257B-67457AE6A97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19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om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9866F5-F57A-6C40-4D30-D67CB6A3D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EC5345-D2D0-6B03-7DDB-B62AB6432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32F50E-D900-4FFA-87A8-502151FBE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A73176-A11D-D62A-EC12-39C3DF983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D43E1-5036-AF03-3AFC-AC404D716E4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AFFE7B-BAB3-2BE6-68C7-82413494811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03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5BDBBF2-452B-8A53-D3BC-946EEC403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CA620CE-1B8B-D388-B43E-902BAFDB8F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21D373-42F2-86AB-3F79-81C1BE3482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720EBE-A59D-52D5-044F-DF5C07F83D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1129-9154-6101-E99F-40D9C428A70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8E2-6131-A98D-36C8-080B716E4D6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21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BEA6F8A-F8D2-0E03-127C-C4C39351E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86F72EA-0ABE-9A8E-4E77-930AA5496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6E347-3D84-596D-2504-6BB7F3483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84E56-61FE-0760-81FB-D738FF31CE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FDEA9-4B5D-18D7-3B7C-ADC156E9EFC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241-0582-A630-8CB0-7598682D85E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92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8956E04-CBD7-E482-8975-949516BE3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F04DE8-18FA-CC1C-A2E5-416F24CA0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D1EAAB-FF14-59B6-EB7C-E327DBE47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ED1D57-42C1-01EC-FDEC-8930A13F02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58379-42B6-CCBC-ACEF-3055CDBB2D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1715E-3786-F104-88AB-8B85E2F6D91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88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C286D-0325-2652-6DE3-BC17B7921CDE}"/>
              </a:ext>
            </a:extLst>
          </p:cNvPr>
          <p:cNvSpPr txBox="1">
            <a:spLocks/>
          </p:cNvSpPr>
          <p:nvPr userDrawn="1"/>
        </p:nvSpPr>
        <p:spPr>
          <a:xfrm>
            <a:off x="481264" y="1667844"/>
            <a:ext cx="4403565" cy="10156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6000" b="1" i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Disclaimer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60129C-ED73-46C0-0FB7-BB32CA2BD978}"/>
              </a:ext>
            </a:extLst>
          </p:cNvPr>
          <p:cNvSpPr txBox="1">
            <a:spLocks/>
          </p:cNvSpPr>
          <p:nvPr userDrawn="1"/>
        </p:nvSpPr>
        <p:spPr>
          <a:xfrm>
            <a:off x="481263" y="2919114"/>
            <a:ext cx="6664971" cy="1050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Do not share this presentation without a signed NDA.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Convert to PDF to protect sensitive slide notes.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464A0-B9BD-B9A5-38BA-45F5800B2D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64" y="872962"/>
            <a:ext cx="668294" cy="62220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9E71BD3-C16B-E833-87BA-15C3037764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2082F-236C-033C-4BB1-ED91055E10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DC278-1F97-461F-020F-97C4F17BCD4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94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3E89BDD-DFE0-2F52-8234-B4BA719C2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452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AB1331E-AD8D-C6DD-2EB9-162F1E8744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73F41-F196-FE58-99BD-8AFA2B90986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A775BE-E377-94D3-AEB3-0F6AC5EABBE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1296AC5-6772-5447-9F7F-930222E7D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522FF93D-C8A6-33EF-5BC7-877E52BEE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A81627C-09AF-5EC8-CA35-DF312ECAD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3220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E60C0F2-79B7-EE1B-6041-90317B3CB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99D6FE-5F94-4710-8291-B343815879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F08F0-0194-EA75-42BA-A0773D6D3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D999-82B2-EE7A-6B7F-62E9DF0FC3B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60BC1F9-F5BB-BACB-98D9-6B1EA76689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21A2213A-A5D0-F62A-BDB3-8BB538A65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0BD8D1-BEE3-CC7B-18BC-B2C6739412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1137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47254E77-EA64-0D5B-1B56-09AF228EF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1AD50E6-D58E-3D8C-41A0-48F21CC758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493A-D2B3-E243-2D3B-B6C3183A317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8D13-7FE0-0CB2-89F9-E7AA85593DB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221B2F-F01A-3D8B-58F3-2E0CD57769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E154CAE-C4D8-C2A0-6BE8-461C3B8FA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02DE92A-A744-9D66-5950-661ECF019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01721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81F3-7ADD-A798-2917-70C400E5F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47460E-84D6-E4C7-66CE-0A88D0D3B7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C926E2E-67D5-D03F-CAF1-D936DD3C0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B9D3F-8FFD-EE49-3B30-05286E2EBB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7165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5273E55-8F47-AC18-08B7-C31C53E2A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BCDB36-A5F4-DF81-FE84-1CBB055082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6520FD8-AF16-A7D1-FBFD-C07B1B527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A145C4-F1AE-010B-FC94-C27466A66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483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03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9939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284D-C7B7-AF33-505C-3BCE705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F3641-43B5-6FAC-E7AA-3C2E1B686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719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121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140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A4049EA-1C80-CEF2-C39E-9249C1D29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477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2FFF58-70EB-C86F-9E59-1581F18B87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24200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CE1444-B151-5430-2753-A94BFE598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51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891C23-3EE8-0CED-28FE-170D18A2D615}"/>
              </a:ext>
            </a:extLst>
          </p:cNvPr>
          <p:cNvGrpSpPr/>
          <p:nvPr userDrawn="1"/>
        </p:nvGrpSpPr>
        <p:grpSpPr>
          <a:xfrm>
            <a:off x="3909694" y="-2"/>
            <a:ext cx="4653972" cy="6858002"/>
            <a:chOff x="3300840" y="-2"/>
            <a:chExt cx="4653972" cy="6858002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E5E53-9F1A-D61C-9EEB-E1510482E5BF}"/>
                </a:ext>
              </a:extLst>
            </p:cNvPr>
            <p:cNvSpPr/>
            <p:nvPr userDrawn="1"/>
          </p:nvSpPr>
          <p:spPr bwMode="auto">
            <a:xfrm>
              <a:off x="3300840" y="0"/>
              <a:ext cx="4110732" cy="685800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DF41968F-990C-67B1-0475-04E0249E281A}"/>
                </a:ext>
              </a:extLst>
            </p:cNvPr>
            <p:cNvSpPr/>
            <p:nvPr userDrawn="1"/>
          </p:nvSpPr>
          <p:spPr>
            <a:xfrm rot="5400000" flipH="1">
              <a:off x="4249415" y="3152602"/>
              <a:ext cx="6858002" cy="5527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" y="0"/>
            <a:ext cx="40767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936060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0E4AD9-5B60-F04F-FEE1-80647A0E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189EAA6-8653-D9C5-4653-C4B7BB2BB3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49190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7728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6AE37-FC1E-5269-1E83-C3E9928ED25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8488-5F43-686E-E10B-16D16E352E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7DE099-ACDF-D41B-FBC3-5EE9A76F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745013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F7055BE-CD0F-6E9E-5992-4C7B9EF5FA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3600000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02645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FD50C-06F7-21CC-1F6A-D75586A5063A}"/>
              </a:ext>
            </a:extLst>
          </p:cNvPr>
          <p:cNvSpPr/>
          <p:nvPr userDrawn="1"/>
        </p:nvSpPr>
        <p:spPr bwMode="auto">
          <a:xfrm>
            <a:off x="5166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866651-9DE6-3C00-E38E-CCE80D6049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67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D1CA3-DE0B-7A9B-CE98-826ACE3DFEB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F033AD-4765-5FA3-B45B-9232B4A16A8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82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5878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441E88-7FE8-D22E-100F-B090659320A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A5AB7F-48A8-2636-3278-4702BB8C5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CC802-5D81-6EBD-4496-14A01AE49DB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233E5D9-D527-CAC4-3B1E-44AA802D724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84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DF51-3B9F-C5D8-7A84-09B7B6CB9E8B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A15A-582D-3DDB-CC40-43726E84CA4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8F2DF5-DE6F-E2FC-0057-63CC041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4897430-924B-CB14-9A94-8DB20A76C7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531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9051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C5343-68AD-9879-2727-7ECBCB6A1B2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EF0FAA-381C-3A89-42AF-830EF5911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56236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4921F-F7DB-7A40-465F-85F610FC20C6}"/>
              </a:ext>
            </a:extLst>
          </p:cNvPr>
          <p:cNvSpPr txBox="1"/>
          <p:nvPr userDrawn="1"/>
        </p:nvSpPr>
        <p:spPr>
          <a:xfrm>
            <a:off x="10048875" y="6423925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4F018D9-6B5F-8BCB-BD75-7816BF58C56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2392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86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C5E2-D359-5FED-B284-19CF47A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A60CDFE-3A94-5F3A-0523-ABA5607800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52EF-2C83-09DE-9638-F3492217FF7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7612B5-8615-3AC0-8239-012312B6FD9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4374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960BA-AA0C-9715-43A2-22B9050A478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783F67-AD13-06FC-C79E-DE6FBF4D0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14E4-F961-7DD4-8CFB-7B93DD1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2BE525B-A1C0-1DD5-E075-79F96E71E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7A229-8E7F-A1E8-7492-218AEFB06B0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71751A4-BF09-09F2-77C6-42F2F2AEB24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18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7486B-35A7-A3FF-6F44-2159B1E9FAD3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82A7F25-3763-4002-A844-19432F96312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BC1AB0-2CF4-70A1-0BD7-A9A57D9F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342021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299D4E-38EF-AC64-7836-1AD1E8799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342021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98776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6BA4E-CBCB-554D-CA98-146A521CFDF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B62B8-4926-8E23-51B4-D8AC31708BB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808058-9E6F-F0D8-A385-7B4C547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00513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D95AB9-CE03-7AFD-DBBE-C67756B352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005137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4010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804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63925-928E-4FE1-B9E5-B83141A2C221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69AD5E-5F94-E6C0-0DB3-77E8A5A0D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BF0C-CA25-003D-B5D8-6EE24C1F808C}"/>
              </a:ext>
            </a:extLst>
          </p:cNvPr>
          <p:cNvSpPr txBox="1"/>
          <p:nvPr userDrawn="1"/>
        </p:nvSpPr>
        <p:spPr>
          <a:xfrm>
            <a:off x="10048874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7B36E0-E687-34C7-ACB3-F681FF77C582}"/>
              </a:ext>
            </a:extLst>
          </p:cNvPr>
          <p:cNvSpPr txBox="1">
            <a:spLocks/>
          </p:cNvSpPr>
          <p:nvPr userDrawn="1"/>
        </p:nvSpPr>
        <p:spPr>
          <a:xfrm>
            <a:off x="11498093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73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02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6310AE-15DA-337B-9B5E-33A904BF35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314DE-C7E3-7237-4318-0407E44F5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B1A98-E850-C3DE-38BF-EFAE0A2DC98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6FC5F8-7CE5-D29D-2CCA-C5715CDD43B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65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73848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9C4A8F-5B1E-7B0E-CAF7-B9F33D92C84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6F42AB-F517-759C-A3C4-63443ED771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E9D77-5CF8-5131-6018-48DF58117EC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280A7-4796-759A-6B00-0444E865A6A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289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00771F-7FE8-2510-0C0E-734572A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1513A24-C9FD-06A1-1015-D9656D68B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54336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83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4391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104305F-427E-7B08-9801-43AF5256FF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8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45522-9A1C-E9EB-4D96-B0CFFD2F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250256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E6E8F6-4D6C-2884-0A7D-72BB39B21D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250256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07FC1-18DF-2355-0123-10BF2390C02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024407-B901-7B1F-04F9-932983C670E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550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5515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DC425F-9CC1-9DF3-3F54-17DAA0EB5E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75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F6686-8C0A-120D-0C06-1F8DA97E3C4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65D26-CB94-F414-6836-638151C91C4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05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81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Pictures-Leil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2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2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7656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7656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7867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7867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23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07338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40700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10738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350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-Le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3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87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C3044EB-579C-1960-F9EB-F116665A72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32000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271A-50EF-A83C-8073-0A6628457E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3A26170-4FED-69CC-E7CF-6F163320DA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F5574A-DA2F-79E2-5257-E464C4DCBE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70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50C4C1-6951-43AE-9158-49572E0C92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70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000C3D5-7B7C-EDA2-9F53-869EC3327C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4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9AE19AD-1845-6345-DD33-3FC9CF1784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4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F38F98-219B-60E4-DEE4-A49FED7181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6073D28-63C4-4EAB-D10E-E4C9A179B8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</p:spTree>
    <p:extLst>
      <p:ext uri="{BB962C8B-B14F-4D97-AF65-F5344CB8AC3E}">
        <p14:creationId xmlns:p14="http://schemas.microsoft.com/office/powerpoint/2010/main" val="269782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219C23-5248-6A23-1656-7F24D37DB2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F7879-EF16-5C25-BC5F-DF85AD10BA3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931746-EE72-E501-E583-1218E82991F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3703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216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2DEA7B-FE87-E4A3-0E28-5A6940077AAF}"/>
              </a:ext>
            </a:extLst>
          </p:cNvPr>
          <p:cNvSpPr/>
          <p:nvPr userDrawn="1"/>
        </p:nvSpPr>
        <p:spPr bwMode="auto">
          <a:xfrm>
            <a:off x="1020000" y="999000"/>
            <a:ext cx="10152000" cy="4860000"/>
          </a:xfrm>
          <a:prstGeom prst="rect">
            <a:avLst/>
          </a:prstGeom>
          <a:gradFill>
            <a:gsLst>
              <a:gs pos="66000">
                <a:schemeClr val="accent5"/>
              </a:gs>
              <a:gs pos="0">
                <a:schemeClr val="accent2"/>
              </a:gs>
              <a:gs pos="100000">
                <a:schemeClr val="accent4"/>
              </a:gs>
            </a:gsLst>
            <a:lin ang="1800000" scaled="0"/>
          </a:gra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lvl="0"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88A2ACC-EFED-3CEF-B58F-EA44CFA3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9475" y="2464175"/>
            <a:ext cx="7899400" cy="61555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4000" b="0" i="0" spc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your quote here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A967559A-5EC8-8B92-65E3-76928C972876}"/>
              </a:ext>
            </a:extLst>
          </p:cNvPr>
          <p:cNvSpPr txBox="1">
            <a:spLocks/>
          </p:cNvSpPr>
          <p:nvPr userDrawn="1"/>
        </p:nvSpPr>
        <p:spPr>
          <a:xfrm>
            <a:off x="2062976" y="1531155"/>
            <a:ext cx="1248633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sz="9600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118382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84736574-B51A-9653-821A-E3F5C3FCD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91EA3E-7B20-955D-0C59-DF85A915365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B0EE7-0219-6A5E-BA7F-872F2C48D7E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0476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-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tx2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6251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63" y="1035424"/>
            <a:ext cx="4648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7200" b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663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663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63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663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474663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5E39841-8080-2E83-D8BB-7AD807F024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728A8-4504-9979-0928-94780E8A451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625CBB-5BC8-9235-54D3-C8F265017D7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11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EPAM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dirty="0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41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theme" Target="../theme/theme1.xml"/><Relationship Id="rId66" Type="http://schemas.openxmlformats.org/officeDocument/2006/relationships/image" Target="../media/image1.png"/><Relationship Id="rId6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3899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6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A0289-E5C4-74D3-46E5-CB49BE90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39" y="1680713"/>
            <a:ext cx="11267660" cy="44914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58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  <p:sldLayoutId id="2147484362" r:id="rId12"/>
    <p:sldLayoutId id="2147484363" r:id="rId13"/>
    <p:sldLayoutId id="2147484364" r:id="rId14"/>
    <p:sldLayoutId id="2147484365" r:id="rId15"/>
    <p:sldLayoutId id="2147484366" r:id="rId16"/>
    <p:sldLayoutId id="2147484367" r:id="rId17"/>
    <p:sldLayoutId id="2147484368" r:id="rId18"/>
    <p:sldLayoutId id="2147484369" r:id="rId19"/>
    <p:sldLayoutId id="2147484370" r:id="rId20"/>
    <p:sldLayoutId id="2147484371" r:id="rId21"/>
    <p:sldLayoutId id="2147484372" r:id="rId22"/>
    <p:sldLayoutId id="2147484373" r:id="rId23"/>
    <p:sldLayoutId id="2147484374" r:id="rId24"/>
    <p:sldLayoutId id="2147484375" r:id="rId25"/>
    <p:sldLayoutId id="2147484376" r:id="rId26"/>
    <p:sldLayoutId id="2147484377" r:id="rId27"/>
    <p:sldLayoutId id="2147484378" r:id="rId28"/>
    <p:sldLayoutId id="2147484379" r:id="rId29"/>
    <p:sldLayoutId id="2147484380" r:id="rId30"/>
    <p:sldLayoutId id="2147484381" r:id="rId31"/>
    <p:sldLayoutId id="2147484382" r:id="rId32"/>
    <p:sldLayoutId id="2147484383" r:id="rId33"/>
    <p:sldLayoutId id="2147484384" r:id="rId34"/>
    <p:sldLayoutId id="2147484385" r:id="rId35"/>
    <p:sldLayoutId id="2147484386" r:id="rId36"/>
    <p:sldLayoutId id="2147484387" r:id="rId37"/>
    <p:sldLayoutId id="2147484388" r:id="rId38"/>
    <p:sldLayoutId id="2147484389" r:id="rId39"/>
    <p:sldLayoutId id="2147484390" r:id="rId40"/>
    <p:sldLayoutId id="2147484391" r:id="rId41"/>
    <p:sldLayoutId id="2147484392" r:id="rId42"/>
    <p:sldLayoutId id="2147484393" r:id="rId43"/>
    <p:sldLayoutId id="2147484394" r:id="rId44"/>
    <p:sldLayoutId id="2147484395" r:id="rId45"/>
    <p:sldLayoutId id="2147484396" r:id="rId46"/>
    <p:sldLayoutId id="2147484397" r:id="rId47"/>
    <p:sldLayoutId id="2147484398" r:id="rId48"/>
    <p:sldLayoutId id="2147484399" r:id="rId49"/>
    <p:sldLayoutId id="2147484400" r:id="rId50"/>
    <p:sldLayoutId id="2147484401" r:id="rId51"/>
    <p:sldLayoutId id="2147484402" r:id="rId52"/>
    <p:sldLayoutId id="2147484403" r:id="rId53"/>
    <p:sldLayoutId id="2147484404" r:id="rId54"/>
    <p:sldLayoutId id="2147484405" r:id="rId55"/>
    <p:sldLayoutId id="2147484406" r:id="rId56"/>
    <p:sldLayoutId id="2147484407" r:id="rId57"/>
    <p:sldLayoutId id="2147484408" r:id="rId58"/>
    <p:sldLayoutId id="2147484409" r:id="rId59"/>
    <p:sldLayoutId id="2147484410" r:id="rId60"/>
    <p:sldLayoutId id="2147484411" r:id="rId61"/>
    <p:sldLayoutId id="2147484412" r:id="rId62"/>
    <p:sldLayoutId id="2147484413" r:id="rId63"/>
    <p:sldLayoutId id="2147484414" r:id="rId6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2538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239">
          <p15:clr>
            <a:srgbClr val="F26B43"/>
          </p15:clr>
        </p15:guide>
        <p15:guide id="17" orient="horz" pos="454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Four-phase pipeline · ABAP report walkthrough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 A Y  2 0 2 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Code 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The pipeline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Phases 1-3 · documents only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Phase 3 · read first, deps next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The target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The result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_1_DiagramCanvas"/>
          <p:cNvSpPr/>
          <p:nvPr/>
        </p:nvSpPr>
        <p:spPr>
          <a:xfrm>
            <a:off x="457200" y="1463040"/>
            <a:ext cx="11064240" cy="3566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pipeline · existing code to spec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FOUR PHASES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DiagramCanvas:node0"/>
          <p:cNvSpPr/>
          <p:nvPr/>
        </p:nvSpPr>
        <p:spPr>
          <a:xfrm>
            <a:off x="1773936" y="1828800"/>
            <a:ext cx="1554480" cy="1051560"/>
          </a:xfrm>
          <a:prstGeom prst="roundRect">
            <a:avLst/>
          </a:prstGeom>
          <a:solidFill>
            <a:srgbClr val="898989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PROG · CLAS · FUGR</a:t>
            </a:r>
          </a:p>
        </p:txBody>
      </p:sp>
      <p:sp>
        <p:nvSpPr>
          <p:cNvPr id="7" name="c_1_DiagramCanvas:node1"/>
          <p:cNvSpPr/>
          <p:nvPr/>
        </p:nvSpPr>
        <p:spPr>
          <a:xfrm>
            <a:off x="3493008" y="1828800"/>
            <a:ext cx="1554480" cy="1051560"/>
          </a:xfrm>
          <a:prstGeom prst="roundRect">
            <a:avLst/>
          </a:prstGeom>
          <a:solidFill>
            <a:srgbClr val="0047FF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doc-task</a:t>
            </a:r>
          </a:p>
        </p:txBody>
      </p:sp>
      <p:sp>
        <p:nvSpPr>
          <p:cNvPr id="8" name="c_1_DiagramCanvas:node2"/>
          <p:cNvSpPr/>
          <p:nvPr/>
        </p:nvSpPr>
        <p:spPr>
          <a:xfrm>
            <a:off x="5212080" y="1828800"/>
            <a:ext cx="1554480" cy="1051560"/>
          </a:xfrm>
          <a:prstGeom prst="roundRect">
            <a:avLst/>
          </a:prstGeom>
          <a:solidFill>
            <a:srgbClr val="107E8D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analysis-plan</a:t>
            </a:r>
          </a:p>
        </p:txBody>
      </p:sp>
      <p:sp>
        <p:nvSpPr>
          <p:cNvPr id="9" name="c_1_DiagramCanvas:node3"/>
          <p:cNvSpPr/>
          <p:nvPr/>
        </p:nvSpPr>
        <p:spPr>
          <a:xfrm>
            <a:off x="6931152" y="1828800"/>
            <a:ext cx="1554480" cy="1051560"/>
          </a:xfrm>
          <a:prstGeom prst="roundRect">
            <a:avLst/>
          </a:prstGeom>
          <a:solidFill>
            <a:srgbClr val="E614EB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evidence-§N</a:t>
            </a:r>
          </a:p>
        </p:txBody>
      </p:sp>
      <p:sp>
        <p:nvSpPr>
          <p:cNvPr id="10" name="c_1_DiagramCanvas:node4"/>
          <p:cNvSpPr/>
          <p:nvPr/>
        </p:nvSpPr>
        <p:spPr>
          <a:xfrm>
            <a:off x="8650224" y="1828800"/>
            <a:ext cx="1554480" cy="1051560"/>
          </a:xfrm>
          <a:prstGeom prst="roundRect">
            <a:avLst/>
          </a:prstGeom>
          <a:solidFill>
            <a:srgbClr val="E06C00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tech-spec</a:t>
            </a:r>
          </a:p>
        </p:txBody>
      </p:sp>
      <p:cxnSp>
        <p:nvCxnSpPr>
          <p:cNvPr id="11" name="c_1_DiagramCanvas:conn0"/>
          <p:cNvCxnSpPr>
            <a:stCxn id="6" idx="3"/>
            <a:endCxn id="7" idx="1"/>
          </p:cNvCxnSpPr>
          <p:nvPr/>
        </p:nvCxnSpPr>
        <p:spPr>
          <a:xfrm>
            <a:off x="3328416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_1_DiagramCanvas:conn1"/>
          <p:cNvCxnSpPr>
            <a:stCxn id="7" idx="3"/>
            <a:endCxn id="8" idx="1"/>
          </p:cNvCxnSpPr>
          <p:nvPr/>
        </p:nvCxnSpPr>
        <p:spPr>
          <a:xfrm>
            <a:off x="5047488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_1_DiagramCanvas:conn2"/>
          <p:cNvCxnSpPr>
            <a:stCxn id="8" idx="3"/>
            <a:endCxn id="9" idx="1"/>
          </p:cNvCxnSpPr>
          <p:nvPr/>
        </p:nvCxnSpPr>
        <p:spPr>
          <a:xfrm>
            <a:off x="6766560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_1_DiagramCanvas:conn3"/>
          <p:cNvCxnSpPr>
            <a:stCxn id="9" idx="3"/>
            <a:endCxn id="10" idx="1"/>
          </p:cNvCxnSpPr>
          <p:nvPr/>
        </p:nvCxnSpPr>
        <p:spPr>
          <a:xfrm>
            <a:off x="8485632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_1_Block"/>
          <p:cNvGraphicFramePr>
            <a:graphicFrameLocks noGrp="1"/>
          </p:cNvGraphicFramePr>
          <p:nvPr/>
        </p:nvGraphicFramePr>
        <p:xfrm>
          <a:off x="457200" y="5212080"/>
          <a:ext cx="11064240" cy="9144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Every phase saves its artifact into RAG · phase 4 pulls them all back and assembles the final document. No retyped source.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1-3 · what each one produces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WHO DOES WHAT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Phase 1 · Task framing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You: </a:t>
            </a:r>
            <a:r>
              <a:rPr sz="1400">
                <a:solidFill>
                  <a:srgbClr val="FFFFFF"/>
                </a:solidFill>
              </a:rPr>
              <a:t>owner · pick target + format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AI: </a:t>
            </a:r>
            <a:r>
              <a:rPr sz="1400">
                <a:solidFill>
                  <a:srgbClr val="FFFFFF"/>
                </a:solidFill>
              </a:rPr>
              <a:t>intake analyst · summarise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In: </a:t>
            </a:r>
            <a:r>
              <a:rPr sz="1400">
                <a:solidFill>
                  <a:srgbClr val="FFFFFF"/>
                </a:solidFill>
              </a:rPr>
              <a:t>your code + doc format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Out: </a:t>
            </a:r>
            <a:r>
              <a:rPr sz="1400" b="1" i="1">
                <a:solidFill>
                  <a:srgbClr val="FFFFFF"/>
                </a:solidFill>
              </a:rPr>
              <a:t>doc-task (RAG)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420624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Phase 2 · Analysis plan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You: </a:t>
            </a:r>
            <a:r>
              <a:rPr sz="1400">
                <a:solidFill>
                  <a:srgbClr val="FFFFFF"/>
                </a:solidFill>
              </a:rPr>
              <a:t>auditor · check tool choices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AI: </a:t>
            </a:r>
            <a:r>
              <a:rPr sz="1400">
                <a:solidFill>
                  <a:srgbClr val="FFFFFF"/>
                </a:solidFill>
              </a:rPr>
              <a:t>analyst · pick tool per question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In: </a:t>
            </a:r>
            <a:r>
              <a:rPr sz="1400">
                <a:solidFill>
                  <a:srgbClr val="FFFFFF"/>
                </a:solidFill>
              </a:rPr>
              <a:t>doc-task + question list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Out: </a:t>
            </a:r>
            <a:r>
              <a:rPr sz="1400" b="1" i="1">
                <a:solidFill>
                  <a:srgbClr val="FFFFFF"/>
                </a:solidFill>
              </a:rPr>
              <a:t>analysis-plan (RAG)</a:t>
            </a:r>
          </a:p>
        </p:txBody>
      </p:sp>
      <p:sp>
        <p:nvSpPr>
          <p:cNvPr id="7" name="c_1_BlockGrid:2:c_3_Block"/>
          <p:cNvSpPr/>
          <p:nvPr/>
        </p:nvSpPr>
        <p:spPr>
          <a:xfrm>
            <a:off x="795528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CF12D3"/>
              </a:gs>
              <a:gs pos="100000">
                <a:srgbClr val="E82BED"/>
              </a:gs>
            </a:gsLst>
            <a:lin ang="16200000" scaled="0"/>
          </a:gradFill>
          <a:ln w="3175">
            <a:solidFill>
              <a:srgbClr val="64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Phase 3 · Evidence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You: </a:t>
            </a:r>
            <a:r>
              <a:rPr sz="1400">
                <a:solidFill>
                  <a:srgbClr val="FFFFFF"/>
                </a:solidFill>
              </a:rPr>
              <a:t>verifier · check citations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AI: </a:t>
            </a:r>
            <a:r>
              <a:rPr sz="1400">
                <a:solidFill>
                  <a:srgbClr val="FFFFFF"/>
                </a:solidFill>
              </a:rPr>
              <a:t>evidence collector · run MCP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In: </a:t>
            </a:r>
            <a:r>
              <a:rPr sz="1400">
                <a:solidFill>
                  <a:srgbClr val="FFFFFF"/>
                </a:solidFill>
              </a:rPr>
              <a:t>analysis-plan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Out: </a:t>
            </a:r>
            <a:r>
              <a:rPr sz="1400" b="1" i="1">
                <a:solidFill>
                  <a:srgbClr val="FFFFFF"/>
                </a:solidFill>
              </a:rPr>
              <a:t>evidence-§N (RAG)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_1_DiagramCanvas"/>
          <p:cNvSpPr/>
          <p:nvPr/>
        </p:nvSpPr>
        <p:spPr>
          <a:xfrm>
            <a:off x="457200" y="1463040"/>
            <a:ext cx="11064240" cy="3200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· read the code first, then the deps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THREE BATCHES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DiagramCanvas:node0"/>
          <p:cNvSpPr/>
          <p:nvPr/>
        </p:nvSpPr>
        <p:spPr>
          <a:xfrm>
            <a:off x="2468880" y="2194560"/>
            <a:ext cx="2194560" cy="914400"/>
          </a:xfrm>
          <a:prstGeom prst="roundRect">
            <a:avLst/>
          </a:prstGeom>
          <a:solidFill>
            <a:srgbClr val="0047FF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ReadProgram + GetIncludesList
+ GetInclude × N</a:t>
            </a:r>
          </a:p>
        </p:txBody>
      </p:sp>
      <p:sp>
        <p:nvSpPr>
          <p:cNvPr id="7" name="c_1_DiagramCanvas:node1"/>
          <p:cNvSpPr/>
          <p:nvPr/>
        </p:nvSpPr>
        <p:spPr>
          <a:xfrm>
            <a:off x="4892040" y="2194560"/>
            <a:ext cx="2194560" cy="914400"/>
          </a:xfrm>
          <a:prstGeom prst="roundRect">
            <a:avLst/>
          </a:prstGeom>
          <a:solidFill>
            <a:srgbClr val="107E8D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DDIC tables · CDS views
Z-namespace identifiers</a:t>
            </a:r>
          </a:p>
        </p:txBody>
      </p:sp>
      <p:sp>
        <p:nvSpPr>
          <p:cNvPr id="8" name="c_1_DiagramCanvas:node2"/>
          <p:cNvSpPr/>
          <p:nvPr/>
        </p:nvSpPr>
        <p:spPr>
          <a:xfrm>
            <a:off x="7315200" y="2194560"/>
            <a:ext cx="2194560" cy="914400"/>
          </a:xfrm>
          <a:prstGeom prst="roundRect">
            <a:avLst/>
          </a:prstGeom>
          <a:solidFill>
            <a:srgbClr val="E06C00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GetTable / GetCds
DescribeByList (one call)</a:t>
            </a:r>
          </a:p>
        </p:txBody>
      </p:sp>
      <p:cxnSp>
        <p:nvCxnSpPr>
          <p:cNvPr id="9" name="c_1_DiagramCanvas:conn0"/>
          <p:cNvCxnSpPr>
            <a:stCxn id="6" idx="3"/>
            <a:endCxn id="7" idx="1"/>
          </p:cNvCxnSpPr>
          <p:nvPr/>
        </p:nvCxnSpPr>
        <p:spPr>
          <a:xfrm>
            <a:off x="4663440" y="2651760"/>
            <a:ext cx="228600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_1_DiagramCanvas:conn0:text"/>
          <p:cNvSpPr txBox="1"/>
          <p:nvPr/>
        </p:nvSpPr>
        <p:spPr>
          <a:xfrm>
            <a:off x="4320540" y="2331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identifiers</a:t>
            </a:r>
          </a:p>
        </p:txBody>
      </p:sp>
      <p:cxnSp>
        <p:nvCxnSpPr>
          <p:cNvPr id="11" name="c_1_DiagramCanvas:conn1"/>
          <p:cNvCxnSpPr>
            <a:stCxn id="7" idx="3"/>
            <a:endCxn id="8" idx="1"/>
          </p:cNvCxnSpPr>
          <p:nvPr/>
        </p:nvCxnSpPr>
        <p:spPr>
          <a:xfrm>
            <a:off x="7086600" y="2651760"/>
            <a:ext cx="228600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_1_DiagramCanvas:conn1:text"/>
          <p:cNvSpPr txBox="1"/>
          <p:nvPr/>
        </p:nvSpPr>
        <p:spPr>
          <a:xfrm>
            <a:off x="6743700" y="2331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deduped set</a:t>
            </a:r>
          </a:p>
        </p:txBody>
      </p:sp>
      <p:graphicFrame>
        <p:nvGraphicFramePr>
          <p:cNvPr id="13" name="c_1_Block"/>
          <p:cNvGraphicFramePr>
            <a:graphicFrameLocks noGrp="1"/>
          </p:cNvGraphicFramePr>
          <p:nvPr/>
        </p:nvGraphicFramePr>
        <p:xfrm>
          <a:off x="457200" y="4846320"/>
          <a:ext cx="11064240" cy="128016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1280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Why this order: </a:t>
                      </a:r>
                      <a:r>
                        <a:rPr sz="1400">
                          <a:solidFill>
                            <a:srgbClr val="000000"/>
                          </a:solidFill>
                        </a:rPr>
                        <a:t>full code first means we know exactly which identifiers exist before we spend a tool call on them.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Rules: </a:t>
                      </a:r>
                      <a:r>
                        <a:rPr sz="1400">
                          <a:solidFill>
                            <a:srgbClr val="000000"/>
                          </a:solidFill>
                        </a:rPr>
                        <a:t>single-keyword SearchSource only · DescribeByList once over the set · no AND-queries.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· ZABER_PRESENTATION_FILES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 PROG + 3 INCLUDES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2139696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1773936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69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1773936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main lines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2688336" y="1463040"/>
            <a:ext cx="2139696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2871216" y="1600200"/>
            <a:ext cx="1773936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3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2871216" y="2077719"/>
            <a:ext cx="1773936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includes · TOP·SS·F01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4919472" y="1463040"/>
            <a:ext cx="2139696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5102352" y="1600200"/>
            <a:ext cx="1773936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614EB"/>
                </a:solidFill>
              </a:rPr>
              <a:t>4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5102352" y="2077719"/>
            <a:ext cx="1773936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modes · radio group</a:t>
            </a:r>
          </a:p>
        </p:txBody>
      </p:sp>
      <p:sp>
        <p:nvSpPr>
          <p:cNvPr id="14" name="c_1_BlockGrid:3:c_4_Block:container"/>
          <p:cNvSpPr/>
          <p:nvPr/>
        </p:nvSpPr>
        <p:spPr>
          <a:xfrm>
            <a:off x="7150608" y="1463040"/>
            <a:ext cx="2139696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3:c_4_Block:metric"/>
          <p:cNvSpPr txBox="1"/>
          <p:nvPr/>
        </p:nvSpPr>
        <p:spPr>
          <a:xfrm>
            <a:off x="7333488" y="1600200"/>
            <a:ext cx="1773936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1</a:t>
            </a:r>
          </a:p>
        </p:txBody>
      </p:sp>
      <p:sp>
        <p:nvSpPr>
          <p:cNvPr id="16" name="c_1_BlockGrid:3:c_4_Block:content"/>
          <p:cNvSpPr txBox="1"/>
          <p:nvPr/>
        </p:nvSpPr>
        <p:spPr>
          <a:xfrm>
            <a:off x="7333488" y="2077719"/>
            <a:ext cx="1773936" cy="4381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custom table · ZABER_AUTH</a:t>
            </a:r>
          </a:p>
        </p:txBody>
      </p:sp>
      <p:sp>
        <p:nvSpPr>
          <p:cNvPr id="17" name="c_1_BlockGrid:4:c_5_Block:container"/>
          <p:cNvSpPr/>
          <p:nvPr/>
        </p:nvSpPr>
        <p:spPr>
          <a:xfrm>
            <a:off x="9381744" y="1463040"/>
            <a:ext cx="2139696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4:c_5_Block:metric"/>
          <p:cNvSpPr txBox="1"/>
          <p:nvPr/>
        </p:nvSpPr>
        <p:spPr>
          <a:xfrm>
            <a:off x="9564624" y="1600200"/>
            <a:ext cx="1773936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0202"/>
                </a:solidFill>
              </a:rPr>
              <a:t>0</a:t>
            </a:r>
          </a:p>
        </p:txBody>
      </p:sp>
      <p:sp>
        <p:nvSpPr>
          <p:cNvPr id="19" name="c_1_BlockGrid:4:c_5_Block:content"/>
          <p:cNvSpPr txBox="1"/>
          <p:nvPr/>
        </p:nvSpPr>
        <p:spPr>
          <a:xfrm>
            <a:off x="9564624" y="2077719"/>
            <a:ext cx="1773936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AUTHORITY-CHECK</a:t>
            </a:r>
          </a:p>
        </p:txBody>
      </p:sp>
      <p:sp>
        <p:nvSpPr>
          <p:cNvPr id="20" name="c_6_Block"/>
          <p:cNvSpPr/>
          <p:nvPr/>
        </p:nvSpPr>
        <p:spPr>
          <a:xfrm>
            <a:off x="457200" y="4297680"/>
            <a:ext cx="11064240" cy="1828800"/>
          </a:xfrm>
          <a:prstGeom prst="rect">
            <a:avLst/>
          </a:prstGeom>
          <a:gradFill rotWithShape="1">
            <a:gsLst>
              <a:gs pos="0">
                <a:srgbClr val="7C7C7C"/>
              </a:gs>
              <a:gs pos="100000">
                <a:srgbClr val="959595"/>
              </a:gs>
            </a:gsLst>
            <a:lin ang="16200000" scaled="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What it does: </a:t>
            </a:r>
            <a:r>
              <a:rPr sz="1400">
                <a:solidFill>
                  <a:srgbClr val="000000"/>
                </a:solidFill>
              </a:rPr>
              <a:t>reads ZABER_AUTH · writes/reads CSV on the workstation · emails the CSV. Educational utility, not production.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Modes (selection screen): </a:t>
            </a:r>
            <a:r>
              <a:rPr sz="1400">
                <a:solidFill>
                  <a:srgbClr val="000000"/>
                </a:solidFill>
              </a:rPr>
              <a:t>Create · Display · Add user · Delete (mutually exclusive radio buttons)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External effects: </a:t>
            </a:r>
            <a:r>
              <a:rPr sz="1400">
                <a:solidFill>
                  <a:srgbClr val="000000"/>
                </a:solidFill>
              </a:rPr>
              <a:t>gui_download / gui_upload / file_delete + BCS email · DB read-only.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· spec covers all 9 sections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CITED · 7 OPEN ITEMS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3566160" cy="2286000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What got documented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§1-3: metadata + includes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§4: 7 selection-screen fields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§7: 1 custom table (ZABER_AUTH)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§8: full PERFORM graph + flow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§8.1: file I/O + BCS email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4206240" y="1463040"/>
            <a:ext cx="3566160" cy="2286000"/>
          </a:xfrm>
          <a:prstGeom prst="rect">
            <a:avLst/>
          </a:prstGeom>
          <a:gradFill rotWithShape="1">
            <a:gsLst>
              <a:gs pos="0">
                <a:srgbClr val="7C7C7C"/>
              </a:gs>
              <a:gs pos="100000">
                <a:srgbClr val="959595"/>
              </a:gs>
            </a:gsLst>
            <a:lin ang="16200000" scaled="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</a:rPr>
              <a:t>Empty sections (honest)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§5 standard DDIC: none referenced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§6 CDS views: none referenced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ZABER_AUTH package: [UNKNOWN]</a:t>
            </a:r>
          </a:p>
        </p:txBody>
      </p:sp>
      <p:sp>
        <p:nvSpPr>
          <p:cNvPr id="7" name="c_1_BlockGrid:2:c_3_Block"/>
          <p:cNvSpPr/>
          <p:nvPr/>
        </p:nvSpPr>
        <p:spPr>
          <a:xfrm>
            <a:off x="7955280" y="1463040"/>
            <a:ext cx="3566160" cy="2286000"/>
          </a:xfrm>
          <a:prstGeom prst="rect">
            <a:avLst/>
          </a:prstGeom>
          <a:gradFill rotWithShape="1">
            <a:gsLst>
              <a:gs pos="0">
                <a:srgbClr val="C65F00"/>
              </a:gs>
              <a:gs pos="100000">
                <a:srgbClr val="F97800"/>
              </a:gs>
            </a:gsLst>
            <a:lin ang="16200000" scaled="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</a:rPr>
              <a:t>Open questions (§9)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Sender hard-coded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'Add user' uses literal name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No AUTHORITY-CHECK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CSV shape contract unclear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'Display' = uploaded, not live</a:t>
            </a:r>
          </a:p>
        </p:txBody>
      </p:sp>
      <p:graphicFrame>
        <p:nvGraphicFramePr>
          <p:cNvPr id="8" name="c_4_Block"/>
          <p:cNvGraphicFramePr>
            <a:graphicFrameLocks noGrp="1"/>
          </p:cNvGraphicFramePr>
          <p:nvPr/>
        </p:nvGraphicFramePr>
        <p:xfrm>
          <a:off x="457200" y="5212080"/>
          <a:ext cx="11064240" cy="9144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Every claim cites a source line or a metadata field · no row in the spec without provenance.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walk away with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OUTCOMES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3566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320040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1 spec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320040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9 sections · every claim cited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4206240" y="1463040"/>
            <a:ext cx="3566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4389120" y="1600200"/>
            <a:ext cx="320040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3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4389120" y="2077719"/>
            <a:ext cx="320040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batches · source · extract · resolve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7955280" y="1463040"/>
            <a:ext cx="3566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8138160" y="1600200"/>
            <a:ext cx="320040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~2 min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8138160" y="2077719"/>
            <a:ext cx="320040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MCP wall-clock for this target</a:t>
            </a:r>
          </a:p>
        </p:txBody>
      </p:sp>
      <p:sp>
        <p:nvSpPr>
          <p:cNvPr id="14" name="c_4_Block"/>
          <p:cNvSpPr/>
          <p:nvPr/>
        </p:nvSpPr>
        <p:spPr>
          <a:xfrm>
            <a:off x="457200" y="4297680"/>
            <a:ext cx="11064240" cy="1828800"/>
          </a:xfrm>
          <a:prstGeom prst="rect">
            <a:avLst/>
          </a:prstGeom>
          <a:gradFill rotWithShape="1">
            <a:gsLst>
              <a:gs pos="0">
                <a:srgbClr val="7C7C7C"/>
              </a:gs>
              <a:gs pos="100000">
                <a:srgbClr val="959595"/>
              </a:gs>
            </a:gsLst>
            <a:lin ang="16200000" scaled="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What you learn: </a:t>
            </a:r>
            <a:r>
              <a:rPr sz="1400">
                <a:solidFill>
                  <a:srgbClr val="000000"/>
                </a:solidFill>
              </a:rPr>
              <a:t>frame a doc task crisply · plan tool calls per question · verify every claim against source · spot fabrication (missing trace, foreign namespace).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What stays yours: </a:t>
            </a:r>
            <a:r>
              <a:rPr sz="1400">
                <a:solidFill>
                  <a:srgbClr val="000000"/>
                </a:solidFill>
              </a:rPr>
              <a:t>the verification. AI assembles fast and also fabricates fast — citation discipline is the only protection.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MIO_UPDATE" val="True"/>
  <p:tag name="MIO_OBJECTNAME" val="EPAM Overview"/>
  <p:tag name="MIO_LASTEDITORNAME" val="Peter Rutsch"/>
  <p:tag name="MIO_DBID" val="D7ED4A1B-644D-42C8-B85A-3AF7EB19A1AD"/>
  <p:tag name="MIO_LASTDOWNLOADED" val="25.09.2019 20:19:12"/>
  <p:tag name="MIO_VERSION" val="25.09.2019 19:19:12"/>
  <p:tag name="MIO_EKGUID" val="d7e3e5f7-9b32-4300-a908-3232d6ed981a"/>
  <p:tag name="MIO_NATIVESECTIONS" val="﻿&lt;?xml version=&quot;1.0&quot; encoding=&quot;utf-8&quot;?&gt;&lt;ArrayOfNativeSection xmlns:xsd=&quot;http://www.w3.org/2001/XMLSchema&quot; xmlns:xsi=&quot;http://www.w3.org/2001/XMLSchema-instance&quot;&gt;&lt;NativeSection&gt;&lt;Name&gt;About EPAM&lt;/Name&gt;&lt;FirstSlideIndex&gt;3&lt;/FirstSlideIndex&gt;&lt;SlidesCount&gt;15&lt;/SlidesCount&gt;&lt;SlideIDs /&gt;&lt;SlideGuids&gt;&lt;guid&gt;41917f75-77c0-48c8-a973-0468f4fe6223&lt;/guid&gt;&lt;guid&gt;4c4084ce-9dc3-4a2a-bd15-284b0659bb1d&lt;/guid&gt;&lt;guid&gt;c25f9840-0bea-411d-962d-9f3050c735d6&lt;/guid&gt;&lt;guid&gt;7d12a499-7701-4a6e-8610-d9d576cb0dec&lt;/guid&gt;&lt;guid&gt;61ee236e-49d2-4ed5-a476-38e350e3bfd2&lt;/guid&gt;&lt;guid&gt;ef65a5ca-8d54-4147-8afa-2ebb941538e3&lt;/guid&gt;&lt;guid&gt;c94ecc82-7873-4e32-885c-f35e7d8f652f&lt;/guid&gt;&lt;guid&gt;c3fea710-23c7-43d8-8d5d-f36b24c7383e&lt;/guid&gt;&lt;guid&gt;2bba986c-ee29-49a3-8223-b3a7867a5f4b&lt;/guid&gt;&lt;guid&gt;00e49fa1-ccf7-49ac-b1ea-429440dc91c2&lt;/guid&gt;&lt;guid&gt;cd433048-84df-4410-81de-4a8b6f9b00db&lt;/guid&gt;&lt;guid&gt;3c65c556-57fe-432d-8e6c-e872ce9c17e6&lt;/guid&gt;&lt;guid&gt;cfbce635-1caa-40a0-8168-f7cd9a71855f&lt;/guid&gt;&lt;guid&gt;0dd5438a-71f4-45bd-aeb7-e9afb36545e3&lt;/guid&gt;&lt;guid&gt;025c768f-d8c8-481b-827c-fb70a3dea855&lt;/guid&gt;&lt;/SlideGuids&gt;&lt;/NativeSection&gt;&lt;NativeSection&gt;&lt;Name&gt;EPAM Advantage&lt;/Name&gt;&lt;FirstSlideIndex&gt;18&lt;/FirstSlideIndex&gt;&lt;SlidesCount&gt;7&lt;/SlidesCount&gt;&lt;SlideIDs /&gt;&lt;SlideGuids&gt;&lt;guid&gt;1d3f40df-0be8-4722-86b4-ba408afacf35&lt;/guid&gt;&lt;guid&gt;1e4e570a-a814-43ca-b0e7-827ba1e99159&lt;/guid&gt;&lt;guid&gt;10e9fa43-a251-4d26-a911-d8ed059b1b96&lt;/guid&gt;&lt;guid&gt;c7beb776-8ff1-4acc-8007-da30e0319d43&lt;/guid&gt;&lt;guid&gt;34f142e0-cb5b-44f7-b22f-231c1a8fc0f9&lt;/guid&gt;&lt;guid&gt;26526e34-7c79-495c-b434-1b8afad190de&lt;/guid&gt;&lt;guid&gt;877dc4cd-9bef-4f8a-8bbc-52177ac46c56&lt;/guid&gt;&lt;/SlideGuids&gt;&lt;/NativeSection&gt;&lt;/ArrayOfNativeSection&gt;"/>
</p:tagLst>
</file>

<file path=ppt/theme/theme1.xml><?xml version="1.0" encoding="utf-8"?>
<a:theme xmlns:a="http://schemas.openxmlformats.org/drawingml/2006/main" name="EPAM Master 2024.1">
  <a:themeElements>
    <a:clrScheme name="EPAM 2023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EPAM_PresalesTemplate" id="{BA2CABEF-164A-0B40-9E1D-A9B96AE60B87}" vid="{65C357FB-1C5F-AA46-A42C-758D0D8059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325E2B-52F7-4394-BC3E-1C5545ED6C41}">
  <we:reference id="0712333e-3078-4353-bc6c-307328446e34" version="1.0.1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5da436-b9c0-45a6-9ecc-c0655a249673">
      <Value>1635</Value>
      <Value>116</Value>
      <Value>72</Value>
      <Value>1</Value>
      <Value>3444</Value>
    </TaxCatchAll>
    <LikesCount xmlns="http://schemas.microsoft.com/sharepoint/v3">37</LikesCount>
    <ica38aae1f42489fb9720caef7617fcd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 Decks:About EPAM</TermName>
          <TermId xmlns="http://schemas.microsoft.com/office/infopath/2007/PartnerControls">1bb3a607-45a4-4116-99d9-b95075743ae1</TermId>
        </TermInfo>
      </Terms>
    </ica38aae1f42489fb9720caef7617fcd>
    <StoryOwner xmlns="f45da436-b9c0-45a6-9ecc-c0655a249673">
      <UserInfo>
        <DisplayName>c:0t.c|tenant|5250c590-249d-4ccd-91b6-76bf54384662</DisplayName>
        <AccountId>15</AccountId>
        <AccountType/>
      </UserInfo>
      <UserInfo>
        <DisplayName>i:0#.f|membership|viktar_dvorkin@epam.com,#i:0#.f|membership|viktar_dvorkin@epam.com,#Viktar_Dvorkin@epam.com,#Viktar_Dvorkin@epam.com,#Viktar Dvorkin,#,#GDO Office,#SVP, Global Head of Advanced Engineering, Cloud and Enterprise Platforms</DisplayName>
        <AccountId>1450</AccountId>
        <AccountType/>
      </UserInfo>
    </StoryOwner>
    <StoryVideoLink xmlns="f45da436-b9c0-45a6-9ecc-c0655a249673">
      <Url>https://videoportal.epam.com/video/2JwbXbYM</Url>
      <Description>https://videoportal.epam.com/video/2JwbXbYM</Description>
    </StoryVideoLink>
    <a6a6423fd38e469e9a7567459672989e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Continuum</TermName>
          <TermId xmlns="http://schemas.microsoft.com/office/infopath/2007/PartnerControls">036b37b0-418a-48a3-ad40-f27762061154</TermId>
        </TermInfo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e35b7162-8377-4ac0-bb47-f30ed6f0902e</TermId>
        </TermInfo>
      </Terms>
    </a6a6423fd38e469e9a7567459672989e>
    <ExpirationDate xmlns="f45da436-b9c0-45a6-9ecc-c0655a249673">2025-11-20T00:00:00+00:00</ExpirationDate>
    <_dlc_DocId xmlns="f45da436-b9c0-45a6-9ecc-c0655a249673">EPAMSTORY-1389392072-5</_dlc_DocId>
    <_dlc_DocIdUrl xmlns="f45da436-b9c0-45a6-9ecc-c0655a249673">
      <Url>https://epam.sharepoint.com/sites/EPAMPresalesStories/_layouts/15/DocIdRedir.aspx?ID=EPAMSTORY-1389392072-5</Url>
      <Description>EPAMSTORY-1389392072-5</Description>
    </_dlc_DocIdUrl>
    <ExpirationStatus xmlns="cce964ea-0c98-4d20-81b3-11b96e0098eb">ok</ExpirationStatus>
    <ConfigNotes xmlns="http://schemas.microsoft.com/sharepoint/v3" xsi:nil="true"/>
    <o10324d9d8f24f3d87174cfdfd74b2e5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5e1ed0a0-89ac-446a-837d-6ea8b9460059</TermId>
        </TermInfo>
      </Terms>
    </o10324d9d8f24f3d87174cfdfd74b2e5>
    <Contributors xmlns="cce964ea-0c98-4d20-81b3-11b96e0098eb">
      <UserInfo>
        <DisplayName/>
        <AccountId xsi:nil="true"/>
        <AccountType/>
      </UserInfo>
    </Contributors>
    <Part_x0020_of_x0020_Story xmlns="f45da436-b9c0-45a6-9ecc-c0655a249673" xsi:nil="true"/>
    <SharedWithUsers xmlns="f45da436-b9c0-45a6-9ecc-c0655a249673">
      <UserInfo>
        <DisplayName/>
        <AccountId xsi:nil="true"/>
        <AccountType/>
      </UserInfo>
    </SharedWithUsers>
    <TaxCatchAllLabel xmlns="f45da436-b9c0-45a6-9ecc-c0655a249673" xsi:nil="true"/>
    <_dlc_DocIdPersistId xmlns="f45da436-b9c0-45a6-9ecc-c0655a249673" xsi:nil="true"/>
    <h557d92785684d7cbabbc42229493ceb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Confidential: NDA Required</TermName>
          <TermId xmlns="http://schemas.microsoft.com/office/infopath/2007/PartnerControls">1078c1ca-8558-4f4e-bb3a-506201fcb43c</TermId>
        </TermInfo>
      </Terms>
    </h557d92785684d7cbabbc42229493ceb>
    <d0b4fb09d84842999ca30d5dd3a1ca39 xmlns="f45da436-b9c0-45a6-9ecc-c0655a249673">
      <Terms xmlns="http://schemas.microsoft.com/office/infopath/2007/PartnerControls"/>
    </d0b4fb09d84842999ca30d5dd3a1ca39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EPAM Story" ma:contentTypeID="0x0101009D00C2DDB7BE0A4F95197A46FA9E762A002B352ACE8C7DF74FABD5BBBE23F6FD6F" ma:contentTypeVersion="24" ma:contentTypeDescription="Create a new EPAM Story" ma:contentTypeScope="" ma:versionID="6c7ad0fab38022b33ef4691436c7fb7a">
  <xsd:schema xmlns:xsd="http://www.w3.org/2001/XMLSchema" xmlns:xs="http://www.w3.org/2001/XMLSchema" xmlns:p="http://schemas.microsoft.com/office/2006/metadata/properties" xmlns:ns1="http://schemas.microsoft.com/sharepoint/v3" xmlns:ns2="f45da436-b9c0-45a6-9ecc-c0655a249673" xmlns:ns3="cce964ea-0c98-4d20-81b3-11b96e0098eb" targetNamespace="http://schemas.microsoft.com/office/2006/metadata/properties" ma:root="true" ma:fieldsID="aef5d73f16a20ab942390f9d63fc4095" ns1:_="" ns2:_="" ns3:_="">
    <xsd:import namespace="http://schemas.microsoft.com/sharepoint/v3"/>
    <xsd:import namespace="f45da436-b9c0-45a6-9ecc-c0655a249673"/>
    <xsd:import namespace="cce964ea-0c98-4d20-81b3-11b96e0098eb"/>
    <xsd:element name="properties">
      <xsd:complexType>
        <xsd:sequence>
          <xsd:element name="documentManagement">
            <xsd:complexType>
              <xsd:all>
                <xsd:element ref="ns2:ExpirationDate"/>
                <xsd:element ref="ns2:StoryOwner"/>
                <xsd:element ref="ns3:Contributors" minOccurs="0"/>
                <xsd:element ref="ns3:ExpirationStatus" minOccurs="0"/>
                <xsd:element ref="ns2:Part_x0020_of_x0020_Story" minOccurs="0"/>
                <xsd:element ref="ns2:StoryVideoLink" minOccurs="0"/>
                <xsd:element ref="ns1:ConfigNotes" minOccurs="0"/>
                <xsd:element ref="ns2:_dlc_DocIdUrl" minOccurs="0"/>
                <xsd:element ref="ns2:a6a6423fd38e469e9a7567459672989e" minOccurs="0"/>
                <xsd:element ref="ns1:LikesCount" minOccurs="0"/>
                <xsd:element ref="ns2:SharedWithUsers" minOccurs="0"/>
                <xsd:element ref="ns2:SharedWithDetails" minOccurs="0"/>
                <xsd:element ref="ns2:ica38aae1f42489fb9720caef7617fcd" minOccurs="0"/>
                <xsd:element ref="ns2:_dlc_DocId" minOccurs="0"/>
                <xsd:element ref="ns2:o10324d9d8f24f3d87174cfdfd74b2e5" minOccurs="0"/>
                <xsd:element ref="ns2:_dlc_DocIdPersistId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2:h557d92785684d7cbabbc42229493ceb" minOccurs="0"/>
                <xsd:element ref="ns3:MediaServiceBillingMetadata" minOccurs="0"/>
                <xsd:element ref="ns2:d0b4fb09d84842999ca30d5dd3a1ca39" minOccurs="0"/>
                <xsd:element ref="ns2:TaxCatchAllLabe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onfigNotes" ma:index="11" nillable="true" ma:displayName="Notes" ma:internalName="ConfigNotes" ma:readOnly="false">
      <xsd:simpleType>
        <xsd:restriction base="dms:Note">
          <xsd:maxLength value="255"/>
        </xsd:restriction>
      </xsd:simpleType>
    </xsd:element>
    <xsd:element name="LikesCount" ma:index="19" nillable="true" ma:displayName="Number of Likes" ma:hidden="true" ma:internalName="Likes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da436-b9c0-45a6-9ecc-c0655a249673" elementFormDefault="qualified">
    <xsd:import namespace="http://schemas.microsoft.com/office/2006/documentManagement/types"/>
    <xsd:import namespace="http://schemas.microsoft.com/office/infopath/2007/PartnerControls"/>
    <xsd:element name="ExpirationDate" ma:index="4" ma:displayName="Review Date" ma:default="[today]" ma:format="DateOnly" ma:internalName="ExpirationDate" ma:readOnly="false">
      <xsd:simpleType>
        <xsd:restriction base="dms:DateTime"/>
      </xsd:simpleType>
    </xsd:element>
    <xsd:element name="StoryOwner" ma:index="5" ma:displayName="StoryOwner" ma:list="UserInfo" ma:SearchPeopleOnly="false" ma:SharePointGroup="0" ma:internalName="StoryOwner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art_x0020_of_x0020_Story" ma:index="9" nillable="true" ma:displayName="Part of Collection" ma:list="{caf6492b-c3a1-41e6-9ddd-75f5bc3198ae}" ma:internalName="Part_x0020_of_x0020_Story" ma:readOnly="false" ma:showField="Title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toryVideoLink" ma:index="10" nillable="true" ma:displayName="StoryVideoLink" ma:description="Link to video on EPAM VideoPortal about this story" ma:format="Hyperlink" ma:internalName="StoryVideo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Url" ma:index="14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6a6423fd38e469e9a7567459672989e" ma:index="17" nillable="true" ma:taxonomy="true" ma:internalName="a6a6423fd38e469e9a7567459672989e" ma:taxonomyFieldName="StoryTags" ma:displayName="StoryTags" ma:readOnly="false" ma:default="" ma:fieldId="{a6a6423f-d38e-469e-9a75-67459672989e}" ma:taxonomyMulti="true" ma:sspId="debda6a7-6b37-4000-ac6c-4fd0a963898e" ma:termSetId="f1da140d-ef9e-4ced-9281-d8ea40222c81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SharedWithUsers" ma:index="2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hidden="true" ma:internalName="SharedWithDetails" ma:readOnly="true">
      <xsd:simpleType>
        <xsd:restriction base="dms:Note"/>
      </xsd:simpleType>
    </xsd:element>
    <xsd:element name="ica38aae1f42489fb9720caef7617fcd" ma:index="23" ma:taxonomy="true" ma:internalName="ica38aae1f42489fb9720caef7617fcd" ma:taxonomyFieldName="Story" ma:displayName="Taxonomy" ma:readOnly="false" ma:default="" ma:fieldId="{2ca38aae-1f42-489f-b972-0caef7617fcd}" ma:taxonomyMulti="true" ma:sspId="debda6a7-6b37-4000-ac6c-4fd0a963898e" ma:termSetId="d72849a2-9b0d-48bf-bf08-492c9dccb84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4" nillable="true" ma:displayName="Document ID Value" ma:description="The value of the document ID assigned to this item." ma:hidden="true" ma:indexed="true" ma:internalName="_dlc_DocId" ma:readOnly="true">
      <xsd:simpleType>
        <xsd:restriction base="dms:Text"/>
      </xsd:simpleType>
    </xsd:element>
    <xsd:element name="o10324d9d8f24f3d87174cfdfd74b2e5" ma:index="25" ma:taxonomy="true" ma:internalName="o10324d9d8f24f3d87174cfdfd74b2e5" ma:taxonomyFieldName="StoryCategories" ma:displayName="StoryCategories" ma:readOnly="false" ma:default="1628;#Capability|437677bb-e3a5-4872-945b-ba4270c6cbb4" ma:fieldId="{810324d9-d8f2-4f3d-8717-4cfdfd74b2e5}" ma:taxonomyMulti="true" ma:sspId="debda6a7-6b37-4000-ac6c-4fd0a963898e" ma:termSetId="ddcebb0a-3fca-4e23-b6a5-f1f8550db2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PersistId" ma:index="27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28" nillable="true" ma:displayName="Taxonomy Catch All Column" ma:hidden="true" ma:list="{f4ef9fac-c5ce-424a-9df9-4a92c932d921}" ma:internalName="TaxCatchAll" ma:readOnly="false" ma:showField="CatchAllData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557d92785684d7cbabbc42229493ceb" ma:index="31" ma:taxonomy="true" ma:internalName="h557d92785684d7cbabbc42229493ceb" ma:taxonomyFieldName="UsagePermission" ma:displayName="UsagePermission" ma:readOnly="false" ma:default="3444;#Confidential: NDA Required|1078c1ca-8558-4f4e-bb3a-506201fcb43c" ma:fieldId="{1557d927-8568-4d7c-babb-c42229493ceb}" ma:sspId="debda6a7-6b37-4000-ac6c-4fd0a963898e" ma:termSetId="8fdd4e80-0ab9-4356-9b99-f53e66d463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0b4fb09d84842999ca30d5dd3a1ca39" ma:index="34" nillable="true" ma:taxonomy="true" ma:internalName="d0b4fb09d84842999ca30d5dd3a1ca39" ma:taxonomyFieldName="VCN" ma:displayName="VCN" ma:readOnly="false" ma:default="" ma:fieldId="{d0b4fb09-d848-4299-9ca3-0d5dd3a1ca39}" ma:taxonomyMulti="true" ma:sspId="debda6a7-6b37-4000-ac6c-4fd0a963898e" ma:termSetId="983cafd6-05e4-4154-90f9-0772cf21af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35" nillable="true" ma:displayName="Taxonomy Catch All Column1" ma:hidden="true" ma:list="{f4ef9fac-c5ce-424a-9df9-4a92c932d921}" ma:internalName="TaxCatchAllLabel" ma:readOnly="false" ma:showField="CatchAllDataLabel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64ea-0c98-4d20-81b3-11b96e0098eb" elementFormDefault="qualified">
    <xsd:import namespace="http://schemas.microsoft.com/office/2006/documentManagement/types"/>
    <xsd:import namespace="http://schemas.microsoft.com/office/infopath/2007/PartnerControls"/>
    <xsd:element name="Contributors" ma:index="6" nillable="true" ma:displayName="Contributors" ma:format="Dropdown" ma:list="UserInfo" ma:SharePointGroup="0" ma:internalName="Contributo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pirationStatus" ma:index="7" nillable="true" ma:displayName="ExpirationStatus" ma:internalName="ExpirationStatus" ma:readOnly="fals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B216C-B8AE-4FE7-A9EB-F5691280A8C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483322-9D94-4891-9E64-C985B1D86A41}">
  <ds:schemaRefs>
    <ds:schemaRef ds:uri="f45da436-b9c0-45a6-9ecc-c0655a249673"/>
    <ds:schemaRef ds:uri="http://purl.org/dc/dcmitype/"/>
    <ds:schemaRef ds:uri="http://purl.org/dc/terms/"/>
    <ds:schemaRef ds:uri="http://purl.org/dc/elements/1.1/"/>
    <ds:schemaRef ds:uri="http://schemas.microsoft.com/sharepoint/v3"/>
    <ds:schemaRef ds:uri="http://schemas.microsoft.com/office/2006/documentManagement/types"/>
    <ds:schemaRef ds:uri="http://www.w3.org/XML/1998/namespace"/>
    <ds:schemaRef ds:uri="cce964ea-0c98-4d20-81b3-11b96e0098e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E67F4B-6A2F-473F-80F8-05CE7721E7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3FEB0C-CC02-4177-8430-04E42C5C0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45da436-b9c0-45a6-9ecc-c0655a249673"/>
    <ds:schemaRef ds:uri="cce964ea-0c98-4d20-81b3-11b96e009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1266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Human Sans</vt:lpstr>
      <vt:lpstr>EPAM Master 2024.1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EPAM Overview</dc:title>
  <dc:creator>Jennifer Markowitz</dc:creator>
  <cp:lastModifiedBy>Dmitry Zdanovich</cp:lastModifiedBy>
  <cp:revision>4</cp:revision>
  <dcterms:created xsi:type="dcterms:W3CDTF">2018-01-26T19:23:30Z</dcterms:created>
  <dcterms:modified xsi:type="dcterms:W3CDTF">2026-04-24T13:17:55Z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0x0101009D00C2DDB7BE0A4F95197A46FA9E762A002B352ACE8C7DF74FABD5BBBE23F6FD6F</vt:lpwstr>
  </property>
  <property fmtid="{D5CDD505-2E9C-101B-9397-08002B2CF9AE}" pid="3" name="ImportRevision">
    <vt:lpwstr>636751944040000000</vt:lpwstr>
  </property>
  <property fmtid="{D5CDD505-2E9C-101B-9397-08002B2CF9AE}" pid="4" name="StoryTags">
    <vt:lpwstr>72;#Continuum|036b37b0-418a-48a3-ad40-f27762061154;#116;#About EPAM|e35b7162-8377-4ac0-bb47-f30ed6f0902e</vt:lpwstr>
  </property>
  <property fmtid="{D5CDD505-2E9C-101B-9397-08002B2CF9AE}" pid="5" name="_dlc_DocIdItemGuid">
    <vt:lpwstr>041f0451-e7b6-47dd-8915-ddc72a6e399d</vt:lpwstr>
  </property>
  <property fmtid="{D5CDD505-2E9C-101B-9397-08002B2CF9AE}" pid="6" name="StoryTaxonomy">
    <vt:lpwstr>204;#EPAM Overview|107422c5-c5be-4599-981e-e0bc82e53d69</vt:lpwstr>
  </property>
  <property fmtid="{D5CDD505-2E9C-101B-9397-08002B2CF9AE}" pid="7" name="h098c32ae4474a2397bbdf9bd347fc14">
    <vt:lpwstr>EPAM Overview|107422c5-c5be-4599-981e-e0bc82e53d69</vt:lpwstr>
  </property>
  <property fmtid="{D5CDD505-2E9C-101B-9397-08002B2CF9AE}" pid="8" name="LikedBy">
    <vt:lpwstr>17;#Palina Vilava;#78;#Martin Asencio;#39;#Sergey Levchenko;#970;#Jesal Panchal;#5014;#Yury Slobodski;#243;#Esmy Jensen;#2461;#David Aldrich;#36;#Yuliya Ziaziulina;#899;#Markus Eriksson;#1694;#David Guerri;#7200;#Anand Topu;#219;#Sofia Odintseva;#22949;#Andrew Macey;#9941;#Ilya Kuntsevich;#22597;#Claudia Gorham1;#23522;#Volodymyr Stepanets (Contractor);#24069;#Deborah Regal;#24283;#Vladimir Grevtsev;#27435;#Ryan Ahmed;#20380;#Karan Bhardwaj;#27681;#Caroline Prenn;#24469;#Maneesh Khare;#30037;#CLAUDIA GIANFELICE;#418;#Gary Thomson;#863;#Ghislain Siewe;#7315;#Vivek Agarwal;#31715;#Mahesh Aluvala;#32105;#Alexa Robinson;#32214;#Ted Slater;#22485;#Giuseppe Riefoli;#33929;#Trinh Nguyen;#3914;#Bogdan Jurjevich;#2215;#Taryn Hess;#35911;#Kiryl Domnitch;#16039;#Quentin Odier;#15333;#Jack Maher;#29060;#i:0#.f|membership|marius_constantinescu@epam.com</vt:lpwstr>
  </property>
  <property fmtid="{D5CDD505-2E9C-101B-9397-08002B2CF9AE}" pid="9" name="StoryCategories">
    <vt:lpwstr>1635;#About EPAM|5e1ed0a0-89ac-446a-837d-6ea8b9460059</vt:lpwstr>
  </property>
  <property fmtid="{D5CDD505-2E9C-101B-9397-08002B2CF9AE}" pid="10" name="UsagePermission">
    <vt:lpwstr>3444;#Confidential: NDA Required|1078c1ca-8558-4f4e-bb3a-506201fcb43c</vt:lpwstr>
  </property>
  <property fmtid="{D5CDD505-2E9C-101B-9397-08002B2CF9AE}" pid="11" name="VCN">
    <vt:lpwstr/>
  </property>
  <property fmtid="{D5CDD505-2E9C-101B-9397-08002B2CF9AE}" pid="12" name="Story">
    <vt:lpwstr>1;#General Decks:About EPAM|1bb3a607-45a4-4116-99d9-b95075743ae1</vt:lpwstr>
  </property>
  <property fmtid="{D5CDD505-2E9C-101B-9397-08002B2CF9AE}" pid="13" name="MSIP_Label_2a535040-0af2-483f-adc3-a132c21e3e2b_Enabled">
    <vt:lpwstr>true</vt:lpwstr>
  </property>
  <property fmtid="{D5CDD505-2E9C-101B-9397-08002B2CF9AE}" pid="14" name="MSIP_Label_2a535040-0af2-483f-adc3-a132c21e3e2b_SetDate">
    <vt:lpwstr>2026-01-27T08:34:32Z</vt:lpwstr>
  </property>
  <property fmtid="{D5CDD505-2E9C-101B-9397-08002B2CF9AE}" pid="15" name="MSIP_Label_2a535040-0af2-483f-adc3-a132c21e3e2b_Method">
    <vt:lpwstr>Standard</vt:lpwstr>
  </property>
  <property fmtid="{D5CDD505-2E9C-101B-9397-08002B2CF9AE}" pid="16" name="MSIP_Label_2a535040-0af2-483f-adc3-a132c21e3e2b_Name">
    <vt:lpwstr>EPAM_Confidential</vt:lpwstr>
  </property>
  <property fmtid="{D5CDD505-2E9C-101B-9397-08002B2CF9AE}" pid="17" name="MSIP_Label_2a535040-0af2-483f-adc3-a132c21e3e2b_SiteId">
    <vt:lpwstr>b41b72d0-4e9f-4c26-8a69-f949f367c91d</vt:lpwstr>
  </property>
  <property fmtid="{D5CDD505-2E9C-101B-9397-08002B2CF9AE}" pid="18" name="MSIP_Label_2a535040-0af2-483f-adc3-a132c21e3e2b_ActionId">
    <vt:lpwstr>6de4626a-a598-4337-88df-2d099c6d2fce</vt:lpwstr>
  </property>
  <property fmtid="{D5CDD505-2E9C-101B-9397-08002B2CF9AE}" pid="19" name="MSIP_Label_2a535040-0af2-483f-adc3-a132c21e3e2b_ContentBits">
    <vt:lpwstr>0</vt:lpwstr>
  </property>
  <property fmtid="{D5CDD505-2E9C-101B-9397-08002B2CF9AE}" pid="20" name="MSIP_Label_2a535040-0af2-483f-adc3-a132c21e3e2b_Tag">
    <vt:lpwstr>10, 3, 0, 1</vt:lpwstr>
  </property>
</Properties>
</file>